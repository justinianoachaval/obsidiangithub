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Montserrat SemiBold"/>
      <p:regular r:id="rId61"/>
      <p:bold r:id="rId62"/>
      <p:italic r:id="rId63"/>
      <p:boldItalic r:id="rId64"/>
    </p:embeddedFont>
    <p:embeddedFont>
      <p:font typeface="Roboto Mono Medium"/>
      <p:regular r:id="rId65"/>
      <p:bold r:id="rId66"/>
      <p:italic r:id="rId67"/>
      <p:boldItalic r:id="rId68"/>
    </p:embeddedFont>
    <p:embeddedFont>
      <p:font typeface="Inconsolata"/>
      <p:regular r:id="rId69"/>
      <p:bold r:id="rId70"/>
    </p:embeddedFont>
    <p:embeddedFont>
      <p:font typeface="Montserrat"/>
      <p:regular r:id="rId71"/>
      <p:bold r:id="rId72"/>
      <p:italic r:id="rId73"/>
      <p:boldItalic r:id="rId74"/>
    </p:embeddedFont>
    <p:embeddedFont>
      <p:font typeface="Montserrat Medium"/>
      <p:regular r:id="rId75"/>
      <p:bold r:id="rId76"/>
      <p:italic r:id="rId77"/>
      <p:boldItalic r:id="rId78"/>
    </p:embeddedFont>
    <p:embeddedFont>
      <p:font typeface="Montserrat Light"/>
      <p:regular r:id="rId79"/>
      <p:bold r:id="rId80"/>
      <p:italic r:id="rId81"/>
      <p:boldItalic r:id="rId82"/>
    </p:embeddedFont>
    <p:embeddedFont>
      <p:font typeface="Ubuntu Mono"/>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3A8B6E-69AA-45F4-8991-E4EBB429DF2F}">
  <a:tblStyle styleId="{143A8B6E-69AA-45F4-8991-E4EBB429DF2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UbuntuMono-bold.fntdata"/><Relationship Id="rId83" Type="http://schemas.openxmlformats.org/officeDocument/2006/relationships/font" Target="fonts/UbuntuMono-regular.fntdata"/><Relationship Id="rId42" Type="http://schemas.openxmlformats.org/officeDocument/2006/relationships/slide" Target="slides/slide36.xml"/><Relationship Id="rId86" Type="http://schemas.openxmlformats.org/officeDocument/2006/relationships/font" Target="fonts/UbuntuMono-boldItalic.fntdata"/><Relationship Id="rId41" Type="http://schemas.openxmlformats.org/officeDocument/2006/relationships/slide" Target="slides/slide35.xml"/><Relationship Id="rId85" Type="http://schemas.openxmlformats.org/officeDocument/2006/relationships/font" Target="fonts/UbuntuMono-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MontserratLight-bold.fntdata"/><Relationship Id="rId82" Type="http://schemas.openxmlformats.org/officeDocument/2006/relationships/font" Target="fonts/MontserratLight-boldItalic.fntdata"/><Relationship Id="rId81" Type="http://schemas.openxmlformats.org/officeDocument/2006/relationships/font" Target="fonts/MontserratLigh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ontserrat-italic.fntdata"/><Relationship Id="rId72" Type="http://schemas.openxmlformats.org/officeDocument/2006/relationships/font" Target="fonts/Montserrat-bold.fntdata"/><Relationship Id="rId31" Type="http://schemas.openxmlformats.org/officeDocument/2006/relationships/slide" Target="slides/slide25.xml"/><Relationship Id="rId75" Type="http://schemas.openxmlformats.org/officeDocument/2006/relationships/font" Target="fonts/MontserratMedium-regular.fntdata"/><Relationship Id="rId30" Type="http://schemas.openxmlformats.org/officeDocument/2006/relationships/slide" Target="slides/slide24.xml"/><Relationship Id="rId74" Type="http://schemas.openxmlformats.org/officeDocument/2006/relationships/font" Target="fonts/Montserrat-boldItalic.fntdata"/><Relationship Id="rId33" Type="http://schemas.openxmlformats.org/officeDocument/2006/relationships/slide" Target="slides/slide27.xml"/><Relationship Id="rId77" Type="http://schemas.openxmlformats.org/officeDocument/2006/relationships/font" Target="fonts/MontserratMedium-italic.fntdata"/><Relationship Id="rId32" Type="http://schemas.openxmlformats.org/officeDocument/2006/relationships/slide" Target="slides/slide26.xml"/><Relationship Id="rId76" Type="http://schemas.openxmlformats.org/officeDocument/2006/relationships/font" Target="fonts/MontserratMedium-bold.fntdata"/><Relationship Id="rId35" Type="http://schemas.openxmlformats.org/officeDocument/2006/relationships/slide" Target="slides/slide29.xml"/><Relationship Id="rId79" Type="http://schemas.openxmlformats.org/officeDocument/2006/relationships/font" Target="fonts/MontserratLight-regular.fntdata"/><Relationship Id="rId34" Type="http://schemas.openxmlformats.org/officeDocument/2006/relationships/slide" Target="slides/slide28.xml"/><Relationship Id="rId78" Type="http://schemas.openxmlformats.org/officeDocument/2006/relationships/font" Target="fonts/MontserratMedium-boldItalic.fntdata"/><Relationship Id="rId71" Type="http://schemas.openxmlformats.org/officeDocument/2006/relationships/font" Target="fonts/Montserrat-regular.fntdata"/><Relationship Id="rId70" Type="http://schemas.openxmlformats.org/officeDocument/2006/relationships/font" Target="fonts/Inconsolata-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SemiBold-bold.fntdata"/><Relationship Id="rId61" Type="http://schemas.openxmlformats.org/officeDocument/2006/relationships/font" Target="fonts/MontserratSemiBold-regular.fntdata"/><Relationship Id="rId20" Type="http://schemas.openxmlformats.org/officeDocument/2006/relationships/slide" Target="slides/slide14.xml"/><Relationship Id="rId64" Type="http://schemas.openxmlformats.org/officeDocument/2006/relationships/font" Target="fonts/MontserratSemiBold-boldItalic.fntdata"/><Relationship Id="rId63" Type="http://schemas.openxmlformats.org/officeDocument/2006/relationships/font" Target="fonts/MontserratSemiBold-italic.fntdata"/><Relationship Id="rId22" Type="http://schemas.openxmlformats.org/officeDocument/2006/relationships/slide" Target="slides/slide16.xml"/><Relationship Id="rId66" Type="http://schemas.openxmlformats.org/officeDocument/2006/relationships/font" Target="fonts/RobotoMonoMedium-bold.fntdata"/><Relationship Id="rId21" Type="http://schemas.openxmlformats.org/officeDocument/2006/relationships/slide" Target="slides/slide15.xml"/><Relationship Id="rId65" Type="http://schemas.openxmlformats.org/officeDocument/2006/relationships/font" Target="fonts/RobotoMonoMedium-regular.fntdata"/><Relationship Id="rId24" Type="http://schemas.openxmlformats.org/officeDocument/2006/relationships/slide" Target="slides/slide18.xml"/><Relationship Id="rId68" Type="http://schemas.openxmlformats.org/officeDocument/2006/relationships/font" Target="fonts/RobotoMonoMedium-boldItalic.fntdata"/><Relationship Id="rId23" Type="http://schemas.openxmlformats.org/officeDocument/2006/relationships/slide" Target="slides/slide17.xml"/><Relationship Id="rId67" Type="http://schemas.openxmlformats.org/officeDocument/2006/relationships/font" Target="fonts/RobotoMonoMedium-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Inconsolata-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852541e8a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f852541e8a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852541e8a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f852541e8a_0_3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852541e8a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f852541e8a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52541e8a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f852541e8a_0_9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852541e8a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f852541e8a_0_9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852541e8a_0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f852541e8a_0_9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852541e8a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852541e8a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852541e8a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f852541e8a_0_9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852541e8a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852541e8a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852541e8a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f852541e8a_0_10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852541e8a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f852541e8a_0_10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852541e8a_0_10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f852541e8a_0_10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852541e8a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f852541e8a_0_1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852541e8a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f852541e8a_0_1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852541e8a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f852541e8a_0_1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852541e8a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f852541e8a_0_1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852541e8a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f852541e8a_0_1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f852541e8a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f852541e8a_0_1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852541e8a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3f852541e8a_0_1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852541e8a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f852541e8a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852541e8a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f852541e8a_0_1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852541e8a_0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f852541e8a_0_1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852541e8a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f852541e8a_0_1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852541e8a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3f852541e8a_0_1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852541e8a_0_1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3f852541e8a_0_1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852541e8a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3f852541e8a_0_1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852541e8a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f852541e8a_0_1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852541e8a_0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852541e8a_0_1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852541e8a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f852541e8a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852541e8a_0_1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f852541e8a_0_1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852541e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3f852541e8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f852541e8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g3f852541e8a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852541e8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3f852541e8a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852541e8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3f852541e8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852541e8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f852541e8a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852541e8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g3f852541e8a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852541e8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3f852541e8a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f852541e8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g3f852541e8a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f852541e8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g3f852541e8a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852541e8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3f852541e8a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f852541e8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3f852541e8a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f852541e8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3f852541e8a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852541e8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f852541e8a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852541e8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g3f852541e8a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852541e8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3f852541e8a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852541e8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g3f852541e8a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852541e8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3f852541e8a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852541e8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3f852541e8a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f852541e8a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g3f852541e8a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852541e8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g3f852541e8a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f852541e8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g3f852541e8a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f852541e8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g3f852541e8a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f852541e8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g3f852541e8a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Elementos ornamentales-03.png"/>
          <p:cNvPicPr preferRelativeResize="0"/>
          <p:nvPr/>
        </p:nvPicPr>
        <p:blipFill>
          <a:blip r:embed="rId2">
            <a:alphaModFix/>
          </a:blip>
          <a:stretch>
            <a:fillRect/>
          </a:stretch>
        </p:blipFill>
        <p:spPr>
          <a:xfrm>
            <a:off x="4502903" y="-423203"/>
            <a:ext cx="5098294" cy="5143501"/>
          </a:xfrm>
          <a:prstGeom prst="rect">
            <a:avLst/>
          </a:prstGeom>
          <a:noFill/>
          <a:ln>
            <a:noFill/>
          </a:ln>
        </p:spPr>
      </p:pic>
      <p:sp>
        <p:nvSpPr>
          <p:cNvPr id="11" name="Google Shape;11;p2"/>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1pPr>
            <a:lvl2pPr lvl="1"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2pPr>
            <a:lvl3pPr lvl="2"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3pPr>
            <a:lvl4pPr lvl="3"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4pPr>
            <a:lvl5pPr lvl="4"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5pPr>
            <a:lvl6pPr lvl="5"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6pPr>
            <a:lvl7pPr lvl="6"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7pPr>
            <a:lvl8pPr lvl="7"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8pPr>
            <a:lvl9pPr lvl="8"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9pPr>
          </a:lstStyle>
          <a:p/>
        </p:txBody>
      </p:sp>
      <p:sp>
        <p:nvSpPr>
          <p:cNvPr id="12" name="Google Shape;12;p2"/>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1pPr>
            <a:lvl2pPr lvl="1"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2pPr>
            <a:lvl3pPr lvl="2"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3pPr>
            <a:lvl4pPr lvl="3"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4pPr>
            <a:lvl5pPr lvl="4"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5pPr>
            <a:lvl6pPr lvl="5"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6pPr>
            <a:lvl7pPr lvl="6"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7pPr>
            <a:lvl8pPr lvl="7"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8pPr>
            <a:lvl9pPr lvl="8"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4" name="Google Shape;14;p2" title="1_Isologotipo FCEFyN y UNC- original_Sin fondo.png"/>
          <p:cNvPicPr preferRelativeResize="0"/>
          <p:nvPr/>
        </p:nvPicPr>
        <p:blipFill>
          <a:blip r:embed="rId3">
            <a:alphaModFix/>
          </a:blip>
          <a:stretch>
            <a:fillRect/>
          </a:stretch>
        </p:blipFill>
        <p:spPr>
          <a:xfrm>
            <a:off x="78159" y="-76200"/>
            <a:ext cx="4239831" cy="1167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19" name="Google Shape;19;p3"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pic>
        <p:nvPicPr>
          <p:cNvPr id="20" name="Google Shape;20;p3" title="Elementos ornamentales-05.png"/>
          <p:cNvPicPr preferRelativeResize="0"/>
          <p:nvPr/>
        </p:nvPicPr>
        <p:blipFill>
          <a:blip r:embed="rId3">
            <a:alphaModFix/>
          </a:blip>
          <a:stretch>
            <a:fillRect/>
          </a:stretch>
        </p:blipFill>
        <p:spPr>
          <a:xfrm>
            <a:off x="0" y="-1431561"/>
            <a:ext cx="9144003" cy="19913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26" name="Google Shape;26;p4"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8" name="Google Shape;38;p6"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4" name="Google Shape;44;p7"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9" name="Google Shape;49;p8"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9"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1" name="Google Shape;61;p1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2" name="Google Shape;62;p10"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6" name="Google Shape;6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7" name="Google Shape;67;p1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8" name="Google Shape;68;p11"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12"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4D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Inform</a:t>
            </a:r>
            <a:r>
              <a:rPr lang="es"/>
              <a:t>ática y Cálculo Numérico</a:t>
            </a:r>
            <a:endParaRPr/>
          </a:p>
        </p:txBody>
      </p:sp>
      <p:sp>
        <p:nvSpPr>
          <p:cNvPr id="78" name="Google Shape;78;p13"/>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Comisi</a:t>
            </a:r>
            <a:r>
              <a:rPr lang="es"/>
              <a:t>ón 5 - 2026 - Segundo Semestre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de Repetición Indefinida</a:t>
            </a:r>
            <a:endParaRPr sz="7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de Repetición Indefinida</a:t>
            </a:r>
            <a:endParaRPr/>
          </a:p>
        </p:txBody>
      </p:sp>
      <p:sp>
        <p:nvSpPr>
          <p:cNvPr id="89" name="Google Shape;89;p15"/>
          <p:cNvSpPr txBox="1"/>
          <p:nvPr>
            <p:ph idx="1" type="body"/>
          </p:nvPr>
        </p:nvSpPr>
        <p:spPr>
          <a:xfrm>
            <a:off x="311700" y="1152475"/>
            <a:ext cx="8520600" cy="1023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Herramienta del lenguaje que nos permite ejecutar un </a:t>
            </a:r>
            <a:r>
              <a:rPr b="1" lang="es">
                <a:solidFill>
                  <a:srgbClr val="009688"/>
                </a:solidFill>
              </a:rPr>
              <a:t>programa</a:t>
            </a:r>
            <a:r>
              <a:rPr lang="es"/>
              <a:t> determinado </a:t>
            </a:r>
            <a:r>
              <a:rPr b="1" lang="es">
                <a:solidFill>
                  <a:schemeClr val="accent5"/>
                </a:solidFill>
              </a:rPr>
              <a:t>mientras que</a:t>
            </a:r>
            <a:r>
              <a:rPr lang="es"/>
              <a:t> se cumpla una determinada </a:t>
            </a:r>
            <a:r>
              <a:rPr b="1" lang="es">
                <a:solidFill>
                  <a:srgbClr val="FFAB40"/>
                </a:solidFill>
              </a:rPr>
              <a:t>condición</a:t>
            </a:r>
            <a:endParaRPr b="1">
              <a:solidFill>
                <a:srgbClr val="FFAB40"/>
              </a:solidFill>
            </a:endParaRPr>
          </a:p>
        </p:txBody>
      </p:sp>
      <p:sp>
        <p:nvSpPr>
          <p:cNvPr id="90" name="Google Shape;90;p15"/>
          <p:cNvSpPr txBox="1"/>
          <p:nvPr/>
        </p:nvSpPr>
        <p:spPr>
          <a:xfrm>
            <a:off x="3257850" y="2248475"/>
            <a:ext cx="3999900" cy="341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2600"/>
              <a:buFont typeface="Arial"/>
              <a:buNone/>
            </a:pPr>
            <a:r>
              <a:rPr b="0" i="0" lang="es" sz="2600" u="none" cap="none" strike="noStrike">
                <a:solidFill>
                  <a:schemeClr val="accent5"/>
                </a:solidFill>
                <a:latin typeface="Roboto Mono Medium"/>
                <a:ea typeface="Roboto Mono Medium"/>
                <a:cs typeface="Roboto Mono Medium"/>
                <a:sym typeface="Roboto Mono Medium"/>
              </a:rPr>
              <a:t>while</a:t>
            </a:r>
            <a:r>
              <a:rPr b="0" i="0" lang="es" sz="2600" u="none" cap="none" strike="noStrike">
                <a:solidFill>
                  <a:srgbClr val="ADADAD"/>
                </a:solidFill>
                <a:latin typeface="Roboto Mono Medium"/>
                <a:ea typeface="Roboto Mono Medium"/>
                <a:cs typeface="Roboto Mono Medium"/>
                <a:sym typeface="Roboto Mono Medium"/>
              </a:rPr>
              <a:t> (</a:t>
            </a:r>
            <a:r>
              <a:rPr b="0" i="0" lang="es" sz="2600" u="none" cap="none" strike="noStrike">
                <a:solidFill>
                  <a:srgbClr val="FFAB40"/>
                </a:solidFill>
                <a:latin typeface="Roboto Mono Medium"/>
                <a:ea typeface="Roboto Mono Medium"/>
                <a:cs typeface="Roboto Mono Medium"/>
                <a:sym typeface="Roboto Mono Medium"/>
              </a:rPr>
              <a:t>cond</a:t>
            </a: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	   </a:t>
            </a:r>
            <a:r>
              <a:rPr b="0" i="0" lang="es" sz="2600" u="none" cap="none" strike="noStrike">
                <a:solidFill>
                  <a:srgbClr val="009688"/>
                </a:solidFill>
                <a:latin typeface="Roboto Mono Medium"/>
                <a:ea typeface="Roboto Mono Medium"/>
                <a:cs typeface="Roboto Mono Medium"/>
                <a:sym typeface="Roboto Mono Medium"/>
              </a:rPr>
              <a:t>prog</a:t>
            </a:r>
            <a:endParaRPr b="0" i="0" sz="26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6" name="Google Shape;96;p16"/>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 name="Google Shape;97;p16"/>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8" name="Google Shape;98;p16"/>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9" name="Google Shape;99;p16"/>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 name="Google Shape;100;p16"/>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101" name="Google Shape;10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102" name="Google Shape;102;p16"/>
          <p:cNvSpPr/>
          <p:nvPr/>
        </p:nvSpPr>
        <p:spPr>
          <a:xfrm>
            <a:off x="6174250" y="2819275"/>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103" name="Google Shape;103;p16"/>
          <p:cNvSpPr/>
          <p:nvPr/>
        </p:nvSpPr>
        <p:spPr>
          <a:xfrm>
            <a:off x="5265950" y="951250"/>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04" name="Google Shape;104;p16"/>
          <p:cNvSpPr/>
          <p:nvPr/>
        </p:nvSpPr>
        <p:spPr>
          <a:xfrm>
            <a:off x="5265950" y="1540975"/>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105" name="Google Shape;105;p16"/>
          <p:cNvCxnSpPr/>
          <p:nvPr/>
        </p:nvCxnSpPr>
        <p:spPr>
          <a:xfrm>
            <a:off x="5476100" y="142800"/>
            <a:ext cx="0" cy="218700"/>
          </a:xfrm>
          <a:prstGeom prst="straightConnector1">
            <a:avLst/>
          </a:prstGeom>
          <a:noFill/>
          <a:ln cap="flat" cmpd="sng" w="9525">
            <a:solidFill>
              <a:schemeClr val="dk2"/>
            </a:solidFill>
            <a:prstDash val="solid"/>
            <a:round/>
            <a:headEnd len="sm" w="sm" type="none"/>
            <a:tailEnd len="med" w="med" type="triangle"/>
          </a:ln>
        </p:spPr>
      </p:cxnSp>
      <p:cxnSp>
        <p:nvCxnSpPr>
          <p:cNvPr id="106" name="Google Shape;106;p16"/>
          <p:cNvCxnSpPr>
            <a:endCxn id="103" idx="0"/>
          </p:cNvCxnSpPr>
          <p:nvPr/>
        </p:nvCxnSpPr>
        <p:spPr>
          <a:xfrm>
            <a:off x="5476100" y="788350"/>
            <a:ext cx="0" cy="162900"/>
          </a:xfrm>
          <a:prstGeom prst="straightConnector1">
            <a:avLst/>
          </a:prstGeom>
          <a:noFill/>
          <a:ln cap="flat" cmpd="sng" w="9525">
            <a:solidFill>
              <a:schemeClr val="dk2"/>
            </a:solidFill>
            <a:prstDash val="solid"/>
            <a:round/>
            <a:headEnd len="sm" w="sm" type="none"/>
            <a:tailEnd len="med" w="med" type="triangle"/>
          </a:ln>
        </p:spPr>
      </p:cxnSp>
      <p:cxnSp>
        <p:nvCxnSpPr>
          <p:cNvPr id="107" name="Google Shape;107;p16"/>
          <p:cNvCxnSpPr>
            <a:stCxn id="103" idx="2"/>
            <a:endCxn id="104" idx="0"/>
          </p:cNvCxnSpPr>
          <p:nvPr/>
        </p:nvCxnSpPr>
        <p:spPr>
          <a:xfrm>
            <a:off x="5476100" y="1378150"/>
            <a:ext cx="0" cy="162900"/>
          </a:xfrm>
          <a:prstGeom prst="straightConnector1">
            <a:avLst/>
          </a:prstGeom>
          <a:noFill/>
          <a:ln cap="flat" cmpd="sng" w="9525">
            <a:solidFill>
              <a:schemeClr val="dk2"/>
            </a:solidFill>
            <a:prstDash val="solid"/>
            <a:round/>
            <a:headEnd len="sm" w="sm" type="none"/>
            <a:tailEnd len="med" w="med" type="triangle"/>
          </a:ln>
        </p:spPr>
      </p:cxnSp>
      <p:cxnSp>
        <p:nvCxnSpPr>
          <p:cNvPr id="108" name="Google Shape;108;p16"/>
          <p:cNvCxnSpPr>
            <a:stCxn id="104" idx="2"/>
            <a:endCxn id="109" idx="0"/>
          </p:cNvCxnSpPr>
          <p:nvPr/>
        </p:nvCxnSpPr>
        <p:spPr>
          <a:xfrm>
            <a:off x="5476100" y="1967875"/>
            <a:ext cx="0" cy="318900"/>
          </a:xfrm>
          <a:prstGeom prst="straightConnector1">
            <a:avLst/>
          </a:prstGeom>
          <a:noFill/>
          <a:ln cap="flat" cmpd="sng" w="9525">
            <a:solidFill>
              <a:schemeClr val="dk2"/>
            </a:solidFill>
            <a:prstDash val="solid"/>
            <a:round/>
            <a:headEnd len="sm" w="sm" type="none"/>
            <a:tailEnd len="med" w="med" type="triangle"/>
          </a:ln>
        </p:spPr>
      </p:cxnSp>
      <p:sp>
        <p:nvSpPr>
          <p:cNvPr id="109" name="Google Shape;109;p16"/>
          <p:cNvSpPr/>
          <p:nvPr/>
        </p:nvSpPr>
        <p:spPr>
          <a:xfrm>
            <a:off x="5215100" y="2286850"/>
            <a:ext cx="522000" cy="522000"/>
          </a:xfrm>
          <a:prstGeom prst="diamond">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110" name="Google Shape;110;p16"/>
          <p:cNvSpPr/>
          <p:nvPr/>
        </p:nvSpPr>
        <p:spPr>
          <a:xfrm>
            <a:off x="5265950" y="4555700"/>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111" name="Google Shape;111;p16"/>
          <p:cNvCxnSpPr>
            <a:stCxn id="109" idx="2"/>
            <a:endCxn id="110" idx="0"/>
          </p:cNvCxnSpPr>
          <p:nvPr/>
        </p:nvCxnSpPr>
        <p:spPr>
          <a:xfrm>
            <a:off x="5476100" y="2808850"/>
            <a:ext cx="0" cy="1746900"/>
          </a:xfrm>
          <a:prstGeom prst="straightConnector1">
            <a:avLst/>
          </a:prstGeom>
          <a:noFill/>
          <a:ln cap="flat" cmpd="sng" w="9525">
            <a:solidFill>
              <a:schemeClr val="dk2"/>
            </a:solidFill>
            <a:prstDash val="solid"/>
            <a:round/>
            <a:headEnd len="sm" w="sm" type="none"/>
            <a:tailEnd len="med" w="med" type="triangle"/>
          </a:ln>
        </p:spPr>
      </p:cxnSp>
      <p:cxnSp>
        <p:nvCxnSpPr>
          <p:cNvPr id="112" name="Google Shape;112;p16"/>
          <p:cNvCxnSpPr>
            <a:stCxn id="102" idx="0"/>
            <a:endCxn id="109" idx="3"/>
          </p:cNvCxnSpPr>
          <p:nvPr/>
        </p:nvCxnSpPr>
        <p:spPr>
          <a:xfrm flipH="1" rot="5400000">
            <a:off x="5924950" y="2359825"/>
            <a:ext cx="271500" cy="647400"/>
          </a:xfrm>
          <a:prstGeom prst="bentConnector2">
            <a:avLst/>
          </a:prstGeom>
          <a:noFill/>
          <a:ln cap="flat" cmpd="sng" w="9525">
            <a:solidFill>
              <a:schemeClr val="dk2"/>
            </a:solidFill>
            <a:prstDash val="solid"/>
            <a:round/>
            <a:headEnd len="med" w="med" type="triangle"/>
            <a:tailEnd len="sm" w="sm" type="none"/>
          </a:ln>
        </p:spPr>
      </p:cxnSp>
      <p:sp>
        <p:nvSpPr>
          <p:cNvPr id="113" name="Google Shape;113;p16"/>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114" name="Google Shape;114;p16"/>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a:t>
            </a:r>
            <a:endParaRPr b="0" i="0" sz="1600" u="none" cap="none" strike="noStrike">
              <a:solidFill>
                <a:srgbClr val="00CA4E"/>
              </a:solidFill>
              <a:latin typeface="Arial"/>
              <a:ea typeface="Arial"/>
              <a:cs typeface="Arial"/>
              <a:sym typeface="Arial"/>
            </a:endParaRPr>
          </a:p>
        </p:txBody>
      </p:sp>
      <p:sp>
        <p:nvSpPr>
          <p:cNvPr id="115" name="Google Shape;115;p16"/>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116" name="Google Shape;116;p16"/>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117" name="Google Shape;117;p16"/>
          <p:cNvSpPr/>
          <p:nvPr/>
        </p:nvSpPr>
        <p:spPr>
          <a:xfrm>
            <a:off x="6174250" y="3468850"/>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118" name="Google Shape;118;p16"/>
          <p:cNvSpPr/>
          <p:nvPr/>
        </p:nvSpPr>
        <p:spPr>
          <a:xfrm>
            <a:off x="6174250" y="4118425"/>
            <a:ext cx="420300" cy="426900"/>
          </a:xfrm>
          <a:prstGeom prst="roundRect">
            <a:avLst>
              <a:gd fmla="val 7941" name="adj"/>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119" name="Google Shape;119;p16"/>
          <p:cNvCxnSpPr>
            <a:stCxn id="102" idx="2"/>
            <a:endCxn id="117" idx="0"/>
          </p:cNvCxnSpPr>
          <p:nvPr/>
        </p:nvCxnSpPr>
        <p:spPr>
          <a:xfrm>
            <a:off x="6384400" y="3246175"/>
            <a:ext cx="0" cy="222600"/>
          </a:xfrm>
          <a:prstGeom prst="straightConnector1">
            <a:avLst/>
          </a:prstGeom>
          <a:noFill/>
          <a:ln cap="flat" cmpd="sng" w="9525">
            <a:solidFill>
              <a:schemeClr val="dk2"/>
            </a:solidFill>
            <a:prstDash val="solid"/>
            <a:round/>
            <a:headEnd len="sm" w="sm" type="none"/>
            <a:tailEnd len="med" w="med" type="triangle"/>
          </a:ln>
        </p:spPr>
      </p:cxnSp>
      <p:cxnSp>
        <p:nvCxnSpPr>
          <p:cNvPr id="120" name="Google Shape;120;p16"/>
          <p:cNvCxnSpPr>
            <a:stCxn id="117" idx="2"/>
            <a:endCxn id="118" idx="0"/>
          </p:cNvCxnSpPr>
          <p:nvPr/>
        </p:nvCxnSpPr>
        <p:spPr>
          <a:xfrm>
            <a:off x="6384400" y="3895750"/>
            <a:ext cx="0" cy="222600"/>
          </a:xfrm>
          <a:prstGeom prst="straightConnector1">
            <a:avLst/>
          </a:prstGeom>
          <a:noFill/>
          <a:ln cap="flat" cmpd="sng" w="9525">
            <a:solidFill>
              <a:schemeClr val="dk2"/>
            </a:solidFill>
            <a:prstDash val="solid"/>
            <a:round/>
            <a:headEnd len="sm" w="sm" type="none"/>
            <a:tailEnd len="med" w="med" type="triangle"/>
          </a:ln>
        </p:spPr>
      </p:cxnSp>
      <p:cxnSp>
        <p:nvCxnSpPr>
          <p:cNvPr id="121" name="Google Shape;121;p16"/>
          <p:cNvCxnSpPr>
            <a:stCxn id="118" idx="2"/>
            <a:endCxn id="109"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chemeClr val="dk2"/>
            </a:solidFill>
            <a:prstDash val="solid"/>
            <a:round/>
            <a:headEnd len="sm" w="sm" type="none"/>
            <a:tailEnd len="med" w="med" type="triangle"/>
          </a:ln>
        </p:spPr>
      </p:cxnSp>
      <p:sp>
        <p:nvSpPr>
          <p:cNvPr id="122" name="Google Shape;122;p16"/>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123" name="Google Shape;123;p16"/>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edad_suma=0</a:t>
            </a:r>
            <a:endParaRPr b="0" i="0" sz="1600" u="none" cap="none" strike="noStrike">
              <a:solidFill>
                <a:srgbClr val="00CA4E"/>
              </a:solidFill>
              <a:latin typeface="Arial"/>
              <a:ea typeface="Arial"/>
              <a:cs typeface="Arial"/>
              <a:sym typeface="Arial"/>
            </a:endParaRPr>
          </a:p>
        </p:txBody>
      </p:sp>
      <p:sp>
        <p:nvSpPr>
          <p:cNvPr id="124" name="Google Shape;124;p16"/>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a:t>
            </a:r>
            <a:endParaRPr b="0" i="0" sz="1600" u="none" cap="none" strike="noStrike">
              <a:solidFill>
                <a:srgbClr val="00CA4E"/>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Terminación</a:t>
            </a:r>
            <a:endParaRPr sz="7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este programa?</a:t>
            </a:r>
            <a:endParaRPr/>
          </a:p>
        </p:txBody>
      </p:sp>
      <p:sp>
        <p:nvSpPr>
          <p:cNvPr id="135" name="Google Shape;135;p18"/>
          <p:cNvSpPr/>
          <p:nvPr/>
        </p:nvSpPr>
        <p:spPr>
          <a:xfrm rot="10800000">
            <a:off x="1839689" y="1621725"/>
            <a:ext cx="5464200" cy="29559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6" name="Google Shape;136;p18"/>
          <p:cNvSpPr/>
          <p:nvPr/>
        </p:nvSpPr>
        <p:spPr>
          <a:xfrm rot="10800000">
            <a:off x="1839686" y="1182427"/>
            <a:ext cx="5464200" cy="591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7" name="Google Shape;137;p18"/>
          <p:cNvSpPr/>
          <p:nvPr/>
        </p:nvSpPr>
        <p:spPr>
          <a:xfrm>
            <a:off x="2065072" y="1292534"/>
            <a:ext cx="288600" cy="2886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8" name="Google Shape;138;p18"/>
          <p:cNvSpPr/>
          <p:nvPr/>
        </p:nvSpPr>
        <p:spPr>
          <a:xfrm>
            <a:off x="2492124" y="1292534"/>
            <a:ext cx="288600" cy="2886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9" name="Google Shape;139;p18"/>
          <p:cNvSpPr/>
          <p:nvPr/>
        </p:nvSpPr>
        <p:spPr>
          <a:xfrm>
            <a:off x="2919177" y="1292534"/>
            <a:ext cx="288600" cy="2886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0" name="Google Shape;140;p18"/>
          <p:cNvSpPr txBox="1"/>
          <p:nvPr/>
        </p:nvSpPr>
        <p:spPr>
          <a:xfrm>
            <a:off x="1840111" y="1662305"/>
            <a:ext cx="5464200" cy="27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1</a:t>
            </a:r>
            <a:r>
              <a:rPr lang="es" sz="2100">
                <a:solidFill>
                  <a:srgbClr val="383A42"/>
                </a:solidFill>
                <a:latin typeface="Ubuntu Mono"/>
                <a:ea typeface="Ubuntu Mono"/>
                <a:cs typeface="Ubuntu Mono"/>
                <a:sym typeface="Ubuntu Mono"/>
              </a:rPr>
              <a:t> </a:t>
            </a:r>
            <a:r>
              <a:rPr lang="es" sz="2100">
                <a:solidFill>
                  <a:srgbClr val="27292F"/>
                </a:solidFill>
                <a:latin typeface="Ubuntu Mono"/>
                <a:ea typeface="Ubuntu Mono"/>
                <a:cs typeface="Ubuntu Mono"/>
                <a:sym typeface="Ubuntu Mono"/>
              </a:rPr>
              <a:t>int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986801"/>
                </a:solidFill>
                <a:latin typeface="Ubuntu Mono"/>
                <a:ea typeface="Ubuntu Mono"/>
                <a:cs typeface="Ubuntu Mono"/>
                <a:sym typeface="Ubuntu Mono"/>
              </a:rPr>
              <a:t>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2</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3</a:t>
            </a:r>
            <a:r>
              <a:rPr lang="es" sz="2100">
                <a:solidFill>
                  <a:srgbClr val="383A42"/>
                </a:solidFill>
                <a:latin typeface="Ubuntu Mono"/>
                <a:ea typeface="Ubuntu Mono"/>
                <a:cs typeface="Ubuntu Mono"/>
                <a:sym typeface="Ubuntu Mono"/>
              </a:rPr>
              <a:t> </a:t>
            </a:r>
            <a:r>
              <a:rPr lang="es" sz="2100">
                <a:solidFill>
                  <a:srgbClr val="A626A4"/>
                </a:solidFill>
                <a:latin typeface="Ubuntu Mono"/>
                <a:ea typeface="Ubuntu Mono"/>
                <a:cs typeface="Ubuntu Mono"/>
                <a:sym typeface="Ubuntu Mono"/>
              </a:rPr>
              <a:t>while</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&lt;</a:t>
            </a:r>
            <a:r>
              <a:rPr lang="es" sz="2100">
                <a:solidFill>
                  <a:srgbClr val="986801"/>
                </a:solidFill>
                <a:latin typeface="Ubuntu Mono"/>
                <a:ea typeface="Ubuntu Mono"/>
                <a:cs typeface="Ubuntu Mono"/>
                <a:sym typeface="Ubuntu Mono"/>
              </a:rPr>
              <a:t>10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4</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5</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cout</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50A14F"/>
                </a:solidFill>
                <a:latin typeface="Ubuntu Mono"/>
                <a:ea typeface="Ubuntu Mono"/>
                <a:cs typeface="Ubuntu Mono"/>
                <a:sym typeface="Ubuntu Mono"/>
              </a:rPr>
              <a:t>"Numero: "</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6</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7</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p:nvPr/>
        </p:nvSpPr>
        <p:spPr>
          <a:xfrm rot="10800000">
            <a:off x="1839689" y="1621725"/>
            <a:ext cx="5464200" cy="29559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46" name="Google Shape;146;p19"/>
          <p:cNvSpPr/>
          <p:nvPr/>
        </p:nvSpPr>
        <p:spPr>
          <a:xfrm rot="10800000">
            <a:off x="1839686" y="1182427"/>
            <a:ext cx="5464200" cy="591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7" name="Google Shape;147;p19"/>
          <p:cNvSpPr/>
          <p:nvPr/>
        </p:nvSpPr>
        <p:spPr>
          <a:xfrm>
            <a:off x="2065072" y="1292534"/>
            <a:ext cx="288600" cy="2886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8" name="Google Shape;148;p19"/>
          <p:cNvSpPr/>
          <p:nvPr/>
        </p:nvSpPr>
        <p:spPr>
          <a:xfrm>
            <a:off x="2492124" y="1292534"/>
            <a:ext cx="288600" cy="2886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49" name="Google Shape;149;p19"/>
          <p:cNvSpPr/>
          <p:nvPr/>
        </p:nvSpPr>
        <p:spPr>
          <a:xfrm>
            <a:off x="2919177" y="1292534"/>
            <a:ext cx="288600" cy="2886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50" name="Google Shape;150;p19"/>
          <p:cNvSpPr txBox="1"/>
          <p:nvPr/>
        </p:nvSpPr>
        <p:spPr>
          <a:xfrm>
            <a:off x="1840111" y="1662305"/>
            <a:ext cx="5464200" cy="27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1</a:t>
            </a:r>
            <a:r>
              <a:rPr lang="es" sz="2100">
                <a:solidFill>
                  <a:srgbClr val="383A42"/>
                </a:solidFill>
                <a:latin typeface="Ubuntu Mono"/>
                <a:ea typeface="Ubuntu Mono"/>
                <a:cs typeface="Ubuntu Mono"/>
                <a:sym typeface="Ubuntu Mono"/>
              </a:rPr>
              <a:t> </a:t>
            </a:r>
            <a:r>
              <a:rPr lang="es" sz="2100">
                <a:solidFill>
                  <a:srgbClr val="27292F"/>
                </a:solidFill>
                <a:latin typeface="Ubuntu Mono"/>
                <a:ea typeface="Ubuntu Mono"/>
                <a:cs typeface="Ubuntu Mono"/>
                <a:sym typeface="Ubuntu Mono"/>
              </a:rPr>
              <a:t>int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986801"/>
                </a:solidFill>
                <a:latin typeface="Ubuntu Mono"/>
                <a:ea typeface="Ubuntu Mono"/>
                <a:cs typeface="Ubuntu Mono"/>
                <a:sym typeface="Ubuntu Mono"/>
              </a:rPr>
              <a:t>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2</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3</a:t>
            </a:r>
            <a:r>
              <a:rPr lang="es" sz="2100">
                <a:solidFill>
                  <a:srgbClr val="383A42"/>
                </a:solidFill>
                <a:latin typeface="Ubuntu Mono"/>
                <a:ea typeface="Ubuntu Mono"/>
                <a:cs typeface="Ubuntu Mono"/>
                <a:sym typeface="Ubuntu Mono"/>
              </a:rPr>
              <a:t> </a:t>
            </a:r>
            <a:r>
              <a:rPr lang="es" sz="2100">
                <a:solidFill>
                  <a:srgbClr val="A626A4"/>
                </a:solidFill>
                <a:latin typeface="Ubuntu Mono"/>
                <a:ea typeface="Ubuntu Mono"/>
                <a:cs typeface="Ubuntu Mono"/>
                <a:sym typeface="Ubuntu Mono"/>
              </a:rPr>
              <a:t>while</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&lt;</a:t>
            </a:r>
            <a:r>
              <a:rPr lang="es" sz="2100">
                <a:solidFill>
                  <a:srgbClr val="986801"/>
                </a:solidFill>
                <a:latin typeface="Ubuntu Mono"/>
                <a:ea typeface="Ubuntu Mono"/>
                <a:cs typeface="Ubuntu Mono"/>
                <a:sym typeface="Ubuntu Mono"/>
              </a:rPr>
              <a:t>10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4</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5</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cout</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50A14F"/>
                </a:solidFill>
                <a:latin typeface="Ubuntu Mono"/>
                <a:ea typeface="Ubuntu Mono"/>
                <a:cs typeface="Ubuntu Mono"/>
                <a:sym typeface="Ubuntu Mono"/>
              </a:rPr>
              <a:t>"Numero: "</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6</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7</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p:txBody>
      </p:sp>
      <p:sp>
        <p:nvSpPr>
          <p:cNvPr id="151" name="Google Shape;15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este programa?</a:t>
            </a:r>
            <a:endParaRPr/>
          </a:p>
        </p:txBody>
      </p:sp>
      <p:sp>
        <p:nvSpPr>
          <p:cNvPr id="152" name="Google Shape;152;p19"/>
          <p:cNvSpPr/>
          <p:nvPr/>
        </p:nvSpPr>
        <p:spPr>
          <a:xfrm rot="-531091">
            <a:off x="1562883" y="3750522"/>
            <a:ext cx="7231221" cy="1054169"/>
          </a:xfrm>
          <a:prstGeom prst="roundRect">
            <a:avLst>
              <a:gd fmla="val 9075"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⚠️⚠️⚠️SIEMPRE CONTROLAR QUE LAS </a:t>
            </a:r>
            <a:r>
              <a:rPr b="1" i="0" lang="es" sz="1400" u="none" cap="none" strike="noStrike">
                <a:solidFill>
                  <a:srgbClr val="000000"/>
                </a:solidFill>
              </a:rPr>
              <a:t>VARIABLES</a:t>
            </a:r>
            <a:r>
              <a:rPr b="0" i="0" lang="es" sz="1400" u="none" cap="none" strike="noStrike">
                <a:solidFill>
                  <a:srgbClr val="000000"/>
                </a:solidFill>
                <a:latin typeface="Arial"/>
                <a:ea typeface="Arial"/>
                <a:cs typeface="Arial"/>
                <a:sym typeface="Arial"/>
              </a:rPr>
              <a:t> QUE PERTENECEN A LA  </a:t>
            </a:r>
            <a:r>
              <a:rPr b="1" lang="es"/>
              <a:t>CONDICIÓN</a:t>
            </a:r>
            <a:r>
              <a:rPr b="1" i="0" lang="es" sz="1400" u="none" cap="none" strike="noStrike">
                <a:solidFill>
                  <a:srgbClr val="000000"/>
                </a:solidFill>
              </a:rPr>
              <a:t> DE CORTE</a:t>
            </a:r>
            <a:r>
              <a:rPr b="0" i="0" lang="es" sz="1400" u="none" cap="none" strike="noStrike">
                <a:solidFill>
                  <a:srgbClr val="000000"/>
                </a:solidFill>
                <a:latin typeface="Arial"/>
                <a:ea typeface="Arial"/>
                <a:cs typeface="Arial"/>
                <a:sym typeface="Arial"/>
              </a:rPr>
              <a:t> SE MODIFIQUEN DE MANERA QUE </a:t>
            </a:r>
            <a:r>
              <a:rPr b="1" i="0" lang="es" sz="1400" u="none" cap="none" strike="noStrike">
                <a:solidFill>
                  <a:srgbClr val="000000"/>
                </a:solidFill>
              </a:rPr>
              <a:t>EN ALGUN MOMEN</a:t>
            </a:r>
            <a:r>
              <a:rPr b="1" lang="es"/>
              <a:t>T</a:t>
            </a:r>
            <a:r>
              <a:rPr b="1" i="0" lang="es" sz="1400" u="none" cap="none" strike="noStrike">
                <a:solidFill>
                  <a:srgbClr val="000000"/>
                </a:solidFill>
              </a:rPr>
              <a:t>O SE ALCANCE LA TERMINACIÓN DEL CICLO</a:t>
            </a:r>
            <a:r>
              <a:rPr b="0" i="0" lang="e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Validación de Datos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Validación de Datos</a:t>
            </a:r>
            <a:endParaRPr/>
          </a:p>
        </p:txBody>
      </p:sp>
      <p:sp>
        <p:nvSpPr>
          <p:cNvPr id="163" name="Google Shape;163;p21"/>
          <p:cNvSpPr txBox="1"/>
          <p:nvPr>
            <p:ph idx="1" type="body"/>
          </p:nvPr>
        </p:nvSpPr>
        <p:spPr>
          <a:xfrm>
            <a:off x="311700" y="1152475"/>
            <a:ext cx="249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s" sz="1500"/>
              <a:t>Se necesita un programa en el que un usuario ingrese un valor entero que representa la temperatura medida por un sensor, el cual registra valores entre -25 y 87 grados. En caso de ingresar un valor fuera del rango, el programa debe volver a pedir un nuevo ingreso hasta que sea válido.</a:t>
            </a:r>
            <a:endParaRPr sz="1500"/>
          </a:p>
        </p:txBody>
      </p:sp>
      <p:sp>
        <p:nvSpPr>
          <p:cNvPr id="164" name="Google Shape;164;p21"/>
          <p:cNvSpPr/>
          <p:nvPr/>
        </p:nvSpPr>
        <p:spPr>
          <a:xfrm rot="10800000">
            <a:off x="3253578" y="1699075"/>
            <a:ext cx="53901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65" name="Google Shape;165;p21"/>
          <p:cNvSpPr/>
          <p:nvPr/>
        </p:nvSpPr>
        <p:spPr>
          <a:xfrm rot="10800000">
            <a:off x="3253582" y="1304800"/>
            <a:ext cx="53901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66" name="Google Shape;166;p21"/>
          <p:cNvSpPr/>
          <p:nvPr/>
        </p:nvSpPr>
        <p:spPr>
          <a:xfrm>
            <a:off x="3455961" y="14036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67" name="Google Shape;167;p21"/>
          <p:cNvSpPr/>
          <p:nvPr/>
        </p:nvSpPr>
        <p:spPr>
          <a:xfrm>
            <a:off x="3839164" y="14036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68" name="Google Shape;168;p21"/>
          <p:cNvSpPr/>
          <p:nvPr/>
        </p:nvSpPr>
        <p:spPr>
          <a:xfrm>
            <a:off x="4222366" y="14036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69" name="Google Shape;169;p21"/>
          <p:cNvSpPr txBox="1"/>
          <p:nvPr/>
        </p:nvSpPr>
        <p:spPr>
          <a:xfrm>
            <a:off x="3254224" y="1739030"/>
            <a:ext cx="53901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1</a:t>
            </a:r>
            <a:r>
              <a:rPr lang="es" sz="1900">
                <a:solidFill>
                  <a:srgbClr val="383A42"/>
                </a:solidFill>
                <a:latin typeface="Ubuntu Mono"/>
                <a:ea typeface="Ubuntu Mono"/>
                <a:cs typeface="Ubuntu Mono"/>
                <a:sym typeface="Ubuntu Mono"/>
              </a:rPr>
              <a:t> </a:t>
            </a:r>
            <a:r>
              <a:rPr lang="es" sz="1900">
                <a:solidFill>
                  <a:srgbClr val="27292F"/>
                </a:solidFill>
                <a:latin typeface="Ubuntu Mono"/>
                <a:ea typeface="Ubuntu Mono"/>
                <a:cs typeface="Ubuntu Mono"/>
                <a:sym typeface="Ubuntu Mono"/>
              </a:rPr>
              <a:t>int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2</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cout</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&lt;&lt;</a:t>
            </a:r>
            <a:r>
              <a:rPr lang="es" sz="1900">
                <a:solidFill>
                  <a:srgbClr val="383A42"/>
                </a:solidFill>
                <a:latin typeface="Ubuntu Mono"/>
                <a:ea typeface="Ubuntu Mono"/>
                <a:cs typeface="Ubuntu Mono"/>
                <a:sym typeface="Ubuntu Mono"/>
              </a:rPr>
              <a:t> </a:t>
            </a:r>
            <a:r>
              <a:rPr lang="es" sz="1900">
                <a:solidFill>
                  <a:srgbClr val="50A14F"/>
                </a:solidFill>
                <a:latin typeface="Ubuntu Mono"/>
                <a:ea typeface="Ubuntu Mono"/>
                <a:cs typeface="Ubuntu Mono"/>
                <a:sym typeface="Ubuntu Mono"/>
              </a:rPr>
              <a:t>"Ingrese T entre -25 y 87"</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3</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cin</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&gt;&gt;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4</a:t>
            </a:r>
            <a:r>
              <a:rPr lang="es" sz="1900">
                <a:solidFill>
                  <a:srgbClr val="383A42"/>
                </a:solidFill>
                <a:latin typeface="Ubuntu Mono"/>
                <a:ea typeface="Ubuntu Mono"/>
                <a:cs typeface="Ubuntu Mono"/>
                <a:sym typeface="Ubuntu Mono"/>
              </a:rPr>
              <a:t> </a:t>
            </a:r>
            <a:r>
              <a:rPr lang="es" sz="1900">
                <a:solidFill>
                  <a:srgbClr val="A626A4"/>
                </a:solidFill>
                <a:latin typeface="Ubuntu Mono"/>
                <a:ea typeface="Ubuntu Mono"/>
                <a:cs typeface="Ubuntu Mono"/>
                <a:sym typeface="Ubuntu Mono"/>
              </a:rPr>
              <a:t>while</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0184BC"/>
                </a:solidFill>
                <a:latin typeface="Ubuntu Mono"/>
                <a:ea typeface="Ubuntu Mono"/>
                <a:cs typeface="Ubuntu Mono"/>
                <a:sym typeface="Ubuntu Mono"/>
              </a:rPr>
              <a:t>&lt;-</a:t>
            </a:r>
            <a:r>
              <a:rPr lang="es" sz="1900">
                <a:solidFill>
                  <a:srgbClr val="986801"/>
                </a:solidFill>
                <a:latin typeface="Ubuntu Mono"/>
                <a:ea typeface="Ubuntu Mono"/>
                <a:cs typeface="Ubuntu Mono"/>
                <a:sym typeface="Ubuntu Mono"/>
              </a:rPr>
              <a:t>25</a:t>
            </a:r>
            <a:r>
              <a:rPr lang="es" sz="1900">
                <a:solidFill>
                  <a:srgbClr val="383A42"/>
                </a:solidFill>
                <a:latin typeface="Ubuntu Mono"/>
                <a:ea typeface="Ubuntu Mono"/>
                <a:cs typeface="Ubuntu Mono"/>
                <a:sym typeface="Ubuntu Mono"/>
              </a:rPr>
              <a:t> </a:t>
            </a:r>
            <a:r>
              <a:rPr lang="es" sz="1900">
                <a:solidFill>
                  <a:srgbClr val="A626A4"/>
                </a:solidFill>
                <a:latin typeface="Ubuntu Mono"/>
                <a:ea typeface="Ubuntu Mono"/>
                <a:cs typeface="Ubuntu Mono"/>
                <a:sym typeface="Ubuntu Mono"/>
              </a:rPr>
              <a:t>or</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0184BC"/>
                </a:solidFill>
                <a:latin typeface="Ubuntu Mono"/>
                <a:ea typeface="Ubuntu Mono"/>
                <a:cs typeface="Ubuntu Mono"/>
                <a:sym typeface="Ubuntu Mono"/>
              </a:rPr>
              <a:t>&gt;</a:t>
            </a:r>
            <a:r>
              <a:rPr lang="es" sz="1900">
                <a:solidFill>
                  <a:srgbClr val="986801"/>
                </a:solidFill>
                <a:latin typeface="Ubuntu Mono"/>
                <a:ea typeface="Ubuntu Mono"/>
                <a:cs typeface="Ubuntu Mono"/>
                <a:sym typeface="Ubuntu Mono"/>
              </a:rPr>
              <a:t>87</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5</a:t>
            </a:r>
            <a:r>
              <a:rPr lang="es" sz="1900">
                <a:solidFill>
                  <a:srgbClr val="383A42"/>
                </a:solidFill>
                <a:latin typeface="Ubuntu Mono"/>
                <a:ea typeface="Ubuntu Mono"/>
                <a:cs typeface="Ubuntu Mono"/>
                <a:sym typeface="Ubuntu Mono"/>
              </a:rPr>
              <a:t> {</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6</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cout</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&lt;&lt;</a:t>
            </a:r>
            <a:r>
              <a:rPr lang="es" sz="1900">
                <a:solidFill>
                  <a:srgbClr val="383A42"/>
                </a:solidFill>
                <a:latin typeface="Ubuntu Mono"/>
                <a:ea typeface="Ubuntu Mono"/>
                <a:cs typeface="Ubuntu Mono"/>
                <a:sym typeface="Ubuntu Mono"/>
              </a:rPr>
              <a:t> </a:t>
            </a:r>
            <a:r>
              <a:rPr lang="es" sz="1900">
                <a:solidFill>
                  <a:srgbClr val="50A14F"/>
                </a:solidFill>
                <a:latin typeface="Ubuntu Mono"/>
                <a:ea typeface="Ubuntu Mono"/>
                <a:cs typeface="Ubuntu Mono"/>
                <a:sym typeface="Ubuntu Mono"/>
              </a:rPr>
              <a:t>"Error, vuelva a ingresar”;</a:t>
            </a:r>
            <a:endParaRPr sz="1900">
              <a:solidFill>
                <a:srgbClr val="50A14F"/>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7</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cin</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&gt;&gt;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8</a:t>
            </a:r>
            <a:r>
              <a:rPr lang="es" sz="1900">
                <a:solidFill>
                  <a:srgbClr val="383A42"/>
                </a:solidFill>
                <a:latin typeface="Ubuntu Mono"/>
                <a:ea typeface="Ubuntu Mono"/>
                <a:cs typeface="Ubuntu Mono"/>
                <a:sym typeface="Ubuntu Mono"/>
              </a:rPr>
              <a:t> }</a:t>
            </a:r>
            <a:endParaRPr sz="1900">
              <a:solidFill>
                <a:srgbClr val="383A42"/>
              </a:solidFill>
              <a:latin typeface="Ubuntu Mono"/>
              <a:ea typeface="Ubuntu Mono"/>
              <a:cs typeface="Ubuntu Mono"/>
              <a:sym typeface="Ubuntu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ph type="title"/>
          </p:nvPr>
        </p:nvSpPr>
        <p:spPr>
          <a:xfrm>
            <a:off x="490250" y="450150"/>
            <a:ext cx="8743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Contadores/Acumuladores</a:t>
            </a:r>
            <a:endParaRPr/>
          </a:p>
          <a:p>
            <a:pPr indent="0" lvl="0" marL="0" rtl="0" algn="l">
              <a:spcBef>
                <a:spcPts val="0"/>
              </a:spcBef>
              <a:spcAft>
                <a:spcPts val="0"/>
              </a:spcAft>
              <a:buNone/>
            </a:pPr>
            <a:r>
              <a:rPr lang="es"/>
              <a:t>Sumatoria hasta 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 Contadores/Acumuladores</a:t>
            </a:r>
            <a:endParaRPr/>
          </a:p>
        </p:txBody>
      </p:sp>
      <p:sp>
        <p:nvSpPr>
          <p:cNvPr id="180" name="Google Shape;180;p23"/>
          <p:cNvSpPr txBox="1"/>
          <p:nvPr>
            <p:ph idx="1" type="body"/>
          </p:nvPr>
        </p:nvSpPr>
        <p:spPr>
          <a:xfrm>
            <a:off x="311700" y="1152475"/>
            <a:ext cx="3317400" cy="1613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81" name="Google Shape;181;p23"/>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82" name="Google Shape;182;p23"/>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83" name="Google Shape;183;p23"/>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84" name="Google Shape;184;p23"/>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85" name="Google Shape;185;p23"/>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86" name="Google Shape;186;p23"/>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87" name="Google Shape;187;p23"/>
          <p:cNvSpPr/>
          <p:nvPr/>
        </p:nvSpPr>
        <p:spPr>
          <a:xfrm>
            <a:off x="6187975" y="2107725"/>
            <a:ext cx="860100" cy="2991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3"/>
          <p:cNvSpPr/>
          <p:nvPr/>
        </p:nvSpPr>
        <p:spPr>
          <a:xfrm>
            <a:off x="569850" y="276565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Inicializar el contador</a:t>
            </a:r>
            <a:endParaRPr b="0" i="0" sz="1400" u="none" cap="none" strike="noStrike">
              <a:solidFill>
                <a:schemeClr val="dk2"/>
              </a:solidFill>
              <a:latin typeface="Arial"/>
              <a:ea typeface="Arial"/>
              <a:cs typeface="Arial"/>
              <a:sym typeface="Arial"/>
            </a:endParaRPr>
          </a:p>
        </p:txBody>
      </p:sp>
      <p:cxnSp>
        <p:nvCxnSpPr>
          <p:cNvPr id="189" name="Google Shape;189;p23"/>
          <p:cNvCxnSpPr>
            <a:stCxn id="188" idx="3"/>
            <a:endCxn id="187" idx="1"/>
          </p:cNvCxnSpPr>
          <p:nvPr/>
        </p:nvCxnSpPr>
        <p:spPr>
          <a:xfrm flipH="1" rot="10800000">
            <a:off x="3268950" y="2257300"/>
            <a:ext cx="2919000" cy="704400"/>
          </a:xfrm>
          <a:prstGeom prst="straightConnector1">
            <a:avLst/>
          </a:prstGeom>
          <a:noFill/>
          <a:ln cap="flat" cmpd="sng" w="19050">
            <a:solidFill>
              <a:srgbClr val="188038"/>
            </a:solidFill>
            <a:prstDash val="solid"/>
            <a:round/>
            <a:headEnd len="sm" w="sm" type="none"/>
            <a:tailEnd len="sm" w="sm" type="none"/>
          </a:ln>
        </p:spPr>
      </p:cxnSp>
      <p:sp>
        <p:nvSpPr>
          <p:cNvPr id="190" name="Google Shape;190;p23"/>
          <p:cNvSpPr/>
          <p:nvPr/>
        </p:nvSpPr>
        <p:spPr>
          <a:xfrm>
            <a:off x="6787800" y="2376800"/>
            <a:ext cx="8601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3"/>
          <p:cNvSpPr/>
          <p:nvPr/>
        </p:nvSpPr>
        <p:spPr>
          <a:xfrm>
            <a:off x="569850" y="3282575"/>
            <a:ext cx="2699100" cy="5304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la condición de ejecución del cuerpo del ciclo</a:t>
            </a:r>
            <a:endParaRPr b="0" i="0" sz="1400" u="none" cap="none" strike="noStrike">
              <a:solidFill>
                <a:schemeClr val="dk2"/>
              </a:solidFill>
              <a:latin typeface="Arial"/>
              <a:ea typeface="Arial"/>
              <a:cs typeface="Arial"/>
              <a:sym typeface="Arial"/>
            </a:endParaRPr>
          </a:p>
        </p:txBody>
      </p:sp>
      <p:cxnSp>
        <p:nvCxnSpPr>
          <p:cNvPr id="192" name="Google Shape;192;p23"/>
          <p:cNvCxnSpPr>
            <a:stCxn id="191" idx="3"/>
            <a:endCxn id="190" idx="1"/>
          </p:cNvCxnSpPr>
          <p:nvPr/>
        </p:nvCxnSpPr>
        <p:spPr>
          <a:xfrm flipH="1" rot="10800000">
            <a:off x="3268950" y="2549075"/>
            <a:ext cx="3519000" cy="998700"/>
          </a:xfrm>
          <a:prstGeom prst="straightConnector1">
            <a:avLst/>
          </a:prstGeom>
          <a:noFill/>
          <a:ln cap="flat" cmpd="sng" w="19050">
            <a:solidFill>
              <a:srgbClr val="188038"/>
            </a:solidFill>
            <a:prstDash val="solid"/>
            <a:round/>
            <a:headEnd len="sm" w="sm" type="none"/>
            <a:tailEnd len="sm" w="sm" type="none"/>
          </a:ln>
        </p:spPr>
      </p:cxnSp>
      <p:sp>
        <p:nvSpPr>
          <p:cNvPr id="193" name="Google Shape;193;p23"/>
          <p:cNvSpPr/>
          <p:nvPr/>
        </p:nvSpPr>
        <p:spPr>
          <a:xfrm>
            <a:off x="6736975" y="2938175"/>
            <a:ext cx="11208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3"/>
          <p:cNvSpPr/>
          <p:nvPr/>
        </p:nvSpPr>
        <p:spPr>
          <a:xfrm>
            <a:off x="569850" y="393780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el cuerpo del bucle</a:t>
            </a:r>
            <a:endParaRPr b="0" i="0" sz="1400" u="none" cap="none" strike="noStrike">
              <a:solidFill>
                <a:schemeClr val="dk2"/>
              </a:solidFill>
              <a:latin typeface="Arial"/>
              <a:ea typeface="Arial"/>
              <a:cs typeface="Arial"/>
              <a:sym typeface="Arial"/>
            </a:endParaRPr>
          </a:p>
        </p:txBody>
      </p:sp>
      <p:cxnSp>
        <p:nvCxnSpPr>
          <p:cNvPr id="195" name="Google Shape;195;p23"/>
          <p:cNvCxnSpPr>
            <a:stCxn id="194" idx="3"/>
            <a:endCxn id="193" idx="1"/>
          </p:cNvCxnSpPr>
          <p:nvPr/>
        </p:nvCxnSpPr>
        <p:spPr>
          <a:xfrm flipH="1" rot="10800000">
            <a:off x="3268950" y="3110250"/>
            <a:ext cx="3468000" cy="1023600"/>
          </a:xfrm>
          <a:prstGeom prst="straightConnector1">
            <a:avLst/>
          </a:prstGeom>
          <a:noFill/>
          <a:ln cap="flat" cmpd="sng" w="19050">
            <a:solidFill>
              <a:srgbClr val="188038"/>
            </a:solidFill>
            <a:prstDash val="solid"/>
            <a:round/>
            <a:headEnd len="sm" w="sm" type="none"/>
            <a:tailEnd len="sm" w="sm" type="none"/>
          </a:ln>
        </p:spPr>
      </p:cxnSp>
      <p:sp>
        <p:nvSpPr>
          <p:cNvPr id="196" name="Google Shape;196;p23"/>
          <p:cNvSpPr/>
          <p:nvPr/>
        </p:nvSpPr>
        <p:spPr>
          <a:xfrm>
            <a:off x="6657450" y="3252575"/>
            <a:ext cx="5778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3"/>
          <p:cNvSpPr/>
          <p:nvPr/>
        </p:nvSpPr>
        <p:spPr>
          <a:xfrm>
            <a:off x="569850" y="4454725"/>
            <a:ext cx="2699100" cy="6405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Actualizamos variable que pertenece a la expresión de la condición</a:t>
            </a:r>
            <a:endParaRPr b="0" i="0" sz="1400" u="none" cap="none" strike="noStrike">
              <a:solidFill>
                <a:schemeClr val="dk2"/>
              </a:solidFill>
              <a:latin typeface="Arial"/>
              <a:ea typeface="Arial"/>
              <a:cs typeface="Arial"/>
              <a:sym typeface="Arial"/>
            </a:endParaRPr>
          </a:p>
        </p:txBody>
      </p:sp>
      <p:cxnSp>
        <p:nvCxnSpPr>
          <p:cNvPr id="198" name="Google Shape;198;p23"/>
          <p:cNvCxnSpPr>
            <a:stCxn id="197" idx="3"/>
            <a:endCxn id="196" idx="1"/>
          </p:cNvCxnSpPr>
          <p:nvPr/>
        </p:nvCxnSpPr>
        <p:spPr>
          <a:xfrm flipH="1" rot="10800000">
            <a:off x="3268950" y="3424675"/>
            <a:ext cx="3388500" cy="1350300"/>
          </a:xfrm>
          <a:prstGeom prst="straightConnector1">
            <a:avLst/>
          </a:prstGeom>
          <a:noFill/>
          <a:ln cap="flat" cmpd="sng" w="19050">
            <a:solidFill>
              <a:srgbClr val="188038"/>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de </a:t>
            </a:r>
            <a:br>
              <a:rPr lang="es" sz="7000"/>
            </a:br>
            <a:r>
              <a:rPr lang="es" sz="7000"/>
              <a:t>Repetición</a:t>
            </a:r>
            <a:endParaRPr sz="7000"/>
          </a:p>
          <a:p>
            <a:pPr indent="0" lvl="0" marL="0" rtl="0" algn="l">
              <a:lnSpc>
                <a:spcPct val="100000"/>
              </a:lnSpc>
              <a:spcBef>
                <a:spcPts val="0"/>
              </a:spcBef>
              <a:spcAft>
                <a:spcPts val="0"/>
              </a:spcAft>
              <a:buSzPts val="4800"/>
              <a:buNone/>
            </a:pPr>
            <a:r>
              <a:rPr lang="es" sz="7000"/>
              <a:t>Definida</a:t>
            </a:r>
            <a:endParaRPr sz="7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Ciclos/Bucles/Repeticiones</a:t>
            </a:r>
            <a:endParaRPr b="1">
              <a:solidFill>
                <a:schemeClr val="accent4"/>
              </a:solidFill>
            </a:endParaRPr>
          </a:p>
        </p:txBody>
      </p:sp>
      <p:sp>
        <p:nvSpPr>
          <p:cNvPr id="209" name="Google Shape;209;p25"/>
          <p:cNvSpPr txBox="1"/>
          <p:nvPr>
            <p:ph idx="1" type="body"/>
          </p:nvPr>
        </p:nvSpPr>
        <p:spPr>
          <a:xfrm>
            <a:off x="311700" y="3362275"/>
            <a:ext cx="8520600" cy="1741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s" sz="2400">
                <a:solidFill>
                  <a:srgbClr val="8E7CC3"/>
                </a:solidFill>
                <a:latin typeface="Roboto Mono Medium"/>
                <a:ea typeface="Roboto Mono Medium"/>
                <a:cs typeface="Roboto Mono Medium"/>
                <a:sym typeface="Roboto Mono Medium"/>
              </a:rPr>
              <a:t>sent</a:t>
            </a:r>
            <a:r>
              <a:rPr baseline="30000" lang="es" sz="2400">
                <a:solidFill>
                  <a:srgbClr val="8E7CC3"/>
                </a:solidFill>
                <a:latin typeface="Roboto Mono Medium"/>
                <a:ea typeface="Roboto Mono Medium"/>
                <a:cs typeface="Roboto Mono Medium"/>
                <a:sym typeface="Roboto Mono Medium"/>
              </a:rPr>
              <a:t>1 </a:t>
            </a:r>
            <a:r>
              <a:rPr lang="es" sz="2000"/>
              <a:t>se ejecuta una </a:t>
            </a:r>
            <a:r>
              <a:rPr b="1" lang="es" sz="2000">
                <a:solidFill>
                  <a:srgbClr val="8E7CC3"/>
                </a:solidFill>
              </a:rPr>
              <a:t>única</a:t>
            </a:r>
            <a:r>
              <a:rPr lang="es" sz="2000"/>
              <a:t> vez </a:t>
            </a:r>
            <a:r>
              <a:rPr b="1" lang="es" sz="2000">
                <a:solidFill>
                  <a:srgbClr val="8E7CC3"/>
                </a:solidFill>
              </a:rPr>
              <a:t>antes</a:t>
            </a:r>
            <a:r>
              <a:rPr lang="es" sz="2000"/>
              <a:t> del cuerpo del ciclo.</a:t>
            </a:r>
            <a:endParaRPr sz="2000"/>
          </a:p>
          <a:p>
            <a:pPr indent="-342900" lvl="0" marL="457200" rtl="0" algn="l">
              <a:lnSpc>
                <a:spcPct val="115000"/>
              </a:lnSpc>
              <a:spcBef>
                <a:spcPts val="0"/>
              </a:spcBef>
              <a:spcAft>
                <a:spcPts val="0"/>
              </a:spcAft>
              <a:buSzPts val="1800"/>
              <a:buChar char="●"/>
            </a:pPr>
            <a:r>
              <a:rPr lang="es" sz="2400">
                <a:solidFill>
                  <a:schemeClr val="accent4"/>
                </a:solidFill>
                <a:latin typeface="Roboto Mono Medium"/>
                <a:ea typeface="Roboto Mono Medium"/>
                <a:cs typeface="Roboto Mono Medium"/>
                <a:sym typeface="Roboto Mono Medium"/>
              </a:rPr>
              <a:t>expr </a:t>
            </a:r>
            <a:r>
              <a:rPr lang="es" sz="2000"/>
              <a:t>es la </a:t>
            </a:r>
            <a:r>
              <a:rPr b="1" lang="es" sz="2000">
                <a:solidFill>
                  <a:schemeClr val="accent4"/>
                </a:solidFill>
              </a:rPr>
              <a:t>condición de ejecución</a:t>
            </a:r>
            <a:r>
              <a:rPr lang="es" sz="2000"/>
              <a:t> del bucle.</a:t>
            </a:r>
            <a:endParaRPr sz="2400">
              <a:solidFill>
                <a:schemeClr val="accent4"/>
              </a:solidFill>
              <a:latin typeface="Roboto Mono Medium"/>
              <a:ea typeface="Roboto Mono Medium"/>
              <a:cs typeface="Roboto Mono Medium"/>
              <a:sym typeface="Roboto Mono Medium"/>
            </a:endParaRPr>
          </a:p>
          <a:p>
            <a:pPr indent="-342900" lvl="0" marL="457200" rtl="0" algn="l">
              <a:lnSpc>
                <a:spcPct val="115000"/>
              </a:lnSpc>
              <a:spcBef>
                <a:spcPts val="0"/>
              </a:spcBef>
              <a:spcAft>
                <a:spcPts val="0"/>
              </a:spcAft>
              <a:buSzPts val="1800"/>
              <a:buChar char="●"/>
            </a:pPr>
            <a:r>
              <a:rPr lang="es" sz="2400">
                <a:solidFill>
                  <a:srgbClr val="6D9EEB"/>
                </a:solidFill>
                <a:latin typeface="Roboto Mono Medium"/>
                <a:ea typeface="Roboto Mono Medium"/>
                <a:cs typeface="Roboto Mono Medium"/>
                <a:sym typeface="Roboto Mono Medium"/>
              </a:rPr>
              <a:t>sent</a:t>
            </a:r>
            <a:r>
              <a:rPr baseline="30000" lang="es" sz="2400">
                <a:solidFill>
                  <a:srgbClr val="6D9EEB"/>
                </a:solidFill>
                <a:latin typeface="Roboto Mono Medium"/>
                <a:ea typeface="Roboto Mono Medium"/>
                <a:cs typeface="Roboto Mono Medium"/>
                <a:sym typeface="Roboto Mono Medium"/>
              </a:rPr>
              <a:t>2 </a:t>
            </a:r>
            <a:r>
              <a:rPr lang="es" sz="2000"/>
              <a:t>se ejecuta </a:t>
            </a:r>
            <a:r>
              <a:rPr b="1" lang="es" sz="2000">
                <a:solidFill>
                  <a:srgbClr val="6D9EEB"/>
                </a:solidFill>
              </a:rPr>
              <a:t>después de cada ejecución</a:t>
            </a:r>
            <a:r>
              <a:rPr lang="es" sz="2000"/>
              <a:t> del cuerpo del ciclo.</a:t>
            </a:r>
            <a:endParaRPr sz="2000"/>
          </a:p>
        </p:txBody>
      </p:sp>
      <p:sp>
        <p:nvSpPr>
          <p:cNvPr id="210" name="Google Shape;210;p25"/>
          <p:cNvSpPr txBox="1"/>
          <p:nvPr/>
        </p:nvSpPr>
        <p:spPr>
          <a:xfrm>
            <a:off x="2517875" y="1105475"/>
            <a:ext cx="5784600" cy="21135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accent5"/>
                </a:solidFill>
                <a:latin typeface="Roboto Mono Medium"/>
                <a:ea typeface="Roboto Mono Medium"/>
                <a:cs typeface="Roboto Mono Medium"/>
                <a:sym typeface="Roboto Mono Medium"/>
              </a:rPr>
              <a:t>for</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8E7CC3"/>
                </a:solidFill>
                <a:latin typeface="Roboto Mono Medium"/>
                <a:ea typeface="Roboto Mono Medium"/>
                <a:cs typeface="Roboto Mono Medium"/>
                <a:sym typeface="Roboto Mono Medium"/>
              </a:rPr>
              <a:t>sent</a:t>
            </a:r>
            <a:r>
              <a:rPr b="0" baseline="30000" i="0" lang="es" sz="2200" u="none" cap="none" strike="noStrike">
                <a:solidFill>
                  <a:srgbClr val="8E7CC3"/>
                </a:solidFill>
                <a:latin typeface="Roboto Mono Medium"/>
                <a:ea typeface="Roboto Mono Medium"/>
                <a:cs typeface="Roboto Mono Medium"/>
                <a:sym typeface="Roboto Mono Medium"/>
              </a:rPr>
              <a:t>1</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expr</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a:t>
            </a:r>
            <a:r>
              <a:rPr b="0" i="0" lang="es" sz="2200" u="none" cap="none" strike="noStrike">
                <a:solidFill>
                  <a:srgbClr val="6D9EEB"/>
                </a:solidFill>
                <a:latin typeface="Roboto Mono Medium"/>
                <a:ea typeface="Roboto Mono Medium"/>
                <a:cs typeface="Roboto Mono Medium"/>
                <a:sym typeface="Roboto Mono Medium"/>
              </a:rPr>
              <a:t>sent</a:t>
            </a:r>
            <a:r>
              <a:rPr b="0" baseline="30000" i="0" lang="es" sz="2200" u="none" cap="none" strike="noStrike">
                <a:solidFill>
                  <a:srgbClr val="6D9EEB"/>
                </a:solidFill>
                <a:latin typeface="Roboto Mono Medium"/>
                <a:ea typeface="Roboto Mono Medium"/>
                <a:cs typeface="Roboto Mono Medium"/>
                <a:sym typeface="Roboto Mono Medium"/>
              </a:rPr>
              <a:t>2</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216" name="Google Shape;216;p26"/>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17" name="Google Shape;217;p26"/>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18" name="Google Shape;218;p26"/>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19" name="Google Shape;219;p26"/>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0" name="Google Shape;220;p26"/>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1" name="Google Shape;221;p26"/>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222" name="Google Shape;222;p26"/>
          <p:cNvSpPr/>
          <p:nvPr/>
        </p:nvSpPr>
        <p:spPr>
          <a:xfrm rot="10800000">
            <a:off x="4088731" y="1836650"/>
            <a:ext cx="4473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23" name="Google Shape;223;p26"/>
          <p:cNvSpPr/>
          <p:nvPr/>
        </p:nvSpPr>
        <p:spPr>
          <a:xfrm rot="10800000">
            <a:off x="4088735" y="1442375"/>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4" name="Google Shape;224;p26"/>
          <p:cNvSpPr/>
          <p:nvPr/>
        </p:nvSpPr>
        <p:spPr>
          <a:xfrm>
            <a:off x="4291061"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5" name="Google Shape;225;p26"/>
          <p:cNvSpPr/>
          <p:nvPr/>
        </p:nvSpPr>
        <p:spPr>
          <a:xfrm>
            <a:off x="4674264"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6" name="Google Shape;226;p26"/>
          <p:cNvSpPr/>
          <p:nvPr/>
        </p:nvSpPr>
        <p:spPr>
          <a:xfrm>
            <a:off x="5057466"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27" name="Google Shape;227;p26"/>
          <p:cNvSpPr txBox="1"/>
          <p:nvPr/>
        </p:nvSpPr>
        <p:spPr>
          <a:xfrm>
            <a:off x="4089206" y="1876604"/>
            <a:ext cx="4473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for</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228" name="Google Shape;228;p26"/>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Terminación</a:t>
            </a:r>
            <a:r>
              <a:rPr lang="es"/>
              <a:t> </a:t>
            </a:r>
            <a:r>
              <a:rPr lang="es" sz="7000"/>
              <a:t>con </a:t>
            </a:r>
            <a:r>
              <a:rPr lang="es" sz="7000">
                <a:solidFill>
                  <a:schemeClr val="accent4"/>
                </a:solidFill>
              </a:rPr>
              <a:t>break</a:t>
            </a:r>
            <a:endParaRPr sz="7000">
              <a:solidFill>
                <a:schemeClr val="accent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p:nvPr/>
        </p:nvSpPr>
        <p:spPr>
          <a:xfrm rot="10800000">
            <a:off x="301248" y="343825"/>
            <a:ext cx="4884000" cy="47142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39" name="Google Shape;239;p28"/>
          <p:cNvSpPr/>
          <p:nvPr/>
        </p:nvSpPr>
        <p:spPr>
          <a:xfrm rot="10800000">
            <a:off x="301263" y="85475"/>
            <a:ext cx="4884000" cy="347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40" name="Google Shape;240;p28"/>
          <p:cNvSpPr/>
          <p:nvPr/>
        </p:nvSpPr>
        <p:spPr>
          <a:xfrm>
            <a:off x="433190" y="150196"/>
            <a:ext cx="169500" cy="169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41" name="Google Shape;241;p28"/>
          <p:cNvSpPr/>
          <p:nvPr/>
        </p:nvSpPr>
        <p:spPr>
          <a:xfrm>
            <a:off x="684220" y="150196"/>
            <a:ext cx="169500" cy="169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42" name="Google Shape;242;p28"/>
          <p:cNvSpPr/>
          <p:nvPr/>
        </p:nvSpPr>
        <p:spPr>
          <a:xfrm>
            <a:off x="935250" y="150196"/>
            <a:ext cx="169500" cy="169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43" name="Google Shape;243;p28"/>
          <p:cNvSpPr txBox="1"/>
          <p:nvPr/>
        </p:nvSpPr>
        <p:spPr>
          <a:xfrm>
            <a:off x="301138" y="408144"/>
            <a:ext cx="4884000" cy="4367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4078F2"/>
                </a:solidFill>
                <a:latin typeface="Inconsolata"/>
                <a:ea typeface="Inconsolata"/>
                <a:cs typeface="Inconsolata"/>
                <a:sym typeface="Inconsolata"/>
              </a:rPr>
              <a:t>main</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divisores</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3</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 </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1):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4</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5</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while</a:t>
            </a:r>
            <a:r>
              <a:rPr lang="es" sz="1200">
                <a:solidFill>
                  <a:srgbClr val="383A42"/>
                </a:solidFill>
                <a:latin typeface="Inconsolata"/>
                <a:ea typeface="Inconsolata"/>
                <a:cs typeface="Inconsolata"/>
                <a:sym typeface="Inconsolata"/>
              </a:rPr>
              <a:t>(</a:t>
            </a:r>
            <a:r>
              <a:rPr lang="es" sz="1200">
                <a:solidFill>
                  <a:srgbClr val="E06C75"/>
                </a:solidFill>
                <a:latin typeface="Inconsolata"/>
                <a:ea typeface="Inconsolata"/>
                <a:cs typeface="Inconsolata"/>
                <a:sym typeface="Inconsolata"/>
              </a:rPr>
              <a:t>n</a:t>
            </a:r>
            <a:r>
              <a:rPr lang="es" sz="1200">
                <a:solidFill>
                  <a:srgbClr val="0184BC"/>
                </a:solidFill>
                <a:latin typeface="Inconsolata"/>
                <a:ea typeface="Inconsolata"/>
                <a:cs typeface="Inconsolata"/>
                <a:sym typeface="Inconsolata"/>
              </a:rPr>
              <a:t>&lt;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6</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1):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7</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8</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9</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bool</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D19A66"/>
                </a:solidFill>
                <a:latin typeface="Inconsolata"/>
                <a:ea typeface="Inconsolata"/>
                <a:cs typeface="Inconsolata"/>
                <a:sym typeface="Inconsolata"/>
              </a:rPr>
              <a:t>true</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10</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11</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for</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12</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numero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13</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D19A66"/>
                </a:solidFill>
                <a:latin typeface="Inconsolata"/>
                <a:ea typeface="Inconsolata"/>
                <a:cs typeface="Inconsolata"/>
                <a:sym typeface="Inconsolata"/>
              </a:rPr>
              <a:t>false</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14</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break</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15</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16</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17</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18</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19</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20</a:t>
            </a:r>
            <a:r>
              <a:rPr lang="es" sz="1200">
                <a:solidFill>
                  <a:srgbClr val="383A42"/>
                </a:solidFill>
                <a:latin typeface="Inconsolata"/>
                <a:ea typeface="Inconsolata"/>
                <a:cs typeface="Inconsolata"/>
                <a:sym typeface="Inconsolata"/>
              </a:rPr>
              <a:t> 	} </a:t>
            </a:r>
            <a:r>
              <a:rPr lang="es" sz="1200">
                <a:solidFill>
                  <a:srgbClr val="A626A4"/>
                </a:solidFill>
                <a:latin typeface="Inconsolata"/>
                <a:ea typeface="Inconsolata"/>
                <a:cs typeface="Inconsolata"/>
                <a:sym typeface="Inconsolata"/>
              </a:rPr>
              <a:t>else</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21</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"No 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22</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23</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p:txBody>
      </p:sp>
      <p:sp>
        <p:nvSpPr>
          <p:cNvPr id="244" name="Google Shape;244;p28"/>
          <p:cNvSpPr txBox="1"/>
          <p:nvPr>
            <p:ph idx="4294967295" type="body"/>
          </p:nvPr>
        </p:nvSpPr>
        <p:spPr>
          <a:xfrm>
            <a:off x="5518400" y="319700"/>
            <a:ext cx="3313800" cy="4456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s" sz="3000"/>
              <a:t>La sentencia </a:t>
            </a:r>
            <a:r>
              <a:rPr lang="es" sz="3000">
                <a:solidFill>
                  <a:schemeClr val="accent4"/>
                </a:solidFill>
              </a:rPr>
              <a:t>break</a:t>
            </a:r>
            <a:r>
              <a:rPr lang="es" sz="3000"/>
              <a:t> corta la ejecución del ciclo que lo contiene</a:t>
            </a:r>
            <a:endParaRPr sz="3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a:t>
            </a:r>
            <a:endParaRPr sz="7000"/>
          </a:p>
          <a:p>
            <a:pPr indent="0" lvl="0" marL="0" rtl="0" algn="l">
              <a:lnSpc>
                <a:spcPct val="100000"/>
              </a:lnSpc>
              <a:spcBef>
                <a:spcPts val="0"/>
              </a:spcBef>
              <a:spcAft>
                <a:spcPts val="0"/>
              </a:spcAft>
              <a:buSzPts val="4800"/>
              <a:buNone/>
            </a:pPr>
            <a:r>
              <a:rPr lang="es" sz="7000">
                <a:solidFill>
                  <a:schemeClr val="accent4"/>
                </a:solidFill>
              </a:rPr>
              <a:t>do…while</a:t>
            </a:r>
            <a:endParaRPr sz="7000">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255" name="Google Shape;255;p30"/>
          <p:cNvSpPr/>
          <p:nvPr/>
        </p:nvSpPr>
        <p:spPr>
          <a:xfrm rot="10800000">
            <a:off x="414754" y="1607550"/>
            <a:ext cx="4688700" cy="1575600"/>
          </a:xfrm>
          <a:prstGeom prst="round2SameRect">
            <a:avLst>
              <a:gd fmla="val 9351"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56" name="Google Shape;256;p30"/>
          <p:cNvSpPr/>
          <p:nvPr/>
        </p:nvSpPr>
        <p:spPr>
          <a:xfrm rot="10800000">
            <a:off x="414760" y="1213775"/>
            <a:ext cx="46887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57" name="Google Shape;257;p30"/>
          <p:cNvSpPr/>
          <p:nvPr/>
        </p:nvSpPr>
        <p:spPr>
          <a:xfrm>
            <a:off x="617136" y="13126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58" name="Google Shape;258;p30"/>
          <p:cNvSpPr/>
          <p:nvPr/>
        </p:nvSpPr>
        <p:spPr>
          <a:xfrm>
            <a:off x="1000339" y="13126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59" name="Google Shape;259;p30"/>
          <p:cNvSpPr/>
          <p:nvPr/>
        </p:nvSpPr>
        <p:spPr>
          <a:xfrm>
            <a:off x="1383541" y="13126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60" name="Google Shape;260;p30"/>
          <p:cNvSpPr txBox="1"/>
          <p:nvPr/>
        </p:nvSpPr>
        <p:spPr>
          <a:xfrm>
            <a:off x="415296" y="1625336"/>
            <a:ext cx="4688700" cy="1170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5</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6</a:t>
            </a:r>
            <a:r>
              <a:rPr lang="es" sz="1500">
                <a:solidFill>
                  <a:srgbClr val="383A42"/>
                </a:solidFill>
                <a:latin typeface="Inconsolata"/>
                <a:ea typeface="Inconsolata"/>
                <a:cs typeface="Inconsolata"/>
                <a:sym typeface="Inconsolata"/>
              </a:rPr>
              <a:t>  }</a:t>
            </a:r>
            <a:endParaRPr sz="1500">
              <a:solidFill>
                <a:srgbClr val="383A42"/>
              </a:solidFill>
              <a:latin typeface="Inconsolata"/>
              <a:ea typeface="Inconsolata"/>
              <a:cs typeface="Inconsolata"/>
              <a:sym typeface="Inconsolat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266" name="Google Shape;266;p31"/>
          <p:cNvSpPr/>
          <p:nvPr/>
        </p:nvSpPr>
        <p:spPr>
          <a:xfrm rot="10800000">
            <a:off x="414754" y="1607550"/>
            <a:ext cx="4688700" cy="1575600"/>
          </a:xfrm>
          <a:prstGeom prst="round2SameRect">
            <a:avLst>
              <a:gd fmla="val 9351"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67" name="Google Shape;267;p31"/>
          <p:cNvSpPr/>
          <p:nvPr/>
        </p:nvSpPr>
        <p:spPr>
          <a:xfrm rot="10800000">
            <a:off x="414760" y="1213775"/>
            <a:ext cx="46887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68" name="Google Shape;268;p31"/>
          <p:cNvSpPr/>
          <p:nvPr/>
        </p:nvSpPr>
        <p:spPr>
          <a:xfrm>
            <a:off x="617136" y="13126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69" name="Google Shape;269;p31"/>
          <p:cNvSpPr/>
          <p:nvPr/>
        </p:nvSpPr>
        <p:spPr>
          <a:xfrm>
            <a:off x="1000339" y="13126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0" name="Google Shape;270;p31"/>
          <p:cNvSpPr/>
          <p:nvPr/>
        </p:nvSpPr>
        <p:spPr>
          <a:xfrm>
            <a:off x="1383541" y="13126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1" name="Google Shape;271;p31"/>
          <p:cNvSpPr txBox="1"/>
          <p:nvPr/>
        </p:nvSpPr>
        <p:spPr>
          <a:xfrm>
            <a:off x="415296" y="1625336"/>
            <a:ext cx="4688700" cy="1170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5</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6</a:t>
            </a:r>
            <a:r>
              <a:rPr lang="es" sz="1500">
                <a:solidFill>
                  <a:srgbClr val="383A42"/>
                </a:solidFill>
                <a:latin typeface="Inconsolata"/>
                <a:ea typeface="Inconsolata"/>
                <a:cs typeface="Inconsolata"/>
                <a:sym typeface="Inconsolata"/>
              </a:rPr>
              <a:t>  }</a:t>
            </a:r>
            <a:endParaRPr sz="1500">
              <a:solidFill>
                <a:srgbClr val="383A42"/>
              </a:solidFill>
              <a:latin typeface="Inconsolata"/>
              <a:ea typeface="Inconsolata"/>
              <a:cs typeface="Inconsolata"/>
              <a:sym typeface="Inconsolata"/>
            </a:endParaRPr>
          </a:p>
        </p:txBody>
      </p:sp>
      <p:sp>
        <p:nvSpPr>
          <p:cNvPr id="272" name="Google Shape;272;p31"/>
          <p:cNvSpPr/>
          <p:nvPr/>
        </p:nvSpPr>
        <p:spPr>
          <a:xfrm rot="10800000">
            <a:off x="4073857" y="3433575"/>
            <a:ext cx="46890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73" name="Google Shape;273;p31"/>
          <p:cNvSpPr/>
          <p:nvPr/>
        </p:nvSpPr>
        <p:spPr>
          <a:xfrm rot="10800000">
            <a:off x="4073860" y="3039425"/>
            <a:ext cx="46890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4" name="Google Shape;274;p31"/>
          <p:cNvSpPr/>
          <p:nvPr/>
        </p:nvSpPr>
        <p:spPr>
          <a:xfrm>
            <a:off x="4276061" y="313830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5" name="Google Shape;275;p31"/>
          <p:cNvSpPr/>
          <p:nvPr/>
        </p:nvSpPr>
        <p:spPr>
          <a:xfrm>
            <a:off x="4659264" y="313830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6" name="Google Shape;276;p31"/>
          <p:cNvSpPr/>
          <p:nvPr/>
        </p:nvSpPr>
        <p:spPr>
          <a:xfrm>
            <a:off x="5042466" y="313830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77" name="Google Shape;277;p31"/>
          <p:cNvSpPr txBox="1"/>
          <p:nvPr/>
        </p:nvSpPr>
        <p:spPr>
          <a:xfrm>
            <a:off x="4074218" y="3453976"/>
            <a:ext cx="46890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do</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p:txBody>
      </p:sp>
      <p:sp>
        <p:nvSpPr>
          <p:cNvPr id="278" name="Google Shape;278;p31"/>
          <p:cNvSpPr/>
          <p:nvPr/>
        </p:nvSpPr>
        <p:spPr>
          <a:xfrm flipH="1" rot="10800000">
            <a:off x="2316825" y="3386575"/>
            <a:ext cx="1109700" cy="10272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284" name="Google Shape;284;p32"/>
          <p:cNvSpPr/>
          <p:nvPr/>
        </p:nvSpPr>
        <p:spPr>
          <a:xfrm rot="10800000">
            <a:off x="414875" y="1836525"/>
            <a:ext cx="44883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85" name="Google Shape;285;p32"/>
          <p:cNvSpPr/>
          <p:nvPr/>
        </p:nvSpPr>
        <p:spPr>
          <a:xfrm rot="10800000">
            <a:off x="414878" y="1442375"/>
            <a:ext cx="448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86" name="Google Shape;286;p32"/>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87" name="Google Shape;287;p32"/>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88" name="Google Shape;288;p32"/>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89" name="Google Shape;289;p32"/>
          <p:cNvSpPr txBox="1"/>
          <p:nvPr/>
        </p:nvSpPr>
        <p:spPr>
          <a:xfrm>
            <a:off x="415275" y="1856926"/>
            <a:ext cx="44883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2</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while</a:t>
            </a:r>
            <a:r>
              <a:rPr b="0" i="0" lang="es" sz="1500" u="none" cap="none" strike="noStrike">
                <a:solidFill>
                  <a:srgbClr val="383A42"/>
                </a:solidFill>
                <a:latin typeface="Arial"/>
                <a:ea typeface="Arial"/>
                <a:cs typeface="Arial"/>
                <a:sym typeface="Arial"/>
              </a:rPr>
              <a:t>(</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&lt;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3</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cout</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&lt;&lt;</a:t>
            </a:r>
            <a:r>
              <a:rPr b="0" i="0" lang="es" sz="1500" u="none" cap="none" strike="noStrike">
                <a:solidFill>
                  <a:srgbClr val="383A42"/>
                </a:solidFill>
                <a:latin typeface="Arial"/>
                <a:ea typeface="Arial"/>
                <a:cs typeface="Arial"/>
                <a:sym typeface="Arial"/>
              </a:rPr>
              <a:t> </a:t>
            </a:r>
            <a:r>
              <a:rPr b="0" i="0" lang="es" sz="1500" u="none" cap="none" strike="noStrike">
                <a:solidFill>
                  <a:srgbClr val="50A14F"/>
                </a:solidFill>
                <a:latin typeface="Arial"/>
                <a:ea typeface="Arial"/>
                <a:cs typeface="Arial"/>
                <a:sym typeface="Arial"/>
              </a:rPr>
              <a:t>"Ingrese un n (mayor que 1): "</a:t>
            </a:r>
            <a:endParaRPr b="0" i="0" sz="1500" u="none" cap="none" strike="noStrike">
              <a:solidFill>
                <a:srgbClr val="50A1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4</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cin</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&gt;&gt;</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5</a:t>
            </a:r>
            <a:r>
              <a:rPr b="0" i="0" lang="es" sz="1500" u="none" cap="none" strike="noStrike">
                <a:solidFill>
                  <a:srgbClr val="383A42"/>
                </a:solidFill>
                <a:latin typeface="Arial"/>
                <a:ea typeface="Arial"/>
                <a:cs typeface="Arial"/>
                <a:sym typeface="Arial"/>
              </a:rPr>
              <a:t>   }</a:t>
            </a:r>
            <a:endParaRPr b="0" i="0" sz="1500" u="none" cap="none" strike="noStrike">
              <a:solidFill>
                <a:srgbClr val="383A42"/>
              </a:solidFill>
              <a:latin typeface="Arial"/>
              <a:ea typeface="Arial"/>
              <a:cs typeface="Arial"/>
              <a:sym typeface="Arial"/>
            </a:endParaRPr>
          </a:p>
        </p:txBody>
      </p:sp>
      <p:sp>
        <p:nvSpPr>
          <p:cNvPr id="290" name="Google Shape;290;p32"/>
          <p:cNvSpPr/>
          <p:nvPr/>
        </p:nvSpPr>
        <p:spPr>
          <a:xfrm rot="10800000">
            <a:off x="4073800" y="3433575"/>
            <a:ext cx="44883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91" name="Google Shape;291;p32"/>
          <p:cNvSpPr/>
          <p:nvPr/>
        </p:nvSpPr>
        <p:spPr>
          <a:xfrm rot="10800000">
            <a:off x="4073803" y="3039425"/>
            <a:ext cx="448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2" name="Google Shape;292;p32"/>
          <p:cNvSpPr/>
          <p:nvPr/>
        </p:nvSpPr>
        <p:spPr>
          <a:xfrm>
            <a:off x="4276061" y="313830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3" name="Google Shape;293;p32"/>
          <p:cNvSpPr/>
          <p:nvPr/>
        </p:nvSpPr>
        <p:spPr>
          <a:xfrm>
            <a:off x="4659264" y="313830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4" name="Google Shape;294;p32"/>
          <p:cNvSpPr/>
          <p:nvPr/>
        </p:nvSpPr>
        <p:spPr>
          <a:xfrm>
            <a:off x="5042466" y="313830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5" name="Google Shape;295;p32"/>
          <p:cNvSpPr txBox="1"/>
          <p:nvPr/>
        </p:nvSpPr>
        <p:spPr>
          <a:xfrm>
            <a:off x="4074200" y="3453976"/>
            <a:ext cx="44883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do</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2</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cout</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&lt;&lt;</a:t>
            </a:r>
            <a:r>
              <a:rPr b="0" i="0" lang="es" sz="1500" u="none" cap="none" strike="noStrike">
                <a:solidFill>
                  <a:srgbClr val="383A42"/>
                </a:solidFill>
                <a:latin typeface="Arial"/>
                <a:ea typeface="Arial"/>
                <a:cs typeface="Arial"/>
                <a:sym typeface="Arial"/>
              </a:rPr>
              <a:t> </a:t>
            </a:r>
            <a:r>
              <a:rPr b="0" i="0" lang="es" sz="1500" u="none" cap="none" strike="noStrike">
                <a:solidFill>
                  <a:srgbClr val="50A14F"/>
                </a:solidFill>
                <a:latin typeface="Arial"/>
                <a:ea typeface="Arial"/>
                <a:cs typeface="Arial"/>
                <a:sym typeface="Arial"/>
              </a:rPr>
              <a:t>"Ingrese un n (mayor que 1): "</a:t>
            </a:r>
            <a:endParaRPr b="0" i="0" sz="1500" u="none" cap="none" strike="noStrike">
              <a:solidFill>
                <a:srgbClr val="50A1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3</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cin</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&gt;&gt;</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4</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while </a:t>
            </a:r>
            <a:r>
              <a:rPr b="0" i="0" lang="es" sz="1500" u="none" cap="none" strike="noStrike">
                <a:solidFill>
                  <a:srgbClr val="383A42"/>
                </a:solidFill>
                <a:latin typeface="Arial"/>
                <a:ea typeface="Arial"/>
                <a:cs typeface="Arial"/>
                <a:sym typeface="Arial"/>
              </a:rPr>
              <a:t>(</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&lt;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p:txBody>
      </p:sp>
      <p:sp>
        <p:nvSpPr>
          <p:cNvPr id="296" name="Google Shape;296;p32"/>
          <p:cNvSpPr txBox="1"/>
          <p:nvPr>
            <p:ph idx="1" type="body"/>
          </p:nvPr>
        </p:nvSpPr>
        <p:spPr>
          <a:xfrm>
            <a:off x="5213600" y="319700"/>
            <a:ext cx="3313800" cy="237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s" sz="3000"/>
              <a:t>Permite que el cuerpo se ejecute </a:t>
            </a:r>
            <a:r>
              <a:rPr lang="es" sz="3000">
                <a:solidFill>
                  <a:schemeClr val="accent4"/>
                </a:solidFill>
              </a:rPr>
              <a:t>al menos una vez</a:t>
            </a:r>
            <a:endParaRPr sz="3000">
              <a:solidFill>
                <a:schemeClr val="accent4"/>
              </a:solidFill>
            </a:endParaRPr>
          </a:p>
        </p:txBody>
      </p:sp>
      <p:sp>
        <p:nvSpPr>
          <p:cNvPr id="297" name="Google Shape;297;p32"/>
          <p:cNvSpPr/>
          <p:nvPr/>
        </p:nvSpPr>
        <p:spPr>
          <a:xfrm flipH="1" rot="10800000">
            <a:off x="2316825" y="3538975"/>
            <a:ext cx="1109700" cy="10272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A lo nuevo…</a:t>
            </a:r>
            <a:endParaRPr/>
          </a:p>
        </p:txBody>
      </p:sp>
      <p:sp>
        <p:nvSpPr>
          <p:cNvPr id="303" name="Google Shape;303;p3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34"/>
          <p:cNvPicPr preferRelativeResize="0"/>
          <p:nvPr/>
        </p:nvPicPr>
        <p:blipFill rotWithShape="1">
          <a:blip r:embed="rId3">
            <a:alphaModFix amt="20000"/>
          </a:blip>
          <a:srcRect b="0" l="0" r="0" t="0"/>
          <a:stretch/>
        </p:blipFill>
        <p:spPr>
          <a:xfrm>
            <a:off x="4221950" y="133350"/>
            <a:ext cx="4876800" cy="4876800"/>
          </a:xfrm>
          <a:prstGeom prst="rect">
            <a:avLst/>
          </a:prstGeom>
          <a:noFill/>
          <a:ln>
            <a:noFill/>
          </a:ln>
        </p:spPr>
      </p:pic>
      <p:pic>
        <p:nvPicPr>
          <p:cNvPr id="309" name="Google Shape;309;p34"/>
          <p:cNvPicPr preferRelativeResize="0"/>
          <p:nvPr/>
        </p:nvPicPr>
        <p:blipFill rotWithShape="1">
          <a:blip r:embed="rId4">
            <a:alphaModFix amt="20000"/>
          </a:blip>
          <a:srcRect b="0" l="0" r="0" t="0"/>
          <a:stretch/>
        </p:blipFill>
        <p:spPr>
          <a:xfrm>
            <a:off x="6027550" y="1862750"/>
            <a:ext cx="1418001" cy="1417999"/>
          </a:xfrm>
          <a:prstGeom prst="rect">
            <a:avLst/>
          </a:prstGeom>
          <a:noFill/>
          <a:ln>
            <a:noFill/>
          </a:ln>
        </p:spPr>
      </p:pic>
      <p:sp>
        <p:nvSpPr>
          <p:cNvPr id="310" name="Google Shape;310;p3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Sentencia </a:t>
            </a:r>
            <a:r>
              <a:rPr lang="es" sz="7000">
                <a:solidFill>
                  <a:schemeClr val="accent4"/>
                </a:solidFill>
              </a:rPr>
              <a:t>continue</a:t>
            </a:r>
            <a:endParaRPr sz="7000">
              <a:solidFill>
                <a:schemeClr val="accent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316" name="Google Shape;316;p35"/>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¿Qué imprimirá por consola?</a:t>
            </a:r>
            <a:endParaRPr/>
          </a:p>
        </p:txBody>
      </p:sp>
      <p:sp>
        <p:nvSpPr>
          <p:cNvPr id="317" name="Google Shape;317;p35"/>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18" name="Google Shape;318;p35"/>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9" name="Google Shape;319;p35"/>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0" name="Google Shape;320;p35"/>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1" name="Google Shape;321;p35"/>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2" name="Google Shape;322;p35"/>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328" name="Google Shape;328;p36"/>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¿Qué imprimirá por consola?</a:t>
            </a:r>
            <a:endParaRPr/>
          </a:p>
          <a:p>
            <a:pPr indent="0" lvl="0" marL="0" rtl="0" algn="l">
              <a:lnSpc>
                <a:spcPct val="115000"/>
              </a:lnSpc>
              <a:spcBef>
                <a:spcPts val="1200"/>
              </a:spcBef>
              <a:spcAft>
                <a:spcPts val="0"/>
              </a:spcAft>
              <a:buSzPts val="1800"/>
              <a:buNone/>
            </a:pPr>
            <a:r>
              <a:rPr lang="es">
                <a:solidFill>
                  <a:schemeClr val="accent4"/>
                </a:solidFill>
              </a:rPr>
              <a:t>0 1 2 Condicion Fin</a:t>
            </a:r>
            <a:endParaRPr>
              <a:solidFill>
                <a:schemeClr val="accent4"/>
              </a:solidFill>
            </a:endParaRPr>
          </a:p>
          <a:p>
            <a:pPr indent="0" lvl="0" marL="0" rtl="0" algn="l">
              <a:lnSpc>
                <a:spcPct val="115000"/>
              </a:lnSpc>
              <a:spcBef>
                <a:spcPts val="1200"/>
              </a:spcBef>
              <a:spcAft>
                <a:spcPts val="1200"/>
              </a:spcAft>
              <a:buSzPts val="1800"/>
              <a:buNone/>
            </a:pPr>
            <a:r>
              <a:t/>
            </a:r>
            <a:endParaRPr/>
          </a:p>
        </p:txBody>
      </p:sp>
      <p:sp>
        <p:nvSpPr>
          <p:cNvPr id="329" name="Google Shape;329;p36"/>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30" name="Google Shape;330;p36"/>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1" name="Google Shape;331;p36"/>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2" name="Google Shape;332;p36"/>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3" name="Google Shape;333;p36"/>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4" name="Google Shape;334;p36"/>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340" name="Google Shape;340;p37"/>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¿Qué imprimirá por consola?</a:t>
            </a:r>
            <a:endParaRPr/>
          </a:p>
          <a:p>
            <a:pPr indent="0" lvl="0" marL="0" rtl="0" algn="l">
              <a:lnSpc>
                <a:spcPct val="115000"/>
              </a:lnSpc>
              <a:spcBef>
                <a:spcPts val="1200"/>
              </a:spcBef>
              <a:spcAft>
                <a:spcPts val="0"/>
              </a:spcAft>
              <a:buSzPts val="1800"/>
              <a:buNone/>
            </a:pPr>
            <a:r>
              <a:rPr lang="es">
                <a:solidFill>
                  <a:schemeClr val="accent4"/>
                </a:solidFill>
              </a:rPr>
              <a:t>0 1 2 Condicion Fin</a:t>
            </a:r>
            <a:endParaRPr>
              <a:solidFill>
                <a:schemeClr val="accent4"/>
              </a:solidFill>
            </a:endParaRPr>
          </a:p>
          <a:p>
            <a:pPr indent="0" lvl="0" marL="0" rtl="0" algn="l">
              <a:lnSpc>
                <a:spcPct val="115000"/>
              </a:lnSpc>
              <a:spcBef>
                <a:spcPts val="1200"/>
              </a:spcBef>
              <a:spcAft>
                <a:spcPts val="1200"/>
              </a:spcAft>
              <a:buSzPts val="1800"/>
              <a:buNone/>
            </a:pPr>
            <a:r>
              <a:rPr lang="es"/>
              <a:t>Es decir que al ejecutar la sentencia </a:t>
            </a:r>
            <a:r>
              <a:rPr lang="es">
                <a:solidFill>
                  <a:schemeClr val="accent4"/>
                </a:solidFill>
              </a:rPr>
              <a:t>break </a:t>
            </a:r>
            <a:r>
              <a:rPr lang="es"/>
              <a:t>(en este caso cuando la condición de la línea 5 es true) </a:t>
            </a:r>
            <a:r>
              <a:rPr lang="es">
                <a:solidFill>
                  <a:schemeClr val="accent1"/>
                </a:solidFill>
              </a:rPr>
              <a:t>finaliza </a:t>
            </a:r>
            <a:r>
              <a:rPr lang="es"/>
              <a:t>la ejecución del ciclo y procede con la sentencia que este luego de este, en este caso la línea 12</a:t>
            </a:r>
            <a:endParaRPr/>
          </a:p>
        </p:txBody>
      </p:sp>
      <p:sp>
        <p:nvSpPr>
          <p:cNvPr id="341" name="Google Shape;341;p37"/>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42" name="Google Shape;342;p37"/>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3" name="Google Shape;343;p37"/>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4" name="Google Shape;344;p37"/>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5" name="Google Shape;345;p37"/>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6" name="Google Shape;346;p37"/>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lo modificamos y Analizamos nuevamente</a:t>
            </a:r>
            <a:endParaRPr/>
          </a:p>
        </p:txBody>
      </p:sp>
      <p:sp>
        <p:nvSpPr>
          <p:cNvPr id="352" name="Google Shape;352;p38"/>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53" name="Google Shape;353;p38"/>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4" name="Google Shape;354;p38"/>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5" name="Google Shape;355;p38"/>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6" name="Google Shape;356;p38"/>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7" name="Google Shape;357;p38"/>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 </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continue</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
        <p:nvSpPr>
          <p:cNvPr id="358" name="Google Shape;358;p38"/>
          <p:cNvSpPr txBox="1"/>
          <p:nvPr>
            <p:ph idx="1" type="body"/>
          </p:nvPr>
        </p:nvSpPr>
        <p:spPr>
          <a:xfrm>
            <a:off x="4861675" y="1152475"/>
            <a:ext cx="4289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Modificamos la condición de la línea 5 y reemplazamos la sentencia </a:t>
            </a:r>
            <a:r>
              <a:rPr lang="es">
                <a:solidFill>
                  <a:schemeClr val="accent4"/>
                </a:solidFill>
              </a:rPr>
              <a:t>break </a:t>
            </a:r>
            <a:r>
              <a:rPr lang="es"/>
              <a:t>por un </a:t>
            </a:r>
            <a:r>
              <a:rPr lang="es">
                <a:solidFill>
                  <a:schemeClr val="accent1"/>
                </a:solidFill>
              </a:rPr>
              <a:t>continue</a:t>
            </a:r>
            <a:r>
              <a:rPr lang="es"/>
              <a:t>. Veamos cómo se comporta.</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lo modificamos y Analizamos nuevamente</a:t>
            </a:r>
            <a:endParaRPr/>
          </a:p>
        </p:txBody>
      </p:sp>
      <p:sp>
        <p:nvSpPr>
          <p:cNvPr id="364" name="Google Shape;364;p39"/>
          <p:cNvSpPr txBox="1"/>
          <p:nvPr>
            <p:ph idx="1" type="body"/>
          </p:nvPr>
        </p:nvSpPr>
        <p:spPr>
          <a:xfrm>
            <a:off x="4861675" y="1152475"/>
            <a:ext cx="4289100" cy="3750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0000"/>
              <a:buNone/>
            </a:pPr>
            <a:r>
              <a:rPr lang="es"/>
              <a:t>Modificamos la condición de la línea 5 y reemplazamos la sentencia </a:t>
            </a:r>
            <a:r>
              <a:rPr lang="es">
                <a:solidFill>
                  <a:schemeClr val="accent4"/>
                </a:solidFill>
              </a:rPr>
              <a:t>break </a:t>
            </a:r>
            <a:r>
              <a:rPr lang="es"/>
              <a:t>por un </a:t>
            </a:r>
            <a:r>
              <a:rPr lang="es">
                <a:solidFill>
                  <a:schemeClr val="accent1"/>
                </a:solidFill>
              </a:rPr>
              <a:t>continue</a:t>
            </a:r>
            <a:r>
              <a:rPr lang="es"/>
              <a:t>. Veamos cómo se comporta. </a:t>
            </a:r>
            <a:endParaRPr/>
          </a:p>
          <a:p>
            <a:pPr indent="0" lvl="0" marL="0" rtl="0" algn="l">
              <a:lnSpc>
                <a:spcPct val="115000"/>
              </a:lnSpc>
              <a:spcBef>
                <a:spcPts val="1200"/>
              </a:spcBef>
              <a:spcAft>
                <a:spcPts val="0"/>
              </a:spcAft>
              <a:buSzPct val="100000"/>
              <a:buNone/>
            </a:pPr>
            <a:r>
              <a:rPr lang="es">
                <a:solidFill>
                  <a:schemeClr val="accent4"/>
                </a:solidFill>
              </a:rPr>
              <a:t>Condicion Condicion Condicion 3 4 Fin</a:t>
            </a:r>
            <a:endParaRPr>
              <a:solidFill>
                <a:schemeClr val="accent4"/>
              </a:solidFill>
            </a:endParaRPr>
          </a:p>
          <a:p>
            <a:pPr indent="0" lvl="0" marL="0" rtl="0" algn="l">
              <a:lnSpc>
                <a:spcPct val="115000"/>
              </a:lnSpc>
              <a:spcBef>
                <a:spcPts val="1200"/>
              </a:spcBef>
              <a:spcAft>
                <a:spcPts val="1200"/>
              </a:spcAft>
              <a:buSzPct val="100000"/>
              <a:buNone/>
            </a:pPr>
            <a:r>
              <a:rPr lang="es"/>
              <a:t>Vemos que la sentencia continue detiene la ejecución de la instancia en curso del bucle que la contiene. Provocando una nueva entrada en el ciclo en lugar de finalizar con toda la ejecución como lo hace la sentencia break.</a:t>
            </a:r>
            <a:endParaRPr/>
          </a:p>
        </p:txBody>
      </p:sp>
      <p:sp>
        <p:nvSpPr>
          <p:cNvPr id="365" name="Google Shape;365;p39"/>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66" name="Google Shape;366;p39"/>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7" name="Google Shape;367;p39"/>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8" name="Google Shape;368;p39"/>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9" name="Google Shape;369;p39"/>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70" name="Google Shape;370;p39"/>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 </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continue</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Haciendo </a:t>
            </a:r>
            <a:r>
              <a:rPr lang="es" sz="7000">
                <a:solidFill>
                  <a:schemeClr val="accent4"/>
                </a:solidFill>
              </a:rPr>
              <a:t>nidos</a:t>
            </a:r>
            <a:r>
              <a:rPr lang="es" sz="7000"/>
              <a:t>??</a:t>
            </a:r>
            <a:endParaRPr sz="7000">
              <a:solidFill>
                <a:schemeClr val="accent4"/>
              </a:solidFill>
            </a:endParaRPr>
          </a:p>
        </p:txBody>
      </p:sp>
      <p:pic>
        <p:nvPicPr>
          <p:cNvPr id="376" name="Google Shape;376;p40" title="itera_nido.png"/>
          <p:cNvPicPr preferRelativeResize="0"/>
          <p:nvPr/>
        </p:nvPicPr>
        <p:blipFill>
          <a:blip r:embed="rId3">
            <a:alphaModFix/>
          </a:blip>
          <a:stretch>
            <a:fillRect/>
          </a:stretch>
        </p:blipFill>
        <p:spPr>
          <a:xfrm>
            <a:off x="5549974" y="1179250"/>
            <a:ext cx="3457924" cy="34579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Haciendo nidos?</a:t>
            </a:r>
            <a:endParaRPr/>
          </a:p>
        </p:txBody>
      </p:sp>
      <p:sp>
        <p:nvSpPr>
          <p:cNvPr id="382" name="Google Shape;382;p41"/>
          <p:cNvSpPr txBox="1"/>
          <p:nvPr/>
        </p:nvSpPr>
        <p:spPr>
          <a:xfrm>
            <a:off x="311700" y="1246325"/>
            <a:ext cx="4260300" cy="21135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accent5"/>
                </a:solidFill>
                <a:latin typeface="Roboto Mono Medium"/>
                <a:ea typeface="Roboto Mono Medium"/>
                <a:cs typeface="Roboto Mono Medium"/>
                <a:sym typeface="Roboto Mono Medium"/>
              </a:rPr>
              <a:t>for</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8E7CC3"/>
                </a:solidFill>
                <a:latin typeface="Roboto Mono Medium"/>
                <a:ea typeface="Roboto Mono Medium"/>
                <a:cs typeface="Roboto Mono Medium"/>
                <a:sym typeface="Roboto Mono Medium"/>
              </a:rPr>
              <a:t>sent</a:t>
            </a:r>
            <a:r>
              <a:rPr b="0" baseline="30000" i="0" lang="es" sz="2200" u="none" cap="none" strike="noStrike">
                <a:solidFill>
                  <a:srgbClr val="8E7CC3"/>
                </a:solidFill>
                <a:latin typeface="Roboto Mono Medium"/>
                <a:ea typeface="Roboto Mono Medium"/>
                <a:cs typeface="Roboto Mono Medium"/>
                <a:sym typeface="Roboto Mono Medium"/>
              </a:rPr>
              <a:t>1</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expr</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a:t>
            </a:r>
            <a:r>
              <a:rPr b="0" i="0" lang="es" sz="2200" u="none" cap="none" strike="noStrike">
                <a:solidFill>
                  <a:srgbClr val="6D9EEB"/>
                </a:solidFill>
                <a:latin typeface="Roboto Mono Medium"/>
                <a:ea typeface="Roboto Mono Medium"/>
                <a:cs typeface="Roboto Mono Medium"/>
                <a:sym typeface="Roboto Mono Medium"/>
              </a:rPr>
              <a:t>sent</a:t>
            </a:r>
            <a:r>
              <a:rPr b="0" baseline="30000" i="0" lang="es" sz="2200" u="none" cap="none" strike="noStrike">
                <a:solidFill>
                  <a:srgbClr val="6D9EEB"/>
                </a:solidFill>
                <a:latin typeface="Roboto Mono Medium"/>
                <a:ea typeface="Roboto Mono Medium"/>
                <a:cs typeface="Roboto Mono Medium"/>
                <a:sym typeface="Roboto Mono Medium"/>
              </a:rPr>
              <a:t>2</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sp>
        <p:nvSpPr>
          <p:cNvPr id="383" name="Google Shape;383;p41"/>
          <p:cNvSpPr txBox="1"/>
          <p:nvPr/>
        </p:nvSpPr>
        <p:spPr>
          <a:xfrm>
            <a:off x="5556575" y="1246325"/>
            <a:ext cx="2495100" cy="341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2600"/>
              <a:buFont typeface="Arial"/>
              <a:buNone/>
            </a:pPr>
            <a:r>
              <a:rPr b="0" i="0" lang="es" sz="2200" u="none" cap="none" strike="noStrike">
                <a:solidFill>
                  <a:srgbClr val="4DD0E1"/>
                </a:solidFill>
                <a:latin typeface="Roboto Mono Medium"/>
                <a:ea typeface="Roboto Mono Medium"/>
                <a:cs typeface="Roboto Mono Medium"/>
                <a:sym typeface="Roboto Mono Medium"/>
              </a:rPr>
              <a:t>while</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cond</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6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cxnSp>
        <p:nvCxnSpPr>
          <p:cNvPr id="384" name="Google Shape;384;p41"/>
          <p:cNvCxnSpPr/>
          <p:nvPr/>
        </p:nvCxnSpPr>
        <p:spPr>
          <a:xfrm>
            <a:off x="5024575" y="1365825"/>
            <a:ext cx="0" cy="2066400"/>
          </a:xfrm>
          <a:prstGeom prst="straightConnector1">
            <a:avLst/>
          </a:prstGeom>
          <a:noFill/>
          <a:ln cap="flat" cmpd="sng" w="9525">
            <a:solidFill>
              <a:schemeClr val="dk2"/>
            </a:solidFill>
            <a:prstDash val="solid"/>
            <a:round/>
            <a:headEnd len="med" w="med" type="none"/>
            <a:tailEnd len="med" w="med" type="none"/>
          </a:ln>
        </p:spPr>
      </p:cxnSp>
      <p:sp>
        <p:nvSpPr>
          <p:cNvPr id="385" name="Google Shape;385;p41"/>
          <p:cNvSpPr txBox="1"/>
          <p:nvPr>
            <p:ph idx="1" type="body"/>
          </p:nvPr>
        </p:nvSpPr>
        <p:spPr>
          <a:xfrm>
            <a:off x="311700" y="3673725"/>
            <a:ext cx="8520600" cy="12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cualquier caso, </a:t>
            </a:r>
            <a:r>
              <a:rPr lang="es">
                <a:solidFill>
                  <a:schemeClr val="accent1"/>
                </a:solidFill>
              </a:rPr>
              <a:t>prog</a:t>
            </a:r>
            <a:r>
              <a:rPr lang="es"/>
              <a:t> puede ser cualquier cantidad y tipo de sentencias… Incluso más sentencias de bucles…</a:t>
            </a:r>
            <a:br>
              <a:rPr lang="es"/>
            </a:br>
            <a:r>
              <a:rPr lang="es"/>
              <a:t>Al tener un bucle dentro de otro, decimos que son “anidados”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Recursividad</a:t>
            </a:r>
            <a:endParaRPr/>
          </a:p>
        </p:txBody>
      </p:sp>
      <p:sp>
        <p:nvSpPr>
          <p:cNvPr id="391" name="Google Shape;391;p4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3"/>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t>Despues de esto viene inicio unidad 4</a:t>
            </a:r>
            <a:endParaRPr/>
          </a:p>
        </p:txBody>
      </p:sp>
      <p:sp>
        <p:nvSpPr>
          <p:cNvPr id="397" name="Google Shape;397;p4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Variables en la Memoria</a:t>
            </a:r>
            <a:endParaRPr/>
          </a:p>
        </p:txBody>
      </p:sp>
      <p:graphicFrame>
        <p:nvGraphicFramePr>
          <p:cNvPr id="403" name="Google Shape;403;p44"/>
          <p:cNvGraphicFramePr/>
          <p:nvPr/>
        </p:nvGraphicFramePr>
        <p:xfrm>
          <a:off x="3605200" y="1395850"/>
          <a:ext cx="3000000" cy="3000000"/>
        </p:xfrm>
        <a:graphic>
          <a:graphicData uri="http://schemas.openxmlformats.org/drawingml/2006/table">
            <a:tbl>
              <a:tblPr>
                <a:noFill/>
                <a:tableStyleId>{143A8B6E-69AA-45F4-8991-E4EBB429DF2F}</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404" name="Google Shape;404;p44"/>
          <p:cNvSpPr/>
          <p:nvPr/>
        </p:nvSpPr>
        <p:spPr>
          <a:xfrm rot="10800000">
            <a:off x="726211" y="3530900"/>
            <a:ext cx="14577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05" name="Google Shape;405;p44"/>
          <p:cNvSpPr/>
          <p:nvPr/>
        </p:nvSpPr>
        <p:spPr>
          <a:xfrm rot="10800000">
            <a:off x="726218" y="3240776"/>
            <a:ext cx="14577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6" name="Google Shape;406;p44"/>
          <p:cNvSpPr/>
          <p:nvPr/>
        </p:nvSpPr>
        <p:spPr>
          <a:xfrm>
            <a:off x="874745" y="33133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7" name="Google Shape;407;p44"/>
          <p:cNvSpPr/>
          <p:nvPr/>
        </p:nvSpPr>
        <p:spPr>
          <a:xfrm>
            <a:off x="1156606" y="33133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8" name="Google Shape;408;p44"/>
          <p:cNvSpPr/>
          <p:nvPr/>
        </p:nvSpPr>
        <p:spPr>
          <a:xfrm>
            <a:off x="1438466" y="33133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9" name="Google Shape;409;p44"/>
          <p:cNvSpPr txBox="1"/>
          <p:nvPr/>
        </p:nvSpPr>
        <p:spPr>
          <a:xfrm>
            <a:off x="726190" y="3544656"/>
            <a:ext cx="14577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int x</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
        <p:nvSpPr>
          <p:cNvPr id="410" name="Google Shape;410;p44"/>
          <p:cNvSpPr/>
          <p:nvPr/>
        </p:nvSpPr>
        <p:spPr>
          <a:xfrm>
            <a:off x="2072200" y="1704700"/>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X</a:t>
            </a:r>
            <a:endParaRPr b="0" i="0" sz="1400" u="none" cap="none" strike="noStrike">
              <a:solidFill>
                <a:schemeClr val="dk2"/>
              </a:solidFill>
              <a:latin typeface="Arial"/>
              <a:ea typeface="Arial"/>
              <a:cs typeface="Arial"/>
              <a:sym typeface="Arial"/>
            </a:endParaRPr>
          </a:p>
        </p:txBody>
      </p:sp>
      <p:cxnSp>
        <p:nvCxnSpPr>
          <p:cNvPr id="411" name="Google Shape;411;p44"/>
          <p:cNvCxnSpPr>
            <a:stCxn id="410" idx="3"/>
          </p:cNvCxnSpPr>
          <p:nvPr/>
        </p:nvCxnSpPr>
        <p:spPr>
          <a:xfrm>
            <a:off x="2885500" y="1900750"/>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Variables en la Memoria</a:t>
            </a:r>
            <a:endParaRPr/>
          </a:p>
        </p:txBody>
      </p:sp>
      <p:graphicFrame>
        <p:nvGraphicFramePr>
          <p:cNvPr id="417" name="Google Shape;417;p45"/>
          <p:cNvGraphicFramePr/>
          <p:nvPr/>
        </p:nvGraphicFramePr>
        <p:xfrm>
          <a:off x="3605200" y="1395850"/>
          <a:ext cx="3000000" cy="3000000"/>
        </p:xfrm>
        <a:graphic>
          <a:graphicData uri="http://schemas.openxmlformats.org/drawingml/2006/table">
            <a:tbl>
              <a:tblPr>
                <a:noFill/>
                <a:tableStyleId>{143A8B6E-69AA-45F4-8991-E4EBB429DF2F}</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418" name="Google Shape;418;p45"/>
          <p:cNvSpPr/>
          <p:nvPr/>
        </p:nvSpPr>
        <p:spPr>
          <a:xfrm rot="10800000">
            <a:off x="726200" y="3530925"/>
            <a:ext cx="1457700" cy="12450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19" name="Google Shape;419;p45"/>
          <p:cNvSpPr/>
          <p:nvPr/>
        </p:nvSpPr>
        <p:spPr>
          <a:xfrm rot="10800000">
            <a:off x="726218" y="3240776"/>
            <a:ext cx="14577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20" name="Google Shape;420;p45"/>
          <p:cNvSpPr/>
          <p:nvPr/>
        </p:nvSpPr>
        <p:spPr>
          <a:xfrm>
            <a:off x="874745" y="33133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21" name="Google Shape;421;p45"/>
          <p:cNvSpPr/>
          <p:nvPr/>
        </p:nvSpPr>
        <p:spPr>
          <a:xfrm>
            <a:off x="1156606" y="33133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22" name="Google Shape;422;p45"/>
          <p:cNvSpPr/>
          <p:nvPr/>
        </p:nvSpPr>
        <p:spPr>
          <a:xfrm>
            <a:off x="1438466" y="33133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23" name="Google Shape;423;p45"/>
          <p:cNvSpPr txBox="1"/>
          <p:nvPr/>
        </p:nvSpPr>
        <p:spPr>
          <a:xfrm>
            <a:off x="726200" y="3547813"/>
            <a:ext cx="1457700" cy="1153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int x;</a:t>
            </a:r>
            <a:endParaRPr b="0" i="0" sz="1600" u="none" cap="none" strike="noStrike">
              <a:solidFill>
                <a:srgbClr val="E06C7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E06C75"/>
                </a:solidFill>
                <a:latin typeface="Arial"/>
                <a:ea typeface="Arial"/>
                <a:cs typeface="Arial"/>
                <a:sym typeface="Arial"/>
              </a:rPr>
              <a:t>  x=2</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
        <p:nvSpPr>
          <p:cNvPr id="424" name="Google Shape;424;p45"/>
          <p:cNvSpPr/>
          <p:nvPr/>
        </p:nvSpPr>
        <p:spPr>
          <a:xfrm>
            <a:off x="2072200" y="1704700"/>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X</a:t>
            </a:r>
            <a:endParaRPr b="0" i="0" sz="1400" u="none" cap="none" strike="noStrike">
              <a:solidFill>
                <a:schemeClr val="dk2"/>
              </a:solidFill>
              <a:latin typeface="Arial"/>
              <a:ea typeface="Arial"/>
              <a:cs typeface="Arial"/>
              <a:sym typeface="Arial"/>
            </a:endParaRPr>
          </a:p>
        </p:txBody>
      </p:sp>
      <p:cxnSp>
        <p:nvCxnSpPr>
          <p:cNvPr id="425" name="Google Shape;425;p45"/>
          <p:cNvCxnSpPr>
            <a:stCxn id="424" idx="3"/>
          </p:cNvCxnSpPr>
          <p:nvPr/>
        </p:nvCxnSpPr>
        <p:spPr>
          <a:xfrm>
            <a:off x="2885500" y="1900750"/>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Cadenas de Caracteres</a:t>
            </a:r>
            <a:endParaRPr sz="7000">
              <a:solidFill>
                <a:schemeClr val="accent4"/>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36" name="Google Shape;436;p47"/>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42" name="Google Shape;442;p48"/>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sp>
        <p:nvSpPr>
          <p:cNvPr id="443" name="Google Shape;443;p48"/>
          <p:cNvSpPr/>
          <p:nvPr/>
        </p:nvSpPr>
        <p:spPr>
          <a:xfrm rot="10800000">
            <a:off x="726026" y="2997500"/>
            <a:ext cx="24450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44" name="Google Shape;444;p48"/>
          <p:cNvSpPr/>
          <p:nvPr/>
        </p:nvSpPr>
        <p:spPr>
          <a:xfrm rot="10800000">
            <a:off x="726038" y="2707382"/>
            <a:ext cx="24450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5" name="Google Shape;445;p48"/>
          <p:cNvSpPr/>
          <p:nvPr/>
        </p:nvSpPr>
        <p:spPr>
          <a:xfrm>
            <a:off x="874745" y="27799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6" name="Google Shape;446;p48"/>
          <p:cNvSpPr/>
          <p:nvPr/>
        </p:nvSpPr>
        <p:spPr>
          <a:xfrm>
            <a:off x="1156606" y="27799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7" name="Google Shape;447;p48"/>
          <p:cNvSpPr/>
          <p:nvPr/>
        </p:nvSpPr>
        <p:spPr>
          <a:xfrm>
            <a:off x="1438466" y="27799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8" name="Google Shape;448;p48"/>
          <p:cNvSpPr txBox="1"/>
          <p:nvPr/>
        </p:nvSpPr>
        <p:spPr>
          <a:xfrm>
            <a:off x="726219" y="3011263"/>
            <a:ext cx="24450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lang="es" sz="1600">
                <a:solidFill>
                  <a:srgbClr val="E06C75"/>
                </a:solidFill>
              </a:rPr>
              <a:t>string msj=</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"HOLA"</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54" name="Google Shape;454;p49"/>
          <p:cNvSpPr txBox="1"/>
          <p:nvPr>
            <p:ph idx="1" type="body"/>
          </p:nvPr>
        </p:nvSpPr>
        <p:spPr>
          <a:xfrm>
            <a:off x="311700" y="1152475"/>
            <a:ext cx="8520600" cy="5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solidFill>
                  <a:schemeClr val="accent4"/>
                </a:solidFill>
              </a:rPr>
              <a:t>Cadenas</a:t>
            </a:r>
            <a:r>
              <a:rPr lang="es"/>
              <a:t>, Son una secuencia de caracteres en memoria.</a:t>
            </a:r>
            <a:endParaRPr/>
          </a:p>
        </p:txBody>
      </p:sp>
      <p:graphicFrame>
        <p:nvGraphicFramePr>
          <p:cNvPr id="455" name="Google Shape;455;p49"/>
          <p:cNvGraphicFramePr/>
          <p:nvPr/>
        </p:nvGraphicFramePr>
        <p:xfrm>
          <a:off x="3605200" y="1776850"/>
          <a:ext cx="3000000" cy="3000000"/>
        </p:xfrm>
        <a:graphic>
          <a:graphicData uri="http://schemas.openxmlformats.org/drawingml/2006/table">
            <a:tbl>
              <a:tblPr>
                <a:noFill/>
                <a:tableStyleId>{143A8B6E-69AA-45F4-8991-E4EBB429DF2F}</a:tableStyleId>
              </a:tblPr>
              <a:tblGrid>
                <a:gridCol w="848475"/>
                <a:gridCol w="3675925"/>
              </a:tblGrid>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‘H’</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1001</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‘O’</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601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1002</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‘L’</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1003</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1004</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‘\0’</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1005</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1006</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327875">
                <a:tc>
                  <a:txBody>
                    <a:bodyPr/>
                    <a:lstStyle/>
                    <a:p>
                      <a:pPr indent="0" lvl="0" marL="0" marR="0" rtl="0" algn="ctr">
                        <a:lnSpc>
                          <a:spcPct val="100000"/>
                        </a:lnSpc>
                        <a:spcBef>
                          <a:spcPts val="0"/>
                        </a:spcBef>
                        <a:spcAft>
                          <a:spcPts val="0"/>
                        </a:spcAft>
                        <a:buClr>
                          <a:srgbClr val="000000"/>
                        </a:buClr>
                        <a:buSzPts val="1100"/>
                        <a:buFont typeface="Arial"/>
                        <a:buNone/>
                      </a:pPr>
                      <a:r>
                        <a:rPr lang="es" sz="1100" u="none" cap="none" strike="noStrike">
                          <a:solidFill>
                            <a:schemeClr val="dk1"/>
                          </a:solidFill>
                        </a:rPr>
                        <a:t>…</a:t>
                      </a:r>
                      <a:endParaRPr sz="11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91425" marB="91425" marR="91425" marL="91425"/>
                </a:tc>
              </a:tr>
            </a:tbl>
          </a:graphicData>
        </a:graphic>
      </p:graphicFrame>
      <p:sp>
        <p:nvSpPr>
          <p:cNvPr id="456" name="Google Shape;456;p49"/>
          <p:cNvSpPr/>
          <p:nvPr/>
        </p:nvSpPr>
        <p:spPr>
          <a:xfrm rot="10800000">
            <a:off x="726026" y="2997500"/>
            <a:ext cx="2445000" cy="10128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57" name="Google Shape;457;p49"/>
          <p:cNvSpPr/>
          <p:nvPr/>
        </p:nvSpPr>
        <p:spPr>
          <a:xfrm rot="10800000">
            <a:off x="726038" y="2707382"/>
            <a:ext cx="2445000" cy="390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58" name="Google Shape;458;p49"/>
          <p:cNvSpPr/>
          <p:nvPr/>
        </p:nvSpPr>
        <p:spPr>
          <a:xfrm>
            <a:off x="874745" y="2779984"/>
            <a:ext cx="190500" cy="190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59" name="Google Shape;459;p49"/>
          <p:cNvSpPr/>
          <p:nvPr/>
        </p:nvSpPr>
        <p:spPr>
          <a:xfrm>
            <a:off x="1156606" y="2779984"/>
            <a:ext cx="190500" cy="190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0" name="Google Shape;460;p49"/>
          <p:cNvSpPr/>
          <p:nvPr/>
        </p:nvSpPr>
        <p:spPr>
          <a:xfrm>
            <a:off x="1438466" y="2779984"/>
            <a:ext cx="190500" cy="190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61" name="Google Shape;461;p49"/>
          <p:cNvSpPr txBox="1"/>
          <p:nvPr/>
        </p:nvSpPr>
        <p:spPr>
          <a:xfrm>
            <a:off x="726219" y="3011263"/>
            <a:ext cx="2445000" cy="9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lang="es" sz="1600">
                <a:solidFill>
                  <a:srgbClr val="E06C75"/>
                </a:solidFill>
              </a:rPr>
              <a:t>string msj=</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"HOLA"</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Arreglos</a:t>
            </a:r>
            <a:endParaRPr sz="7000">
              <a:solidFill>
                <a:schemeClr val="accent4"/>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72" name="Google Shape;472;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a:t>
            </a:r>
            <a:r>
              <a:rPr lang="es">
                <a:solidFill>
                  <a:srgbClr val="6D9EEB"/>
                </a:solidFill>
              </a:rPr>
              <a:t>tipo</a:t>
            </a:r>
            <a:r>
              <a:rPr lang="es"/>
              <a:t> en memoria.</a:t>
            </a:r>
            <a:endParaRPr/>
          </a:p>
          <a:p>
            <a:pPr indent="0" lvl="0" marL="0" rtl="0" algn="l">
              <a:lnSpc>
                <a:spcPct val="115000"/>
              </a:lnSpc>
              <a:spcBef>
                <a:spcPts val="1200"/>
              </a:spcBef>
              <a:spcAft>
                <a:spcPts val="0"/>
              </a:spcAft>
              <a:buSzPts val="1800"/>
              <a:buNone/>
            </a:pPr>
            <a:r>
              <a:rPr lang="es"/>
              <a:t>Declaración:</a:t>
            </a:r>
            <a:endParaRPr/>
          </a:p>
          <a:p>
            <a:pPr indent="0" lvl="0" marL="0" rtl="0" algn="ctr">
              <a:lnSpc>
                <a:spcPct val="115000"/>
              </a:lnSpc>
              <a:spcBef>
                <a:spcPts val="1200"/>
              </a:spcBef>
              <a:spcAft>
                <a:spcPts val="1200"/>
              </a:spcAft>
              <a:buSzPts val="1800"/>
              <a:buNone/>
            </a:pPr>
            <a:r>
              <a:rPr lang="es">
                <a:solidFill>
                  <a:srgbClr val="6D9EEB"/>
                </a:solidFill>
              </a:rPr>
              <a:t>tipo </a:t>
            </a:r>
            <a:r>
              <a:rPr lang="es">
                <a:solidFill>
                  <a:schemeClr val="accent4"/>
                </a:solidFill>
              </a:rPr>
              <a:t>nombre</a:t>
            </a:r>
            <a:r>
              <a:rPr lang="es"/>
              <a:t>[</a:t>
            </a:r>
            <a:r>
              <a:rPr lang="es">
                <a:solidFill>
                  <a:schemeClr val="accent1"/>
                </a:solidFill>
              </a:rPr>
              <a:t>tamaño</a:t>
            </a:r>
            <a:r>
              <a:rPr lang="es"/>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78" name="Google Shape;478;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tipo </a:t>
            </a:r>
            <a:r>
              <a:rPr lang="es">
                <a:solidFill>
                  <a:schemeClr val="accent4"/>
                </a:solidFill>
              </a:rPr>
              <a:t>nombre</a:t>
            </a:r>
            <a:r>
              <a:rPr lang="es"/>
              <a:t>[</a:t>
            </a:r>
            <a:r>
              <a:rPr lang="es">
                <a:solidFill>
                  <a:schemeClr val="accent1"/>
                </a:solidFill>
              </a:rPr>
              <a:t>tamaño</a:t>
            </a:r>
            <a:r>
              <a:rPr lang="es"/>
              <a:t>] =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84" name="Google Shape;484;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a:t>
            </a:r>
            <a:r>
              <a:rPr lang="es">
                <a:solidFill>
                  <a:schemeClr val="accent1"/>
                </a:solidFill>
              </a:rPr>
              <a:t>5</a:t>
            </a:r>
            <a:r>
              <a:rPr lang="es"/>
              <a:t>] = {3, 6, 15, 90, -1};</a:t>
            </a:r>
            <a:endParaRPr/>
          </a:p>
        </p:txBody>
      </p:sp>
      <p:graphicFrame>
        <p:nvGraphicFramePr>
          <p:cNvPr id="485" name="Google Shape;485;p53"/>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486" name="Google Shape;486;p53"/>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EEEEEE"/>
                </a:solidFill>
                <a:latin typeface="Arial"/>
                <a:ea typeface="Arial"/>
                <a:cs typeface="Arial"/>
                <a:sym typeface="Arial"/>
              </a:rPr>
              <a:t>a</a:t>
            </a:r>
            <a:endParaRPr b="0" i="0" sz="1400" u="none" cap="none" strike="noStrike">
              <a:solidFill>
                <a:srgbClr val="EEEEEE"/>
              </a:solidFill>
              <a:latin typeface="Arial"/>
              <a:ea typeface="Arial"/>
              <a:cs typeface="Arial"/>
              <a:sym typeface="Arial"/>
            </a:endParaRPr>
          </a:p>
        </p:txBody>
      </p:sp>
      <p:cxnSp>
        <p:nvCxnSpPr>
          <p:cNvPr id="487" name="Google Shape;487;p53"/>
          <p:cNvCxnSpPr>
            <a:stCxn id="486"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493" name="Google Shape;493;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Declaración e inicialización:</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494" name="Google Shape;494;p54"/>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495" name="Google Shape;495;p54"/>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EEEEEE"/>
                </a:solidFill>
                <a:latin typeface="Arial"/>
                <a:ea typeface="Arial"/>
                <a:cs typeface="Arial"/>
                <a:sym typeface="Arial"/>
              </a:rPr>
              <a:t>a</a:t>
            </a:r>
            <a:endParaRPr b="0" i="0" sz="1400" u="none" cap="none" strike="noStrike">
              <a:solidFill>
                <a:srgbClr val="EEEEEE"/>
              </a:solidFill>
              <a:latin typeface="Arial"/>
              <a:ea typeface="Arial"/>
              <a:cs typeface="Arial"/>
              <a:sym typeface="Arial"/>
            </a:endParaRPr>
          </a:p>
        </p:txBody>
      </p:sp>
      <p:cxnSp>
        <p:nvCxnSpPr>
          <p:cNvPr id="496" name="Google Shape;496;p54"/>
          <p:cNvCxnSpPr>
            <a:stCxn id="495"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502" name="Google Shape;502;p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ctr">
              <a:lnSpc>
                <a:spcPct val="115000"/>
              </a:lnSpc>
              <a:spcBef>
                <a:spcPts val="1200"/>
              </a:spcBef>
              <a:spcAft>
                <a:spcPts val="1200"/>
              </a:spcAft>
              <a:buSzPts val="1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508" name="Google Shape;508;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chemeClr val="accent4"/>
                </a:solidFill>
              </a:rPr>
              <a:t>nombre</a:t>
            </a:r>
            <a:r>
              <a:rPr lang="es"/>
              <a:t>[</a:t>
            </a:r>
            <a:r>
              <a:rPr lang="es">
                <a:solidFill>
                  <a:srgbClr val="E06666"/>
                </a:solidFill>
              </a:rPr>
              <a:t>indice</a:t>
            </a:r>
            <a:r>
              <a:rPr lang="es"/>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514" name="Google Shape;514;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Cómo accedemos a los valores?.</a:t>
            </a:r>
            <a:endParaRPr/>
          </a:p>
          <a:p>
            <a:pPr indent="-342900" lvl="0" marL="457200" rtl="0" algn="l">
              <a:lnSpc>
                <a:spcPct val="115000"/>
              </a:lnSpc>
              <a:spcBef>
                <a:spcPts val="1200"/>
              </a:spcBef>
              <a:spcAft>
                <a:spcPts val="0"/>
              </a:spcAft>
              <a:buSzPts val="1800"/>
              <a:buChar char="●"/>
            </a:pPr>
            <a:r>
              <a:rPr lang="es"/>
              <a:t>Cada valor de un arreglo se denomina componente.</a:t>
            </a:r>
            <a:endParaRPr/>
          </a:p>
          <a:p>
            <a:pPr indent="-342900" lvl="0" marL="457200" rtl="0" algn="l">
              <a:lnSpc>
                <a:spcPct val="115000"/>
              </a:lnSpc>
              <a:spcBef>
                <a:spcPts val="0"/>
              </a:spcBef>
              <a:spcAft>
                <a:spcPts val="0"/>
              </a:spcAft>
              <a:buSzPts val="1800"/>
              <a:buChar char="●"/>
            </a:pPr>
            <a:r>
              <a:rPr lang="es"/>
              <a:t>Cada componente está determinado por su índice.</a:t>
            </a:r>
            <a:endParaRPr/>
          </a:p>
          <a:p>
            <a:pPr indent="0" lvl="0" marL="0" rtl="0" algn="l">
              <a:lnSpc>
                <a:spcPct val="115000"/>
              </a:lnSpc>
              <a:spcBef>
                <a:spcPts val="1200"/>
              </a:spcBef>
              <a:spcAft>
                <a:spcPts val="0"/>
              </a:spcAft>
              <a:buSzPts val="1800"/>
              <a:buNone/>
            </a:pPr>
            <a:r>
              <a:rPr lang="es"/>
              <a:t>Acceso:</a:t>
            </a:r>
            <a:endParaRPr/>
          </a:p>
          <a:p>
            <a:pPr indent="-342900" lvl="0" marL="457200" rtl="0" algn="l">
              <a:lnSpc>
                <a:spcPct val="115000"/>
              </a:lnSpc>
              <a:spcBef>
                <a:spcPts val="1200"/>
              </a:spcBef>
              <a:spcAft>
                <a:spcPts val="0"/>
              </a:spcAft>
              <a:buSzPts val="1800"/>
              <a:buChar char="●"/>
            </a:pPr>
            <a:r>
              <a:rPr lang="es"/>
              <a:t>El primer índice es 0</a:t>
            </a:r>
            <a:endParaRPr/>
          </a:p>
          <a:p>
            <a:pPr indent="-342900" lvl="0" marL="457200" rtl="0" algn="l">
              <a:lnSpc>
                <a:spcPct val="115000"/>
              </a:lnSpc>
              <a:spcBef>
                <a:spcPts val="0"/>
              </a:spcBef>
              <a:spcAft>
                <a:spcPts val="0"/>
              </a:spcAft>
              <a:buSzPts val="1800"/>
              <a:buChar char="●"/>
            </a:pPr>
            <a:r>
              <a:rPr lang="es"/>
              <a:t>El último índice es (tamaño - 1)</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Datos Estructurados</a:t>
            </a:r>
            <a:endParaRPr/>
          </a:p>
        </p:txBody>
      </p:sp>
      <p:sp>
        <p:nvSpPr>
          <p:cNvPr id="520" name="Google Shape;520;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21" name="Google Shape;521;p58"/>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22" name="Google Shape;522;p58"/>
          <p:cNvSpPr/>
          <p:nvPr/>
        </p:nvSpPr>
        <p:spPr>
          <a:xfrm>
            <a:off x="703875" y="2763825"/>
            <a:ext cx="813300" cy="3921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EEEEEE"/>
                </a:solidFill>
                <a:latin typeface="Arial"/>
                <a:ea typeface="Arial"/>
                <a:cs typeface="Arial"/>
                <a:sym typeface="Arial"/>
              </a:rPr>
              <a:t>a</a:t>
            </a:r>
            <a:endParaRPr b="0" i="0" sz="1400" u="none" cap="none" strike="noStrike">
              <a:solidFill>
                <a:srgbClr val="EEEEEE"/>
              </a:solidFill>
              <a:latin typeface="Arial"/>
              <a:ea typeface="Arial"/>
              <a:cs typeface="Arial"/>
              <a:sym typeface="Arial"/>
            </a:endParaRPr>
          </a:p>
        </p:txBody>
      </p:sp>
      <p:cxnSp>
        <p:nvCxnSpPr>
          <p:cNvPr id="523" name="Google Shape;523;p58"/>
          <p:cNvCxnSpPr>
            <a:stCxn id="522" idx="3"/>
          </p:cNvCxnSpPr>
          <p:nvPr/>
        </p:nvCxnSpPr>
        <p:spPr>
          <a:xfrm>
            <a:off x="1517175" y="2959875"/>
            <a:ext cx="579300" cy="0"/>
          </a:xfrm>
          <a:prstGeom prst="straightConnector1">
            <a:avLst/>
          </a:prstGeom>
          <a:noFill/>
          <a:ln cap="flat" cmpd="sng" w="38100">
            <a:solidFill>
              <a:srgbClr val="00CA4E"/>
            </a:solidFill>
            <a:prstDash val="solid"/>
            <a:round/>
            <a:headEnd len="sm" w="sm" type="none"/>
            <a:tailEnd len="med" w="med" type="triangle"/>
          </a:ln>
        </p:spPr>
      </p:cxnSp>
      <p:sp>
        <p:nvSpPr>
          <p:cNvPr id="524" name="Google Shape;524;p58"/>
          <p:cNvSpPr/>
          <p:nvPr/>
        </p:nvSpPr>
        <p:spPr>
          <a:xfrm>
            <a:off x="703875" y="348745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3</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25" name="Google Shape;525;p58"/>
          <p:cNvCxnSpPr>
            <a:stCxn id="524" idx="3"/>
          </p:cNvCxnSpPr>
          <p:nvPr/>
        </p:nvCxnSpPr>
        <p:spPr>
          <a:xfrm>
            <a:off x="1517175" y="3683500"/>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59"/>
          <p:cNvPicPr preferRelativeResize="0"/>
          <p:nvPr/>
        </p:nvPicPr>
        <p:blipFill rotWithShape="1">
          <a:blip r:embed="rId3">
            <a:alphaModFix amt="20000"/>
          </a:blip>
          <a:srcRect b="0" l="0" r="0" t="0"/>
          <a:stretch/>
        </p:blipFill>
        <p:spPr>
          <a:xfrm>
            <a:off x="4164775" y="133350"/>
            <a:ext cx="4876800" cy="4876800"/>
          </a:xfrm>
          <a:prstGeom prst="rect">
            <a:avLst/>
          </a:prstGeom>
          <a:noFill/>
          <a:ln>
            <a:noFill/>
          </a:ln>
        </p:spPr>
      </p:pic>
      <p:sp>
        <p:nvSpPr>
          <p:cNvPr id="531" name="Google Shape;531;p5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Recorriendo un Arreglo</a:t>
            </a:r>
            <a:endParaRPr sz="7000">
              <a:solidFill>
                <a:schemeClr val="accent4"/>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37" name="Google Shape;537;p60"/>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38" name="Google Shape;538;p60"/>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39" name="Google Shape;539;p60"/>
          <p:cNvSpPr/>
          <p:nvPr/>
        </p:nvSpPr>
        <p:spPr>
          <a:xfrm>
            <a:off x="703875" y="27792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0</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40" name="Google Shape;540;p60"/>
          <p:cNvCxnSpPr>
            <a:stCxn id="539" idx="3"/>
          </p:cNvCxnSpPr>
          <p:nvPr/>
        </p:nvCxnSpPr>
        <p:spPr>
          <a:xfrm>
            <a:off x="1517175" y="2975250"/>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46" name="Google Shape;546;p61"/>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47" name="Google Shape;547;p61"/>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48" name="Google Shape;548;p61"/>
          <p:cNvSpPr/>
          <p:nvPr/>
        </p:nvSpPr>
        <p:spPr>
          <a:xfrm>
            <a:off x="703875" y="3013925"/>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1</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49" name="Google Shape;549;p61"/>
          <p:cNvCxnSpPr>
            <a:stCxn id="548" idx="3"/>
          </p:cNvCxnSpPr>
          <p:nvPr/>
        </p:nvCxnSpPr>
        <p:spPr>
          <a:xfrm>
            <a:off x="1517175" y="3209975"/>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55" name="Google Shape;555;p62"/>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56" name="Google Shape;556;p62"/>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57" name="Google Shape;557;p62"/>
          <p:cNvSpPr/>
          <p:nvPr/>
        </p:nvSpPr>
        <p:spPr>
          <a:xfrm>
            <a:off x="703875" y="3241575"/>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2</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58" name="Google Shape;558;p62"/>
          <p:cNvCxnSpPr>
            <a:stCxn id="557" idx="3"/>
          </p:cNvCxnSpPr>
          <p:nvPr/>
        </p:nvCxnSpPr>
        <p:spPr>
          <a:xfrm>
            <a:off x="1517175" y="3437625"/>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64" name="Google Shape;564;p63"/>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65" name="Google Shape;565;p63"/>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66" name="Google Shape;566;p63"/>
          <p:cNvSpPr/>
          <p:nvPr/>
        </p:nvSpPr>
        <p:spPr>
          <a:xfrm>
            <a:off x="703875" y="3469225"/>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3</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67" name="Google Shape;567;p63"/>
          <p:cNvCxnSpPr>
            <a:stCxn id="566" idx="3"/>
          </p:cNvCxnSpPr>
          <p:nvPr/>
        </p:nvCxnSpPr>
        <p:spPr>
          <a:xfrm>
            <a:off x="1517175" y="3665275"/>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73" name="Google Shape;573;p64"/>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74" name="Google Shape;574;p64"/>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75" name="Google Shape;575;p64"/>
          <p:cNvSpPr/>
          <p:nvPr/>
        </p:nvSpPr>
        <p:spPr>
          <a:xfrm>
            <a:off x="703875" y="3677900"/>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4</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76" name="Google Shape;576;p64"/>
          <p:cNvCxnSpPr>
            <a:stCxn id="575" idx="3"/>
          </p:cNvCxnSpPr>
          <p:nvPr/>
        </p:nvCxnSpPr>
        <p:spPr>
          <a:xfrm>
            <a:off x="1517175" y="3873950"/>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82" name="Google Shape;582;p65"/>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83" name="Google Shape;583;p65"/>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84" name="Google Shape;584;p65"/>
          <p:cNvSpPr/>
          <p:nvPr/>
        </p:nvSpPr>
        <p:spPr>
          <a:xfrm>
            <a:off x="703875" y="3943475"/>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5</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85" name="Google Shape;585;p65"/>
          <p:cNvCxnSpPr>
            <a:stCxn id="584" idx="3"/>
          </p:cNvCxnSpPr>
          <p:nvPr/>
        </p:nvCxnSpPr>
        <p:spPr>
          <a:xfrm>
            <a:off x="1517175" y="4139525"/>
            <a:ext cx="579300" cy="0"/>
          </a:xfrm>
          <a:prstGeom prst="straightConnector1">
            <a:avLst/>
          </a:prstGeom>
          <a:noFill/>
          <a:ln cap="flat" cmpd="sng" w="19050">
            <a:solidFill>
              <a:srgbClr val="EA9999"/>
            </a:solidFill>
            <a:prstDash val="dot"/>
            <a:round/>
            <a:headEnd len="sm" w="sm"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Recorriendo un Arreglo</a:t>
            </a:r>
            <a:endParaRPr/>
          </a:p>
        </p:txBody>
      </p:sp>
      <p:sp>
        <p:nvSpPr>
          <p:cNvPr id="591" name="Google Shape;591;p66"/>
          <p:cNvSpPr txBox="1"/>
          <p:nvPr>
            <p:ph idx="1" type="body"/>
          </p:nvPr>
        </p:nvSpPr>
        <p:spPr>
          <a:xfrm>
            <a:off x="311700" y="1152475"/>
            <a:ext cx="8520600" cy="135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solidFill>
                  <a:schemeClr val="accent4"/>
                </a:solidFill>
              </a:rPr>
              <a:t>Arreglos</a:t>
            </a:r>
            <a:r>
              <a:rPr lang="es"/>
              <a:t>, Son secuencias de valores de un mismo tipo en memoria.</a:t>
            </a:r>
            <a:endParaRPr/>
          </a:p>
          <a:p>
            <a:pPr indent="0" lvl="0" marL="0" rtl="0" algn="l">
              <a:lnSpc>
                <a:spcPct val="115000"/>
              </a:lnSpc>
              <a:spcBef>
                <a:spcPts val="1200"/>
              </a:spcBef>
              <a:spcAft>
                <a:spcPts val="0"/>
              </a:spcAft>
              <a:buSzPts val="1800"/>
              <a:buNone/>
            </a:pPr>
            <a:r>
              <a:rPr lang="es"/>
              <a:t>Acceso:</a:t>
            </a:r>
            <a:endParaRPr/>
          </a:p>
          <a:p>
            <a:pPr indent="0" lvl="0" marL="0" rtl="0" algn="ctr">
              <a:lnSpc>
                <a:spcPct val="115000"/>
              </a:lnSpc>
              <a:spcBef>
                <a:spcPts val="1200"/>
              </a:spcBef>
              <a:spcAft>
                <a:spcPts val="1200"/>
              </a:spcAft>
              <a:buSzPts val="1800"/>
              <a:buNone/>
            </a:pPr>
            <a:r>
              <a:rPr lang="es">
                <a:solidFill>
                  <a:srgbClr val="6D9EEB"/>
                </a:solidFill>
              </a:rPr>
              <a:t>int </a:t>
            </a:r>
            <a:r>
              <a:rPr lang="es">
                <a:solidFill>
                  <a:schemeClr val="accent4"/>
                </a:solidFill>
              </a:rPr>
              <a:t>a</a:t>
            </a:r>
            <a:r>
              <a:rPr lang="es"/>
              <a:t>[] = {3, 6, 15, 90, -1};</a:t>
            </a:r>
            <a:endParaRPr/>
          </a:p>
        </p:txBody>
      </p:sp>
      <p:graphicFrame>
        <p:nvGraphicFramePr>
          <p:cNvPr id="592" name="Google Shape;592;p66"/>
          <p:cNvGraphicFramePr/>
          <p:nvPr/>
        </p:nvGraphicFramePr>
        <p:xfrm>
          <a:off x="2243475" y="2571750"/>
          <a:ext cx="3000000" cy="3000000"/>
        </p:xfrm>
        <a:graphic>
          <a:graphicData uri="http://schemas.openxmlformats.org/drawingml/2006/table">
            <a:tbl>
              <a:tblPr>
                <a:noFill/>
                <a:tableStyleId>{143A8B6E-69AA-45F4-8991-E4EBB429DF2F}</a:tableStyleId>
              </a:tblPr>
              <a:tblGrid>
                <a:gridCol w="848475"/>
                <a:gridCol w="3675925"/>
              </a:tblGrid>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42225">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1002</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1003</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90</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1004</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1005</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1006</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r h="220500">
                <a:tc>
                  <a:txBody>
                    <a:bodyPr/>
                    <a:lstStyle/>
                    <a:p>
                      <a:pPr indent="0" lvl="0" marL="0" marR="0" rtl="0" algn="ctr">
                        <a:lnSpc>
                          <a:spcPct val="6000"/>
                        </a:lnSpc>
                        <a:spcBef>
                          <a:spcPts val="0"/>
                        </a:spcBef>
                        <a:spcAft>
                          <a:spcPts val="0"/>
                        </a:spcAft>
                        <a:buClr>
                          <a:srgbClr val="000000"/>
                        </a:buClr>
                        <a:buSzPts val="800"/>
                        <a:buFont typeface="Arial"/>
                        <a:buNone/>
                      </a:pPr>
                      <a:r>
                        <a:rPr lang="es" sz="800" u="none" cap="none" strike="noStrike">
                          <a:solidFill>
                            <a:schemeClr val="dk1"/>
                          </a:solidFill>
                        </a:rPr>
                        <a:t>…</a:t>
                      </a:r>
                      <a:endParaRPr sz="800" u="none" cap="none" strike="noStrike">
                        <a:solidFill>
                          <a:schemeClr val="dk1"/>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ctr">
                        <a:lnSpc>
                          <a:spcPct val="6000"/>
                        </a:lnSpc>
                        <a:spcBef>
                          <a:spcPts val="0"/>
                        </a:spcBef>
                        <a:spcAft>
                          <a:spcPts val="0"/>
                        </a:spcAft>
                        <a:buClr>
                          <a:srgbClr val="000000"/>
                        </a:buClr>
                        <a:buSzPts val="800"/>
                        <a:buFont typeface="Arial"/>
                        <a:buNone/>
                      </a:pPr>
                      <a:r>
                        <a:t/>
                      </a:r>
                      <a:endParaRPr sz="800" u="none" cap="none" strike="noStrike">
                        <a:solidFill>
                          <a:schemeClr val="dk1"/>
                        </a:solidFill>
                      </a:endParaRPr>
                    </a:p>
                  </a:txBody>
                  <a:tcPr marT="91425" marB="91425" marR="91425" marL="91425"/>
                </a:tc>
              </a:tr>
            </a:tbl>
          </a:graphicData>
        </a:graphic>
      </p:graphicFrame>
      <p:sp>
        <p:nvSpPr>
          <p:cNvPr id="593" name="Google Shape;593;p66"/>
          <p:cNvSpPr/>
          <p:nvPr/>
        </p:nvSpPr>
        <p:spPr>
          <a:xfrm>
            <a:off x="703875" y="3943475"/>
            <a:ext cx="813300" cy="392100"/>
          </a:xfrm>
          <a:prstGeom prst="roundRect">
            <a:avLst>
              <a:gd fmla="val 16667" name="adj"/>
            </a:avLst>
          </a:prstGeom>
          <a:noFill/>
          <a:ln cap="flat" cmpd="sng" w="1905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chemeClr val="accent4"/>
                </a:solidFill>
                <a:latin typeface="Arial"/>
                <a:ea typeface="Arial"/>
                <a:cs typeface="Arial"/>
                <a:sym typeface="Arial"/>
              </a:rPr>
              <a:t>a</a:t>
            </a:r>
            <a:r>
              <a:rPr b="0" i="0" lang="es" sz="1600" u="none" cap="none" strike="noStrike">
                <a:solidFill>
                  <a:schemeClr val="lt2"/>
                </a:solidFill>
                <a:latin typeface="Arial"/>
                <a:ea typeface="Arial"/>
                <a:cs typeface="Arial"/>
                <a:sym typeface="Arial"/>
              </a:rPr>
              <a:t>[</a:t>
            </a:r>
            <a:r>
              <a:rPr b="0" i="0" lang="es" sz="1600" u="none" cap="none" strike="noStrike">
                <a:solidFill>
                  <a:srgbClr val="E06666"/>
                </a:solidFill>
                <a:latin typeface="Arial"/>
                <a:ea typeface="Arial"/>
                <a:cs typeface="Arial"/>
                <a:sym typeface="Arial"/>
              </a:rPr>
              <a:t>5</a:t>
            </a:r>
            <a:r>
              <a:rPr b="0" i="0" lang="es" sz="1600" u="none" cap="none" strike="noStrike">
                <a:solidFill>
                  <a:schemeClr val="lt2"/>
                </a:solidFill>
                <a:latin typeface="Arial"/>
                <a:ea typeface="Arial"/>
                <a:cs typeface="Arial"/>
                <a:sym typeface="Arial"/>
              </a:rPr>
              <a:t>]</a:t>
            </a:r>
            <a:endParaRPr b="0" i="0" sz="1200" u="none" cap="none" strike="noStrike">
              <a:solidFill>
                <a:srgbClr val="EEEEEE"/>
              </a:solidFill>
              <a:latin typeface="Arial"/>
              <a:ea typeface="Arial"/>
              <a:cs typeface="Arial"/>
              <a:sym typeface="Arial"/>
            </a:endParaRPr>
          </a:p>
        </p:txBody>
      </p:sp>
      <p:cxnSp>
        <p:nvCxnSpPr>
          <p:cNvPr id="594" name="Google Shape;594;p66"/>
          <p:cNvCxnSpPr>
            <a:stCxn id="593" idx="3"/>
          </p:cNvCxnSpPr>
          <p:nvPr/>
        </p:nvCxnSpPr>
        <p:spPr>
          <a:xfrm>
            <a:off x="1517175" y="4139525"/>
            <a:ext cx="579300" cy="0"/>
          </a:xfrm>
          <a:prstGeom prst="straightConnector1">
            <a:avLst/>
          </a:prstGeom>
          <a:noFill/>
          <a:ln cap="flat" cmpd="sng" w="19050">
            <a:solidFill>
              <a:srgbClr val="EA9999"/>
            </a:solidFill>
            <a:prstDash val="dot"/>
            <a:round/>
            <a:headEnd len="sm" w="sm" type="none"/>
            <a:tailEnd len="med" w="med" type="triangle"/>
          </a:ln>
        </p:spPr>
      </p:cxnSp>
      <p:sp>
        <p:nvSpPr>
          <p:cNvPr id="595" name="Google Shape;595;p66"/>
          <p:cNvSpPr/>
          <p:nvPr/>
        </p:nvSpPr>
        <p:spPr>
          <a:xfrm>
            <a:off x="847350" y="2998175"/>
            <a:ext cx="2282700" cy="2282700"/>
          </a:xfrm>
          <a:prstGeom prst="mathMultiply">
            <a:avLst>
              <a:gd fmla="val 10770" name="adj1"/>
            </a:avLst>
          </a:prstGeom>
          <a:solidFill>
            <a:srgbClr val="CC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laro FCEFYN">
  <a:themeElements>
    <a:clrScheme name="Simple Light">
      <a:dk1>
        <a:srgbClr val="1D1D1D"/>
      </a:dk1>
      <a:lt1>
        <a:srgbClr val="FFFFFF"/>
      </a:lt1>
      <a:dk2>
        <a:srgbClr val="595959"/>
      </a:dk2>
      <a:lt2>
        <a:srgbClr val="EEEEEE"/>
      </a:lt2>
      <a:accent1>
        <a:srgbClr val="4285F4"/>
      </a:accent1>
      <a:accent2>
        <a:srgbClr val="212121"/>
      </a:accent2>
      <a:accent3>
        <a:srgbClr val="D88E77"/>
      </a:accent3>
      <a:accent4>
        <a:srgbClr val="D38129"/>
      </a:accent4>
      <a:accent5>
        <a:srgbClr val="1D4036"/>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