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Montserrat SemiBold"/>
      <p:regular r:id="rId43"/>
      <p:bold r:id="rId44"/>
      <p:italic r:id="rId45"/>
      <p:boldItalic r:id="rId46"/>
    </p:embeddedFont>
    <p:embeddedFont>
      <p:font typeface="Roboto Mono Medium"/>
      <p:regular r:id="rId47"/>
      <p:bold r:id="rId48"/>
      <p:italic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Montserrat"/>
      <p:regular r:id="rId55"/>
      <p:bold r:id="rId56"/>
      <p:italic r:id="rId57"/>
      <p:boldItalic r:id="rId58"/>
    </p:embeddedFont>
    <p:embeddedFont>
      <p:font typeface="Montserrat Medium"/>
      <p:regular r:id="rId59"/>
      <p:bold r:id="rId60"/>
      <p:italic r:id="rId61"/>
      <p:boldItalic r:id="rId62"/>
    </p:embeddedFont>
    <p:embeddedFont>
      <p:font typeface="Montserrat Light"/>
      <p:regular r:id="rId63"/>
      <p:bold r:id="rId64"/>
      <p:italic r:id="rId65"/>
      <p:boldItalic r:id="rId66"/>
    </p:embeddedFont>
    <p:embeddedFont>
      <p:font typeface="Fira Code"/>
      <p:regular r:id="rId67"/>
      <p:bold r:id="rId68"/>
    </p:embeddedFont>
    <p:embeddedFont>
      <p:font typeface="Roboto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D2A6EB-AE99-4682-8076-B2C2BB50B47E}">
  <a:tblStyle styleId="{DFD2A6EB-AE99-4682-8076-B2C2BB50B4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MontserratSemiBold-bold.fntdata"/><Relationship Id="rId43" Type="http://schemas.openxmlformats.org/officeDocument/2006/relationships/font" Target="fonts/MontserratSemiBold-regular.fntdata"/><Relationship Id="rId46" Type="http://schemas.openxmlformats.org/officeDocument/2006/relationships/font" Target="fonts/MontserratSemiBold-boldItalic.fntdata"/><Relationship Id="rId45" Type="http://schemas.openxmlformats.org/officeDocument/2006/relationships/font" Target="fonts/Montserra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Medium-bold.fntdata"/><Relationship Id="rId47" Type="http://schemas.openxmlformats.org/officeDocument/2006/relationships/font" Target="fonts/RobotoMonoMedium-regular.fntdata"/><Relationship Id="rId49" Type="http://schemas.openxmlformats.org/officeDocument/2006/relationships/font" Target="fonts/RobotoMono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RobotoMono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-italic.fntdata"/><Relationship Id="rId70" Type="http://schemas.openxmlformats.org/officeDocument/2006/relationships/font" Target="fonts/RobotoMono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ontserratMedium-boldItalic.fntdata"/><Relationship Id="rId61" Type="http://schemas.openxmlformats.org/officeDocument/2006/relationships/font" Target="fonts/MontserratMedium-italic.fntdata"/><Relationship Id="rId20" Type="http://schemas.openxmlformats.org/officeDocument/2006/relationships/slide" Target="slides/slide14.xml"/><Relationship Id="rId64" Type="http://schemas.openxmlformats.org/officeDocument/2006/relationships/font" Target="fonts/MontserratLight-bold.fntdata"/><Relationship Id="rId63" Type="http://schemas.openxmlformats.org/officeDocument/2006/relationships/font" Target="fonts/MontserratLight-regular.fntdata"/><Relationship Id="rId22" Type="http://schemas.openxmlformats.org/officeDocument/2006/relationships/slide" Target="slides/slide16.xml"/><Relationship Id="rId66" Type="http://schemas.openxmlformats.org/officeDocument/2006/relationships/font" Target="fonts/MontserratLight-bold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Light-italic.fntdata"/><Relationship Id="rId24" Type="http://schemas.openxmlformats.org/officeDocument/2006/relationships/slide" Target="slides/slide18.xml"/><Relationship Id="rId68" Type="http://schemas.openxmlformats.org/officeDocument/2006/relationships/font" Target="fonts/FiraCode-bold.fntdata"/><Relationship Id="rId23" Type="http://schemas.openxmlformats.org/officeDocument/2006/relationships/slide" Target="slides/slide17.xml"/><Relationship Id="rId67" Type="http://schemas.openxmlformats.org/officeDocument/2006/relationships/font" Target="fonts/FiraCode-regular.fntdata"/><Relationship Id="rId60" Type="http://schemas.openxmlformats.org/officeDocument/2006/relationships/font" Target="fonts/MontserratMedium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on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regular.fntdata"/><Relationship Id="rId50" Type="http://schemas.openxmlformats.org/officeDocument/2006/relationships/font" Target="fonts/RobotoMonoMedium-boldItalic.fntdata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5.xml"/><Relationship Id="rId55" Type="http://schemas.openxmlformats.org/officeDocument/2006/relationships/font" Target="fonts/Montserrat-regular.fntdata"/><Relationship Id="rId10" Type="http://schemas.openxmlformats.org/officeDocument/2006/relationships/slide" Target="slides/slide4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7.xml"/><Relationship Id="rId57" Type="http://schemas.openxmlformats.org/officeDocument/2006/relationships/font" Target="fonts/Montserrat-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bold.fntdata"/><Relationship Id="rId15" Type="http://schemas.openxmlformats.org/officeDocument/2006/relationships/slide" Target="slides/slide9.xml"/><Relationship Id="rId59" Type="http://schemas.openxmlformats.org/officeDocument/2006/relationships/font" Target="fonts/MontserratMedium-regular.fntdata"/><Relationship Id="rId14" Type="http://schemas.openxmlformats.org/officeDocument/2006/relationships/slide" Target="slides/slide8.xml"/><Relationship Id="rId58" Type="http://schemas.openxmlformats.org/officeDocument/2006/relationships/font" Target="fonts/Montserra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43bac84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43bac84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43bac84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43bac84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43bac84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43bac84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643bac84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643bac84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643bac84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643bac84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43bac84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43bac84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643bac84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643bac84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43bac840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643bac84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43bac84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643bac84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643bac84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643bac84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643bac84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643bac84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49b493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649b493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649b4934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649b4934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49b4934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649b4934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49b4934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649b4934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51dffc7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651dffc7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649b4934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649b4934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649b4934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649b4934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651dffc7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651dffc7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649b4934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649b4934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649b4934b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f649b4934b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649b4934b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649b4934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649b4934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649b4934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649b4934b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f649b4934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649b4934b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649b4934b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649b4934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649b4934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649b4934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649b4934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649b4934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649b4934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649b4934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f649b4934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649b4934b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f649b4934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649b4934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649b4934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649b4934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649b4934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649b4934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f649b4934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6529f95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f6529f9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649b4934b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649b4934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Elementos ornamentales-0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2903" y="-423203"/>
            <a:ext cx="50982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Montserrat SemiBold"/>
              <a:buNone/>
              <a:defRPr sz="52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Light"/>
              <a:buNone/>
              <a:defRPr sz="28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4" name="Google Shape;14;p2" title="1_Isologotipo FCEFyN y UNC- original_Sin 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9" y="-76200"/>
            <a:ext cx="4239831" cy="11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9" name="Google Shape;19;p3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Elementos ornamentales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31561"/>
            <a:ext cx="9144003" cy="19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" name="Google Shape;26;p4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3" name="Google Shape;33;p5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8" name="Google Shape;38;p6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" name="Google Shape;44;p7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9" name="Google Shape;49;p8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9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2" name="Google Shape;62;p10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8" name="Google Shape;68;p11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8648650" y="4582200"/>
            <a:ext cx="934800" cy="93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12" title="1_Isologotipo FCEFyN y UNC- original_Sin fondo.png"/>
          <p:cNvPicPr preferRelativeResize="0"/>
          <p:nvPr/>
        </p:nvPicPr>
        <p:blipFill rotWithShape="1">
          <a:blip r:embed="rId2">
            <a:alphaModFix/>
          </a:blip>
          <a:srcRect b="0" l="36669" r="0" t="0"/>
          <a:stretch/>
        </p:blipFill>
        <p:spPr>
          <a:xfrm>
            <a:off x="7060911" y="4581782"/>
            <a:ext cx="1587748" cy="69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4D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31.jpg"/><Relationship Id="rId6" Type="http://schemas.openxmlformats.org/officeDocument/2006/relationships/image" Target="../media/image3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jpg"/><Relationship Id="rId4" Type="http://schemas.openxmlformats.org/officeDocument/2006/relationships/image" Target="../media/image31.jpg"/><Relationship Id="rId5" Type="http://schemas.openxmlformats.org/officeDocument/2006/relationships/image" Target="../media/image30.jp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Relationship Id="rId4" Type="http://schemas.openxmlformats.org/officeDocument/2006/relationships/hyperlink" Target="http://www.youtube.com/watch?v=97fAbzWBegI" TargetMode="External"/><Relationship Id="rId5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11701" y="1506575"/>
            <a:ext cx="7066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Inform</a:t>
            </a:r>
            <a:r>
              <a:rPr lang="es"/>
              <a:t>ática y Cálculo Numérico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11700" y="3596125"/>
            <a:ext cx="706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Comisi</a:t>
            </a:r>
            <a:r>
              <a:rPr lang="es"/>
              <a:t>ón 5 - 2026 - Segundo Semestre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641099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¿Nos presentamos?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5" name="Google Shape;85;p14" title="itera_ni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06500" y="3322425"/>
            <a:ext cx="1846051" cy="184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 title="WhatsApp Image 2026-03-03 at 00.56.2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95570">
            <a:off x="5962247" y="1934059"/>
            <a:ext cx="2893727" cy="162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 title="WhatsApp Image 2026-07-31 at 00.09.23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6818">
            <a:off x="4310717" y="2037850"/>
            <a:ext cx="2049965" cy="153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title="WhatsApp Image 2026-05-23 at 18.21.49.jpeg"/>
          <p:cNvPicPr preferRelativeResize="0"/>
          <p:nvPr/>
        </p:nvPicPr>
        <p:blipFill rotWithShape="1">
          <a:blip r:embed="rId6">
            <a:alphaModFix/>
          </a:blip>
          <a:srcRect b="22663" l="13518" r="13136" t="19803"/>
          <a:stretch/>
        </p:blipFill>
        <p:spPr>
          <a:xfrm rot="-2053953">
            <a:off x="2644977" y="1966763"/>
            <a:ext cx="1846050" cy="1930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 title="WhatsApp Image 2026-03-03 at 00.56.2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95570">
            <a:off x="5962247" y="1934059"/>
            <a:ext cx="2893727" cy="162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WhatsApp Image 2026-07-31 at 00.09.23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76818">
            <a:off x="4310717" y="2037850"/>
            <a:ext cx="2049965" cy="153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title="WhatsApp Image 2026-05-23 at 18.21.49.jpeg"/>
          <p:cNvPicPr preferRelativeResize="0"/>
          <p:nvPr/>
        </p:nvPicPr>
        <p:blipFill rotWithShape="1">
          <a:blip r:embed="rId5">
            <a:alphaModFix/>
          </a:blip>
          <a:srcRect b="22663" l="13518" r="13136" t="19803"/>
          <a:stretch/>
        </p:blipFill>
        <p:spPr>
          <a:xfrm rot="-2053953">
            <a:off x="2644977" y="1966763"/>
            <a:ext cx="1846050" cy="193075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641099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¿Nos presentamos?</a:t>
            </a:r>
            <a:endParaRPr/>
          </a:p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8" name="Google Shape;98;p15" title="itera_nid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606500" y="3322425"/>
            <a:ext cx="1846051" cy="184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title="itera_maestr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3345440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1808750" y="3116850"/>
            <a:ext cx="3263400" cy="1482900"/>
          </a:xfrm>
          <a:prstGeom prst="wedgeRoundRectCallout">
            <a:avLst>
              <a:gd fmla="val -65019" name="adj1"/>
              <a:gd fmla="val -357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¡Hola! Soy </a:t>
            </a:r>
            <a:r>
              <a:rPr b="1" lang="es">
                <a:latin typeface="Montserrat"/>
                <a:ea typeface="Montserrat"/>
                <a:cs typeface="Montserrat"/>
                <a:sym typeface="Montserrat"/>
              </a:rPr>
              <a:t>Ítera</a:t>
            </a: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. Vamos a programar, calcular y resolver problemas de ingeniería. Acá los errores no son el final: son pistas para pensar, verificar y mejorar.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</a:t>
            </a:r>
            <a:r>
              <a:rPr lang="es"/>
              <a:t>ómo se regulariza?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152475"/>
            <a:ext cx="8520600" cy="3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</a:rPr>
              <a:t>Para alcanzar la </a:t>
            </a:r>
            <a:r>
              <a:rPr b="1" lang="es" sz="1500">
                <a:solidFill>
                  <a:srgbClr val="000000"/>
                </a:solidFill>
              </a:rPr>
              <a:t>REGULARIDAD</a:t>
            </a:r>
            <a:r>
              <a:rPr lang="es" sz="1500">
                <a:solidFill>
                  <a:srgbClr val="000000"/>
                </a:solidFill>
              </a:rPr>
              <a:t> debés aprobar los cinco módulos de la asignatura.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</a:rPr>
              <a:t>Cada módulo incluye:</a:t>
            </a:r>
            <a:endParaRPr b="1" sz="1500">
              <a:solidFill>
                <a:srgbClr val="000000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s" sz="1500">
                <a:solidFill>
                  <a:srgbClr val="000000"/>
                </a:solidFill>
              </a:rPr>
              <a:t>Material Didáctico (MD):</a:t>
            </a:r>
            <a:r>
              <a:rPr lang="es" sz="1500">
                <a:solidFill>
                  <a:srgbClr val="000000"/>
                </a:solidFill>
              </a:rPr>
              <a:t> explicaciones y ejemplos. Debe completarse hasta la última página.</a:t>
            </a:r>
            <a:endParaRPr sz="1500">
              <a:solidFill>
                <a:srgbClr val="000000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s" sz="1500">
                <a:solidFill>
                  <a:srgbClr val="000000"/>
                </a:solidFill>
              </a:rPr>
              <a:t>Trabajo Práctico (TP):</a:t>
            </a:r>
            <a:r>
              <a:rPr lang="es" sz="1500">
                <a:solidFill>
                  <a:srgbClr val="000000"/>
                </a:solidFill>
              </a:rPr>
              <a:t> ejercicios de complejidad creciente. Se aprueba con </a:t>
            </a:r>
            <a:r>
              <a:rPr b="1" lang="es" sz="1500">
                <a:solidFill>
                  <a:srgbClr val="000000"/>
                </a:solidFill>
              </a:rPr>
              <a:t>60 puntos</a:t>
            </a:r>
            <a:r>
              <a:rPr lang="es" sz="1500">
                <a:solidFill>
                  <a:srgbClr val="000000"/>
                </a:solidFill>
              </a:rPr>
              <a:t> y puede repetirse dentro del cronograma; se conserva la nota más alta.</a:t>
            </a:r>
            <a:endParaRPr sz="1500">
              <a:solidFill>
                <a:srgbClr val="000000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s" sz="1500">
                <a:solidFill>
                  <a:srgbClr val="000000"/>
                </a:solidFill>
              </a:rPr>
              <a:t>Evaluación Parcial (EP):</a:t>
            </a:r>
            <a:r>
              <a:rPr lang="es" sz="1500">
                <a:solidFill>
                  <a:srgbClr val="000000"/>
                </a:solidFill>
              </a:rPr>
              <a:t> preguntas conceptuales. Requiere tener aprobado el TP, se aprueba con </a:t>
            </a:r>
            <a:r>
              <a:rPr b="1" lang="es" sz="1500">
                <a:solidFill>
                  <a:srgbClr val="000000"/>
                </a:solidFill>
              </a:rPr>
              <a:t>60 puntos</a:t>
            </a:r>
            <a:r>
              <a:rPr lang="es" sz="1500">
                <a:solidFill>
                  <a:srgbClr val="000000"/>
                </a:solidFill>
              </a:rPr>
              <a:t> y cuenta con recuperación.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</a:rPr>
              <a:t>Recorrido de aprobación: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Completar MD → Aprobar TP → Aprobar EP → Aprobar el módulo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2300">
                <a:solidFill>
                  <a:schemeClr val="accent5"/>
                </a:solidFill>
                <a:highlight>
                  <a:schemeClr val="accent4"/>
                </a:highlight>
              </a:rPr>
              <a:t>   Hay que aprobar cada una de las EP correspondientes  </a:t>
            </a:r>
            <a:r>
              <a:rPr lang="es" sz="2300">
                <a:solidFill>
                  <a:schemeClr val="accent5"/>
                </a:solidFill>
                <a:highlight>
                  <a:schemeClr val="accent4"/>
                </a:highlight>
              </a:rPr>
              <a:t>.</a:t>
            </a:r>
            <a:r>
              <a:rPr lang="es" sz="2300">
                <a:solidFill>
                  <a:schemeClr val="accent5"/>
                </a:solidFill>
                <a:highlight>
                  <a:schemeClr val="accent4"/>
                </a:highlight>
              </a:rPr>
              <a:t>  </a:t>
            </a:r>
            <a:endParaRPr sz="2300">
              <a:solidFill>
                <a:schemeClr val="accent5"/>
              </a:solidFill>
              <a:highlight>
                <a:schemeClr val="accent4"/>
              </a:highlight>
            </a:endParaRPr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Che… ¿Y la promoci</a:t>
            </a:r>
            <a:r>
              <a:rPr lang="es"/>
              <a:t>ón?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152475"/>
            <a:ext cx="5085900" cy="25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</a:rPr>
              <a:t>Para promocionar la asignatura es necesario:</a:t>
            </a:r>
            <a:endParaRPr sz="1400">
              <a:solidFill>
                <a:srgbClr val="000000"/>
              </a:solidFill>
            </a:endParaRPr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400">
                <a:solidFill>
                  <a:srgbClr val="000000"/>
                </a:solidFill>
              </a:rPr>
              <a:t>Alcanzar previamente la </a:t>
            </a:r>
            <a:r>
              <a:rPr b="1" lang="es" sz="1400">
                <a:solidFill>
                  <a:srgbClr val="000000"/>
                </a:solidFill>
              </a:rPr>
              <a:t>regularidad</a:t>
            </a:r>
            <a:r>
              <a:rPr lang="es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400">
                <a:solidFill>
                  <a:srgbClr val="000000"/>
                </a:solidFill>
              </a:rPr>
              <a:t>Aprobar la </a:t>
            </a:r>
            <a:r>
              <a:rPr b="1" lang="es" sz="1400">
                <a:solidFill>
                  <a:srgbClr val="000000"/>
                </a:solidFill>
              </a:rPr>
              <a:t>Evaluación Integradora</a:t>
            </a:r>
            <a:r>
              <a:rPr lang="es" sz="1400">
                <a:solidFill>
                  <a:srgbClr val="000000"/>
                </a:solidFill>
              </a:rPr>
              <a:t> (EI) con al menos </a:t>
            </a:r>
            <a:r>
              <a:rPr b="1" lang="es" sz="1400">
                <a:solidFill>
                  <a:srgbClr val="000000"/>
                </a:solidFill>
              </a:rPr>
              <a:t>60 puntos.</a:t>
            </a:r>
            <a:endParaRPr b="1" sz="1400">
              <a:solidFill>
                <a:srgbClr val="000000"/>
              </a:solidFill>
            </a:endParaRPr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400">
                <a:solidFill>
                  <a:srgbClr val="000000"/>
                </a:solidFill>
              </a:rPr>
              <a:t>La EI consiste en desarrollar un programa completo a partir de un enunciado.</a:t>
            </a:r>
            <a:endParaRPr sz="1400">
              <a:solidFill>
                <a:srgbClr val="000000"/>
              </a:solidFill>
            </a:endParaRPr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 sz="1400">
                <a:solidFill>
                  <a:srgbClr val="000000"/>
                </a:solidFill>
              </a:rPr>
              <a:t>Existe </a:t>
            </a:r>
            <a:r>
              <a:rPr b="1" lang="es" sz="1400">
                <a:solidFill>
                  <a:srgbClr val="000000"/>
                </a:solidFill>
              </a:rPr>
              <a:t>una única instancia de recuperación.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Cálculo de la nota final: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20% promedio TP + 20% promedio EP + 60% EI</a:t>
            </a:r>
            <a:r>
              <a:rPr lang="es" sz="2300">
                <a:solidFill>
                  <a:schemeClr val="accent5"/>
                </a:solidFill>
                <a:highlight>
                  <a:schemeClr val="accent4"/>
                </a:highlight>
              </a:rPr>
              <a:t> </a:t>
            </a:r>
            <a:endParaRPr sz="2300">
              <a:solidFill>
                <a:schemeClr val="accent5"/>
              </a:solidFill>
              <a:highlight>
                <a:schemeClr val="accent4"/>
              </a:highlight>
            </a:endParaRPr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115" name="Google Shape;115;p17"/>
          <p:cNvGraphicFramePr/>
          <p:nvPr/>
        </p:nvGraphicFramePr>
        <p:xfrm>
          <a:off x="5289100" y="1070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{DFD2A6EB-AE99-4682-8076-B2C2BB50B47E}</a:tableStyleId>
              </a:tblPr>
              <a:tblGrid>
                <a:gridCol w="926950"/>
                <a:gridCol w="926950"/>
                <a:gridCol w="926950"/>
                <a:gridCol w="926950"/>
              </a:tblGrid>
              <a:tr h="410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EI Final </a:t>
                      </a:r>
                      <a:endParaRPr b="1"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Promedio TP </a:t>
                      </a:r>
                      <a:endParaRPr b="1"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Promedio EP </a:t>
                      </a:r>
                      <a:endParaRPr b="1"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Nota Promoción </a:t>
                      </a:r>
                      <a:endParaRPr b="1"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27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 (seis)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27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 (ocho)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27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 (ocho)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27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100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 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 (nueve) 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27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100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 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>
                          <a:solidFill>
                            <a:srgbClr val="1D212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 (diez) </a:t>
                      </a:r>
                      <a:endParaRPr sz="1150">
                        <a:solidFill>
                          <a:srgbClr val="1D212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6" name="Google Shape;116;p17"/>
          <p:cNvSpPr txBox="1"/>
          <p:nvPr/>
        </p:nvSpPr>
        <p:spPr>
          <a:xfrm>
            <a:off x="5025000" y="679912"/>
            <a:ext cx="42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Ejemplos de calificaciones finales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650300" y="3805975"/>
            <a:ext cx="721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2300">
                <a:solidFill>
                  <a:schemeClr val="accent5"/>
                </a:solidFill>
                <a:highlight>
                  <a:schemeClr val="accent4"/>
                </a:highlight>
                <a:latin typeface="Montserrat"/>
                <a:ea typeface="Montserrat"/>
                <a:cs typeface="Montserrat"/>
                <a:sym typeface="Montserrat"/>
              </a:rPr>
              <a:t>Regularidad + EI aprobada = Promoción</a:t>
            </a:r>
            <a:r>
              <a:rPr lang="es" sz="2300">
                <a:solidFill>
                  <a:schemeClr val="accent5"/>
                </a:solidFill>
                <a:highlight>
                  <a:schemeClr val="accent4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17" title="itera_resultado_corre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3343509"/>
            <a:ext cx="1800001" cy="18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452" y="147100"/>
            <a:ext cx="4319251" cy="482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>
            <p:ph type="title"/>
          </p:nvPr>
        </p:nvSpPr>
        <p:spPr>
          <a:xfrm>
            <a:off x="311700" y="826025"/>
            <a:ext cx="2038500" cy="18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le pifiamos, ¿Se puede recuperar?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6862475" y="1152475"/>
            <a:ext cx="19698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UNA ÚNICA INSTANCIA </a:t>
            </a:r>
            <a:r>
              <a:rPr lang="es"/>
              <a:t>de recuperación</a:t>
            </a:r>
            <a:r>
              <a:rPr b="1" lang="es"/>
              <a:t> </a:t>
            </a:r>
            <a:r>
              <a:rPr lang="es"/>
              <a:t>por</a:t>
            </a:r>
            <a:r>
              <a:rPr b="1" lang="es"/>
              <a:t> EVALUACIÓN PARCIAL.</a:t>
            </a:r>
            <a:endParaRPr/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27" name="Google Shape;127;p18" title="itera_error_frecuen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43500"/>
            <a:ext cx="1800001" cy="18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itera_bienvenid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343500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6900100" y="3486403"/>
            <a:ext cx="12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Rec1, Rec2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6900100" y="3737575"/>
            <a:ext cx="12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Rec3, Rec4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900100" y="4002996"/>
            <a:ext cx="12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Rec5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" name="Google Shape;132;p18"/>
          <p:cNvCxnSpPr>
            <a:endCxn id="131" idx="1"/>
          </p:cNvCxnSpPr>
          <p:nvPr/>
        </p:nvCxnSpPr>
        <p:spPr>
          <a:xfrm>
            <a:off x="6649300" y="4172346"/>
            <a:ext cx="250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/>
          <p:nvPr/>
        </p:nvCxnSpPr>
        <p:spPr>
          <a:xfrm>
            <a:off x="6649300" y="3906925"/>
            <a:ext cx="250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8"/>
          <p:cNvCxnSpPr/>
          <p:nvPr/>
        </p:nvCxnSpPr>
        <p:spPr>
          <a:xfrm>
            <a:off x="6649300" y="3658429"/>
            <a:ext cx="250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265500" y="318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</a:t>
            </a:r>
            <a:r>
              <a:rPr lang="es"/>
              <a:t>é queremos hoy?</a:t>
            </a:r>
            <a:endParaRPr/>
          </a:p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265500" y="18886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Transformar un c</a:t>
            </a:r>
            <a:r>
              <a:rPr lang="es"/>
              <a:t>álculo en un programa</a:t>
            </a:r>
            <a:endParaRPr/>
          </a:p>
        </p:txBody>
      </p:sp>
      <p:sp>
        <p:nvSpPr>
          <p:cNvPr id="141" name="Google Shape;141;p19"/>
          <p:cNvSpPr txBox="1"/>
          <p:nvPr>
            <p:ph idx="2" type="body"/>
          </p:nvPr>
        </p:nvSpPr>
        <p:spPr>
          <a:xfrm>
            <a:off x="4939500" y="656625"/>
            <a:ext cx="38370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Potencia el</a:t>
            </a:r>
            <a:r>
              <a:rPr lang="es"/>
              <a:t>éctrica (entregada por una fuente por ej.)</a:t>
            </a:r>
            <a:endParaRPr/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3" name="Google Shape;143;p19"/>
          <p:cNvSpPr txBox="1"/>
          <p:nvPr>
            <p:ph idx="2" type="body"/>
          </p:nvPr>
        </p:nvSpPr>
        <p:spPr>
          <a:xfrm>
            <a:off x="4939500" y="1396125"/>
            <a:ext cx="38370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Fuente de </a:t>
            </a: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5V</a:t>
            </a:r>
            <a:r>
              <a:rPr lang="es"/>
              <a:t>, que entrega </a:t>
            </a:r>
            <a:r>
              <a:rPr b="1" lang="es">
                <a:latin typeface="Courier New"/>
                <a:ea typeface="Courier New"/>
                <a:cs typeface="Courier New"/>
                <a:sym typeface="Courier New"/>
              </a:rPr>
              <a:t>0.2A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19"/>
          <p:cNvSpPr txBox="1"/>
          <p:nvPr>
            <p:ph idx="2" type="body"/>
          </p:nvPr>
        </p:nvSpPr>
        <p:spPr>
          <a:xfrm>
            <a:off x="4939500" y="2135625"/>
            <a:ext cx="38370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¿Cu</a:t>
            </a:r>
            <a:r>
              <a:rPr b="1" lang="es"/>
              <a:t>ánta potencia entrega como máximo esta fuente?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5" name="Google Shape;145;p19" title="itera_diagrama_fluj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51" y="2780550"/>
            <a:ext cx="3191099" cy="255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2" type="body"/>
          </p:nvPr>
        </p:nvSpPr>
        <p:spPr>
          <a:xfrm>
            <a:off x="4939500" y="2875125"/>
            <a:ext cx="3837000" cy="10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¿Y si tengo que calcular de nuevo para otra fuente de valores diferentes?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Planteamos el problema</a:t>
            </a:r>
            <a:endParaRPr/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1066650" y="2060257"/>
            <a:ext cx="46866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 V x I</a:t>
            </a:r>
            <a:endParaRPr b="1" sz="5130"/>
          </a:p>
        </p:txBody>
      </p:sp>
      <p:sp>
        <p:nvSpPr>
          <p:cNvPr id="154" name="Google Shape;154;p20"/>
          <p:cNvSpPr/>
          <p:nvPr/>
        </p:nvSpPr>
        <p:spPr>
          <a:xfrm>
            <a:off x="3198892" y="1314426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5V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4442699" y="1314426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0.2A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3454316" y="3256121"/>
            <a:ext cx="8787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1W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1955171" y="3106068"/>
            <a:ext cx="14991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</a:t>
            </a:r>
            <a:endParaRPr b="1" sz="5130"/>
          </a:p>
        </p:txBody>
      </p:sp>
      <p:pic>
        <p:nvPicPr>
          <p:cNvPr id="158" name="Google Shape;158;p20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1000" y="2495550"/>
            <a:ext cx="2876551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3198892" y="2248351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5V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442699" y="2248351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0.2A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Planteamos el problema</a:t>
            </a:r>
            <a:endParaRPr/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1066650" y="2060257"/>
            <a:ext cx="46866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 V x I</a:t>
            </a:r>
            <a:endParaRPr b="1" sz="5130"/>
          </a:p>
        </p:txBody>
      </p:sp>
      <p:sp>
        <p:nvSpPr>
          <p:cNvPr id="168" name="Google Shape;168;p21"/>
          <p:cNvSpPr/>
          <p:nvPr/>
        </p:nvSpPr>
        <p:spPr>
          <a:xfrm>
            <a:off x="3198892" y="1314426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4442699" y="1314426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454330" y="3256125"/>
            <a:ext cx="1393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19.8W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1955171" y="3106068"/>
            <a:ext cx="14991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</a:t>
            </a:r>
            <a:endParaRPr b="1" sz="5130"/>
          </a:p>
        </p:txBody>
      </p:sp>
      <p:pic>
        <p:nvPicPr>
          <p:cNvPr id="172" name="Google Shape;172;p21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1000" y="2495550"/>
            <a:ext cx="2876551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/>
          <p:nvPr/>
        </p:nvSpPr>
        <p:spPr>
          <a:xfrm>
            <a:off x="3198892" y="2248351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442699" y="2248351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5904975" y="3267475"/>
            <a:ext cx="3163800" cy="49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6020100" y="2326425"/>
            <a:ext cx="2933400" cy="49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6158100" y="1402025"/>
            <a:ext cx="2657400" cy="49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2"/>
          <p:cNvSpPr txBox="1"/>
          <p:nvPr>
            <p:ph type="title"/>
          </p:nvPr>
        </p:nvSpPr>
        <p:spPr>
          <a:xfrm>
            <a:off x="311700" y="445025"/>
            <a:ext cx="468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Diseñamos el algoritmo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84" name="Google Shape;184;p22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1000" y="2495550"/>
            <a:ext cx="2876551" cy="287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6158175" y="1402025"/>
            <a:ext cx="265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Obtenemos datos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829450" y="2325450"/>
            <a:ext cx="33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Calculamos potencia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5829450" y="3267475"/>
            <a:ext cx="331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Mostramos resultados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6737100" y="388001"/>
            <a:ext cx="1499100" cy="6828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latin typeface="Montserrat"/>
                <a:ea typeface="Montserrat"/>
                <a:cs typeface="Montserrat"/>
                <a:sym typeface="Montserrat"/>
              </a:rPr>
              <a:t>Inicio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6990152" y="4074650"/>
            <a:ext cx="993300" cy="572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endParaRPr b="1" sz="2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0" name="Google Shape;190;p22"/>
          <p:cNvCxnSpPr>
            <a:stCxn id="188" idx="4"/>
            <a:endCxn id="185" idx="0"/>
          </p:cNvCxnSpPr>
          <p:nvPr/>
        </p:nvCxnSpPr>
        <p:spPr>
          <a:xfrm>
            <a:off x="7486650" y="1070801"/>
            <a:ext cx="300" cy="33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2"/>
          <p:cNvCxnSpPr>
            <a:stCxn id="185" idx="2"/>
            <a:endCxn id="186" idx="0"/>
          </p:cNvCxnSpPr>
          <p:nvPr/>
        </p:nvCxnSpPr>
        <p:spPr>
          <a:xfrm>
            <a:off x="7486875" y="1894625"/>
            <a:ext cx="0" cy="43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2"/>
          <p:cNvCxnSpPr>
            <a:stCxn id="186" idx="2"/>
            <a:endCxn id="187" idx="0"/>
          </p:cNvCxnSpPr>
          <p:nvPr/>
        </p:nvCxnSpPr>
        <p:spPr>
          <a:xfrm>
            <a:off x="7486800" y="2818050"/>
            <a:ext cx="0" cy="44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2"/>
          <p:cNvCxnSpPr>
            <a:stCxn id="187" idx="2"/>
            <a:endCxn id="189" idx="0"/>
          </p:cNvCxnSpPr>
          <p:nvPr/>
        </p:nvCxnSpPr>
        <p:spPr>
          <a:xfrm>
            <a:off x="7486650" y="3760075"/>
            <a:ext cx="300" cy="31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066650" y="2060257"/>
            <a:ext cx="46866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 V x I</a:t>
            </a:r>
            <a:endParaRPr b="1" sz="5130"/>
          </a:p>
        </p:txBody>
      </p:sp>
      <p:sp>
        <p:nvSpPr>
          <p:cNvPr id="195" name="Google Shape;195;p22"/>
          <p:cNvSpPr/>
          <p:nvPr/>
        </p:nvSpPr>
        <p:spPr>
          <a:xfrm>
            <a:off x="3198892" y="1314426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9V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4442699" y="1314426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2.2A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454330" y="3256125"/>
            <a:ext cx="1393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19.8W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1955171" y="3106068"/>
            <a:ext cx="1499100" cy="967800"/>
          </a:xfrm>
          <a:prstGeom prst="rect">
            <a:avLst/>
          </a:prstGeom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399"/>
              </a:spcAft>
              <a:buNone/>
            </a:pPr>
            <a:r>
              <a:rPr b="1" lang="es" sz="5130"/>
              <a:t>P =</a:t>
            </a:r>
            <a:endParaRPr b="1" sz="5130"/>
          </a:p>
        </p:txBody>
      </p:sp>
      <p:sp>
        <p:nvSpPr>
          <p:cNvPr id="199" name="Google Shape;199;p22"/>
          <p:cNvSpPr/>
          <p:nvPr/>
        </p:nvSpPr>
        <p:spPr>
          <a:xfrm>
            <a:off x="3198892" y="2248351"/>
            <a:ext cx="6678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9V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442699" y="2248351"/>
            <a:ext cx="10995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600" lIns="106600" spcFirstLastPara="1" rIns="106600" wrap="square" tIns="10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15">
                <a:latin typeface="Montserrat"/>
                <a:ea typeface="Montserrat"/>
                <a:cs typeface="Montserrat"/>
                <a:sym typeface="Montserrat"/>
              </a:rPr>
              <a:t>2.2A</a:t>
            </a:r>
            <a:endParaRPr b="1" sz="2215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</a:t>
            </a:r>
            <a:r>
              <a:rPr lang="es"/>
              <a:t>é es Programar entonces?</a:t>
            </a:r>
            <a:endParaRPr/>
          </a:p>
        </p:txBody>
      </p:sp>
      <p:sp>
        <p:nvSpPr>
          <p:cNvPr id="206" name="Google Shape;206;p2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260850" y="406513"/>
            <a:ext cx="862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" sz="1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Indicar a una computadora un comportamiento a seguir y que, </a:t>
            </a:r>
            <a:r>
              <a:rPr b="1" i="0" lang="es" sz="1900" u="none" cap="none" strike="noStrike">
                <a:solidFill>
                  <a:schemeClr val="accent4"/>
                </a:solidFill>
              </a:rPr>
              <a:t>mediante instrucciones</a:t>
            </a:r>
            <a:r>
              <a:rPr b="0" i="0" lang="es" sz="19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produzca un </a:t>
            </a:r>
            <a:r>
              <a:rPr b="1" i="0" lang="es" sz="1900" u="none" cap="none" strike="noStrike">
                <a:solidFill>
                  <a:schemeClr val="accent4"/>
                </a:solidFill>
              </a:rPr>
              <a:t>resultado específico</a:t>
            </a:r>
            <a:endParaRPr b="1" i="0" sz="1900" u="none" cap="none" strike="noStrike">
              <a:solidFill>
                <a:schemeClr val="accent4"/>
              </a:solidFill>
            </a:endParaRPr>
          </a:p>
        </p:txBody>
      </p:sp>
      <p:grpSp>
        <p:nvGrpSpPr>
          <p:cNvPr id="213" name="Google Shape;213;p24"/>
          <p:cNvGrpSpPr/>
          <p:nvPr/>
        </p:nvGrpSpPr>
        <p:grpSpPr>
          <a:xfrm>
            <a:off x="2443225" y="1241388"/>
            <a:ext cx="4257600" cy="3482325"/>
            <a:chOff x="2443225" y="1408400"/>
            <a:chExt cx="4257600" cy="3482325"/>
          </a:xfrm>
        </p:grpSpPr>
        <p:sp>
          <p:nvSpPr>
            <p:cNvPr id="214" name="Google Shape;214;p24"/>
            <p:cNvSpPr/>
            <p:nvPr/>
          </p:nvSpPr>
          <p:spPr>
            <a:xfrm>
              <a:off x="2443225" y="3453425"/>
              <a:ext cx="4257600" cy="1437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i="0" lang="es" sz="2400" u="none" cap="none" strike="noStrike">
                  <a:solidFill>
                    <a:schemeClr val="lt1"/>
                  </a:solidFill>
                </a:rPr>
                <a:t>Aprender </a:t>
              </a:r>
              <a:r>
                <a:rPr b="1" i="0" lang="es" sz="2400" u="none" cap="none" strike="noStrike">
                  <a:solidFill>
                    <a:schemeClr val="accent5"/>
                  </a:solidFill>
                </a:rPr>
                <a:t>estrategias</a:t>
              </a:r>
              <a:r>
                <a:rPr i="0" lang="es" sz="2400" u="none" cap="none" strike="noStrike">
                  <a:solidFill>
                    <a:schemeClr val="lt1"/>
                  </a:solidFill>
                </a:rPr>
                <a:t> y </a:t>
              </a:r>
              <a:r>
                <a:rPr b="1" i="0" lang="es" sz="2400" u="none" cap="none" strike="noStrike">
                  <a:solidFill>
                    <a:schemeClr val="accent5"/>
                  </a:solidFill>
                </a:rPr>
                <a:t>métodos</a:t>
              </a:r>
              <a:r>
                <a:rPr i="0" lang="es" sz="2400" u="none" cap="none" strike="noStrike">
                  <a:solidFill>
                    <a:schemeClr val="lt1"/>
                  </a:solidFill>
                </a:rPr>
                <a:t> para resolver problemas</a:t>
              </a:r>
              <a:endParaRPr i="0" sz="24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 rot="-5400000">
              <a:off x="3604825" y="2203100"/>
              <a:ext cx="1934400" cy="345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ADADAD"/>
            </a:solidFill>
            <a:ln cap="flat" cmpd="sng" w="9525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24"/>
          <p:cNvGrpSpPr/>
          <p:nvPr/>
        </p:nvGrpSpPr>
        <p:grpSpPr>
          <a:xfrm>
            <a:off x="532013" y="1241513"/>
            <a:ext cx="3867512" cy="1790425"/>
            <a:chOff x="532013" y="1408525"/>
            <a:chExt cx="3867512" cy="1790425"/>
          </a:xfrm>
        </p:grpSpPr>
        <p:sp>
          <p:nvSpPr>
            <p:cNvPr id="217" name="Google Shape;217;p24"/>
            <p:cNvSpPr/>
            <p:nvPr/>
          </p:nvSpPr>
          <p:spPr>
            <a:xfrm>
              <a:off x="532013" y="2209250"/>
              <a:ext cx="2931600" cy="9897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Aprender un </a:t>
              </a:r>
              <a:r>
                <a:rPr b="1" i="0" lang="es" sz="1600" u="none" cap="none" strike="noStrike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lenguaje de programación</a:t>
              </a:r>
              <a:endParaRPr b="1" i="0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4"/>
            <p:cNvSpPr/>
            <p:nvPr/>
          </p:nvSpPr>
          <p:spPr>
            <a:xfrm rot="10800000">
              <a:off x="3719425" y="1408525"/>
              <a:ext cx="680100" cy="14919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ADADAD"/>
            </a:solidFill>
            <a:ln cap="flat" cmpd="sng" w="9525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24"/>
          <p:cNvGrpSpPr/>
          <p:nvPr/>
        </p:nvGrpSpPr>
        <p:grpSpPr>
          <a:xfrm>
            <a:off x="4744525" y="1241513"/>
            <a:ext cx="3867463" cy="1790425"/>
            <a:chOff x="4744525" y="1408525"/>
            <a:chExt cx="3867463" cy="1790425"/>
          </a:xfrm>
        </p:grpSpPr>
        <p:sp>
          <p:nvSpPr>
            <p:cNvPr id="220" name="Google Shape;220;p24"/>
            <p:cNvSpPr/>
            <p:nvPr/>
          </p:nvSpPr>
          <p:spPr>
            <a:xfrm>
              <a:off x="5680388" y="2209250"/>
              <a:ext cx="2931600" cy="9897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Aprender un </a:t>
              </a:r>
              <a:r>
                <a:rPr b="1" i="0" lang="es" sz="1600" u="none" cap="none" strike="noStrike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modelo computacional</a:t>
              </a:r>
              <a:endParaRPr b="1" i="0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4"/>
            <p:cNvSpPr/>
            <p:nvPr/>
          </p:nvSpPr>
          <p:spPr>
            <a:xfrm flipH="1" rot="10800000">
              <a:off x="4744525" y="1408525"/>
              <a:ext cx="680100" cy="14919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ADADAD"/>
            </a:solidFill>
            <a:ln cap="flat" cmpd="sng" w="9525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311700" y="555600"/>
            <a:ext cx="2808000" cy="12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computadora es…</a:t>
            </a:r>
            <a:endParaRPr/>
          </a:p>
        </p:txBody>
      </p:sp>
      <p:sp>
        <p:nvSpPr>
          <p:cNvPr id="227" name="Google Shape;227;p25"/>
          <p:cNvSpPr txBox="1"/>
          <p:nvPr>
            <p:ph idx="1" type="body"/>
          </p:nvPr>
        </p:nvSpPr>
        <p:spPr>
          <a:xfrm>
            <a:off x="311700" y="2065800"/>
            <a:ext cx="2808000" cy="25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/>
              <a:t>… una máquina electrónica programable que recibe datos, los procesa siguiendo instrucciones y genera resultados útiles para resolver problemas.</a:t>
            </a:r>
            <a:endParaRPr sz="1800"/>
          </a:p>
        </p:txBody>
      </p:sp>
      <p:sp>
        <p:nvSpPr>
          <p:cNvPr id="228" name="Google Shape;228;p2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5060272" y="652222"/>
            <a:ext cx="142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200" lIns="79200" spcFirstLastPara="1" rIns="79200" wrap="square" tIns="79200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39"/>
              </a:spcAft>
              <a:buNone/>
            </a:pPr>
            <a:r>
              <a:rPr lang="es" sz="1039">
                <a:solidFill>
                  <a:schemeClr val="dk1"/>
                </a:solidFill>
              </a:rPr>
              <a:t>Ejecuta instrucciones</a:t>
            </a:r>
            <a:endParaRPr sz="1039">
              <a:solidFill>
                <a:schemeClr val="dk1"/>
              </a:solidFill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4570538" y="400350"/>
            <a:ext cx="24459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200" lIns="79200" spcFirstLastPara="1" rIns="79200" wrap="square" tIns="79200">
            <a:normAutofit fontScale="92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39"/>
              </a:spcAft>
              <a:buNone/>
            </a:pPr>
            <a:r>
              <a:rPr lang="es" sz="1559">
                <a:solidFill>
                  <a:schemeClr val="dk1"/>
                </a:solidFill>
              </a:rPr>
              <a:t>Unidad Central de Proceso</a:t>
            </a:r>
            <a:endParaRPr sz="1559">
              <a:solidFill>
                <a:schemeClr val="dk1"/>
              </a:solidFill>
            </a:endParaRPr>
          </a:p>
        </p:txBody>
      </p:sp>
      <p:grpSp>
        <p:nvGrpSpPr>
          <p:cNvPr id="231" name="Google Shape;231;p25"/>
          <p:cNvGrpSpPr/>
          <p:nvPr/>
        </p:nvGrpSpPr>
        <p:grpSpPr>
          <a:xfrm>
            <a:off x="4099529" y="2711241"/>
            <a:ext cx="3989327" cy="1837059"/>
            <a:chOff x="2640450" y="2864075"/>
            <a:chExt cx="4605550" cy="2120825"/>
          </a:xfrm>
        </p:grpSpPr>
        <p:grpSp>
          <p:nvGrpSpPr>
            <p:cNvPr id="232" name="Google Shape;232;p25"/>
            <p:cNvGrpSpPr/>
            <p:nvPr/>
          </p:nvGrpSpPr>
          <p:grpSpPr>
            <a:xfrm>
              <a:off x="2640450" y="3655800"/>
              <a:ext cx="1424700" cy="1329100"/>
              <a:chOff x="2640450" y="3655800"/>
              <a:chExt cx="1424700" cy="1329100"/>
            </a:xfrm>
          </p:grpSpPr>
          <p:sp>
            <p:nvSpPr>
              <p:cNvPr id="233" name="Google Shape;233;p25"/>
              <p:cNvSpPr/>
              <p:nvPr/>
            </p:nvSpPr>
            <p:spPr>
              <a:xfrm>
                <a:off x="2640450" y="3655800"/>
                <a:ext cx="1424700" cy="12483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79200" lIns="79200" spcFirstLastPara="1" rIns="79200" wrap="square" tIns="7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39"/>
                  </a:spcAft>
                  <a:buClr>
                    <a:srgbClr val="000000"/>
                  </a:buClr>
                  <a:buSzPts val="1559"/>
                  <a:buFont typeface="Arial"/>
                  <a:buNone/>
                </a:pPr>
                <a:r>
                  <a:rPr lang="es" sz="1559">
                    <a:solidFill>
                      <a:schemeClr val="dk1"/>
                    </a:solidFill>
                  </a:rPr>
                  <a:t>Memoria</a:t>
                </a:r>
                <a:endParaRPr sz="1213">
                  <a:solidFill>
                    <a:schemeClr val="dk1"/>
                  </a:solidFill>
                </a:endParaRPr>
              </a:p>
            </p:txBody>
          </p:sp>
          <p:pic>
            <p:nvPicPr>
              <p:cNvPr id="234" name="Google Shape;234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29575" y="3938450"/>
                <a:ext cx="1046450" cy="10464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5" name="Google Shape;235;p25"/>
            <p:cNvSpPr/>
            <p:nvPr/>
          </p:nvSpPr>
          <p:spPr>
            <a:xfrm rot="-5400000">
              <a:off x="4227125" y="3049325"/>
              <a:ext cx="738000" cy="367500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ADADAD"/>
            </a:solidFill>
            <a:ln cap="flat" cmpd="sng" w="825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3"/>
                <a:buFont typeface="Arial"/>
                <a:buNone/>
              </a:pPr>
              <a:r>
                <a:t/>
              </a:r>
              <a:endParaRPr b="0" i="0" sz="12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6" name="Google Shape;236;p25"/>
            <p:cNvGrpSpPr/>
            <p:nvPr/>
          </p:nvGrpSpPr>
          <p:grpSpPr>
            <a:xfrm>
              <a:off x="5096500" y="3355875"/>
              <a:ext cx="2149500" cy="1544100"/>
              <a:chOff x="5096500" y="3355875"/>
              <a:chExt cx="2149500" cy="154410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5096500" y="3355875"/>
                <a:ext cx="2149500" cy="15441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79200" lIns="79200" spcFirstLastPara="1" rIns="79200" wrap="square" tIns="7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39"/>
                  </a:spcAft>
                  <a:buNone/>
                </a:pPr>
                <a:r>
                  <a:rPr lang="es" sz="1559">
                    <a:solidFill>
                      <a:schemeClr val="dk1"/>
                    </a:solidFill>
                  </a:rPr>
                  <a:t>Almacenamiento Secundario</a:t>
                </a:r>
                <a:endParaRPr sz="1213">
                  <a:solidFill>
                    <a:schemeClr val="dk1"/>
                  </a:solidFill>
                </a:endParaRPr>
              </a:p>
            </p:txBody>
          </p:sp>
          <p:pic>
            <p:nvPicPr>
              <p:cNvPr id="238" name="Google Shape;238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858100" y="4224725"/>
                <a:ext cx="626300" cy="626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39" name="Google Shape;239;p25"/>
          <p:cNvGrpSpPr/>
          <p:nvPr/>
        </p:nvGrpSpPr>
        <p:grpSpPr>
          <a:xfrm>
            <a:off x="2692277" y="1693976"/>
            <a:ext cx="2095104" cy="445924"/>
            <a:chOff x="367940" y="1689675"/>
            <a:chExt cx="2418730" cy="514805"/>
          </a:xfrm>
        </p:grpSpPr>
        <p:sp>
          <p:nvSpPr>
            <p:cNvPr id="240" name="Google Shape;240;p25"/>
            <p:cNvSpPr/>
            <p:nvPr/>
          </p:nvSpPr>
          <p:spPr>
            <a:xfrm>
              <a:off x="2100570" y="1689680"/>
              <a:ext cx="686100" cy="514800"/>
            </a:xfrm>
            <a:prstGeom prst="rightArrow">
              <a:avLst>
                <a:gd fmla="val 44678" name="adj1"/>
                <a:gd fmla="val 50000" name="adj2"/>
              </a:avLst>
            </a:prstGeom>
            <a:solidFill>
              <a:srgbClr val="ADADAD"/>
            </a:solidFill>
            <a:ln cap="flat" cmpd="sng" w="825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3"/>
                <a:buFont typeface="Arial"/>
                <a:buNone/>
              </a:pPr>
              <a:r>
                <a:t/>
              </a:r>
              <a:endParaRPr b="0" i="0" sz="12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5"/>
            <p:cNvSpPr/>
            <p:nvPr/>
          </p:nvSpPr>
          <p:spPr>
            <a:xfrm>
              <a:off x="367940" y="1689675"/>
              <a:ext cx="1524900" cy="5148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6"/>
                <a:buFont typeface="Arial"/>
                <a:buNone/>
              </a:pPr>
              <a:r>
                <a:rPr b="0" i="0" lang="es" sz="1386" u="none" cap="none" strike="noStrike">
                  <a:solidFill>
                    <a:srgbClr val="303030"/>
                  </a:solidFill>
                  <a:latin typeface="Arial"/>
                  <a:ea typeface="Arial"/>
                  <a:cs typeface="Arial"/>
                  <a:sym typeface="Arial"/>
                </a:rPr>
                <a:t>Entrada</a:t>
              </a:r>
              <a:endParaRPr b="1" i="0" sz="1386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25"/>
          <p:cNvGrpSpPr/>
          <p:nvPr/>
        </p:nvGrpSpPr>
        <p:grpSpPr>
          <a:xfrm>
            <a:off x="6827246" y="1693976"/>
            <a:ext cx="2095058" cy="445924"/>
            <a:chOff x="6329413" y="1689675"/>
            <a:chExt cx="2418677" cy="514805"/>
          </a:xfrm>
        </p:grpSpPr>
        <p:sp>
          <p:nvSpPr>
            <p:cNvPr id="243" name="Google Shape;243;p25"/>
            <p:cNvSpPr/>
            <p:nvPr/>
          </p:nvSpPr>
          <p:spPr>
            <a:xfrm>
              <a:off x="6329413" y="1689680"/>
              <a:ext cx="777600" cy="514800"/>
            </a:xfrm>
            <a:prstGeom prst="rightArrow">
              <a:avLst>
                <a:gd fmla="val 44678" name="adj1"/>
                <a:gd fmla="val 50000" name="adj2"/>
              </a:avLst>
            </a:prstGeom>
            <a:solidFill>
              <a:srgbClr val="ADADAD"/>
            </a:solidFill>
            <a:ln cap="flat" cmpd="sng" w="8250">
              <a:solidFill>
                <a:srgbClr val="30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13"/>
                <a:buFont typeface="Arial"/>
                <a:buNone/>
              </a:pPr>
              <a:r>
                <a:t/>
              </a:r>
              <a:endParaRPr b="0" i="0" sz="121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5"/>
            <p:cNvSpPr/>
            <p:nvPr/>
          </p:nvSpPr>
          <p:spPr>
            <a:xfrm>
              <a:off x="7223190" y="1689675"/>
              <a:ext cx="1524900" cy="5148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6"/>
                <a:buFont typeface="Arial"/>
                <a:buNone/>
              </a:pPr>
              <a:r>
                <a:rPr b="0" i="0" lang="es" sz="1386" u="none" cap="none" strike="noStrike">
                  <a:solidFill>
                    <a:srgbClr val="303030"/>
                  </a:solidFill>
                  <a:latin typeface="Arial"/>
                  <a:ea typeface="Arial"/>
                  <a:cs typeface="Arial"/>
                  <a:sym typeface="Arial"/>
                </a:rPr>
                <a:t>Salida</a:t>
              </a:r>
              <a:endParaRPr b="1" i="0" sz="1386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25"/>
          <p:cNvGrpSpPr/>
          <p:nvPr/>
        </p:nvGrpSpPr>
        <p:grpSpPr>
          <a:xfrm>
            <a:off x="4984439" y="961040"/>
            <a:ext cx="1618191" cy="1618191"/>
            <a:chOff x="3662050" y="843525"/>
            <a:chExt cx="1868150" cy="1868150"/>
          </a:xfrm>
        </p:grpSpPr>
        <p:pic>
          <p:nvPicPr>
            <p:cNvPr id="246" name="Google Shape;246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62050" y="843525"/>
              <a:ext cx="1868150" cy="1868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5"/>
            <p:cNvSpPr/>
            <p:nvPr/>
          </p:nvSpPr>
          <p:spPr>
            <a:xfrm>
              <a:off x="4041276" y="1968325"/>
              <a:ext cx="1109700" cy="3618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6"/>
                <a:buFont typeface="Arial"/>
                <a:buNone/>
              </a:pPr>
              <a:r>
                <a:rPr b="1" i="0" lang="es" sz="1386" u="none" cap="none" strike="noStrike">
                  <a:solidFill>
                    <a:schemeClr val="lt1"/>
                  </a:solidFill>
                </a:rPr>
                <a:t>Control</a:t>
              </a:r>
              <a:endParaRPr b="1" i="0" sz="138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4041251" y="1224425"/>
              <a:ext cx="1109700" cy="6264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39"/>
                <a:buFont typeface="Arial"/>
                <a:buNone/>
              </a:pPr>
              <a:r>
                <a:rPr b="1" i="0" lang="es" sz="1039" cap="none" strike="noStrike">
                  <a:solidFill>
                    <a:schemeClr val="lt1"/>
                  </a:solidFill>
                </a:rPr>
                <a:t>Unidad Aritmética y Lógica</a:t>
              </a:r>
              <a:endParaRPr b="1" i="0" sz="1039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Computacional</a:t>
            </a:r>
            <a:endParaRPr/>
          </a:p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Computacional</a:t>
            </a:r>
            <a:endParaRPr/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311700" y="1533475"/>
            <a:ext cx="5113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estado está compuesto por: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Estado de la memoria (programa y datos)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Configuración de la UCP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 programa es una secuencia de instrucciones que </a:t>
            </a:r>
            <a:r>
              <a:rPr lang="es" sz="1800">
                <a:solidFill>
                  <a:schemeClr val="accent4"/>
                </a:solidFill>
              </a:rPr>
              <a:t>transforma secuencialmente el estado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6077524" y="619075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inicial</a:t>
            </a:r>
            <a:endParaRPr b="1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6077524" y="1447350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intermedio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6077524" y="3085925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intermedio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6077524" y="3914200"/>
            <a:ext cx="2007300" cy="51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</a:t>
            </a:r>
            <a:r>
              <a:rPr b="1" i="0" lang="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27"/>
          <p:cNvCxnSpPr>
            <a:stCxn id="262" idx="2"/>
            <a:endCxn id="263" idx="0"/>
          </p:cNvCxnSpPr>
          <p:nvPr/>
        </p:nvCxnSpPr>
        <p:spPr>
          <a:xfrm>
            <a:off x="7081174" y="1133875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p27"/>
          <p:cNvCxnSpPr/>
          <p:nvPr/>
        </p:nvCxnSpPr>
        <p:spPr>
          <a:xfrm>
            <a:off x="7081174" y="3600725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27"/>
          <p:cNvCxnSpPr/>
          <p:nvPr/>
        </p:nvCxnSpPr>
        <p:spPr>
          <a:xfrm>
            <a:off x="7081174" y="1953150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27"/>
          <p:cNvCxnSpPr/>
          <p:nvPr/>
        </p:nvCxnSpPr>
        <p:spPr>
          <a:xfrm>
            <a:off x="7081174" y="2776938"/>
            <a:ext cx="0" cy="3135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27"/>
          <p:cNvSpPr txBox="1"/>
          <p:nvPr/>
        </p:nvSpPr>
        <p:spPr>
          <a:xfrm>
            <a:off x="6563675" y="2120838"/>
            <a:ext cx="1035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1" i="0" sz="25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 txBox="1"/>
          <p:nvPr>
            <p:ph type="title"/>
          </p:nvPr>
        </p:nvSpPr>
        <p:spPr>
          <a:xfrm>
            <a:off x="265500" y="116912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 de Programaci</a:t>
            </a:r>
            <a:r>
              <a:rPr lang="es"/>
              <a:t>ón</a:t>
            </a:r>
            <a:endParaRPr/>
          </a:p>
        </p:txBody>
      </p:sp>
      <p:sp>
        <p:nvSpPr>
          <p:cNvPr id="276" name="Google Shape;276;p2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7436100" y="1013825"/>
            <a:ext cx="20127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00" lIns="46000" spcFirstLastPara="1" rIns="46000" wrap="square" tIns="46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SUM #10, #11, #13</a:t>
            </a:r>
            <a:endParaRPr sz="110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4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SUM #13, #12, #13</a:t>
            </a:r>
            <a:endParaRPr sz="110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4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DIV #13, 3, #13</a:t>
            </a:r>
            <a:endParaRPr sz="110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4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FIN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8448" y="1004824"/>
            <a:ext cx="1892537" cy="1372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/>
          <p:nvPr/>
        </p:nvSpPr>
        <p:spPr>
          <a:xfrm flipH="1" rot="-2222300">
            <a:off x="6802637" y="2757891"/>
            <a:ext cx="1000084" cy="57324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Ensamblador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28"/>
          <p:cNvPicPr preferRelativeResize="0"/>
          <p:nvPr/>
        </p:nvPicPr>
        <p:blipFill rotWithShape="1">
          <a:blip r:embed="rId4">
            <a:alphaModFix/>
          </a:blip>
          <a:srcRect b="1517" l="0" r="744" t="0"/>
          <a:stretch/>
        </p:blipFill>
        <p:spPr>
          <a:xfrm>
            <a:off x="4838464" y="3230936"/>
            <a:ext cx="1892552" cy="106853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8"/>
          <p:cNvSpPr/>
          <p:nvPr/>
        </p:nvSpPr>
        <p:spPr>
          <a:xfrm>
            <a:off x="6816348" y="1503425"/>
            <a:ext cx="548700" cy="393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28" title="itera_error_frecuen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4725" y="3343500"/>
            <a:ext cx="1800001" cy="180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/>
          <p:nvPr>
            <p:ph type="title"/>
          </p:nvPr>
        </p:nvSpPr>
        <p:spPr>
          <a:xfrm>
            <a:off x="265500" y="1177126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 de Programación</a:t>
            </a:r>
            <a:endParaRPr/>
          </a:p>
        </p:txBody>
      </p:sp>
      <p:sp>
        <p:nvSpPr>
          <p:cNvPr id="288" name="Google Shape;288;p2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9" name="Google Shape;289;p29"/>
          <p:cNvSpPr txBox="1"/>
          <p:nvPr>
            <p:ph idx="1" type="subTitle"/>
          </p:nvPr>
        </p:nvSpPr>
        <p:spPr>
          <a:xfrm>
            <a:off x="265500" y="2747026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>
                <a:latin typeface="Roboto Mono"/>
                <a:ea typeface="Roboto Mono"/>
                <a:cs typeface="Roboto Mono"/>
                <a:sym typeface="Roboto Mono"/>
              </a:rPr>
              <a:t>C++</a:t>
            </a:r>
            <a:endParaRPr sz="96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Es un lenguaje de Programación de Alto Nivel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Es el sucesor de C.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Es muy utilizado en la industria: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Dispositivos.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Sistemas Operativos.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Aplicaciones.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Videojuegos.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Ocupa un lugar importante en la historia de la programación.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6" name="Google Shape;296;p30"/>
          <p:cNvSpPr/>
          <p:nvPr/>
        </p:nvSpPr>
        <p:spPr>
          <a:xfrm rot="10800000">
            <a:off x="4807525" y="969875"/>
            <a:ext cx="3843000" cy="34089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0"/>
          <p:cNvSpPr/>
          <p:nvPr/>
        </p:nvSpPr>
        <p:spPr>
          <a:xfrm rot="10800000">
            <a:off x="4807525" y="595000"/>
            <a:ext cx="3843000" cy="375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4930889" y="688825"/>
            <a:ext cx="187500" cy="1872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5208289" y="688825"/>
            <a:ext cx="187500" cy="1872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5485689" y="688825"/>
            <a:ext cx="187500" cy="1872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911335" y="1181400"/>
            <a:ext cx="3654000" cy="29949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	   </a:t>
            </a:r>
            <a:r>
              <a:rPr lang="es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si! El programa!</a:t>
            </a:r>
            <a:endParaRPr/>
          </a:p>
        </p:txBody>
      </p:sp>
      <p:pic>
        <p:nvPicPr>
          <p:cNvPr id="303" name="Google Shape;303;p30" title="itera_activid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43501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/>
          <p:nvPr/>
        </p:nvSpPr>
        <p:spPr>
          <a:xfrm>
            <a:off x="1410217" y="3234250"/>
            <a:ext cx="23628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0"/>
          <p:cNvSpPr/>
          <p:nvPr/>
        </p:nvSpPr>
        <p:spPr>
          <a:xfrm>
            <a:off x="1496196" y="2531443"/>
            <a:ext cx="21909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0"/>
          <p:cNvSpPr/>
          <p:nvPr/>
        </p:nvSpPr>
        <p:spPr>
          <a:xfrm>
            <a:off x="1599259" y="1841071"/>
            <a:ext cx="1984500" cy="3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30"/>
          <p:cNvSpPr txBox="1"/>
          <p:nvPr/>
        </p:nvSpPr>
        <p:spPr>
          <a:xfrm>
            <a:off x="1599315" y="1841071"/>
            <a:ext cx="1984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Obtenemos datos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1496148" y="2530725"/>
            <a:ext cx="21909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Calculamos potencia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0"/>
          <p:cNvSpPr txBox="1"/>
          <p:nvPr/>
        </p:nvSpPr>
        <p:spPr>
          <a:xfrm>
            <a:off x="1353813" y="3234250"/>
            <a:ext cx="2475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275" lIns="68275" spcFirstLastPara="1" rIns="68275" wrap="square" tIns="6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4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Mostramos resultados</a:t>
            </a:r>
            <a:endParaRPr sz="1494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2031675" y="1083765"/>
            <a:ext cx="1119600" cy="510000"/>
          </a:xfrm>
          <a:prstGeom prst="ellipse">
            <a:avLst/>
          </a:prstGeom>
          <a:solidFill>
            <a:schemeClr val="accent4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43">
                <a:latin typeface="Montserrat"/>
                <a:ea typeface="Montserrat"/>
                <a:cs typeface="Montserrat"/>
                <a:sym typeface="Montserrat"/>
              </a:rPr>
              <a:t>Inicio</a:t>
            </a:r>
            <a:endParaRPr sz="164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2220662" y="3837074"/>
            <a:ext cx="741900" cy="427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7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4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endParaRPr b="1" sz="1643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2" name="Google Shape;312;p30"/>
          <p:cNvCxnSpPr>
            <a:stCxn id="310" idx="4"/>
            <a:endCxn id="307" idx="0"/>
          </p:cNvCxnSpPr>
          <p:nvPr/>
        </p:nvCxnSpPr>
        <p:spPr>
          <a:xfrm>
            <a:off x="2591475" y="1593765"/>
            <a:ext cx="0" cy="2472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0"/>
          <p:cNvCxnSpPr>
            <a:stCxn id="307" idx="2"/>
            <a:endCxn id="308" idx="0"/>
          </p:cNvCxnSpPr>
          <p:nvPr/>
        </p:nvCxnSpPr>
        <p:spPr>
          <a:xfrm>
            <a:off x="2591565" y="2208871"/>
            <a:ext cx="0" cy="3219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0"/>
          <p:cNvCxnSpPr>
            <a:stCxn id="308" idx="2"/>
            <a:endCxn id="309" idx="0"/>
          </p:cNvCxnSpPr>
          <p:nvPr/>
        </p:nvCxnSpPr>
        <p:spPr>
          <a:xfrm>
            <a:off x="2591598" y="2898525"/>
            <a:ext cx="0" cy="3357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0"/>
          <p:cNvCxnSpPr>
            <a:stCxn id="309" idx="2"/>
            <a:endCxn id="311" idx="0"/>
          </p:cNvCxnSpPr>
          <p:nvPr/>
        </p:nvCxnSpPr>
        <p:spPr>
          <a:xfrm>
            <a:off x="2591463" y="3602050"/>
            <a:ext cx="0" cy="234900"/>
          </a:xfrm>
          <a:prstGeom prst="straightConnector1">
            <a:avLst/>
          </a:prstGeom>
          <a:noFill/>
          <a:ln cap="flat" cmpd="sng" w="142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0"/>
          <p:cNvCxnSpPr>
            <a:stCxn id="307" idx="3"/>
          </p:cNvCxnSpPr>
          <p:nvPr/>
        </p:nvCxnSpPr>
        <p:spPr>
          <a:xfrm>
            <a:off x="3583815" y="2024971"/>
            <a:ext cx="1925100" cy="5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0"/>
          <p:cNvSpPr/>
          <p:nvPr/>
        </p:nvSpPr>
        <p:spPr>
          <a:xfrm>
            <a:off x="5636925" y="2298000"/>
            <a:ext cx="120000" cy="472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8" name="Google Shape;318;p30"/>
          <p:cNvCxnSpPr>
            <a:stCxn id="308" idx="3"/>
          </p:cNvCxnSpPr>
          <p:nvPr/>
        </p:nvCxnSpPr>
        <p:spPr>
          <a:xfrm>
            <a:off x="3687048" y="2714625"/>
            <a:ext cx="2005800" cy="168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0"/>
          <p:cNvCxnSpPr>
            <a:stCxn id="309" idx="3"/>
          </p:cNvCxnSpPr>
          <p:nvPr/>
        </p:nvCxnSpPr>
        <p:spPr>
          <a:xfrm flipH="1" rot="10800000">
            <a:off x="3829113" y="3114850"/>
            <a:ext cx="1791900" cy="30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Bueno pero… ¿Qu</a:t>
            </a:r>
            <a:r>
              <a:rPr lang="es"/>
              <a:t>é estamos escribiendo?</a:t>
            </a:r>
            <a:endParaRPr/>
          </a:p>
        </p:txBody>
      </p:sp>
      <p:sp>
        <p:nvSpPr>
          <p:cNvPr id="325" name="Google Shape;325;p3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26" name="Google Shape;326;p31" title="itera_atenc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3101" y="1959174"/>
            <a:ext cx="2597749" cy="259774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 rot="10800000">
            <a:off x="2913599" y="1540000"/>
            <a:ext cx="3731700" cy="34899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/>
          <p:nvPr/>
        </p:nvSpPr>
        <p:spPr>
          <a:xfrm rot="10800000">
            <a:off x="2913599" y="1111445"/>
            <a:ext cx="3731700" cy="4287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3054573" y="1218672"/>
            <a:ext cx="214500" cy="2139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3371730" y="1218672"/>
            <a:ext cx="214500" cy="2139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3688887" y="1218672"/>
            <a:ext cx="214500" cy="2139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t/>
            </a:r>
            <a:endParaRPr b="0" i="0" sz="16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3014333" y="1756553"/>
            <a:ext cx="3548400" cy="306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104525" lIns="104525" spcFirstLastPara="1" rIns="104525" wrap="square" tIns="104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601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1601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	   </a:t>
            </a:r>
            <a:r>
              <a:rPr lang="es" sz="1601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1"/>
              <a:buFont typeface="Arial"/>
              <a:buNone/>
            </a:pPr>
            <a:r>
              <a:rPr lang="es" sz="1601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1601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1601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601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3447300" y="1799675"/>
            <a:ext cx="2597700" cy="6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6815500" y="1344575"/>
            <a:ext cx="1679700" cy="52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Encabezados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31"/>
          <p:cNvCxnSpPr>
            <a:stCxn id="333" idx="3"/>
            <a:endCxn id="334" idx="1"/>
          </p:cNvCxnSpPr>
          <p:nvPr/>
        </p:nvCxnSpPr>
        <p:spPr>
          <a:xfrm flipH="1" rot="10800000">
            <a:off x="6045000" y="1607075"/>
            <a:ext cx="770400" cy="498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31"/>
          <p:cNvSpPr/>
          <p:nvPr/>
        </p:nvSpPr>
        <p:spPr>
          <a:xfrm>
            <a:off x="3447300" y="2522850"/>
            <a:ext cx="1401900" cy="35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6815500" y="2199450"/>
            <a:ext cx="1679700" cy="52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2"/>
                </a:solidFill>
              </a:rPr>
              <a:t>Función principal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31"/>
          <p:cNvCxnSpPr>
            <a:stCxn id="336" idx="3"/>
            <a:endCxn id="337" idx="1"/>
          </p:cNvCxnSpPr>
          <p:nvPr/>
        </p:nvCxnSpPr>
        <p:spPr>
          <a:xfrm flipH="1" rot="10800000">
            <a:off x="4849200" y="2461800"/>
            <a:ext cx="1966200" cy="237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31"/>
          <p:cNvSpPr/>
          <p:nvPr/>
        </p:nvSpPr>
        <p:spPr>
          <a:xfrm>
            <a:off x="3447300" y="2875350"/>
            <a:ext cx="2762700" cy="1737300"/>
          </a:xfrm>
          <a:prstGeom prst="roundRect">
            <a:avLst>
              <a:gd fmla="val 526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6815500" y="3054325"/>
            <a:ext cx="1679700" cy="52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Cuerpo de Función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31"/>
          <p:cNvCxnSpPr>
            <a:stCxn id="339" idx="3"/>
            <a:endCxn id="340" idx="1"/>
          </p:cNvCxnSpPr>
          <p:nvPr/>
        </p:nvCxnSpPr>
        <p:spPr>
          <a:xfrm flipH="1" rot="10800000">
            <a:off x="6210000" y="3316800"/>
            <a:ext cx="605400" cy="427200"/>
          </a:xfrm>
          <a:prstGeom prst="straightConnector1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Bueno pero… ¿Qué estamos escribiendo?</a:t>
            </a:r>
            <a:endParaRPr/>
          </a:p>
        </p:txBody>
      </p:sp>
      <p:sp>
        <p:nvSpPr>
          <p:cNvPr id="347" name="Google Shape;347;p3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48" name="Google Shape;348;p32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32299" y="3162300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2"/>
          <p:cNvSpPr txBox="1"/>
          <p:nvPr/>
        </p:nvSpPr>
        <p:spPr>
          <a:xfrm>
            <a:off x="1929488" y="22431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25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5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25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500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25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500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2500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2500"/>
          </a:p>
        </p:txBody>
      </p:sp>
      <p:grpSp>
        <p:nvGrpSpPr>
          <p:cNvPr id="350" name="Google Shape;350;p32"/>
          <p:cNvGrpSpPr/>
          <p:nvPr/>
        </p:nvGrpSpPr>
        <p:grpSpPr>
          <a:xfrm>
            <a:off x="181463" y="2728925"/>
            <a:ext cx="2043000" cy="957000"/>
            <a:chOff x="1176338" y="2028825"/>
            <a:chExt cx="2043000" cy="957000"/>
          </a:xfrm>
        </p:grpSpPr>
        <p:sp>
          <p:nvSpPr>
            <p:cNvPr id="351" name="Google Shape;351;p32"/>
            <p:cNvSpPr txBox="1"/>
            <p:nvPr/>
          </p:nvSpPr>
          <p:spPr>
            <a:xfrm>
              <a:off x="1176338" y="2524125"/>
              <a:ext cx="18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Tipo de dato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52" name="Google Shape;352;p32"/>
            <p:cNvCxnSpPr>
              <a:stCxn id="351" idx="0"/>
            </p:cNvCxnSpPr>
            <p:nvPr/>
          </p:nvCxnSpPr>
          <p:spPr>
            <a:xfrm flipH="1" rot="10800000">
              <a:off x="2076338" y="2028825"/>
              <a:ext cx="1143000" cy="495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53" name="Google Shape;353;p32"/>
          <p:cNvGrpSpPr/>
          <p:nvPr/>
        </p:nvGrpSpPr>
        <p:grpSpPr>
          <a:xfrm>
            <a:off x="1658063" y="2728850"/>
            <a:ext cx="1800000" cy="2005800"/>
            <a:chOff x="2652938" y="2028750"/>
            <a:chExt cx="1800000" cy="2005800"/>
          </a:xfrm>
        </p:grpSpPr>
        <p:sp>
          <p:nvSpPr>
            <p:cNvPr id="354" name="Google Shape;354;p32"/>
            <p:cNvSpPr txBox="1"/>
            <p:nvPr/>
          </p:nvSpPr>
          <p:spPr>
            <a:xfrm>
              <a:off x="2652938" y="32956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Nombre de Variable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55" name="Google Shape;355;p32"/>
            <p:cNvCxnSpPr>
              <a:stCxn id="354" idx="0"/>
            </p:cNvCxnSpPr>
            <p:nvPr/>
          </p:nvCxnSpPr>
          <p:spPr>
            <a:xfrm flipH="1" rot="10800000">
              <a:off x="3552938" y="2028750"/>
              <a:ext cx="666600" cy="1266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56" name="Google Shape;356;p32"/>
          <p:cNvGrpSpPr/>
          <p:nvPr/>
        </p:nvGrpSpPr>
        <p:grpSpPr>
          <a:xfrm>
            <a:off x="3458063" y="2786150"/>
            <a:ext cx="1800000" cy="1948500"/>
            <a:chOff x="4452938" y="2086050"/>
            <a:chExt cx="1800000" cy="1948500"/>
          </a:xfrm>
        </p:grpSpPr>
        <p:sp>
          <p:nvSpPr>
            <p:cNvPr id="357" name="Google Shape;357;p32"/>
            <p:cNvSpPr txBox="1"/>
            <p:nvPr/>
          </p:nvSpPr>
          <p:spPr>
            <a:xfrm>
              <a:off x="4452938" y="32956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Operador de Asignación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58" name="Google Shape;358;p32"/>
            <p:cNvCxnSpPr>
              <a:stCxn id="357" idx="0"/>
            </p:cNvCxnSpPr>
            <p:nvPr/>
          </p:nvCxnSpPr>
          <p:spPr>
            <a:xfrm rot="10800000">
              <a:off x="4686338" y="2086050"/>
              <a:ext cx="666600" cy="1209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59" name="Google Shape;359;p32"/>
          <p:cNvGrpSpPr/>
          <p:nvPr/>
        </p:nvGrpSpPr>
        <p:grpSpPr>
          <a:xfrm>
            <a:off x="4359788" y="2759600"/>
            <a:ext cx="2613000" cy="859650"/>
            <a:chOff x="5354663" y="2059500"/>
            <a:chExt cx="2613000" cy="859650"/>
          </a:xfrm>
        </p:grpSpPr>
        <p:sp>
          <p:nvSpPr>
            <p:cNvPr id="360" name="Google Shape;360;p32"/>
            <p:cNvSpPr txBox="1"/>
            <p:nvPr/>
          </p:nvSpPr>
          <p:spPr>
            <a:xfrm>
              <a:off x="6167663" y="2457450"/>
              <a:ext cx="18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Expresión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61" name="Google Shape;361;p32"/>
            <p:cNvCxnSpPr>
              <a:stCxn id="360" idx="1"/>
            </p:cNvCxnSpPr>
            <p:nvPr/>
          </p:nvCxnSpPr>
          <p:spPr>
            <a:xfrm rot="10800000">
              <a:off x="5354663" y="2059500"/>
              <a:ext cx="813000" cy="628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62" name="Google Shape;362;p32"/>
          <p:cNvSpPr/>
          <p:nvPr/>
        </p:nvSpPr>
        <p:spPr>
          <a:xfrm rot="10800000">
            <a:off x="6263850" y="1285347"/>
            <a:ext cx="1692600" cy="1501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2"/>
          <p:cNvSpPr/>
          <p:nvPr/>
        </p:nvSpPr>
        <p:spPr>
          <a:xfrm rot="10800000">
            <a:off x="6263850" y="1120346"/>
            <a:ext cx="1692600" cy="1650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6318007" y="1161494"/>
            <a:ext cx="82800" cy="825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6440198" y="1161494"/>
            <a:ext cx="82800" cy="825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6562388" y="1161494"/>
            <a:ext cx="82800" cy="825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t/>
            </a:r>
            <a:endParaRPr b="0" i="0" sz="6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2"/>
          <p:cNvSpPr txBox="1"/>
          <p:nvPr/>
        </p:nvSpPr>
        <p:spPr>
          <a:xfrm>
            <a:off x="6309394" y="1378464"/>
            <a:ext cx="1609500" cy="13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0275" lIns="40275" spcFirstLastPara="1" rIns="40275" wrap="square" tIns="40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617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617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617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617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6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6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617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368" name="Google Shape;368;p32"/>
          <p:cNvCxnSpPr/>
          <p:nvPr/>
        </p:nvCxnSpPr>
        <p:spPr>
          <a:xfrm flipH="1">
            <a:off x="4792275" y="1931250"/>
            <a:ext cx="1827300" cy="442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</a:t>
            </a:r>
            <a:endParaRPr/>
          </a:p>
        </p:txBody>
      </p:sp>
      <p:sp>
        <p:nvSpPr>
          <p:cNvPr id="374" name="Google Shape;374;p3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311700" y="15334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Los </a:t>
            </a:r>
            <a:r>
              <a:rPr lang="es" sz="2000">
                <a:solidFill>
                  <a:schemeClr val="accent4"/>
                </a:solidFill>
              </a:rPr>
              <a:t>valores</a:t>
            </a:r>
            <a:r>
              <a:rPr lang="es" sz="2000">
                <a:solidFill>
                  <a:schemeClr val="dk2"/>
                </a:solidFill>
              </a:rPr>
              <a:t> se definen por medio de </a:t>
            </a:r>
            <a:r>
              <a:rPr lang="es" sz="2000">
                <a:solidFill>
                  <a:schemeClr val="accent5"/>
                </a:solidFill>
              </a:rPr>
              <a:t>expresiones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8830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Expresión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59665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3541050" y="2549250"/>
            <a:ext cx="2061900" cy="104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</a:t>
            </a:r>
            <a:endParaRPr/>
          </a:p>
        </p:txBody>
      </p:sp>
      <p:sp>
        <p:nvSpPr>
          <p:cNvPr id="384" name="Google Shape;384;p3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311700" y="15334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Los </a:t>
            </a:r>
            <a:r>
              <a:rPr lang="es" sz="2000">
                <a:solidFill>
                  <a:schemeClr val="accent4"/>
                </a:solidFill>
              </a:rPr>
              <a:t>valores</a:t>
            </a:r>
            <a:r>
              <a:rPr lang="es" sz="2000">
                <a:solidFill>
                  <a:schemeClr val="dk2"/>
                </a:solidFill>
              </a:rPr>
              <a:t> se definen por medio de </a:t>
            </a:r>
            <a:r>
              <a:rPr lang="es" sz="2000">
                <a:solidFill>
                  <a:schemeClr val="accent5"/>
                </a:solidFill>
              </a:rPr>
              <a:t>expresiones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8830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" sz="2600">
                <a:solidFill>
                  <a:schemeClr val="lt1"/>
                </a:solidFill>
              </a:rPr>
              <a:t>2+3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59665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" sz="2600">
                <a:solidFill>
                  <a:schemeClr val="lt1"/>
                </a:solidFill>
              </a:rPr>
              <a:t>5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3541050" y="2549250"/>
            <a:ext cx="2061900" cy="104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</a:t>
            </a:r>
            <a:endParaRPr/>
          </a:p>
        </p:txBody>
      </p:sp>
      <p:sp>
        <p:nvSpPr>
          <p:cNvPr id="394" name="Google Shape;394;p3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311700" y="15334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Los </a:t>
            </a:r>
            <a:r>
              <a:rPr lang="es" sz="2000">
                <a:solidFill>
                  <a:schemeClr val="accent4"/>
                </a:solidFill>
              </a:rPr>
              <a:t>valores</a:t>
            </a:r>
            <a:r>
              <a:rPr lang="es" sz="2000">
                <a:solidFill>
                  <a:schemeClr val="dk2"/>
                </a:solidFill>
              </a:rPr>
              <a:t> se definen por medio de </a:t>
            </a:r>
            <a:r>
              <a:rPr lang="es" sz="2000">
                <a:solidFill>
                  <a:schemeClr val="accent5"/>
                </a:solidFill>
              </a:rPr>
              <a:t>expresiones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8830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" sz="2600">
                <a:solidFill>
                  <a:schemeClr val="lt1"/>
                </a:solidFill>
              </a:rPr>
              <a:t>5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5966550" y="2571750"/>
            <a:ext cx="2294400" cy="10047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" sz="2600">
                <a:solidFill>
                  <a:schemeClr val="lt1"/>
                </a:solidFill>
              </a:rPr>
              <a:t>5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3541050" y="2549250"/>
            <a:ext cx="2061900" cy="104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Asociatividad y Precedencia</a:t>
            </a:r>
            <a:endParaRPr/>
          </a:p>
        </p:txBody>
      </p:sp>
      <p:sp>
        <p:nvSpPr>
          <p:cNvPr id="404" name="Google Shape;404;p3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5" name="Google Shape;405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/>
              <a:t>La asociatividad define el orden de lectura, pasamos de una representación lineal a una representación estructurada.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/>
              <a:t>La expresión   </a:t>
            </a:r>
            <a:r>
              <a:rPr b="1" lang="es"/>
              <a:t> 1 - 2 + 3 </a:t>
            </a:r>
            <a:r>
              <a:rPr lang="es"/>
              <a:t>    significa implícitamente    </a:t>
            </a:r>
            <a:r>
              <a:rPr b="1" lang="es"/>
              <a:t>( 1 - 2 ) + 3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/>
              <a:t>La asociatividad mediante paréntesis nos permite: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lang="es"/>
              <a:t>Cambiar el significado: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/>
              <a:t>1 - ( 2 + 3 )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lang="es"/>
              <a:t>Reforzar el significado: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( 1 - 2 ) + 3</a:t>
            </a:r>
            <a:endParaRPr b="1"/>
          </a:p>
        </p:txBody>
      </p:sp>
      <p:sp>
        <p:nvSpPr>
          <p:cNvPr id="406" name="Google Shape;406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 precedencia define el orden de resoluci</a:t>
            </a:r>
            <a:r>
              <a:rPr lang="es"/>
              <a:t>ón de los operadores a la hora de evaluar una expresión. </a:t>
            </a:r>
            <a:br>
              <a:rPr lang="es"/>
            </a:br>
            <a:br>
              <a:rPr lang="es"/>
            </a:br>
            <a:r>
              <a:rPr b="1" lang="es" sz="1600"/>
              <a:t>Es </a:t>
            </a:r>
            <a:r>
              <a:rPr b="1" lang="es" sz="1600"/>
              <a:t>importantísimo</a:t>
            </a:r>
            <a:r>
              <a:rPr b="1" lang="es" sz="1600"/>
              <a:t> leer correctamente las expresiones respetando la asociatividad y la precedencia para poder evaluar correctamente.</a:t>
            </a:r>
            <a:endParaRPr b="1"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Asociatividad y Precedencia</a:t>
            </a:r>
            <a:endParaRPr/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3" name="Google Shape;4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30" y="1197975"/>
            <a:ext cx="6276940" cy="346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</a:t>
            </a:r>
            <a:endParaRPr/>
          </a:p>
        </p:txBody>
      </p:sp>
      <p:sp>
        <p:nvSpPr>
          <p:cNvPr id="419" name="Google Shape;419;p3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20" name="Google Shape;420;p38"/>
          <p:cNvSpPr txBox="1"/>
          <p:nvPr/>
        </p:nvSpPr>
        <p:spPr>
          <a:xfrm>
            <a:off x="311700" y="11524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Un mismo valor puede estar definido por diferentes expresiones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421" name="Google Shape;421;p38"/>
          <p:cNvSpPr txBox="1"/>
          <p:nvPr/>
        </p:nvSpPr>
        <p:spPr>
          <a:xfrm>
            <a:off x="311700" y="17573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accent5"/>
                </a:solidFill>
              </a:rPr>
              <a:t>2+3      4+1        2+3+1-1       10/2      5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422" name="Google Shape;422;p38"/>
          <p:cNvSpPr txBox="1"/>
          <p:nvPr/>
        </p:nvSpPr>
        <p:spPr>
          <a:xfrm>
            <a:off x="311700" y="24795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Las constantes (1, 2, 3, …) son expresiones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311700" y="31266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Un operador (+, -, /, *, …) junto con sus operandos es una expresión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311700" y="3806675"/>
            <a:ext cx="85206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Una expresión entre paréntesis es una expresión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</p:txBody>
      </p:sp>
      <p:sp>
        <p:nvSpPr>
          <p:cNvPr id="430" name="Google Shape;430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2100"/>
              <a:t>Enteros </a:t>
            </a:r>
            <a:endParaRPr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1, 2, 3, …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+, -, /, *, %, ==, !=, &lt;, &gt;, &lt;=, &gt;=, … 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2100"/>
              <a:t>Flotantes (reales) </a:t>
            </a:r>
            <a:endParaRPr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0.1, 0.01, 0.001, …, 2.5, 3.14159, …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Montserrat"/>
              <a:buChar char="●"/>
            </a:pPr>
            <a:r>
              <a:rPr lang="es" sz="2100"/>
              <a:t>+, -, /, *, ==, !=, &lt;, &gt;, &lt;=, &gt;=, …</a:t>
            </a:r>
            <a:endParaRPr/>
          </a:p>
        </p:txBody>
      </p:sp>
      <p:sp>
        <p:nvSpPr>
          <p:cNvPr id="431" name="Google Shape;431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</a:pPr>
            <a:r>
              <a:rPr lang="es" sz="1800"/>
              <a:t>Caracteres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lang="es" sz="1800"/>
              <a:t>'a', 'b', … '0', '!', '\n', ‘\t', …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46"/>
              <a:buFont typeface="Arial"/>
              <a:buNone/>
            </a:pPr>
            <a:r>
              <a:rPr lang="es" sz="1800"/>
              <a:t>Valores de verdad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lang="es" sz="1800"/>
              <a:t>true, false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9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en la memoria…</a:t>
            </a:r>
            <a:endParaRPr/>
          </a:p>
        </p:txBody>
      </p:sp>
      <p:sp>
        <p:nvSpPr>
          <p:cNvPr id="438" name="Google Shape;43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Los valores se almacenan en memoria usando bits.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bit es la unidad de almacenamiento más elemental.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bit tiene solo dos valores posibles.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None/>
            </a:pPr>
            <a:r>
              <a:rPr lang="es" sz="2400"/>
              <a:t>1     0</a:t>
            </a:r>
            <a:endParaRPr sz="2400"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Byte es una secuencia de 8 bits.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None/>
            </a:pPr>
            <a:r>
              <a:rPr lang="es" sz="2400"/>
              <a:t>10110010	</a:t>
            </a:r>
            <a:endParaRPr sz="2400"/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Montserrat"/>
              <a:buChar char="●"/>
            </a:pPr>
            <a:r>
              <a:rPr lang="es" sz="2400"/>
              <a:t>Un Byte tiene 2</a:t>
            </a:r>
            <a:r>
              <a:rPr baseline="30000" lang="es" sz="2400"/>
              <a:t>8</a:t>
            </a:r>
            <a:r>
              <a:rPr lang="es" sz="2400"/>
              <a:t> valores posibles</a:t>
            </a:r>
            <a:endParaRPr/>
          </a:p>
        </p:txBody>
      </p:sp>
      <p:sp>
        <p:nvSpPr>
          <p:cNvPr id="439" name="Google Shape;439;p40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Variables…</a:t>
            </a:r>
            <a:endParaRPr/>
          </a:p>
        </p:txBody>
      </p:sp>
      <p:sp>
        <p:nvSpPr>
          <p:cNvPr id="445" name="Google Shape;445;p41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46" name="Google Shape;446;p41"/>
          <p:cNvPicPr preferRelativeResize="0"/>
          <p:nvPr/>
        </p:nvPicPr>
        <p:blipFill rotWithShape="1">
          <a:blip r:embed="rId3">
            <a:alphaModFix/>
          </a:blip>
          <a:srcRect b="19198" l="0" r="0" t="18714"/>
          <a:stretch/>
        </p:blipFill>
        <p:spPr>
          <a:xfrm>
            <a:off x="479625" y="1932175"/>
            <a:ext cx="4222250" cy="262152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1"/>
          <p:cNvSpPr txBox="1"/>
          <p:nvPr/>
        </p:nvSpPr>
        <p:spPr>
          <a:xfrm>
            <a:off x="205700" y="1417975"/>
            <a:ext cx="477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20">
                <a:solidFill>
                  <a:schemeClr val="dk2"/>
                </a:solidFill>
              </a:rPr>
              <a:t>Memoria</a:t>
            </a:r>
            <a:endParaRPr sz="2320">
              <a:solidFill>
                <a:schemeClr val="dk2"/>
              </a:solidFill>
            </a:endParaRPr>
          </a:p>
        </p:txBody>
      </p:sp>
      <p:sp>
        <p:nvSpPr>
          <p:cNvPr id="448" name="Google Shape;448;p41"/>
          <p:cNvSpPr/>
          <p:nvPr/>
        </p:nvSpPr>
        <p:spPr>
          <a:xfrm>
            <a:off x="138327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1"/>
          <p:cNvSpPr/>
          <p:nvPr/>
        </p:nvSpPr>
        <p:spPr>
          <a:xfrm flipH="1">
            <a:off x="138327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1"/>
          <p:cNvSpPr/>
          <p:nvPr/>
        </p:nvSpPr>
        <p:spPr>
          <a:xfrm>
            <a:off x="2212250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1"/>
          <p:cNvSpPr/>
          <p:nvPr/>
        </p:nvSpPr>
        <p:spPr>
          <a:xfrm flipH="1">
            <a:off x="2212250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1"/>
          <p:cNvSpPr/>
          <p:nvPr/>
        </p:nvSpPr>
        <p:spPr>
          <a:xfrm>
            <a:off x="304122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1"/>
          <p:cNvSpPr/>
          <p:nvPr/>
        </p:nvSpPr>
        <p:spPr>
          <a:xfrm flipH="1">
            <a:off x="304122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1"/>
          <p:cNvSpPr txBox="1"/>
          <p:nvPr/>
        </p:nvSpPr>
        <p:spPr>
          <a:xfrm>
            <a:off x="5381375" y="445025"/>
            <a:ext cx="3493800" cy="4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 la manera en que el programa indica a la computadora que debe reservar un espacio libre de memoria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Variables…</a:t>
            </a:r>
            <a:endParaRPr/>
          </a:p>
        </p:txBody>
      </p:sp>
      <p:sp>
        <p:nvSpPr>
          <p:cNvPr id="460" name="Google Shape;460;p42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61" name="Google Shape;461;p42"/>
          <p:cNvPicPr preferRelativeResize="0"/>
          <p:nvPr/>
        </p:nvPicPr>
        <p:blipFill rotWithShape="1">
          <a:blip r:embed="rId3">
            <a:alphaModFix/>
          </a:blip>
          <a:srcRect b="19198" l="0" r="0" t="18714"/>
          <a:stretch/>
        </p:blipFill>
        <p:spPr>
          <a:xfrm>
            <a:off x="479625" y="1932175"/>
            <a:ext cx="4222250" cy="2621524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2"/>
          <p:cNvSpPr txBox="1"/>
          <p:nvPr/>
        </p:nvSpPr>
        <p:spPr>
          <a:xfrm>
            <a:off x="205700" y="1417975"/>
            <a:ext cx="477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20">
                <a:solidFill>
                  <a:schemeClr val="dk2"/>
                </a:solidFill>
              </a:rPr>
              <a:t>Memoria</a:t>
            </a:r>
            <a:endParaRPr sz="2320">
              <a:solidFill>
                <a:schemeClr val="dk2"/>
              </a:solidFill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138327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2"/>
          <p:cNvSpPr/>
          <p:nvPr/>
        </p:nvSpPr>
        <p:spPr>
          <a:xfrm flipH="1">
            <a:off x="138327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2"/>
          <p:cNvSpPr/>
          <p:nvPr/>
        </p:nvSpPr>
        <p:spPr>
          <a:xfrm>
            <a:off x="2212250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2"/>
          <p:cNvSpPr/>
          <p:nvPr/>
        </p:nvSpPr>
        <p:spPr>
          <a:xfrm flipH="1">
            <a:off x="2212250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2"/>
          <p:cNvSpPr/>
          <p:nvPr/>
        </p:nvSpPr>
        <p:spPr>
          <a:xfrm>
            <a:off x="304122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2"/>
          <p:cNvSpPr/>
          <p:nvPr/>
        </p:nvSpPr>
        <p:spPr>
          <a:xfrm flipH="1">
            <a:off x="304122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rgbClr val="6D9EEB"/>
          </a:solidFill>
          <a:ln cap="flat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3041225" y="2729200"/>
            <a:ext cx="757200" cy="7347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2"/>
          <p:cNvSpPr/>
          <p:nvPr/>
        </p:nvSpPr>
        <p:spPr>
          <a:xfrm flipH="1">
            <a:off x="3041225" y="3463925"/>
            <a:ext cx="757200" cy="240000"/>
          </a:xfrm>
          <a:prstGeom prst="round2SameRect">
            <a:avLst>
              <a:gd fmla="val 0" name="adj1"/>
              <a:gd fmla="val 43490" name="adj2"/>
            </a:avLst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2"/>
          <p:cNvSpPr/>
          <p:nvPr/>
        </p:nvSpPr>
        <p:spPr>
          <a:xfrm>
            <a:off x="3127413" y="1932175"/>
            <a:ext cx="584825" cy="734700"/>
          </a:xfrm>
          <a:prstGeom prst="flowChartOffpageConnector">
            <a:avLst/>
          </a:prstGeom>
          <a:solidFill>
            <a:schemeClr val="accent5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2"/>
          <p:cNvSpPr txBox="1"/>
          <p:nvPr/>
        </p:nvSpPr>
        <p:spPr>
          <a:xfrm>
            <a:off x="5381375" y="445025"/>
            <a:ext cx="3493800" cy="4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 la manera en que el programa indica a la computadora que debe reservar un espacio libre de memoria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ese espacio de memoria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lo etiqueta con el nombre </a:t>
            </a:r>
            <a:r>
              <a:rPr b="1"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i="0" lang="e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luego poder hacer referencia a él en el resto del programa.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Nombres de variables</a:t>
            </a:r>
            <a:endParaRPr/>
          </a:p>
        </p:txBody>
      </p:sp>
      <p:sp>
        <p:nvSpPr>
          <p:cNvPr id="478" name="Google Shape;47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Son palabras formadas por </a:t>
            </a:r>
            <a:r>
              <a:rPr b="1" lang="es"/>
              <a:t>letras</a:t>
            </a:r>
            <a:r>
              <a:rPr lang="es"/>
              <a:t>, </a:t>
            </a:r>
            <a:r>
              <a:rPr b="1" lang="es"/>
              <a:t>números</a:t>
            </a:r>
            <a:r>
              <a:rPr lang="es"/>
              <a:t> y _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nombre debe comenzar con una </a:t>
            </a:r>
            <a:r>
              <a:rPr b="1" lang="es"/>
              <a:t>letra</a:t>
            </a:r>
            <a:r>
              <a:rPr lang="es"/>
              <a:t> o _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Existen palabras que están reservadas en el lenguaje: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auto, break, case, catch, char, class, const, continue, default, delete, do, double, else, enum, extern, float, for, friend, goto, if, inline, int, long, new, overload, private, protected, public, register, return, short, signed, sizeof, static, struct, switch, this, template, typedef, union, unsigned, virtual, void, volatile, while</a:t>
            </a:r>
            <a:endParaRPr/>
          </a:p>
        </p:txBody>
      </p:sp>
      <p:sp>
        <p:nvSpPr>
          <p:cNvPr id="479" name="Google Shape;479;p43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en la memoria…</a:t>
            </a:r>
            <a:endParaRPr/>
          </a:p>
        </p:txBody>
      </p:sp>
      <p:sp>
        <p:nvSpPr>
          <p:cNvPr id="485" name="Google Shape;485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Enteros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/>
              <a:t>Flotantes (reales)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6" name="Google Shape;486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Caracteres y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/>
              <a:t>Valores de verdad</a:t>
            </a:r>
            <a:endParaRPr sz="1800"/>
          </a:p>
        </p:txBody>
      </p:sp>
      <p:sp>
        <p:nvSpPr>
          <p:cNvPr id="487" name="Google Shape;487;p44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1980"/>
          <a:stretch/>
        </p:blipFill>
        <p:spPr>
          <a:xfrm>
            <a:off x="34425" y="1544000"/>
            <a:ext cx="4554450" cy="12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63" y="3307887"/>
            <a:ext cx="4482156" cy="12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5025" y="2058336"/>
            <a:ext cx="4135876" cy="1124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Asignaci</a:t>
            </a:r>
            <a:r>
              <a:rPr lang="es"/>
              <a:t>ón</a:t>
            </a:r>
            <a:endParaRPr/>
          </a:p>
        </p:txBody>
      </p:sp>
      <p:sp>
        <p:nvSpPr>
          <p:cNvPr id="496" name="Google Shape;496;p45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7" name="Google Shape;497;p45"/>
          <p:cNvSpPr txBox="1"/>
          <p:nvPr/>
        </p:nvSpPr>
        <p:spPr>
          <a:xfrm>
            <a:off x="311700" y="1152475"/>
            <a:ext cx="8520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una operación.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la sentencia que modifica el estado de un programa.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5"/>
          <p:cNvSpPr txBox="1"/>
          <p:nvPr/>
        </p:nvSpPr>
        <p:spPr>
          <a:xfrm>
            <a:off x="311700" y="2143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2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variable = expresión;</a:t>
            </a:r>
            <a:endParaRPr sz="192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2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9" name="Google Shape;499;p45"/>
          <p:cNvSpPr txBox="1"/>
          <p:nvPr/>
        </p:nvSpPr>
        <p:spPr>
          <a:xfrm>
            <a:off x="311700" y="3029125"/>
            <a:ext cx="85206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1. Se evalúa la expresión.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2. Se almacena el valor de la expresión en la memoria (usando la variable).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6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05" name="Google Shape;505;p46"/>
          <p:cNvSpPr txBox="1"/>
          <p:nvPr/>
        </p:nvSpPr>
        <p:spPr>
          <a:xfrm>
            <a:off x="3885500" y="1797225"/>
            <a:ext cx="487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40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40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40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4000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4000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40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4000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40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endParaRPr sz="4000"/>
          </a:p>
        </p:txBody>
      </p:sp>
      <p:pic>
        <p:nvPicPr>
          <p:cNvPr id="506" name="Google Shape;506;p46" title="itera_verific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0"/>
            <a:ext cx="3617824" cy="361782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¿Qu</a:t>
            </a:r>
            <a:r>
              <a:rPr lang="es" sz="2400"/>
              <a:t>é es cada cosa?</a:t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Bueno pero… ¿Qué estamos escribiendo?</a:t>
            </a:r>
            <a:endParaRPr/>
          </a:p>
        </p:txBody>
      </p:sp>
      <p:sp>
        <p:nvSpPr>
          <p:cNvPr id="513" name="Google Shape;513;p47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4" name="Google Shape;514;p47" title="itera_pensem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032299" y="3162300"/>
            <a:ext cx="1800001" cy="18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7"/>
          <p:cNvSpPr txBox="1"/>
          <p:nvPr/>
        </p:nvSpPr>
        <p:spPr>
          <a:xfrm>
            <a:off x="1525300" y="2116300"/>
            <a:ext cx="32670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7"/>
              <a:buFont typeface="Arial"/>
              <a:buNone/>
            </a:pP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2017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2017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2017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3900"/>
          </a:p>
        </p:txBody>
      </p:sp>
      <p:grpSp>
        <p:nvGrpSpPr>
          <p:cNvPr id="516" name="Google Shape;516;p47"/>
          <p:cNvGrpSpPr/>
          <p:nvPr/>
        </p:nvGrpSpPr>
        <p:grpSpPr>
          <a:xfrm>
            <a:off x="181463" y="2561525"/>
            <a:ext cx="1800000" cy="1678500"/>
            <a:chOff x="1176338" y="1861425"/>
            <a:chExt cx="1800000" cy="1678500"/>
          </a:xfrm>
        </p:grpSpPr>
        <p:sp>
          <p:nvSpPr>
            <p:cNvPr id="517" name="Google Shape;517;p47"/>
            <p:cNvSpPr txBox="1"/>
            <p:nvPr/>
          </p:nvSpPr>
          <p:spPr>
            <a:xfrm>
              <a:off x="1176338" y="2524125"/>
              <a:ext cx="1800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representa la salida por pantalla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18" name="Google Shape;518;p47"/>
            <p:cNvCxnSpPr>
              <a:stCxn id="517" idx="0"/>
            </p:cNvCxnSpPr>
            <p:nvPr/>
          </p:nvCxnSpPr>
          <p:spPr>
            <a:xfrm flipH="1" rot="10800000">
              <a:off x="2076338" y="1861425"/>
              <a:ext cx="815700" cy="662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19" name="Google Shape;519;p47"/>
          <p:cNvGrpSpPr/>
          <p:nvPr/>
        </p:nvGrpSpPr>
        <p:grpSpPr>
          <a:xfrm>
            <a:off x="1658063" y="2499950"/>
            <a:ext cx="1800000" cy="2234700"/>
            <a:chOff x="2652938" y="1799850"/>
            <a:chExt cx="1800000" cy="2234700"/>
          </a:xfrm>
        </p:grpSpPr>
        <p:sp>
          <p:nvSpPr>
            <p:cNvPr id="520" name="Google Shape;520;p47"/>
            <p:cNvSpPr txBox="1"/>
            <p:nvPr/>
          </p:nvSpPr>
          <p:spPr>
            <a:xfrm>
              <a:off x="2652938" y="32956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Operador de redirección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21" name="Google Shape;521;p47"/>
            <p:cNvCxnSpPr>
              <a:stCxn id="520" idx="0"/>
            </p:cNvCxnSpPr>
            <p:nvPr/>
          </p:nvCxnSpPr>
          <p:spPr>
            <a:xfrm rot="10800000">
              <a:off x="3535838" y="1799850"/>
              <a:ext cx="17100" cy="1495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2" name="Google Shape;522;p47"/>
          <p:cNvGrpSpPr/>
          <p:nvPr/>
        </p:nvGrpSpPr>
        <p:grpSpPr>
          <a:xfrm>
            <a:off x="2965463" y="2541050"/>
            <a:ext cx="2292600" cy="1916400"/>
            <a:chOff x="3960338" y="1840950"/>
            <a:chExt cx="2292600" cy="1916400"/>
          </a:xfrm>
        </p:grpSpPr>
        <p:sp>
          <p:nvSpPr>
            <p:cNvPr id="523" name="Google Shape;523;p47"/>
            <p:cNvSpPr txBox="1"/>
            <p:nvPr/>
          </p:nvSpPr>
          <p:spPr>
            <a:xfrm>
              <a:off x="4452938" y="3295650"/>
              <a:ext cx="18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Expresión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24" name="Google Shape;524;p47"/>
            <p:cNvCxnSpPr>
              <a:stCxn id="523" idx="0"/>
            </p:cNvCxnSpPr>
            <p:nvPr/>
          </p:nvCxnSpPr>
          <p:spPr>
            <a:xfrm rot="10800000">
              <a:off x="3960338" y="1840950"/>
              <a:ext cx="1392600" cy="1454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25" name="Google Shape;525;p47"/>
          <p:cNvGrpSpPr/>
          <p:nvPr/>
        </p:nvGrpSpPr>
        <p:grpSpPr>
          <a:xfrm>
            <a:off x="4359788" y="2898200"/>
            <a:ext cx="2613000" cy="998250"/>
            <a:chOff x="5354663" y="2198100"/>
            <a:chExt cx="2613000" cy="998250"/>
          </a:xfrm>
        </p:grpSpPr>
        <p:sp>
          <p:nvSpPr>
            <p:cNvPr id="526" name="Google Shape;526;p47"/>
            <p:cNvSpPr txBox="1"/>
            <p:nvPr/>
          </p:nvSpPr>
          <p:spPr>
            <a:xfrm>
              <a:off x="6167663" y="2457450"/>
              <a:ext cx="18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Expresión (final de linea)</a:t>
              </a:r>
              <a:endPara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527" name="Google Shape;527;p47"/>
            <p:cNvCxnSpPr>
              <a:stCxn id="526" idx="1"/>
            </p:cNvCxnSpPr>
            <p:nvPr/>
          </p:nvCxnSpPr>
          <p:spPr>
            <a:xfrm rot="10800000">
              <a:off x="5354663" y="2198100"/>
              <a:ext cx="813000" cy="628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28" name="Google Shape;528;p47"/>
          <p:cNvSpPr/>
          <p:nvPr/>
        </p:nvSpPr>
        <p:spPr>
          <a:xfrm rot="10800000">
            <a:off x="6136939" y="1185275"/>
            <a:ext cx="1946400" cy="1726500"/>
          </a:xfrm>
          <a:prstGeom prst="round2SameRect">
            <a:avLst>
              <a:gd fmla="val 6272" name="adj1"/>
              <a:gd fmla="val 0" name="adj2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7"/>
          <p:cNvSpPr/>
          <p:nvPr/>
        </p:nvSpPr>
        <p:spPr>
          <a:xfrm rot="10800000">
            <a:off x="6136939" y="995256"/>
            <a:ext cx="1946400" cy="189900"/>
          </a:xfrm>
          <a:prstGeom prst="round2SameRect">
            <a:avLst>
              <a:gd fmla="val 6272" name="adj1"/>
              <a:gd fmla="val 50000" name="adj2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6199243" y="1042734"/>
            <a:ext cx="95100" cy="94800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6339753" y="1042734"/>
            <a:ext cx="95100" cy="94800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6480264" y="1042734"/>
            <a:ext cx="95100" cy="94800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txBody>
          <a:bodyPr anchorCtr="0" anchor="ctr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t/>
            </a:r>
            <a:endParaRPr b="0" i="0" sz="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7"/>
          <p:cNvSpPr txBox="1"/>
          <p:nvPr/>
        </p:nvSpPr>
        <p:spPr>
          <a:xfrm>
            <a:off x="6189338" y="1292234"/>
            <a:ext cx="1850700" cy="1516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t" bIns="46325" lIns="46325" spcFirstLastPara="1" rIns="46325" wrap="square" tIns="46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using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namespace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std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70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4078F2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()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endParaRPr sz="709">
              <a:solidFill>
                <a:srgbClr val="20202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27292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cout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0184BC"/>
                </a:solidFill>
                <a:latin typeface="Fira Code"/>
                <a:ea typeface="Fira Code"/>
                <a:cs typeface="Fira Code"/>
                <a:sym typeface="Fira Code"/>
              </a:rPr>
              <a:t>&lt;&lt;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endl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s" sz="709">
                <a:solidFill>
                  <a:srgbClr val="A626A4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98680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9"/>
              <a:buFont typeface="Arial"/>
              <a:buNone/>
            </a:pPr>
            <a:r>
              <a:rPr lang="es" sz="709">
                <a:solidFill>
                  <a:srgbClr val="929292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lang="es" sz="709">
                <a:solidFill>
                  <a:srgbClr val="20202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709">
                <a:solidFill>
                  <a:srgbClr val="383A42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709">
              <a:solidFill>
                <a:srgbClr val="383A4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34" name="Google Shape;534;p47"/>
          <p:cNvCxnSpPr/>
          <p:nvPr/>
        </p:nvCxnSpPr>
        <p:spPr>
          <a:xfrm flipH="1">
            <a:off x="4792250" y="2277425"/>
            <a:ext cx="1803600" cy="9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8"/>
          <p:cNvSpPr txBox="1"/>
          <p:nvPr>
            <p:ph idx="12" type="sldNum"/>
          </p:nvPr>
        </p:nvSpPr>
        <p:spPr>
          <a:xfrm>
            <a:off x="8520083" y="47346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40" name="Google Shape;540;p48" title="itera_headphon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91875" y="830275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8" title="Cuando arranca el metodo!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8000" y="195275"/>
            <a:ext cx="6136300" cy="34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ro FCEFYN">
  <a:themeElements>
    <a:clrScheme name="Simple Light">
      <a:dk1>
        <a:srgbClr val="1D1D1D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D88E77"/>
      </a:accent3>
      <a:accent4>
        <a:srgbClr val="D38129"/>
      </a:accent4>
      <a:accent5>
        <a:srgbClr val="1D4036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