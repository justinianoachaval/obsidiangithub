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3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60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</p:sldIdLst>
  <p:sldSz cy="5143500" cx="9144000"/>
  <p:notesSz cx="6858000" cy="9144000"/>
  <p:embeddedFontLst>
    <p:embeddedFont>
      <p:font typeface="Montserrat SemiBold"/>
      <p:regular r:id="rId60"/>
      <p:bold r:id="rId61"/>
      <p:italic r:id="rId62"/>
      <p:boldItalic r:id="rId63"/>
    </p:embeddedFont>
    <p:embeddedFont>
      <p:font typeface="Montserrat"/>
      <p:regular r:id="rId64"/>
      <p:bold r:id="rId65"/>
      <p:italic r:id="rId66"/>
      <p:boldItalic r:id="rId67"/>
    </p:embeddedFont>
    <p:embeddedFont>
      <p:font typeface="Montserrat Medium"/>
      <p:regular r:id="rId68"/>
      <p:bold r:id="rId69"/>
      <p:italic r:id="rId70"/>
      <p:boldItalic r:id="rId71"/>
    </p:embeddedFont>
    <p:embeddedFont>
      <p:font typeface="Montserrat Light"/>
      <p:regular r:id="rId72"/>
      <p:bold r:id="rId73"/>
      <p:italic r:id="rId74"/>
      <p:boldItalic r:id="rId75"/>
    </p:embeddedFont>
    <p:embeddedFont>
      <p:font typeface="Roboto Mono"/>
      <p:regular r:id="rId76"/>
      <p:bold r:id="rId77"/>
      <p:italic r:id="rId78"/>
      <p:boldItalic r:id="rId7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61632F88-6779-4D04-9DE2-9CD45BEE2DD9}">
  <a:tblStyle styleId="{61632F88-6779-4D04-9DE2-9CD45BEE2DD9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44" Type="http://schemas.openxmlformats.org/officeDocument/2006/relationships/slide" Target="slides/slide38.xml"/><Relationship Id="rId43" Type="http://schemas.openxmlformats.org/officeDocument/2006/relationships/slide" Target="slides/slide37.xml"/><Relationship Id="rId46" Type="http://schemas.openxmlformats.org/officeDocument/2006/relationships/slide" Target="slides/slide40.xml"/><Relationship Id="rId45" Type="http://schemas.openxmlformats.org/officeDocument/2006/relationships/slide" Target="slides/slide39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48" Type="http://schemas.openxmlformats.org/officeDocument/2006/relationships/slide" Target="slides/slide42.xml"/><Relationship Id="rId47" Type="http://schemas.openxmlformats.org/officeDocument/2006/relationships/slide" Target="slides/slide41.xml"/><Relationship Id="rId49" Type="http://schemas.openxmlformats.org/officeDocument/2006/relationships/slide" Target="slides/slide43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73" Type="http://schemas.openxmlformats.org/officeDocument/2006/relationships/font" Target="fonts/MontserratLight-bold.fntdata"/><Relationship Id="rId72" Type="http://schemas.openxmlformats.org/officeDocument/2006/relationships/font" Target="fonts/MontserratLight-regular.fntdata"/><Relationship Id="rId31" Type="http://schemas.openxmlformats.org/officeDocument/2006/relationships/slide" Target="slides/slide25.xml"/><Relationship Id="rId75" Type="http://schemas.openxmlformats.org/officeDocument/2006/relationships/font" Target="fonts/MontserratLight-boldItalic.fntdata"/><Relationship Id="rId30" Type="http://schemas.openxmlformats.org/officeDocument/2006/relationships/slide" Target="slides/slide24.xml"/><Relationship Id="rId74" Type="http://schemas.openxmlformats.org/officeDocument/2006/relationships/font" Target="fonts/MontserratLight-italic.fntdata"/><Relationship Id="rId33" Type="http://schemas.openxmlformats.org/officeDocument/2006/relationships/slide" Target="slides/slide27.xml"/><Relationship Id="rId77" Type="http://schemas.openxmlformats.org/officeDocument/2006/relationships/font" Target="fonts/RobotoMono-bold.fntdata"/><Relationship Id="rId32" Type="http://schemas.openxmlformats.org/officeDocument/2006/relationships/slide" Target="slides/slide26.xml"/><Relationship Id="rId76" Type="http://schemas.openxmlformats.org/officeDocument/2006/relationships/font" Target="fonts/RobotoMono-regular.fntdata"/><Relationship Id="rId35" Type="http://schemas.openxmlformats.org/officeDocument/2006/relationships/slide" Target="slides/slide29.xml"/><Relationship Id="rId79" Type="http://schemas.openxmlformats.org/officeDocument/2006/relationships/font" Target="fonts/RobotoMono-boldItalic.fntdata"/><Relationship Id="rId34" Type="http://schemas.openxmlformats.org/officeDocument/2006/relationships/slide" Target="slides/slide28.xml"/><Relationship Id="rId78" Type="http://schemas.openxmlformats.org/officeDocument/2006/relationships/font" Target="fonts/RobotoMono-italic.fntdata"/><Relationship Id="rId71" Type="http://schemas.openxmlformats.org/officeDocument/2006/relationships/font" Target="fonts/MontserratMedium-boldItalic.fntdata"/><Relationship Id="rId70" Type="http://schemas.openxmlformats.org/officeDocument/2006/relationships/font" Target="fonts/MontserratMedium-italic.fntdata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62" Type="http://schemas.openxmlformats.org/officeDocument/2006/relationships/font" Target="fonts/MontserratSemiBold-italic.fntdata"/><Relationship Id="rId61" Type="http://schemas.openxmlformats.org/officeDocument/2006/relationships/font" Target="fonts/MontserratSemiBold-bold.fntdata"/><Relationship Id="rId20" Type="http://schemas.openxmlformats.org/officeDocument/2006/relationships/slide" Target="slides/slide14.xml"/><Relationship Id="rId64" Type="http://schemas.openxmlformats.org/officeDocument/2006/relationships/font" Target="fonts/Montserrat-regular.fntdata"/><Relationship Id="rId63" Type="http://schemas.openxmlformats.org/officeDocument/2006/relationships/font" Target="fonts/MontserratSemiBold-boldItalic.fntdata"/><Relationship Id="rId22" Type="http://schemas.openxmlformats.org/officeDocument/2006/relationships/slide" Target="slides/slide16.xml"/><Relationship Id="rId66" Type="http://schemas.openxmlformats.org/officeDocument/2006/relationships/font" Target="fonts/Montserrat-italic.fntdata"/><Relationship Id="rId21" Type="http://schemas.openxmlformats.org/officeDocument/2006/relationships/slide" Target="slides/slide15.xml"/><Relationship Id="rId65" Type="http://schemas.openxmlformats.org/officeDocument/2006/relationships/font" Target="fonts/Montserrat-bold.fntdata"/><Relationship Id="rId24" Type="http://schemas.openxmlformats.org/officeDocument/2006/relationships/slide" Target="slides/slide18.xml"/><Relationship Id="rId68" Type="http://schemas.openxmlformats.org/officeDocument/2006/relationships/font" Target="fonts/MontserratMedium-regular.fntdata"/><Relationship Id="rId23" Type="http://schemas.openxmlformats.org/officeDocument/2006/relationships/slide" Target="slides/slide17.xml"/><Relationship Id="rId67" Type="http://schemas.openxmlformats.org/officeDocument/2006/relationships/font" Target="fonts/Montserrat-boldItalic.fntdata"/><Relationship Id="rId60" Type="http://schemas.openxmlformats.org/officeDocument/2006/relationships/font" Target="fonts/MontserratSemiBold-regular.fntdata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69" Type="http://schemas.openxmlformats.org/officeDocument/2006/relationships/font" Target="fonts/MontserratMedium-bold.fntdata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51" Type="http://schemas.openxmlformats.org/officeDocument/2006/relationships/slide" Target="slides/slide45.xml"/><Relationship Id="rId50" Type="http://schemas.openxmlformats.org/officeDocument/2006/relationships/slide" Target="slides/slide44.xml"/><Relationship Id="rId53" Type="http://schemas.openxmlformats.org/officeDocument/2006/relationships/slide" Target="slides/slide47.xml"/><Relationship Id="rId52" Type="http://schemas.openxmlformats.org/officeDocument/2006/relationships/slide" Target="slides/slide46.xml"/><Relationship Id="rId11" Type="http://schemas.openxmlformats.org/officeDocument/2006/relationships/slide" Target="slides/slide5.xml"/><Relationship Id="rId55" Type="http://schemas.openxmlformats.org/officeDocument/2006/relationships/slide" Target="slides/slide49.xml"/><Relationship Id="rId10" Type="http://schemas.openxmlformats.org/officeDocument/2006/relationships/slide" Target="slides/slide4.xml"/><Relationship Id="rId54" Type="http://schemas.openxmlformats.org/officeDocument/2006/relationships/slide" Target="slides/slide48.xml"/><Relationship Id="rId13" Type="http://schemas.openxmlformats.org/officeDocument/2006/relationships/slide" Target="slides/slide7.xml"/><Relationship Id="rId57" Type="http://schemas.openxmlformats.org/officeDocument/2006/relationships/slide" Target="slides/slide51.xml"/><Relationship Id="rId12" Type="http://schemas.openxmlformats.org/officeDocument/2006/relationships/slide" Target="slides/slide6.xml"/><Relationship Id="rId56" Type="http://schemas.openxmlformats.org/officeDocument/2006/relationships/slide" Target="slides/slide50.xml"/><Relationship Id="rId15" Type="http://schemas.openxmlformats.org/officeDocument/2006/relationships/slide" Target="slides/slide9.xml"/><Relationship Id="rId59" Type="http://schemas.openxmlformats.org/officeDocument/2006/relationships/slide" Target="slides/slide53.xml"/><Relationship Id="rId14" Type="http://schemas.openxmlformats.org/officeDocument/2006/relationships/slide" Target="slides/slide8.xml"/><Relationship Id="rId58" Type="http://schemas.openxmlformats.org/officeDocument/2006/relationships/slide" Target="slides/slide52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iycn_c1_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iycn_c1_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iycn_c1_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iycn_c1_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iycn_c1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iycn_c1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iycn_c1_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iycn_c1_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iycn_c1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iycn_c1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iycn_c1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iycn_c1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iycn_c1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iycn_c1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iycn_c1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iycn_c1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iycn_c1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iycn_c1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iycn_c1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" name="Google Shape;160;iycn_c1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iycn_c1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iycn_c1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h387b63bacc1ae43c_1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" name="Google Shape;177;h387b63bacc1ae43c_1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h6df30cc7a3c604c5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" name="Google Shape;183;h6df30cc7a3c604c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iycn_next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9" name="Google Shape;189;iycn_next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iycn_next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8" name="Google Shape;198;iycn_next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iycn_next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7" name="Google Shape;207;iycn_next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iycn_next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6" name="Google Shape;216;iycn_next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iycn_next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5" name="Google Shape;225;iycn_next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iycn_next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0" name="Google Shape;240;iycn_next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iycn_next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5" name="Google Shape;255;iycn_next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iycn_next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4" name="Google Shape;264;iycn_next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iycn_next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3" name="Google Shape;273;iycn_next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iycn_next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2" name="Google Shape;282;iycn_next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iycn_next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7" name="Google Shape;297;iycn_next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iycn_next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iycn_next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iycn_next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5" name="Google Shape;315;iycn_next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iycn_next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4" name="Google Shape;324;iycn_next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h6df30cc7a3c604c5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3" name="Google Shape;333;h6df30cc7a3c604c5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h26763c5f6abd183b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9" name="Google Shape;339;h26763c5f6abd183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iycn_next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1" name="Google Shape;371;iycn_next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6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iycn_next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8" name="Google Shape;448;iycn_next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9" name="Shape 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Google Shape;520;iycn_next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1" name="Google Shape;521;iycn_next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7" name="Shape 5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8" name="Google Shape;598;iycn_next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9" name="Google Shape;599;iycn_next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2" name="Shape 6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3" name="Google Shape;613;iycn_next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4" name="Google Shape;614;iycn_next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0" name="Shape 6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1" name="Google Shape;631;iycn_next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2" name="Google Shape;632;iycn_next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1" name="Shape 7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2" name="Google Shape;772;iycn_next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3" name="Google Shape;773;iycn_next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9" name="Shape 7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0" name="Google Shape;800;iycn_next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1" name="Google Shape;801;iycn_next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4" name="Shape 8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5" name="Google Shape;815;iycn_next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6" name="Google Shape;816;iycn_next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6" name="Shape 8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7" name="Google Shape;857;iycn_next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8" name="Google Shape;858;iycn_next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6" name="Shape 8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7" name="Google Shape;877;iycn_next_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8" name="Google Shape;878;iycn_next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1 + x + x^2</a:t>
            </a:r>
            <a:br>
              <a:rPr lang="es"/>
            </a:br>
            <a:br>
              <a:rPr lang="es"/>
            </a:br>
            <a:r>
              <a:rPr lang="es"/>
              <a:t>1 + 3 + 9 = 13</a:t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1" name="Shape 9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" name="Google Shape;952;iycn_next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3" name="Google Shape;953;iycn_next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1" name="Shape 9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" name="Google Shape;972;iycn_next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3" name="Google Shape;973;iycn_next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5" name="Shape 10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6" name="Google Shape;1006;iycn_next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7" name="Google Shape;1007;iycn_next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6" name="Shape 1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7" name="Google Shape;1107;iycn_next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8" name="Google Shape;1108;iycn_next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5" name="Shape 1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" name="Google Shape;1116;iycn_next_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7" name="Google Shape;1117;iycn_next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4" name="Shape 1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5" name="Google Shape;1125;iycn_next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6" name="Google Shape;1126;iycn_next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3" name="Shape 1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4" name="Google Shape;1134;iycn_next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5" name="Google Shape;1135;iycn_next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2" name="Shape 1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3" name="Google Shape;1143;iycn_next_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4" name="Google Shape;1144;iycn_next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1" name="Shape 1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2" name="Google Shape;1152;iycn_next_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3" name="Google Shape;1153;iycn_next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0" name="Shape 1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1" name="Google Shape;1161;iycn_next_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2" name="Google Shape;1162;iycn_next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4" name="Shape 1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5" name="Google Shape;1175;iycn_next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6" name="Google Shape;1176;iycn_next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8" name="Shape 1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9" name="Google Shape;1189;iycn_errores_chapra_202610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0" name="Google Shape;1190;iycn_errores_chapra_202610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 title="Elementos ornamentales-03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502903" y="-423203"/>
            <a:ext cx="5098294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/>
          <p:nvPr>
            <p:ph type="ctrTitle"/>
          </p:nvPr>
        </p:nvSpPr>
        <p:spPr>
          <a:xfrm>
            <a:off x="311701" y="1506575"/>
            <a:ext cx="70668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Font typeface="Montserrat SemiBold"/>
              <a:buNone/>
              <a:defRPr sz="5200"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Font typeface="Montserrat SemiBold"/>
              <a:buNone/>
              <a:defRPr sz="5200">
                <a:latin typeface="Montserrat SemiBold"/>
                <a:ea typeface="Montserrat SemiBold"/>
                <a:cs typeface="Montserrat SemiBold"/>
                <a:sym typeface="Montserrat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Font typeface="Montserrat SemiBold"/>
              <a:buNone/>
              <a:defRPr sz="5200">
                <a:latin typeface="Montserrat SemiBold"/>
                <a:ea typeface="Montserrat SemiBold"/>
                <a:cs typeface="Montserrat SemiBold"/>
                <a:sym typeface="Montserrat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Font typeface="Montserrat SemiBold"/>
              <a:buNone/>
              <a:defRPr sz="5200">
                <a:latin typeface="Montserrat SemiBold"/>
                <a:ea typeface="Montserrat SemiBold"/>
                <a:cs typeface="Montserrat SemiBold"/>
                <a:sym typeface="Montserrat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Font typeface="Montserrat SemiBold"/>
              <a:buNone/>
              <a:defRPr sz="5200">
                <a:latin typeface="Montserrat SemiBold"/>
                <a:ea typeface="Montserrat SemiBold"/>
                <a:cs typeface="Montserrat SemiBold"/>
                <a:sym typeface="Montserrat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Font typeface="Montserrat SemiBold"/>
              <a:buNone/>
              <a:defRPr sz="5200">
                <a:latin typeface="Montserrat SemiBold"/>
                <a:ea typeface="Montserrat SemiBold"/>
                <a:cs typeface="Montserrat SemiBold"/>
                <a:sym typeface="Montserrat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Font typeface="Montserrat SemiBold"/>
              <a:buNone/>
              <a:defRPr sz="5200">
                <a:latin typeface="Montserrat SemiBold"/>
                <a:ea typeface="Montserrat SemiBold"/>
                <a:cs typeface="Montserrat SemiBold"/>
                <a:sym typeface="Montserrat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Font typeface="Montserrat SemiBold"/>
              <a:buNone/>
              <a:defRPr sz="5200">
                <a:latin typeface="Montserrat SemiBold"/>
                <a:ea typeface="Montserrat SemiBold"/>
                <a:cs typeface="Montserrat SemiBold"/>
                <a:sym typeface="Montserrat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Font typeface="Montserrat SemiBold"/>
              <a:buNone/>
              <a:defRPr sz="5200">
                <a:latin typeface="Montserrat SemiBold"/>
                <a:ea typeface="Montserrat SemiBold"/>
                <a:cs typeface="Montserrat SemiBold"/>
                <a:sym typeface="Montserrat SemiBold"/>
              </a:defRPr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311700" y="3596125"/>
            <a:ext cx="70668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 Light"/>
              <a:buNone/>
              <a:defRPr sz="2800"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 Light"/>
              <a:buNone/>
              <a:defRPr sz="2800"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 Light"/>
              <a:buNone/>
              <a:defRPr sz="2800"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 Light"/>
              <a:buNone/>
              <a:defRPr sz="2800"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 Light"/>
              <a:buNone/>
              <a:defRPr sz="2800"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 Light"/>
              <a:buNone/>
              <a:defRPr sz="2800"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 Light"/>
              <a:buNone/>
              <a:defRPr sz="2800"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 Light"/>
              <a:buNone/>
              <a:defRPr sz="2800"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 Light"/>
              <a:buNone/>
              <a:defRPr sz="2800"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pic>
        <p:nvPicPr>
          <p:cNvPr id="14" name="Google Shape;14;p2" title="1_Isologotipo FCEFyN y UNC- original_Sin fond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159" y="-76200"/>
            <a:ext cx="4239831" cy="1167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8648650" y="4582200"/>
            <a:ext cx="934800" cy="9348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8" name="Google Shape;18;p3"/>
          <p:cNvSpPr txBox="1"/>
          <p:nvPr>
            <p:ph idx="12" type="sldNum"/>
          </p:nvPr>
        </p:nvSpPr>
        <p:spPr>
          <a:xfrm>
            <a:off x="8520083" y="4734654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2"/>
                </a:solidFill>
              </a:defRPr>
            </a:lvl1pPr>
            <a:lvl2pPr lvl="1">
              <a:buNone/>
              <a:defRPr>
                <a:solidFill>
                  <a:schemeClr val="lt2"/>
                </a:solidFill>
              </a:defRPr>
            </a:lvl2pPr>
            <a:lvl3pPr lvl="2">
              <a:buNone/>
              <a:defRPr>
                <a:solidFill>
                  <a:schemeClr val="lt2"/>
                </a:solidFill>
              </a:defRPr>
            </a:lvl3pPr>
            <a:lvl4pPr lvl="3">
              <a:buNone/>
              <a:defRPr>
                <a:solidFill>
                  <a:schemeClr val="lt2"/>
                </a:solidFill>
              </a:defRPr>
            </a:lvl4pPr>
            <a:lvl5pPr lvl="4">
              <a:buNone/>
              <a:defRPr>
                <a:solidFill>
                  <a:schemeClr val="lt2"/>
                </a:solidFill>
              </a:defRPr>
            </a:lvl5pPr>
            <a:lvl6pPr lvl="5">
              <a:buNone/>
              <a:defRPr>
                <a:solidFill>
                  <a:schemeClr val="lt2"/>
                </a:solidFill>
              </a:defRPr>
            </a:lvl6pPr>
            <a:lvl7pPr lvl="6">
              <a:buNone/>
              <a:defRPr>
                <a:solidFill>
                  <a:schemeClr val="lt2"/>
                </a:solidFill>
              </a:defRPr>
            </a:lvl7pPr>
            <a:lvl8pPr lvl="7">
              <a:buNone/>
              <a:defRPr>
                <a:solidFill>
                  <a:schemeClr val="lt2"/>
                </a:solidFill>
              </a:defRPr>
            </a:lvl8pPr>
            <a:lvl9pPr lvl="8">
              <a:buNone/>
              <a:defRPr>
                <a:solidFill>
                  <a:schemeClr val="lt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pic>
        <p:nvPicPr>
          <p:cNvPr id="19" name="Google Shape;19;p3" title="1_Isologotipo FCEFyN y UNC- original_Sin fondo.png"/>
          <p:cNvPicPr preferRelativeResize="0"/>
          <p:nvPr/>
        </p:nvPicPr>
        <p:blipFill rotWithShape="1">
          <a:blip r:embed="rId2">
            <a:alphaModFix/>
          </a:blip>
          <a:srcRect b="0" l="36669" r="0" t="0"/>
          <a:stretch/>
        </p:blipFill>
        <p:spPr>
          <a:xfrm>
            <a:off x="7060911" y="4581782"/>
            <a:ext cx="1587748" cy="690411"/>
          </a:xfrm>
          <a:prstGeom prst="rect">
            <a:avLst/>
          </a:prstGeom>
          <a:noFill/>
          <a:ln>
            <a:noFill/>
          </a:ln>
        </p:spPr>
      </p:pic>
      <p:pic>
        <p:nvPicPr>
          <p:cNvPr id="20" name="Google Shape;20;p3" title="Elementos ornamentales-05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-1431561"/>
            <a:ext cx="9144003" cy="1991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/>
          <p:nvPr/>
        </p:nvSpPr>
        <p:spPr>
          <a:xfrm>
            <a:off x="8648650" y="4582200"/>
            <a:ext cx="934800" cy="9348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" name="Google Shape;23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2" type="sldNum"/>
          </p:nvPr>
        </p:nvSpPr>
        <p:spPr>
          <a:xfrm>
            <a:off x="8520083" y="4734654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2"/>
                </a:solidFill>
              </a:defRPr>
            </a:lvl1pPr>
            <a:lvl2pPr lvl="1">
              <a:buNone/>
              <a:defRPr>
                <a:solidFill>
                  <a:schemeClr val="lt2"/>
                </a:solidFill>
              </a:defRPr>
            </a:lvl2pPr>
            <a:lvl3pPr lvl="2">
              <a:buNone/>
              <a:defRPr>
                <a:solidFill>
                  <a:schemeClr val="lt2"/>
                </a:solidFill>
              </a:defRPr>
            </a:lvl3pPr>
            <a:lvl4pPr lvl="3">
              <a:buNone/>
              <a:defRPr>
                <a:solidFill>
                  <a:schemeClr val="lt2"/>
                </a:solidFill>
              </a:defRPr>
            </a:lvl4pPr>
            <a:lvl5pPr lvl="4">
              <a:buNone/>
              <a:defRPr>
                <a:solidFill>
                  <a:schemeClr val="lt2"/>
                </a:solidFill>
              </a:defRPr>
            </a:lvl5pPr>
            <a:lvl6pPr lvl="5">
              <a:buNone/>
              <a:defRPr>
                <a:solidFill>
                  <a:schemeClr val="lt2"/>
                </a:solidFill>
              </a:defRPr>
            </a:lvl6pPr>
            <a:lvl7pPr lvl="6">
              <a:buNone/>
              <a:defRPr>
                <a:solidFill>
                  <a:schemeClr val="lt2"/>
                </a:solidFill>
              </a:defRPr>
            </a:lvl7pPr>
            <a:lvl8pPr lvl="7">
              <a:buNone/>
              <a:defRPr>
                <a:solidFill>
                  <a:schemeClr val="lt2"/>
                </a:solidFill>
              </a:defRPr>
            </a:lvl8pPr>
            <a:lvl9pPr lvl="8">
              <a:buNone/>
              <a:defRPr>
                <a:solidFill>
                  <a:schemeClr val="lt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pic>
        <p:nvPicPr>
          <p:cNvPr id="26" name="Google Shape;26;p4" title="1_Isologotipo FCEFyN y UNC- original_Sin fondo.png"/>
          <p:cNvPicPr preferRelativeResize="0"/>
          <p:nvPr/>
        </p:nvPicPr>
        <p:blipFill rotWithShape="1">
          <a:blip r:embed="rId2">
            <a:alphaModFix/>
          </a:blip>
          <a:srcRect b="0" l="36669" r="0" t="0"/>
          <a:stretch/>
        </p:blipFill>
        <p:spPr>
          <a:xfrm>
            <a:off x="7060911" y="4581782"/>
            <a:ext cx="1587748" cy="69041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/>
          <p:nvPr/>
        </p:nvSpPr>
        <p:spPr>
          <a:xfrm>
            <a:off x="8648650" y="4582200"/>
            <a:ext cx="934800" cy="9348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" name="Google Shape;29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0" name="Google Shape;30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8520083" y="4734654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2"/>
                </a:solidFill>
              </a:defRPr>
            </a:lvl1pPr>
            <a:lvl2pPr lvl="1">
              <a:buNone/>
              <a:defRPr>
                <a:solidFill>
                  <a:schemeClr val="lt2"/>
                </a:solidFill>
              </a:defRPr>
            </a:lvl2pPr>
            <a:lvl3pPr lvl="2">
              <a:buNone/>
              <a:defRPr>
                <a:solidFill>
                  <a:schemeClr val="lt2"/>
                </a:solidFill>
              </a:defRPr>
            </a:lvl3pPr>
            <a:lvl4pPr lvl="3">
              <a:buNone/>
              <a:defRPr>
                <a:solidFill>
                  <a:schemeClr val="lt2"/>
                </a:solidFill>
              </a:defRPr>
            </a:lvl4pPr>
            <a:lvl5pPr lvl="4">
              <a:buNone/>
              <a:defRPr>
                <a:solidFill>
                  <a:schemeClr val="lt2"/>
                </a:solidFill>
              </a:defRPr>
            </a:lvl5pPr>
            <a:lvl6pPr lvl="5">
              <a:buNone/>
              <a:defRPr>
                <a:solidFill>
                  <a:schemeClr val="lt2"/>
                </a:solidFill>
              </a:defRPr>
            </a:lvl6pPr>
            <a:lvl7pPr lvl="6">
              <a:buNone/>
              <a:defRPr>
                <a:solidFill>
                  <a:schemeClr val="lt2"/>
                </a:solidFill>
              </a:defRPr>
            </a:lvl7pPr>
            <a:lvl8pPr lvl="7">
              <a:buNone/>
              <a:defRPr>
                <a:solidFill>
                  <a:schemeClr val="lt2"/>
                </a:solidFill>
              </a:defRPr>
            </a:lvl8pPr>
            <a:lvl9pPr lvl="8">
              <a:buNone/>
              <a:defRPr>
                <a:solidFill>
                  <a:schemeClr val="lt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pic>
        <p:nvPicPr>
          <p:cNvPr id="33" name="Google Shape;33;p5" title="1_Isologotipo FCEFyN y UNC- original_Sin fondo.png"/>
          <p:cNvPicPr preferRelativeResize="0"/>
          <p:nvPr/>
        </p:nvPicPr>
        <p:blipFill rotWithShape="1">
          <a:blip r:embed="rId2">
            <a:alphaModFix/>
          </a:blip>
          <a:srcRect b="0" l="36669" r="0" t="0"/>
          <a:stretch/>
        </p:blipFill>
        <p:spPr>
          <a:xfrm>
            <a:off x="7060911" y="4581782"/>
            <a:ext cx="1587748" cy="69041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6"/>
          <p:cNvSpPr/>
          <p:nvPr/>
        </p:nvSpPr>
        <p:spPr>
          <a:xfrm>
            <a:off x="8648650" y="4582200"/>
            <a:ext cx="934800" cy="9348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" name="Google Shape;37;p6"/>
          <p:cNvSpPr txBox="1"/>
          <p:nvPr>
            <p:ph idx="12" type="sldNum"/>
          </p:nvPr>
        </p:nvSpPr>
        <p:spPr>
          <a:xfrm>
            <a:off x="8520083" y="4734654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2"/>
                </a:solidFill>
              </a:defRPr>
            </a:lvl1pPr>
            <a:lvl2pPr lvl="1">
              <a:buNone/>
              <a:defRPr>
                <a:solidFill>
                  <a:schemeClr val="lt2"/>
                </a:solidFill>
              </a:defRPr>
            </a:lvl2pPr>
            <a:lvl3pPr lvl="2">
              <a:buNone/>
              <a:defRPr>
                <a:solidFill>
                  <a:schemeClr val="lt2"/>
                </a:solidFill>
              </a:defRPr>
            </a:lvl3pPr>
            <a:lvl4pPr lvl="3">
              <a:buNone/>
              <a:defRPr>
                <a:solidFill>
                  <a:schemeClr val="lt2"/>
                </a:solidFill>
              </a:defRPr>
            </a:lvl4pPr>
            <a:lvl5pPr lvl="4">
              <a:buNone/>
              <a:defRPr>
                <a:solidFill>
                  <a:schemeClr val="lt2"/>
                </a:solidFill>
              </a:defRPr>
            </a:lvl5pPr>
            <a:lvl6pPr lvl="5">
              <a:buNone/>
              <a:defRPr>
                <a:solidFill>
                  <a:schemeClr val="lt2"/>
                </a:solidFill>
              </a:defRPr>
            </a:lvl6pPr>
            <a:lvl7pPr lvl="6">
              <a:buNone/>
              <a:defRPr>
                <a:solidFill>
                  <a:schemeClr val="lt2"/>
                </a:solidFill>
              </a:defRPr>
            </a:lvl7pPr>
            <a:lvl8pPr lvl="7">
              <a:buNone/>
              <a:defRPr>
                <a:solidFill>
                  <a:schemeClr val="lt2"/>
                </a:solidFill>
              </a:defRPr>
            </a:lvl8pPr>
            <a:lvl9pPr lvl="8">
              <a:buNone/>
              <a:defRPr>
                <a:solidFill>
                  <a:schemeClr val="lt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pic>
        <p:nvPicPr>
          <p:cNvPr id="38" name="Google Shape;38;p6" title="1_Isologotipo FCEFyN y UNC- original_Sin fondo.png"/>
          <p:cNvPicPr preferRelativeResize="0"/>
          <p:nvPr/>
        </p:nvPicPr>
        <p:blipFill rotWithShape="1">
          <a:blip r:embed="rId2">
            <a:alphaModFix/>
          </a:blip>
          <a:srcRect b="0" l="36669" r="0" t="0"/>
          <a:stretch/>
        </p:blipFill>
        <p:spPr>
          <a:xfrm>
            <a:off x="7060911" y="4581782"/>
            <a:ext cx="1587748" cy="69041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7"/>
          <p:cNvSpPr/>
          <p:nvPr/>
        </p:nvSpPr>
        <p:spPr>
          <a:xfrm>
            <a:off x="8648650" y="4582200"/>
            <a:ext cx="934800" cy="9348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3" name="Google Shape;43;p7"/>
          <p:cNvSpPr txBox="1"/>
          <p:nvPr>
            <p:ph idx="12" type="sldNum"/>
          </p:nvPr>
        </p:nvSpPr>
        <p:spPr>
          <a:xfrm>
            <a:off x="8520083" y="4734654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2"/>
                </a:solidFill>
              </a:defRPr>
            </a:lvl1pPr>
            <a:lvl2pPr lvl="1">
              <a:buNone/>
              <a:defRPr>
                <a:solidFill>
                  <a:schemeClr val="lt2"/>
                </a:solidFill>
              </a:defRPr>
            </a:lvl2pPr>
            <a:lvl3pPr lvl="2">
              <a:buNone/>
              <a:defRPr>
                <a:solidFill>
                  <a:schemeClr val="lt2"/>
                </a:solidFill>
              </a:defRPr>
            </a:lvl3pPr>
            <a:lvl4pPr lvl="3">
              <a:buNone/>
              <a:defRPr>
                <a:solidFill>
                  <a:schemeClr val="lt2"/>
                </a:solidFill>
              </a:defRPr>
            </a:lvl4pPr>
            <a:lvl5pPr lvl="4">
              <a:buNone/>
              <a:defRPr>
                <a:solidFill>
                  <a:schemeClr val="lt2"/>
                </a:solidFill>
              </a:defRPr>
            </a:lvl5pPr>
            <a:lvl6pPr lvl="5">
              <a:buNone/>
              <a:defRPr>
                <a:solidFill>
                  <a:schemeClr val="lt2"/>
                </a:solidFill>
              </a:defRPr>
            </a:lvl6pPr>
            <a:lvl7pPr lvl="6">
              <a:buNone/>
              <a:defRPr>
                <a:solidFill>
                  <a:schemeClr val="lt2"/>
                </a:solidFill>
              </a:defRPr>
            </a:lvl7pPr>
            <a:lvl8pPr lvl="7">
              <a:buNone/>
              <a:defRPr>
                <a:solidFill>
                  <a:schemeClr val="lt2"/>
                </a:solidFill>
              </a:defRPr>
            </a:lvl8pPr>
            <a:lvl9pPr lvl="8">
              <a:buNone/>
              <a:defRPr>
                <a:solidFill>
                  <a:schemeClr val="lt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pic>
        <p:nvPicPr>
          <p:cNvPr id="44" name="Google Shape;44;p7" title="1_Isologotipo FCEFyN y UNC- original_Sin fondo.png"/>
          <p:cNvPicPr preferRelativeResize="0"/>
          <p:nvPr/>
        </p:nvPicPr>
        <p:blipFill rotWithShape="1">
          <a:blip r:embed="rId2">
            <a:alphaModFix/>
          </a:blip>
          <a:srcRect b="0" l="36669" r="0" t="0"/>
          <a:stretch/>
        </p:blipFill>
        <p:spPr>
          <a:xfrm>
            <a:off x="7060911" y="4581782"/>
            <a:ext cx="1587748" cy="69041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8"/>
          <p:cNvSpPr/>
          <p:nvPr/>
        </p:nvSpPr>
        <p:spPr>
          <a:xfrm>
            <a:off x="8648650" y="4582200"/>
            <a:ext cx="934800" cy="9348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48" name="Google Shape;48;p8"/>
          <p:cNvSpPr txBox="1"/>
          <p:nvPr>
            <p:ph idx="12" type="sldNum"/>
          </p:nvPr>
        </p:nvSpPr>
        <p:spPr>
          <a:xfrm>
            <a:off x="8520083" y="4734654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2"/>
                </a:solidFill>
              </a:defRPr>
            </a:lvl1pPr>
            <a:lvl2pPr lvl="1">
              <a:buNone/>
              <a:defRPr>
                <a:solidFill>
                  <a:schemeClr val="lt2"/>
                </a:solidFill>
              </a:defRPr>
            </a:lvl2pPr>
            <a:lvl3pPr lvl="2">
              <a:buNone/>
              <a:defRPr>
                <a:solidFill>
                  <a:schemeClr val="lt2"/>
                </a:solidFill>
              </a:defRPr>
            </a:lvl3pPr>
            <a:lvl4pPr lvl="3">
              <a:buNone/>
              <a:defRPr>
                <a:solidFill>
                  <a:schemeClr val="lt2"/>
                </a:solidFill>
              </a:defRPr>
            </a:lvl4pPr>
            <a:lvl5pPr lvl="4">
              <a:buNone/>
              <a:defRPr>
                <a:solidFill>
                  <a:schemeClr val="lt2"/>
                </a:solidFill>
              </a:defRPr>
            </a:lvl5pPr>
            <a:lvl6pPr lvl="5">
              <a:buNone/>
              <a:defRPr>
                <a:solidFill>
                  <a:schemeClr val="lt2"/>
                </a:solidFill>
              </a:defRPr>
            </a:lvl6pPr>
            <a:lvl7pPr lvl="6">
              <a:buNone/>
              <a:defRPr>
                <a:solidFill>
                  <a:schemeClr val="lt2"/>
                </a:solidFill>
              </a:defRPr>
            </a:lvl7pPr>
            <a:lvl8pPr lvl="7">
              <a:buNone/>
              <a:defRPr>
                <a:solidFill>
                  <a:schemeClr val="lt2"/>
                </a:solidFill>
              </a:defRPr>
            </a:lvl8pPr>
            <a:lvl9pPr lvl="8">
              <a:buNone/>
              <a:defRPr>
                <a:solidFill>
                  <a:schemeClr val="lt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pic>
        <p:nvPicPr>
          <p:cNvPr id="49" name="Google Shape;49;p8" title="1_Isologotipo FCEFyN y UNC- original_Sin fondo.png"/>
          <p:cNvPicPr preferRelativeResize="0"/>
          <p:nvPr/>
        </p:nvPicPr>
        <p:blipFill rotWithShape="1">
          <a:blip r:embed="rId2">
            <a:alphaModFix/>
          </a:blip>
          <a:srcRect b="0" l="36669" r="0" t="0"/>
          <a:stretch/>
        </p:blipFill>
        <p:spPr>
          <a:xfrm>
            <a:off x="7060911" y="4581782"/>
            <a:ext cx="1587748" cy="69041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9"/>
          <p:cNvSpPr/>
          <p:nvPr/>
        </p:nvSpPr>
        <p:spPr>
          <a:xfrm>
            <a:off x="8648650" y="4582200"/>
            <a:ext cx="934800" cy="9348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54" name="Google Shape;54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5" name="Google Shape;55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2" type="sldNum"/>
          </p:nvPr>
        </p:nvSpPr>
        <p:spPr>
          <a:xfrm>
            <a:off x="8520083" y="4734654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2"/>
                </a:solidFill>
              </a:defRPr>
            </a:lvl1pPr>
            <a:lvl2pPr lvl="1">
              <a:buNone/>
              <a:defRPr>
                <a:solidFill>
                  <a:schemeClr val="lt2"/>
                </a:solidFill>
              </a:defRPr>
            </a:lvl2pPr>
            <a:lvl3pPr lvl="2">
              <a:buNone/>
              <a:defRPr>
                <a:solidFill>
                  <a:schemeClr val="lt2"/>
                </a:solidFill>
              </a:defRPr>
            </a:lvl3pPr>
            <a:lvl4pPr lvl="3">
              <a:buNone/>
              <a:defRPr>
                <a:solidFill>
                  <a:schemeClr val="lt2"/>
                </a:solidFill>
              </a:defRPr>
            </a:lvl4pPr>
            <a:lvl5pPr lvl="4">
              <a:buNone/>
              <a:defRPr>
                <a:solidFill>
                  <a:schemeClr val="lt2"/>
                </a:solidFill>
              </a:defRPr>
            </a:lvl5pPr>
            <a:lvl6pPr lvl="5">
              <a:buNone/>
              <a:defRPr>
                <a:solidFill>
                  <a:schemeClr val="lt2"/>
                </a:solidFill>
              </a:defRPr>
            </a:lvl6pPr>
            <a:lvl7pPr lvl="6">
              <a:buNone/>
              <a:defRPr>
                <a:solidFill>
                  <a:schemeClr val="lt2"/>
                </a:solidFill>
              </a:defRPr>
            </a:lvl7pPr>
            <a:lvl8pPr lvl="7">
              <a:buNone/>
              <a:defRPr>
                <a:solidFill>
                  <a:schemeClr val="lt2"/>
                </a:solidFill>
              </a:defRPr>
            </a:lvl8pPr>
            <a:lvl9pPr lvl="8">
              <a:buNone/>
              <a:defRPr>
                <a:solidFill>
                  <a:schemeClr val="lt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pic>
        <p:nvPicPr>
          <p:cNvPr id="57" name="Google Shape;57;p9" title="1_Isologotipo FCEFyN y UNC- original_Sin fondo.png"/>
          <p:cNvPicPr preferRelativeResize="0"/>
          <p:nvPr/>
        </p:nvPicPr>
        <p:blipFill rotWithShape="1">
          <a:blip r:embed="rId2">
            <a:alphaModFix/>
          </a:blip>
          <a:srcRect b="0" l="36669" r="0" t="0"/>
          <a:stretch/>
        </p:blipFill>
        <p:spPr>
          <a:xfrm>
            <a:off x="7060911" y="4581782"/>
            <a:ext cx="1587748" cy="69041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0"/>
          <p:cNvSpPr/>
          <p:nvPr/>
        </p:nvSpPr>
        <p:spPr>
          <a:xfrm>
            <a:off x="8648650" y="4582200"/>
            <a:ext cx="934800" cy="9348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61" name="Google Shape;61;p10"/>
          <p:cNvSpPr txBox="1"/>
          <p:nvPr>
            <p:ph idx="12" type="sldNum"/>
          </p:nvPr>
        </p:nvSpPr>
        <p:spPr>
          <a:xfrm>
            <a:off x="8520083" y="4734654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2"/>
                </a:solidFill>
              </a:defRPr>
            </a:lvl1pPr>
            <a:lvl2pPr lvl="1">
              <a:buNone/>
              <a:defRPr>
                <a:solidFill>
                  <a:schemeClr val="lt2"/>
                </a:solidFill>
              </a:defRPr>
            </a:lvl2pPr>
            <a:lvl3pPr lvl="2">
              <a:buNone/>
              <a:defRPr>
                <a:solidFill>
                  <a:schemeClr val="lt2"/>
                </a:solidFill>
              </a:defRPr>
            </a:lvl3pPr>
            <a:lvl4pPr lvl="3">
              <a:buNone/>
              <a:defRPr>
                <a:solidFill>
                  <a:schemeClr val="lt2"/>
                </a:solidFill>
              </a:defRPr>
            </a:lvl4pPr>
            <a:lvl5pPr lvl="4">
              <a:buNone/>
              <a:defRPr>
                <a:solidFill>
                  <a:schemeClr val="lt2"/>
                </a:solidFill>
              </a:defRPr>
            </a:lvl5pPr>
            <a:lvl6pPr lvl="5">
              <a:buNone/>
              <a:defRPr>
                <a:solidFill>
                  <a:schemeClr val="lt2"/>
                </a:solidFill>
              </a:defRPr>
            </a:lvl6pPr>
            <a:lvl7pPr lvl="6">
              <a:buNone/>
              <a:defRPr>
                <a:solidFill>
                  <a:schemeClr val="lt2"/>
                </a:solidFill>
              </a:defRPr>
            </a:lvl7pPr>
            <a:lvl8pPr lvl="7">
              <a:buNone/>
              <a:defRPr>
                <a:solidFill>
                  <a:schemeClr val="lt2"/>
                </a:solidFill>
              </a:defRPr>
            </a:lvl8pPr>
            <a:lvl9pPr lvl="8">
              <a:buNone/>
              <a:defRPr>
                <a:solidFill>
                  <a:schemeClr val="lt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pic>
        <p:nvPicPr>
          <p:cNvPr id="62" name="Google Shape;62;p10" title="1_Isologotipo FCEFyN y UNC- original_Sin fondo.png"/>
          <p:cNvPicPr preferRelativeResize="0"/>
          <p:nvPr/>
        </p:nvPicPr>
        <p:blipFill rotWithShape="1">
          <a:blip r:embed="rId2">
            <a:alphaModFix/>
          </a:blip>
          <a:srcRect b="0" l="36669" r="0" t="0"/>
          <a:stretch/>
        </p:blipFill>
        <p:spPr>
          <a:xfrm>
            <a:off x="7060911" y="4581782"/>
            <a:ext cx="1587748" cy="69041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1"/>
          <p:cNvSpPr/>
          <p:nvPr/>
        </p:nvSpPr>
        <p:spPr>
          <a:xfrm>
            <a:off x="8648650" y="4582200"/>
            <a:ext cx="934800" cy="9348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66" name="Google Shape;6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7" name="Google Shape;67;p11"/>
          <p:cNvSpPr txBox="1"/>
          <p:nvPr>
            <p:ph idx="12" type="sldNum"/>
          </p:nvPr>
        </p:nvSpPr>
        <p:spPr>
          <a:xfrm>
            <a:off x="8520083" y="4734654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2"/>
                </a:solidFill>
              </a:defRPr>
            </a:lvl1pPr>
            <a:lvl2pPr lvl="1">
              <a:buNone/>
              <a:defRPr>
                <a:solidFill>
                  <a:schemeClr val="lt2"/>
                </a:solidFill>
              </a:defRPr>
            </a:lvl2pPr>
            <a:lvl3pPr lvl="2">
              <a:buNone/>
              <a:defRPr>
                <a:solidFill>
                  <a:schemeClr val="lt2"/>
                </a:solidFill>
              </a:defRPr>
            </a:lvl3pPr>
            <a:lvl4pPr lvl="3">
              <a:buNone/>
              <a:defRPr>
                <a:solidFill>
                  <a:schemeClr val="lt2"/>
                </a:solidFill>
              </a:defRPr>
            </a:lvl4pPr>
            <a:lvl5pPr lvl="4">
              <a:buNone/>
              <a:defRPr>
                <a:solidFill>
                  <a:schemeClr val="lt2"/>
                </a:solidFill>
              </a:defRPr>
            </a:lvl5pPr>
            <a:lvl6pPr lvl="5">
              <a:buNone/>
              <a:defRPr>
                <a:solidFill>
                  <a:schemeClr val="lt2"/>
                </a:solidFill>
              </a:defRPr>
            </a:lvl6pPr>
            <a:lvl7pPr lvl="6">
              <a:buNone/>
              <a:defRPr>
                <a:solidFill>
                  <a:schemeClr val="lt2"/>
                </a:solidFill>
              </a:defRPr>
            </a:lvl7pPr>
            <a:lvl8pPr lvl="7">
              <a:buNone/>
              <a:defRPr>
                <a:solidFill>
                  <a:schemeClr val="lt2"/>
                </a:solidFill>
              </a:defRPr>
            </a:lvl8pPr>
            <a:lvl9pPr lvl="8">
              <a:buNone/>
              <a:defRPr>
                <a:solidFill>
                  <a:schemeClr val="lt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pic>
        <p:nvPicPr>
          <p:cNvPr id="68" name="Google Shape;68;p11" title="1_Isologotipo FCEFyN y UNC- original_Sin fondo.png"/>
          <p:cNvPicPr preferRelativeResize="0"/>
          <p:nvPr/>
        </p:nvPicPr>
        <p:blipFill rotWithShape="1">
          <a:blip r:embed="rId2">
            <a:alphaModFix/>
          </a:blip>
          <a:srcRect b="0" l="36669" r="0" t="0"/>
          <a:stretch/>
        </p:blipFill>
        <p:spPr>
          <a:xfrm>
            <a:off x="7060911" y="4581782"/>
            <a:ext cx="1587748" cy="69041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2"/>
          <p:cNvSpPr/>
          <p:nvPr/>
        </p:nvSpPr>
        <p:spPr>
          <a:xfrm>
            <a:off x="8648650" y="4582200"/>
            <a:ext cx="934800" cy="9348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12"/>
          <p:cNvSpPr txBox="1"/>
          <p:nvPr>
            <p:ph idx="12" type="sldNum"/>
          </p:nvPr>
        </p:nvSpPr>
        <p:spPr>
          <a:xfrm>
            <a:off x="8520083" y="4734654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2"/>
                </a:solidFill>
              </a:defRPr>
            </a:lvl1pPr>
            <a:lvl2pPr lvl="1">
              <a:buNone/>
              <a:defRPr>
                <a:solidFill>
                  <a:schemeClr val="lt2"/>
                </a:solidFill>
              </a:defRPr>
            </a:lvl2pPr>
            <a:lvl3pPr lvl="2">
              <a:buNone/>
              <a:defRPr>
                <a:solidFill>
                  <a:schemeClr val="lt2"/>
                </a:solidFill>
              </a:defRPr>
            </a:lvl3pPr>
            <a:lvl4pPr lvl="3">
              <a:buNone/>
              <a:defRPr>
                <a:solidFill>
                  <a:schemeClr val="lt2"/>
                </a:solidFill>
              </a:defRPr>
            </a:lvl4pPr>
            <a:lvl5pPr lvl="4">
              <a:buNone/>
              <a:defRPr>
                <a:solidFill>
                  <a:schemeClr val="lt2"/>
                </a:solidFill>
              </a:defRPr>
            </a:lvl5pPr>
            <a:lvl6pPr lvl="5">
              <a:buNone/>
              <a:defRPr>
                <a:solidFill>
                  <a:schemeClr val="lt2"/>
                </a:solidFill>
              </a:defRPr>
            </a:lvl6pPr>
            <a:lvl7pPr lvl="6">
              <a:buNone/>
              <a:defRPr>
                <a:solidFill>
                  <a:schemeClr val="lt2"/>
                </a:solidFill>
              </a:defRPr>
            </a:lvl7pPr>
            <a:lvl8pPr lvl="7">
              <a:buNone/>
              <a:defRPr>
                <a:solidFill>
                  <a:schemeClr val="lt2"/>
                </a:solidFill>
              </a:defRPr>
            </a:lvl8pPr>
            <a:lvl9pPr lvl="8">
              <a:buNone/>
              <a:defRPr>
                <a:solidFill>
                  <a:schemeClr val="lt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pic>
        <p:nvPicPr>
          <p:cNvPr id="72" name="Google Shape;72;p12" title="1_Isologotipo FCEFyN y UNC- original_Sin fondo.png"/>
          <p:cNvPicPr preferRelativeResize="0"/>
          <p:nvPr/>
        </p:nvPicPr>
        <p:blipFill rotWithShape="1">
          <a:blip r:embed="rId2">
            <a:alphaModFix/>
          </a:blip>
          <a:srcRect b="0" l="36669" r="0" t="0"/>
          <a:stretch/>
        </p:blipFill>
        <p:spPr>
          <a:xfrm>
            <a:off x="7060911" y="4581782"/>
            <a:ext cx="1587748" cy="69041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3"/>
          <p:cNvSpPr txBox="1"/>
          <p:nvPr>
            <p:ph type="title"/>
          </p:nvPr>
        </p:nvSpPr>
        <p:spPr>
          <a:xfrm>
            <a:off x="1752791" y="377766"/>
            <a:ext cx="5628000" cy="47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2800"/>
              <a:buNone/>
              <a:defRPr b="0" i="0" sz="3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5" name="Google Shape;75;p13"/>
          <p:cNvSpPr txBox="1"/>
          <p:nvPr>
            <p:ph idx="1" type="body"/>
          </p:nvPr>
        </p:nvSpPr>
        <p:spPr>
          <a:xfrm>
            <a:off x="837239" y="1051052"/>
            <a:ext cx="7835100" cy="220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800"/>
              <a:buNone/>
              <a:defRPr b="0" i="0" sz="2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1200"/>
              </a:spcBef>
              <a:spcAft>
                <a:spcPts val="120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3"/>
          <p:cNvSpPr txBox="1"/>
          <p:nvPr>
            <p:ph idx="11" type="ftr"/>
          </p:nvPr>
        </p:nvSpPr>
        <p:spPr>
          <a:xfrm>
            <a:off x="3108960" y="4783455"/>
            <a:ext cx="29262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77" name="Google Shape;77;p13"/>
          <p:cNvSpPr txBox="1"/>
          <p:nvPr>
            <p:ph idx="10" type="dt"/>
          </p:nvPr>
        </p:nvSpPr>
        <p:spPr>
          <a:xfrm>
            <a:off x="457200" y="4783455"/>
            <a:ext cx="21030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78" name="Google Shape;78;p13"/>
          <p:cNvSpPr txBox="1"/>
          <p:nvPr>
            <p:ph idx="12" type="sldNum"/>
          </p:nvPr>
        </p:nvSpPr>
        <p:spPr>
          <a:xfrm>
            <a:off x="6583680" y="4783455"/>
            <a:ext cx="21030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>
              <a:solidFill>
                <a:schemeClr val="dk2"/>
              </a:solidFill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rgbClr val="EFE4D8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 Medium"/>
              <a:buNone/>
              <a:defRPr sz="28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 Medium"/>
              <a:buNone/>
              <a:defRPr sz="28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 Medium"/>
              <a:buNone/>
              <a:defRPr sz="28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 Medium"/>
              <a:buNone/>
              <a:defRPr sz="28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 Medium"/>
              <a:buNone/>
              <a:defRPr sz="28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 Medium"/>
              <a:buNone/>
              <a:defRPr sz="28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 Medium"/>
              <a:buNone/>
              <a:defRPr sz="28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 Medium"/>
              <a:buNone/>
              <a:defRPr sz="28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 Medium"/>
              <a:buNone/>
              <a:defRPr sz="28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ontserrat"/>
              <a:buChar char="●"/>
              <a:defRPr sz="18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○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■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●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○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■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●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○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■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7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8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8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8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7.png"/><Relationship Id="rId4" Type="http://schemas.openxmlformats.org/officeDocument/2006/relationships/hyperlink" Target="https://onlinegdb.com/SeXNYsJoJG" TargetMode="Externa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9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0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7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3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6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4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5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3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9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21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20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26.png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22.png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30.png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25.png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29.png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24.png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4"/>
          <p:cNvSpPr txBox="1"/>
          <p:nvPr>
            <p:ph type="ctrTitle"/>
          </p:nvPr>
        </p:nvSpPr>
        <p:spPr>
          <a:xfrm>
            <a:off x="311701" y="1506575"/>
            <a:ext cx="70668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Inform</a:t>
            </a:r>
            <a:r>
              <a:rPr lang="es"/>
              <a:t>ática y Cálculo Numérico</a:t>
            </a:r>
            <a:endParaRPr/>
          </a:p>
        </p:txBody>
      </p:sp>
      <p:sp>
        <p:nvSpPr>
          <p:cNvPr id="84" name="Google Shape;84;p14"/>
          <p:cNvSpPr txBox="1"/>
          <p:nvPr>
            <p:ph idx="1" type="subTitle"/>
          </p:nvPr>
        </p:nvSpPr>
        <p:spPr>
          <a:xfrm>
            <a:off x="311700" y="3596125"/>
            <a:ext cx="70668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Comisi</a:t>
            </a:r>
            <a:r>
              <a:rPr lang="es"/>
              <a:t>ón 5 - 2026 - Segundo Semestre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El significado de Ax = b</a:t>
            </a:r>
            <a:endParaRPr/>
          </a:p>
        </p:txBody>
      </p:sp>
      <p:sp>
        <p:nvSpPr>
          <p:cNvPr id="90" name="Google Shape;90;p15"/>
          <p:cNvSpPr txBox="1"/>
          <p:nvPr>
            <p:ph idx="1" type="body"/>
          </p:nvPr>
        </p:nvSpPr>
        <p:spPr>
          <a:xfrm>
            <a:off x="311700" y="1152475"/>
            <a:ext cx="4704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marR="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s" sz="1800"/>
              <a:t>A</a:t>
            </a:r>
            <a:r>
              <a:rPr lang="es" sz="1800"/>
              <a:t>: matriz de coeficientes, de tamaño n × n.</a:t>
            </a:r>
            <a:endParaRPr sz="1800"/>
          </a:p>
          <a:p>
            <a:pPr indent="-342900" lvl="0" marL="457200" marR="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s" sz="1800"/>
              <a:t>x</a:t>
            </a:r>
            <a:r>
              <a:rPr lang="es" sz="1800"/>
              <a:t>: vector columna de incógnitas, de longitud n.</a:t>
            </a:r>
            <a:endParaRPr sz="1800"/>
          </a:p>
          <a:p>
            <a:pPr indent="-342900" lvl="0" marL="457200" marR="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s" sz="1800"/>
              <a:t>b</a:t>
            </a:r>
            <a:r>
              <a:rPr lang="es" sz="1800"/>
              <a:t>: vector columna de términos independientes.</a:t>
            </a:r>
            <a:endParaRPr sz="1800"/>
          </a:p>
          <a:p>
            <a:pPr indent="-342900" lvl="0" marL="457200" marR="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 sz="1800"/>
              <a:t>En a</a:t>
            </a:r>
            <a:r>
              <a:rPr baseline="-25000" lang="es" sz="1800"/>
              <a:t>ij</a:t>
            </a:r>
            <a:r>
              <a:rPr lang="es" sz="1800"/>
              <a:t>, i identifica la ecuación y j la incógnita.</a:t>
            </a:r>
            <a:endParaRPr sz="1800"/>
          </a:p>
        </p:txBody>
      </p:sp>
      <p:sp>
        <p:nvSpPr>
          <p:cNvPr id="91" name="Google Shape;91;p15"/>
          <p:cNvSpPr txBox="1"/>
          <p:nvPr>
            <p:ph idx="12" type="sldNum"/>
          </p:nvPr>
        </p:nvSpPr>
        <p:spPr>
          <a:xfrm>
            <a:off x="8520083" y="4734654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pic>
        <p:nvPicPr>
          <p:cNvPr id="92" name="Google Shape;92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32350" y="1333500"/>
            <a:ext cx="4000500" cy="2857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Cuántas soluciones puede haber</a:t>
            </a:r>
            <a:endParaRPr/>
          </a:p>
        </p:txBody>
      </p:sp>
      <p:sp>
        <p:nvSpPr>
          <p:cNvPr id="98" name="Google Shape;98;p16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Una intersección: solución única.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s"/>
              <a:t>Rectas paralelas distintas: ninguna solución.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s"/>
              <a:t>Rectas coincidentes: infinitas soluciones.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800"/>
              </a:spcAft>
              <a:buNone/>
            </a:pPr>
            <a:r>
              <a:rPr lang="es"/>
              <a:t>Tener igual cantidad de ecuaciones e incógnitas no garantiza una solución única.</a:t>
            </a:r>
            <a:endParaRPr/>
          </a:p>
        </p:txBody>
      </p:sp>
      <p:sp>
        <p:nvSpPr>
          <p:cNvPr id="99" name="Google Shape;99;p16"/>
          <p:cNvSpPr txBox="1"/>
          <p:nvPr>
            <p:ph idx="12" type="sldNum"/>
          </p:nvPr>
        </p:nvSpPr>
        <p:spPr>
          <a:xfrm>
            <a:off x="8520083" y="4734654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pic>
        <p:nvPicPr>
          <p:cNvPr id="100" name="Google Shape;100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00875" y="1267775"/>
            <a:ext cx="5228651" cy="30852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Las dos fases de Gauss</a:t>
            </a:r>
            <a:endParaRPr/>
          </a:p>
        </p:txBody>
      </p:sp>
      <p:sp>
        <p:nvSpPr>
          <p:cNvPr id="106" name="Google Shape;106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Eliminación hacia adelante: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s"/>
              <a:t>Crear ceros debajo de la diagonal.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s"/>
              <a:t>Obtener un sistema triangular.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s"/>
              <a:t>Sustitución hacia atrás: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s"/>
              <a:t>Resolver desde la última ecuación.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800"/>
              </a:spcAft>
              <a:buNone/>
            </a:pPr>
            <a:r>
              <a:rPr lang="es"/>
              <a:t>Usar cada valor para calcular el anterior.</a:t>
            </a:r>
            <a:endParaRPr/>
          </a:p>
        </p:txBody>
      </p:sp>
      <p:sp>
        <p:nvSpPr>
          <p:cNvPr id="107" name="Google Shape;107;p17"/>
          <p:cNvSpPr txBox="1"/>
          <p:nvPr>
            <p:ph idx="12" type="sldNum"/>
          </p:nvPr>
        </p:nvSpPr>
        <p:spPr>
          <a:xfrm>
            <a:off x="8520083" y="4734654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pic>
        <p:nvPicPr>
          <p:cNvPr id="108" name="Google Shape;108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73650" y="1075725"/>
            <a:ext cx="4488100" cy="29920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Aplicamos Gauss a un circuito</a:t>
            </a:r>
            <a:endParaRPr/>
          </a:p>
        </p:txBody>
      </p:sp>
      <p:sp>
        <p:nvSpPr>
          <p:cNvPr id="114" name="Google Shape;114;p18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Buscamos V</a:t>
            </a:r>
            <a:r>
              <a:rPr baseline="-25000" lang="es"/>
              <a:t>1</a:t>
            </a:r>
            <a:r>
              <a:rPr lang="es"/>
              <a:t>, V</a:t>
            </a:r>
            <a:r>
              <a:rPr baseline="-25000" lang="es"/>
              <a:t>2</a:t>
            </a:r>
            <a:r>
              <a:rPr lang="es"/>
              <a:t> y V</a:t>
            </a:r>
            <a:r>
              <a:rPr baseline="-25000" lang="es"/>
              <a:t>3</a:t>
            </a:r>
            <a:r>
              <a:rPr lang="es"/>
              <a:t> respecto de tierra.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s"/>
              <a:t>Conductancia: G = 1/R; corriente: I = G·ΔV.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s"/>
              <a:t>1 mS = 0.001 S; mS × V = mA.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s"/>
              <a:t>Entre 1–2 y 2–3: 1 mS.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s"/>
              <a:t>A tierra: 2, 1 y 1 mS.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800"/>
              </a:spcAft>
              <a:buNone/>
            </a:pPr>
            <a:r>
              <a:rPr lang="es"/>
              <a:t>Corrientes inyectadas: 1, 2 y 4 mA.</a:t>
            </a:r>
            <a:endParaRPr/>
          </a:p>
        </p:txBody>
      </p:sp>
      <p:sp>
        <p:nvSpPr>
          <p:cNvPr id="115" name="Google Shape;115;p18"/>
          <p:cNvSpPr txBox="1"/>
          <p:nvPr>
            <p:ph idx="2" type="body"/>
          </p:nvPr>
        </p:nvSpPr>
        <p:spPr>
          <a:xfrm>
            <a:off x="4832350" y="3733800"/>
            <a:ext cx="4000500" cy="82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800"/>
              </a:spcAft>
              <a:buNone/>
            </a:pPr>
            <a:r>
              <a:rPr i="1" lang="es"/>
              <a:t>Circuito: tres nodos, tierra común, conductancias y fuentes de corriente con los valores indicados.</a:t>
            </a:r>
            <a:endParaRPr i="1"/>
          </a:p>
        </p:txBody>
      </p:sp>
      <p:sp>
        <p:nvSpPr>
          <p:cNvPr id="116" name="Google Shape;116;p18"/>
          <p:cNvSpPr txBox="1"/>
          <p:nvPr>
            <p:ph idx="12" type="sldNum"/>
          </p:nvPr>
        </p:nvSpPr>
        <p:spPr>
          <a:xfrm>
            <a:off x="8520083" y="4734654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pic>
        <p:nvPicPr>
          <p:cNvPr id="117" name="Google Shape;117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33051" y="975400"/>
            <a:ext cx="4760074" cy="28007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Las ecuaciones del circuito</a:t>
            </a:r>
            <a:endParaRPr/>
          </a:p>
        </p:txBody>
      </p:sp>
      <p:sp>
        <p:nvSpPr>
          <p:cNvPr id="123" name="Google Shape;123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Nodo 1: 2V₁ + (V₁ − V₂) = 1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s"/>
              <a:t>Nodo 2: V₂ + (V₂ − V₁) + (V₂ − V₃) = 2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s"/>
              <a:t>Nodo 3: V₃ + (V₃ − V₂) = 4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s"/>
              <a:t>Al reunir términos: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s"/>
              <a:t>3V₁ − V₂ = 1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s"/>
              <a:t>−V₁ + 3V₂ − V₃ = 2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800"/>
              </a:spcAft>
              <a:buNone/>
            </a:pPr>
            <a:r>
              <a:rPr lang="es"/>
              <a:t>−V₂ + 2V₃ = 4</a:t>
            </a:r>
            <a:endParaRPr/>
          </a:p>
        </p:txBody>
      </p:sp>
      <p:sp>
        <p:nvSpPr>
          <p:cNvPr id="124" name="Google Shape;124;p19"/>
          <p:cNvSpPr txBox="1"/>
          <p:nvPr>
            <p:ph idx="12" type="sldNum"/>
          </p:nvPr>
        </p:nvSpPr>
        <p:spPr>
          <a:xfrm>
            <a:off x="8520083" y="4734654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pic>
        <p:nvPicPr>
          <p:cNvPr id="125" name="Google Shape;125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33051" y="975400"/>
            <a:ext cx="4760074" cy="28007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Del ejemplo al algoritmo general</a:t>
            </a:r>
            <a:endParaRPr/>
          </a:p>
        </p:txBody>
      </p:sp>
      <p:sp>
        <p:nvSpPr>
          <p:cNvPr id="131" name="Google Shape;131;p20"/>
          <p:cNvSpPr txBox="1"/>
          <p:nvPr>
            <p:ph idx="1" type="body"/>
          </p:nvPr>
        </p:nvSpPr>
        <p:spPr>
          <a:xfrm>
            <a:off x="311700" y="1152475"/>
            <a:ext cx="38772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/>
              <a:t>Para n ecuaciones repetimos el mismo procedimiento.</a:t>
            </a:r>
            <a:endParaRPr sz="1500"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s" sz="1500"/>
              <a:t>Elegimos un pivote y anulamos los coeficientes debajo de él.</a:t>
            </a:r>
            <a:endParaRPr sz="1500"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s" sz="1500"/>
              <a:t>Avanzamos a la siguiente columna: hay n−1 etapas.</a:t>
            </a:r>
            <a:endParaRPr sz="1500"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s" sz="1500"/>
              <a:t>Actualizamos coeficientes y términos independientes juntos.</a:t>
            </a:r>
            <a:endParaRPr sz="1500"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s" sz="1500"/>
              <a:t>Al terminar, resolvemos desde la última incógnita.</a:t>
            </a:r>
            <a:endParaRPr sz="1500"/>
          </a:p>
          <a:p>
            <a:pPr indent="0" lvl="0" marL="0" marR="0" rtl="0" algn="l">
              <a:spcBef>
                <a:spcPts val="800"/>
              </a:spcBef>
              <a:spcAft>
                <a:spcPts val="800"/>
              </a:spcAft>
              <a:buNone/>
            </a:pPr>
            <a:r>
              <a:rPr lang="es" sz="1500"/>
              <a:t>Ahora pondremos índices a estos recorridos.</a:t>
            </a:r>
            <a:endParaRPr sz="1500"/>
          </a:p>
        </p:txBody>
      </p:sp>
      <p:sp>
        <p:nvSpPr>
          <p:cNvPr id="132" name="Google Shape;132;p20"/>
          <p:cNvSpPr txBox="1"/>
          <p:nvPr>
            <p:ph idx="12" type="sldNum"/>
          </p:nvPr>
        </p:nvSpPr>
        <p:spPr>
          <a:xfrm>
            <a:off x="8520083" y="4734654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pic>
        <p:nvPicPr>
          <p:cNvPr id="133" name="Google Shape;133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0" y="1114525"/>
            <a:ext cx="4197023" cy="341213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Qué recorre cada índice</a:t>
            </a:r>
            <a:endParaRPr/>
          </a:p>
        </p:txBody>
      </p:sp>
      <p:sp>
        <p:nvSpPr>
          <p:cNvPr id="139" name="Google Shape;139;p21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2000"/>
              <a:t>k → etapa y pivote</a:t>
            </a:r>
            <a:endParaRPr sz="2000"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s" sz="2000"/>
              <a:t>i → fila inferior</a:t>
            </a:r>
            <a:endParaRPr sz="2000"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s" sz="2000"/>
              <a:t>j → columna a actualizar</a:t>
            </a:r>
            <a:endParaRPr sz="2000"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s" sz="2000"/>
              <a:t>Índices: desde 1 en matemática;</a:t>
            </a:r>
            <a:endParaRPr sz="2000"/>
          </a:p>
          <a:p>
            <a:pPr indent="0" lvl="0" marL="0" marR="0" rtl="0" algn="l">
              <a:spcBef>
                <a:spcPts val="800"/>
              </a:spcBef>
              <a:spcAft>
                <a:spcPts val="800"/>
              </a:spcAft>
              <a:buNone/>
            </a:pPr>
            <a:r>
              <a:rPr lang="es" sz="2000"/>
              <a:t>desde 0 en C++.</a:t>
            </a:r>
            <a:endParaRPr sz="2000"/>
          </a:p>
        </p:txBody>
      </p:sp>
      <p:sp>
        <p:nvSpPr>
          <p:cNvPr id="140" name="Google Shape;140;p21"/>
          <p:cNvSpPr txBox="1"/>
          <p:nvPr>
            <p:ph idx="12" type="sldNum"/>
          </p:nvPr>
        </p:nvSpPr>
        <p:spPr>
          <a:xfrm>
            <a:off x="8520083" y="4734654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pic>
        <p:nvPicPr>
          <p:cNvPr id="141" name="Google Shape;141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32350" y="1170125"/>
            <a:ext cx="3616911" cy="24112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Las operaciones de una etapa</a:t>
            </a:r>
            <a:endParaRPr/>
          </a:p>
        </p:txBody>
      </p:sp>
      <p:sp>
        <p:nvSpPr>
          <p:cNvPr id="147" name="Google Shape;147;p22"/>
          <p:cNvSpPr txBox="1"/>
          <p:nvPr>
            <p:ph idx="1" type="body"/>
          </p:nvPr>
        </p:nvSpPr>
        <p:spPr>
          <a:xfrm>
            <a:off x="381000" y="1066800"/>
            <a:ext cx="8382000" cy="57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700"/>
              <a:t>Una fila se actualiza con el mismo multiplicador; la fila pivote no cambia.</a:t>
            </a:r>
            <a:endParaRPr sz="1700"/>
          </a:p>
        </p:txBody>
      </p:sp>
      <p:sp>
        <p:nvSpPr>
          <p:cNvPr id="148" name="Google Shape;148;p22"/>
          <p:cNvSpPr txBox="1"/>
          <p:nvPr>
            <p:ph idx="12" type="sldNum"/>
          </p:nvPr>
        </p:nvSpPr>
        <p:spPr>
          <a:xfrm>
            <a:off x="8520083" y="4734654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pic>
        <p:nvPicPr>
          <p:cNvPr id="149" name="Google Shape;149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1000" y="1536700"/>
            <a:ext cx="8382000" cy="3143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La sustitución en forma general</a:t>
            </a:r>
            <a:endParaRPr/>
          </a:p>
        </p:txBody>
      </p:sp>
      <p:sp>
        <p:nvSpPr>
          <p:cNvPr id="155" name="Google Shape;155;p23"/>
          <p:cNvSpPr txBox="1"/>
          <p:nvPr>
            <p:ph idx="1" type="body"/>
          </p:nvPr>
        </p:nvSpPr>
        <p:spPr>
          <a:xfrm>
            <a:off x="381000" y="1066800"/>
            <a:ext cx="8382000" cy="57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700"/>
              <a:t>Resolver Ux = c desde la última fila hacia la primera.</a:t>
            </a:r>
            <a:endParaRPr sz="1700"/>
          </a:p>
        </p:txBody>
      </p:sp>
      <p:sp>
        <p:nvSpPr>
          <p:cNvPr id="156" name="Google Shape;156;p23"/>
          <p:cNvSpPr txBox="1"/>
          <p:nvPr>
            <p:ph idx="12" type="sldNum"/>
          </p:nvPr>
        </p:nvSpPr>
        <p:spPr>
          <a:xfrm>
            <a:off x="8520083" y="4734654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pic>
        <p:nvPicPr>
          <p:cNvPr id="157" name="Google Shape;157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1000" y="1536700"/>
            <a:ext cx="8382000" cy="3143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Gauss es un método directo</a:t>
            </a:r>
            <a:endParaRPr/>
          </a:p>
        </p:txBody>
      </p:sp>
      <p:sp>
        <p:nvSpPr>
          <p:cNvPr id="163" name="Google Shape;163;p24"/>
          <p:cNvSpPr txBox="1"/>
          <p:nvPr>
            <p:ph idx="1" type="body"/>
          </p:nvPr>
        </p:nvSpPr>
        <p:spPr>
          <a:xfrm>
            <a:off x="381000" y="1066800"/>
            <a:ext cx="8382000" cy="57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700"/>
              <a:t>El tamaño n fija los recorridos. Un control puede detener el cálculo antes.</a:t>
            </a:r>
            <a:endParaRPr sz="1700"/>
          </a:p>
        </p:txBody>
      </p:sp>
      <p:sp>
        <p:nvSpPr>
          <p:cNvPr id="164" name="Google Shape;164;p24"/>
          <p:cNvSpPr txBox="1"/>
          <p:nvPr>
            <p:ph idx="12" type="sldNum"/>
          </p:nvPr>
        </p:nvSpPr>
        <p:spPr>
          <a:xfrm>
            <a:off x="8520083" y="4734654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pic>
        <p:nvPicPr>
          <p:cNvPr id="165" name="Google Shape;165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1000" y="1536700"/>
            <a:ext cx="8382000" cy="3143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Una comprobación con Chapra</a:t>
            </a:r>
            <a:endParaRPr/>
          </a:p>
        </p:txBody>
      </p:sp>
      <p:sp>
        <p:nvSpPr>
          <p:cNvPr id="171" name="Google Shape;171;p25"/>
          <p:cNvSpPr txBox="1"/>
          <p:nvPr>
            <p:ph idx="1" type="body"/>
          </p:nvPr>
        </p:nvSpPr>
        <p:spPr>
          <a:xfrm>
            <a:off x="381000" y="1066800"/>
            <a:ext cx="8382000" cy="57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700"/>
              <a:t>Una solución conocida permite comprobar la implementación.</a:t>
            </a:r>
            <a:endParaRPr sz="1700"/>
          </a:p>
        </p:txBody>
      </p:sp>
      <p:sp>
        <p:nvSpPr>
          <p:cNvPr id="172" name="Google Shape;172;p25"/>
          <p:cNvSpPr txBox="1"/>
          <p:nvPr>
            <p:ph idx="12" type="sldNum"/>
          </p:nvPr>
        </p:nvSpPr>
        <p:spPr>
          <a:xfrm>
            <a:off x="8520083" y="4734654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pic>
        <p:nvPicPr>
          <p:cNvPr id="173" name="Google Shape;173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1000" y="1536700"/>
            <a:ext cx="8382000" cy="3143250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25"/>
          <p:cNvSpPr txBox="1"/>
          <p:nvPr/>
        </p:nvSpPr>
        <p:spPr>
          <a:xfrm>
            <a:off x="653375" y="4563925"/>
            <a:ext cx="2829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 u="sng">
                <a:solidFill>
                  <a:srgbClr val="0097A7"/>
                </a:solidFill>
                <a:latin typeface="Montserrat"/>
                <a:ea typeface="Montserrat"/>
                <a:cs typeface="Montserrat"/>
                <a:sym typeface="Montserrat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Código</a:t>
            </a:r>
            <a:endParaRPr sz="1800">
              <a:solidFill>
                <a:srgbClr val="595959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26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Vamos con lo nuevo! Qu</a:t>
            </a:r>
            <a:r>
              <a:rPr lang="es"/>
              <a:t>é pasa con Gauss así tal cual?</a:t>
            </a:r>
            <a:endParaRPr/>
          </a:p>
        </p:txBody>
      </p:sp>
      <p:sp>
        <p:nvSpPr>
          <p:cNvPr id="180" name="Google Shape;180;p26"/>
          <p:cNvSpPr txBox="1"/>
          <p:nvPr>
            <p:ph idx="12" type="sldNum"/>
          </p:nvPr>
        </p:nvSpPr>
        <p:spPr>
          <a:xfrm>
            <a:off x="8520083" y="4734654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27"/>
          <p:cNvSpPr txBox="1"/>
          <p:nvPr>
            <p:ph type="ctrTitle"/>
          </p:nvPr>
        </p:nvSpPr>
        <p:spPr>
          <a:xfrm>
            <a:off x="311701" y="1506575"/>
            <a:ext cx="70668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AGREGAR TIPOS DE ERRORES PARA GAUSS</a:t>
            </a:r>
            <a:endParaRPr/>
          </a:p>
        </p:txBody>
      </p:sp>
      <p:sp>
        <p:nvSpPr>
          <p:cNvPr id="186" name="Google Shape;186;p27"/>
          <p:cNvSpPr txBox="1"/>
          <p:nvPr>
            <p:ph idx="1" type="subTitle"/>
          </p:nvPr>
        </p:nvSpPr>
        <p:spPr>
          <a:xfrm>
            <a:off x="311700" y="3596125"/>
            <a:ext cx="70668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28"/>
          <p:cNvSpPr txBox="1"/>
          <p:nvPr>
            <p:ph type="title"/>
          </p:nvPr>
        </p:nvSpPr>
        <p:spPr>
          <a:xfrm>
            <a:off x="317500" y="393700"/>
            <a:ext cx="8496300" cy="69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2400"/>
              <a:t>¿El sistema falla… o falla el orden?</a:t>
            </a:r>
            <a:endParaRPr sz="2400"/>
          </a:p>
        </p:txBody>
      </p:sp>
      <p:sp>
        <p:nvSpPr>
          <p:cNvPr id="192" name="Google Shape;192;p28"/>
          <p:cNvSpPr txBox="1"/>
          <p:nvPr>
            <p:ph idx="1" type="body"/>
          </p:nvPr>
        </p:nvSpPr>
        <p:spPr>
          <a:xfrm>
            <a:off x="381000" y="1066800"/>
            <a:ext cx="8318400" cy="55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600">
                <a:solidFill>
                  <a:srgbClr val="626262"/>
                </a:solidFill>
              </a:rPr>
              <a:t>El pivote inicial es cero, pero la solución existe.</a:t>
            </a:r>
            <a:endParaRPr sz="1600">
              <a:solidFill>
                <a:srgbClr val="626262"/>
              </a:solidFill>
            </a:endParaRPr>
          </a:p>
        </p:txBody>
      </p:sp>
      <p:sp>
        <p:nvSpPr>
          <p:cNvPr id="193" name="Google Shape;193;p28"/>
          <p:cNvSpPr txBox="1"/>
          <p:nvPr>
            <p:ph idx="12" type="sldNum"/>
          </p:nvPr>
        </p:nvSpPr>
        <p:spPr>
          <a:xfrm>
            <a:off x="8520083" y="4734654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sp>
        <p:nvSpPr>
          <p:cNvPr id="194" name="Google Shape;194;p28"/>
          <p:cNvSpPr/>
          <p:nvPr/>
        </p:nvSpPr>
        <p:spPr>
          <a:xfrm>
            <a:off x="381000" y="4508500"/>
            <a:ext cx="74931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rgbClr val="626262"/>
                </a:solidFill>
                <a:latin typeface="Montserrat"/>
                <a:ea typeface="Montserrat"/>
                <a:cs typeface="Montserrat"/>
                <a:sym typeface="Montserrat"/>
              </a:rPr>
              <a:t>Chapra §9.3–9.4 · ejemplo didáctico propio</a:t>
            </a:r>
            <a:endParaRPr sz="900">
              <a:solidFill>
                <a:srgbClr val="62626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95" name="Google Shape;195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1000" y="1651000"/>
            <a:ext cx="8382000" cy="2743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29"/>
          <p:cNvSpPr txBox="1"/>
          <p:nvPr>
            <p:ph type="title"/>
          </p:nvPr>
        </p:nvSpPr>
        <p:spPr>
          <a:xfrm>
            <a:off x="317500" y="393700"/>
            <a:ext cx="8496300" cy="69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2400"/>
              <a:t>Cambiamos filas, conservamos la solución</a:t>
            </a:r>
            <a:endParaRPr sz="2400"/>
          </a:p>
        </p:txBody>
      </p:sp>
      <p:sp>
        <p:nvSpPr>
          <p:cNvPr id="201" name="Google Shape;201;p29"/>
          <p:cNvSpPr txBox="1"/>
          <p:nvPr>
            <p:ph idx="1" type="body"/>
          </p:nvPr>
        </p:nvSpPr>
        <p:spPr>
          <a:xfrm>
            <a:off x="381000" y="1066800"/>
            <a:ext cx="8318400" cy="55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600">
                <a:solidFill>
                  <a:srgbClr val="626262"/>
                </a:solidFill>
              </a:rPr>
              <a:t>Intercambiamos la ecuación completa: coeficientes y término independiente.</a:t>
            </a:r>
            <a:endParaRPr sz="1600">
              <a:solidFill>
                <a:srgbClr val="626262"/>
              </a:solidFill>
            </a:endParaRPr>
          </a:p>
        </p:txBody>
      </p:sp>
      <p:sp>
        <p:nvSpPr>
          <p:cNvPr id="202" name="Google Shape;202;p29"/>
          <p:cNvSpPr txBox="1"/>
          <p:nvPr>
            <p:ph idx="12" type="sldNum"/>
          </p:nvPr>
        </p:nvSpPr>
        <p:spPr>
          <a:xfrm>
            <a:off x="8520083" y="4734654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sp>
        <p:nvSpPr>
          <p:cNvPr id="203" name="Google Shape;203;p29"/>
          <p:cNvSpPr/>
          <p:nvPr/>
        </p:nvSpPr>
        <p:spPr>
          <a:xfrm>
            <a:off x="381000" y="4508500"/>
            <a:ext cx="74931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rgbClr val="626262"/>
                </a:solidFill>
                <a:latin typeface="Montserrat"/>
                <a:ea typeface="Montserrat"/>
                <a:cs typeface="Montserrat"/>
                <a:sym typeface="Montserrat"/>
              </a:rPr>
              <a:t>Chapra §9.4.2 · operaciones elementales</a:t>
            </a:r>
            <a:endParaRPr sz="900">
              <a:solidFill>
                <a:srgbClr val="62626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204" name="Google Shape;204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1000" y="1651000"/>
            <a:ext cx="8382000" cy="2743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30"/>
          <p:cNvSpPr txBox="1"/>
          <p:nvPr>
            <p:ph type="title"/>
          </p:nvPr>
        </p:nvSpPr>
        <p:spPr>
          <a:xfrm>
            <a:off x="317500" y="393700"/>
            <a:ext cx="8496300" cy="69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2400"/>
              <a:t>Un pivote pequeño también importa</a:t>
            </a:r>
            <a:endParaRPr sz="2400"/>
          </a:p>
        </p:txBody>
      </p:sp>
      <p:sp>
        <p:nvSpPr>
          <p:cNvPr id="210" name="Google Shape;210;p30"/>
          <p:cNvSpPr txBox="1"/>
          <p:nvPr>
            <p:ph idx="1" type="body"/>
          </p:nvPr>
        </p:nvSpPr>
        <p:spPr>
          <a:xfrm>
            <a:off x="381000" y="1066800"/>
            <a:ext cx="8318400" cy="55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600">
                <a:solidFill>
                  <a:srgbClr val="626262"/>
                </a:solidFill>
              </a:rPr>
              <a:t>El problema aparece al restar números casi iguales.</a:t>
            </a:r>
            <a:endParaRPr sz="1600">
              <a:solidFill>
                <a:srgbClr val="626262"/>
              </a:solidFill>
            </a:endParaRPr>
          </a:p>
        </p:txBody>
      </p:sp>
      <p:sp>
        <p:nvSpPr>
          <p:cNvPr id="211" name="Google Shape;211;p30"/>
          <p:cNvSpPr txBox="1"/>
          <p:nvPr>
            <p:ph idx="12" type="sldNum"/>
          </p:nvPr>
        </p:nvSpPr>
        <p:spPr>
          <a:xfrm>
            <a:off x="8520083" y="4734654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sp>
        <p:nvSpPr>
          <p:cNvPr id="212" name="Google Shape;212;p30"/>
          <p:cNvSpPr/>
          <p:nvPr/>
        </p:nvSpPr>
        <p:spPr>
          <a:xfrm>
            <a:off x="381000" y="4508500"/>
            <a:ext cx="74931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rgbClr val="626262"/>
                </a:solidFill>
                <a:latin typeface="Montserrat"/>
                <a:ea typeface="Montserrat"/>
                <a:cs typeface="Montserrat"/>
                <a:sym typeface="Montserrat"/>
              </a:rPr>
              <a:t>Chapra, ej. 9.9, pp. 268–269 · x</a:t>
            </a:r>
            <a:r>
              <a:rPr baseline="-25000" lang="es" sz="900">
                <a:solidFill>
                  <a:srgbClr val="626262"/>
                </a:solidFill>
                <a:latin typeface="Montserrat"/>
                <a:ea typeface="Montserrat"/>
                <a:cs typeface="Montserrat"/>
                <a:sym typeface="Montserrat"/>
              </a:rPr>
              <a:t>2</a:t>
            </a:r>
            <a:r>
              <a:rPr lang="es" sz="900">
                <a:solidFill>
                  <a:srgbClr val="626262"/>
                </a:solidFill>
                <a:latin typeface="Montserrat"/>
                <a:ea typeface="Montserrat"/>
                <a:cs typeface="Montserrat"/>
                <a:sym typeface="Montserrat"/>
              </a:rPr>
              <a:t> redondeado antes de sustituir</a:t>
            </a:r>
            <a:endParaRPr sz="900">
              <a:solidFill>
                <a:srgbClr val="62626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213" name="Google Shape;213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1000" y="1651000"/>
            <a:ext cx="8382000" cy="2743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31"/>
          <p:cNvSpPr txBox="1"/>
          <p:nvPr>
            <p:ph type="title"/>
          </p:nvPr>
        </p:nvSpPr>
        <p:spPr>
          <a:xfrm>
            <a:off x="317500" y="393700"/>
            <a:ext cx="8496300" cy="69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2400"/>
              <a:t>Elegimos el pivote en cada etapa</a:t>
            </a:r>
            <a:endParaRPr sz="2400"/>
          </a:p>
        </p:txBody>
      </p:sp>
      <p:sp>
        <p:nvSpPr>
          <p:cNvPr id="219" name="Google Shape;219;p31"/>
          <p:cNvSpPr txBox="1"/>
          <p:nvPr>
            <p:ph idx="1" type="body"/>
          </p:nvPr>
        </p:nvSpPr>
        <p:spPr>
          <a:xfrm>
            <a:off x="381000" y="1066800"/>
            <a:ext cx="8318400" cy="55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600">
                <a:solidFill>
                  <a:srgbClr val="626262"/>
                </a:solidFill>
              </a:rPr>
              <a:t>Pivoteo parcial: mayor valor absoluto de la columna activa.</a:t>
            </a:r>
            <a:endParaRPr sz="1600">
              <a:solidFill>
                <a:srgbClr val="626262"/>
              </a:solidFill>
            </a:endParaRPr>
          </a:p>
        </p:txBody>
      </p:sp>
      <p:sp>
        <p:nvSpPr>
          <p:cNvPr id="220" name="Google Shape;220;p31"/>
          <p:cNvSpPr txBox="1"/>
          <p:nvPr>
            <p:ph idx="12" type="sldNum"/>
          </p:nvPr>
        </p:nvSpPr>
        <p:spPr>
          <a:xfrm>
            <a:off x="8520083" y="4734654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sp>
        <p:nvSpPr>
          <p:cNvPr id="221" name="Google Shape;221;p31"/>
          <p:cNvSpPr/>
          <p:nvPr/>
        </p:nvSpPr>
        <p:spPr>
          <a:xfrm>
            <a:off x="381000" y="4508500"/>
            <a:ext cx="74931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rgbClr val="626262"/>
                </a:solidFill>
                <a:latin typeface="Montserrat"/>
                <a:ea typeface="Montserrat"/>
                <a:cs typeface="Montserrat"/>
                <a:sym typeface="Montserrat"/>
              </a:rPr>
              <a:t>Chapra, fig. 9.5, p. 270</a:t>
            </a:r>
            <a:endParaRPr sz="900">
              <a:solidFill>
                <a:srgbClr val="62626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222" name="Google Shape;222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1000" y="1651000"/>
            <a:ext cx="8382000" cy="2743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32"/>
          <p:cNvSpPr txBox="1"/>
          <p:nvPr>
            <p:ph type="title"/>
          </p:nvPr>
        </p:nvSpPr>
        <p:spPr>
          <a:xfrm>
            <a:off x="317500" y="393700"/>
            <a:ext cx="8496300" cy="69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2400"/>
              <a:t>Del criterio al código</a:t>
            </a:r>
            <a:endParaRPr sz="2400"/>
          </a:p>
        </p:txBody>
      </p:sp>
      <p:sp>
        <p:nvSpPr>
          <p:cNvPr id="228" name="Google Shape;228;p32"/>
          <p:cNvSpPr txBox="1"/>
          <p:nvPr>
            <p:ph idx="12" type="sldNum"/>
          </p:nvPr>
        </p:nvSpPr>
        <p:spPr>
          <a:xfrm>
            <a:off x="8520083" y="4734654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sp>
        <p:nvSpPr>
          <p:cNvPr id="229" name="Google Shape;229;p32"/>
          <p:cNvSpPr/>
          <p:nvPr/>
        </p:nvSpPr>
        <p:spPr>
          <a:xfrm>
            <a:off x="381000" y="4508500"/>
            <a:ext cx="74931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rgbClr val="626262"/>
                </a:solidFill>
                <a:latin typeface="Montserrat"/>
                <a:ea typeface="Montserrat"/>
                <a:cs typeface="Montserrat"/>
                <a:sym typeface="Montserrat"/>
              </a:rPr>
              <a:t>Chapra, fig. 9.5 · codigo/gauss_pivoteo.cpp</a:t>
            </a:r>
            <a:endParaRPr sz="900">
              <a:solidFill>
                <a:srgbClr val="62626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30" name="Google Shape;230;p32"/>
          <p:cNvSpPr/>
          <p:nvPr/>
        </p:nvSpPr>
        <p:spPr>
          <a:xfrm>
            <a:off x="381000" y="1638300"/>
            <a:ext cx="5651400" cy="2628900"/>
          </a:xfrm>
          <a:prstGeom prst="roundRect">
            <a:avLst>
              <a:gd fmla="val 16667" name="adj"/>
            </a:avLst>
          </a:prstGeom>
          <a:solidFill>
            <a:srgbClr val="FAFA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31" name="Google Shape;231;p32"/>
          <p:cNvSpPr/>
          <p:nvPr/>
        </p:nvSpPr>
        <p:spPr>
          <a:xfrm>
            <a:off x="381000" y="1638300"/>
            <a:ext cx="5651400" cy="304800"/>
          </a:xfrm>
          <a:prstGeom prst="roundRect">
            <a:avLst>
              <a:gd fmla="val 16667" name="adj"/>
            </a:avLst>
          </a:prstGeom>
          <a:solidFill>
            <a:srgbClr val="41414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32" name="Google Shape;232;p32"/>
          <p:cNvSpPr/>
          <p:nvPr/>
        </p:nvSpPr>
        <p:spPr>
          <a:xfrm>
            <a:off x="508000" y="1739900"/>
            <a:ext cx="101700" cy="101700"/>
          </a:xfrm>
          <a:prstGeom prst="ellipse">
            <a:avLst/>
          </a:prstGeom>
          <a:solidFill>
            <a:srgbClr val="FF60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33" name="Google Shape;233;p32"/>
          <p:cNvSpPr/>
          <p:nvPr/>
        </p:nvSpPr>
        <p:spPr>
          <a:xfrm>
            <a:off x="698500" y="1739900"/>
            <a:ext cx="101700" cy="101700"/>
          </a:xfrm>
          <a:prstGeom prst="ellipse">
            <a:avLst/>
          </a:prstGeom>
          <a:solidFill>
            <a:srgbClr val="FFBD4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34" name="Google Shape;234;p32"/>
          <p:cNvSpPr/>
          <p:nvPr/>
        </p:nvSpPr>
        <p:spPr>
          <a:xfrm>
            <a:off x="889000" y="1739900"/>
            <a:ext cx="101700" cy="101700"/>
          </a:xfrm>
          <a:prstGeom prst="ellipse">
            <a:avLst/>
          </a:prstGeom>
          <a:solidFill>
            <a:srgbClr val="00CA4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35" name="Google Shape;235;p32"/>
          <p:cNvSpPr txBox="1"/>
          <p:nvPr>
            <p:ph idx="1" type="body"/>
          </p:nvPr>
        </p:nvSpPr>
        <p:spPr>
          <a:xfrm>
            <a:off x="520700" y="2006600"/>
            <a:ext cx="5372100" cy="218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400">
                <a:solidFill>
                  <a:srgbClr val="4285F4"/>
                </a:solidFill>
                <a:latin typeface="Roboto Mono"/>
                <a:ea typeface="Roboto Mono"/>
                <a:cs typeface="Roboto Mono"/>
                <a:sym typeface="Roboto Mono"/>
              </a:rPr>
              <a:t>int</a:t>
            </a:r>
            <a:r>
              <a:rPr lang="es" sz="1400">
                <a:solidFill>
                  <a:srgbClr val="222222"/>
                </a:solidFill>
                <a:latin typeface="Roboto Mono"/>
                <a:ea typeface="Roboto Mono"/>
                <a:cs typeface="Roboto Mono"/>
                <a:sym typeface="Roboto Mono"/>
              </a:rPr>
              <a:t> p = k;</a:t>
            </a:r>
            <a:endParaRPr sz="1400">
              <a:solidFill>
                <a:srgbClr val="222222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400">
                <a:solidFill>
                  <a:srgbClr val="4285F4"/>
                </a:solidFill>
                <a:latin typeface="Roboto Mono"/>
                <a:ea typeface="Roboto Mono"/>
                <a:cs typeface="Roboto Mono"/>
                <a:sym typeface="Roboto Mono"/>
              </a:rPr>
              <a:t>for</a:t>
            </a:r>
            <a:r>
              <a:rPr lang="es" sz="1400">
                <a:solidFill>
                  <a:srgbClr val="222222"/>
                </a:solidFill>
                <a:latin typeface="Roboto Mono"/>
                <a:ea typeface="Roboto Mono"/>
                <a:cs typeface="Roboto Mono"/>
                <a:sym typeface="Roboto Mono"/>
              </a:rPr>
              <a:t> (</a:t>
            </a:r>
            <a:r>
              <a:rPr lang="es" sz="1400">
                <a:solidFill>
                  <a:srgbClr val="4285F4"/>
                </a:solidFill>
                <a:latin typeface="Roboto Mono"/>
                <a:ea typeface="Roboto Mono"/>
                <a:cs typeface="Roboto Mono"/>
                <a:sym typeface="Roboto Mono"/>
              </a:rPr>
              <a:t>int</a:t>
            </a:r>
            <a:r>
              <a:rPr lang="es" sz="1400">
                <a:solidFill>
                  <a:srgbClr val="222222"/>
                </a:solidFill>
                <a:latin typeface="Roboto Mono"/>
                <a:ea typeface="Roboto Mono"/>
                <a:cs typeface="Roboto Mono"/>
                <a:sym typeface="Roboto Mono"/>
              </a:rPr>
              <a:t> i = k + 1; i &lt; n; i++) {</a:t>
            </a:r>
            <a:endParaRPr sz="1400">
              <a:solidFill>
                <a:srgbClr val="222222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400">
                <a:solidFill>
                  <a:srgbClr val="222222"/>
                </a:solidFill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r>
              <a:rPr lang="es" sz="1400">
                <a:solidFill>
                  <a:srgbClr val="4285F4"/>
                </a:solidFill>
                <a:latin typeface="Roboto Mono"/>
                <a:ea typeface="Roboto Mono"/>
                <a:cs typeface="Roboto Mono"/>
                <a:sym typeface="Roboto Mono"/>
              </a:rPr>
              <a:t>if</a:t>
            </a:r>
            <a:r>
              <a:rPr lang="es" sz="1400">
                <a:solidFill>
                  <a:srgbClr val="222222"/>
                </a:solidFill>
                <a:latin typeface="Roboto Mono"/>
                <a:ea typeface="Roboto Mono"/>
                <a:cs typeface="Roboto Mono"/>
                <a:sym typeface="Roboto Mono"/>
              </a:rPr>
              <a:t> (fabs(A[i][k]) &gt; fabs(A[p][k]))</a:t>
            </a:r>
            <a:endParaRPr sz="1400">
              <a:solidFill>
                <a:srgbClr val="222222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400">
                <a:solidFill>
                  <a:srgbClr val="222222"/>
                </a:solidFill>
                <a:latin typeface="Roboto Mono"/>
                <a:ea typeface="Roboto Mono"/>
                <a:cs typeface="Roboto Mono"/>
                <a:sym typeface="Roboto Mono"/>
              </a:rPr>
              <a:t>        p = i;</a:t>
            </a:r>
            <a:endParaRPr sz="1400">
              <a:solidFill>
                <a:srgbClr val="222222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400">
                <a:solidFill>
                  <a:srgbClr val="222222"/>
                </a:solidFill>
                <a:latin typeface="Roboto Mono"/>
                <a:ea typeface="Roboto Mono"/>
                <a:cs typeface="Roboto Mono"/>
                <a:sym typeface="Roboto Mono"/>
              </a:rPr>
              <a:t>}</a:t>
            </a:r>
            <a:endParaRPr sz="1400">
              <a:solidFill>
                <a:srgbClr val="222222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236" name="Google Shape;236;p32"/>
          <p:cNvSpPr txBox="1"/>
          <p:nvPr>
            <p:ph idx="1" type="body"/>
          </p:nvPr>
        </p:nvSpPr>
        <p:spPr>
          <a:xfrm>
            <a:off x="381000" y="1066800"/>
            <a:ext cx="8318400" cy="50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600">
                <a:solidFill>
                  <a:srgbClr val="626262"/>
                </a:solidFill>
              </a:rPr>
              <a:t>Primero buscamos la fila; todavía no modificamos la matriz.</a:t>
            </a:r>
            <a:endParaRPr sz="1600">
              <a:solidFill>
                <a:srgbClr val="626262"/>
              </a:solidFill>
            </a:endParaRPr>
          </a:p>
        </p:txBody>
      </p:sp>
      <p:sp>
        <p:nvSpPr>
          <p:cNvPr id="237" name="Google Shape;237;p32"/>
          <p:cNvSpPr/>
          <p:nvPr/>
        </p:nvSpPr>
        <p:spPr>
          <a:xfrm>
            <a:off x="6273800" y="2082800"/>
            <a:ext cx="2412900" cy="184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rgbClr val="1D4036"/>
                </a:solidFill>
                <a:latin typeface="Montserrat"/>
                <a:ea typeface="Montserrat"/>
                <a:cs typeface="Montserrat"/>
                <a:sym typeface="Montserrat"/>
              </a:rPr>
              <a:t>p guarda la fila</a:t>
            </a:r>
            <a:endParaRPr sz="1800">
              <a:solidFill>
                <a:srgbClr val="1D4036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rgbClr val="1D4036"/>
                </a:solidFill>
                <a:latin typeface="Montserrat"/>
                <a:ea typeface="Montserrat"/>
                <a:cs typeface="Montserrat"/>
                <a:sym typeface="Montserrat"/>
              </a:rPr>
              <a:t>del mejor candidato.</a:t>
            </a:r>
            <a:endParaRPr sz="1800">
              <a:solidFill>
                <a:srgbClr val="1D4036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1D4036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rgbClr val="1D4036"/>
                </a:solidFill>
                <a:latin typeface="Montserrat"/>
                <a:ea typeface="Montserrat"/>
                <a:cs typeface="Montserrat"/>
                <a:sym typeface="Montserrat"/>
              </a:rPr>
              <a:t>Se compara magnitud,</a:t>
            </a:r>
            <a:endParaRPr sz="1800">
              <a:solidFill>
                <a:srgbClr val="1D4036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rgbClr val="1D4036"/>
                </a:solidFill>
                <a:latin typeface="Montserrat"/>
                <a:ea typeface="Montserrat"/>
                <a:cs typeface="Montserrat"/>
                <a:sym typeface="Montserrat"/>
              </a:rPr>
              <a:t>no el signo.</a:t>
            </a:r>
            <a:endParaRPr sz="1800">
              <a:solidFill>
                <a:srgbClr val="1D403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33"/>
          <p:cNvSpPr txBox="1"/>
          <p:nvPr>
            <p:ph type="title"/>
          </p:nvPr>
        </p:nvSpPr>
        <p:spPr>
          <a:xfrm>
            <a:off x="317500" y="393700"/>
            <a:ext cx="8496300" cy="69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2400"/>
              <a:t>El intercambio tiene que ser completo</a:t>
            </a:r>
            <a:endParaRPr sz="2400"/>
          </a:p>
        </p:txBody>
      </p:sp>
      <p:sp>
        <p:nvSpPr>
          <p:cNvPr id="243" name="Google Shape;243;p33"/>
          <p:cNvSpPr txBox="1"/>
          <p:nvPr>
            <p:ph idx="12" type="sldNum"/>
          </p:nvPr>
        </p:nvSpPr>
        <p:spPr>
          <a:xfrm>
            <a:off x="8520083" y="4734654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sp>
        <p:nvSpPr>
          <p:cNvPr id="244" name="Google Shape;244;p33"/>
          <p:cNvSpPr/>
          <p:nvPr/>
        </p:nvSpPr>
        <p:spPr>
          <a:xfrm>
            <a:off x="381000" y="4508500"/>
            <a:ext cx="74931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rgbClr val="626262"/>
                </a:solidFill>
                <a:latin typeface="Montserrat"/>
                <a:ea typeface="Montserrat"/>
                <a:cs typeface="Montserrat"/>
                <a:sym typeface="Montserrat"/>
              </a:rPr>
              <a:t>Chapra, fig. 9.5 · codigo/gauss_pivoteo.cpp</a:t>
            </a:r>
            <a:endParaRPr sz="900">
              <a:solidFill>
                <a:srgbClr val="62626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45" name="Google Shape;245;p33"/>
          <p:cNvSpPr/>
          <p:nvPr/>
        </p:nvSpPr>
        <p:spPr>
          <a:xfrm>
            <a:off x="381000" y="1638300"/>
            <a:ext cx="5651400" cy="2628900"/>
          </a:xfrm>
          <a:prstGeom prst="roundRect">
            <a:avLst>
              <a:gd fmla="val 16667" name="adj"/>
            </a:avLst>
          </a:prstGeom>
          <a:solidFill>
            <a:srgbClr val="FAFA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46" name="Google Shape;246;p33"/>
          <p:cNvSpPr/>
          <p:nvPr/>
        </p:nvSpPr>
        <p:spPr>
          <a:xfrm>
            <a:off x="381000" y="1638300"/>
            <a:ext cx="5651400" cy="304800"/>
          </a:xfrm>
          <a:prstGeom prst="roundRect">
            <a:avLst>
              <a:gd fmla="val 16667" name="adj"/>
            </a:avLst>
          </a:prstGeom>
          <a:solidFill>
            <a:srgbClr val="41414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47" name="Google Shape;247;p33"/>
          <p:cNvSpPr/>
          <p:nvPr/>
        </p:nvSpPr>
        <p:spPr>
          <a:xfrm>
            <a:off x="508000" y="1739900"/>
            <a:ext cx="101700" cy="101700"/>
          </a:xfrm>
          <a:prstGeom prst="ellipse">
            <a:avLst/>
          </a:prstGeom>
          <a:solidFill>
            <a:srgbClr val="FF60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48" name="Google Shape;248;p33"/>
          <p:cNvSpPr/>
          <p:nvPr/>
        </p:nvSpPr>
        <p:spPr>
          <a:xfrm>
            <a:off x="698500" y="1739900"/>
            <a:ext cx="101700" cy="101700"/>
          </a:xfrm>
          <a:prstGeom prst="ellipse">
            <a:avLst/>
          </a:prstGeom>
          <a:solidFill>
            <a:srgbClr val="FFBD4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49" name="Google Shape;249;p33"/>
          <p:cNvSpPr/>
          <p:nvPr/>
        </p:nvSpPr>
        <p:spPr>
          <a:xfrm>
            <a:off x="889000" y="1739900"/>
            <a:ext cx="101700" cy="101700"/>
          </a:xfrm>
          <a:prstGeom prst="ellipse">
            <a:avLst/>
          </a:prstGeom>
          <a:solidFill>
            <a:srgbClr val="00CA4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50" name="Google Shape;250;p33"/>
          <p:cNvSpPr txBox="1"/>
          <p:nvPr>
            <p:ph idx="1" type="body"/>
          </p:nvPr>
        </p:nvSpPr>
        <p:spPr>
          <a:xfrm>
            <a:off x="520700" y="2006600"/>
            <a:ext cx="5372100" cy="218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>
                <a:solidFill>
                  <a:srgbClr val="4285F4"/>
                </a:solidFill>
                <a:latin typeface="Roboto Mono"/>
                <a:ea typeface="Roboto Mono"/>
                <a:cs typeface="Roboto Mono"/>
                <a:sym typeface="Roboto Mono"/>
              </a:rPr>
              <a:t>for</a:t>
            </a:r>
            <a:r>
              <a:rPr lang="es" sz="1300">
                <a:solidFill>
                  <a:srgbClr val="222222"/>
                </a:solidFill>
                <a:latin typeface="Roboto Mono"/>
                <a:ea typeface="Roboto Mono"/>
                <a:cs typeface="Roboto Mono"/>
                <a:sym typeface="Roboto Mono"/>
              </a:rPr>
              <a:t> (</a:t>
            </a:r>
            <a:r>
              <a:rPr lang="es" sz="1300">
                <a:solidFill>
                  <a:srgbClr val="4285F4"/>
                </a:solidFill>
                <a:latin typeface="Roboto Mono"/>
                <a:ea typeface="Roboto Mono"/>
                <a:cs typeface="Roboto Mono"/>
                <a:sym typeface="Roboto Mono"/>
              </a:rPr>
              <a:t>int</a:t>
            </a:r>
            <a:r>
              <a:rPr lang="es" sz="1300">
                <a:solidFill>
                  <a:srgbClr val="222222"/>
                </a:solidFill>
                <a:latin typeface="Roboto Mono"/>
                <a:ea typeface="Roboto Mono"/>
                <a:cs typeface="Roboto Mono"/>
                <a:sym typeface="Roboto Mono"/>
              </a:rPr>
              <a:t> j = 0; j &lt; n; j++) {</a:t>
            </a:r>
            <a:endParaRPr sz="1300">
              <a:solidFill>
                <a:srgbClr val="222222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>
                <a:solidFill>
                  <a:srgbClr val="222222"/>
                </a:solidFill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r>
              <a:rPr lang="es" sz="1300">
                <a:solidFill>
                  <a:srgbClr val="4285F4"/>
                </a:solidFill>
                <a:latin typeface="Roboto Mono"/>
                <a:ea typeface="Roboto Mono"/>
                <a:cs typeface="Roboto Mono"/>
                <a:sym typeface="Roboto Mono"/>
              </a:rPr>
              <a:t>double</a:t>
            </a:r>
            <a:r>
              <a:rPr lang="es" sz="1300">
                <a:solidFill>
                  <a:srgbClr val="222222"/>
                </a:solidFill>
                <a:latin typeface="Roboto Mono"/>
                <a:ea typeface="Roboto Mono"/>
                <a:cs typeface="Roboto Mono"/>
                <a:sym typeface="Roboto Mono"/>
              </a:rPr>
              <a:t> aux = A[k][j];</a:t>
            </a:r>
            <a:endParaRPr sz="1300">
              <a:solidFill>
                <a:srgbClr val="222222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>
                <a:solidFill>
                  <a:srgbClr val="222222"/>
                </a:solidFill>
                <a:latin typeface="Roboto Mono"/>
                <a:ea typeface="Roboto Mono"/>
                <a:cs typeface="Roboto Mono"/>
                <a:sym typeface="Roboto Mono"/>
              </a:rPr>
              <a:t>    A[k][j] = A[p][j];</a:t>
            </a:r>
            <a:endParaRPr sz="1300">
              <a:solidFill>
                <a:srgbClr val="222222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>
                <a:solidFill>
                  <a:srgbClr val="222222"/>
                </a:solidFill>
                <a:latin typeface="Roboto Mono"/>
                <a:ea typeface="Roboto Mono"/>
                <a:cs typeface="Roboto Mono"/>
                <a:sym typeface="Roboto Mono"/>
              </a:rPr>
              <a:t>    A[p][j] = aux;</a:t>
            </a:r>
            <a:endParaRPr sz="1300">
              <a:solidFill>
                <a:srgbClr val="222222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>
                <a:solidFill>
                  <a:srgbClr val="222222"/>
                </a:solidFill>
                <a:latin typeface="Roboto Mono"/>
                <a:ea typeface="Roboto Mono"/>
                <a:cs typeface="Roboto Mono"/>
                <a:sym typeface="Roboto Mono"/>
              </a:rPr>
              <a:t>}</a:t>
            </a:r>
            <a:endParaRPr sz="1300">
              <a:solidFill>
                <a:srgbClr val="222222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>
                <a:solidFill>
                  <a:srgbClr val="4285F4"/>
                </a:solidFill>
                <a:latin typeface="Roboto Mono"/>
                <a:ea typeface="Roboto Mono"/>
                <a:cs typeface="Roboto Mono"/>
                <a:sym typeface="Roboto Mono"/>
              </a:rPr>
              <a:t>double</a:t>
            </a:r>
            <a:r>
              <a:rPr lang="es" sz="1300">
                <a:solidFill>
                  <a:srgbClr val="222222"/>
                </a:solidFill>
                <a:latin typeface="Roboto Mono"/>
                <a:ea typeface="Roboto Mono"/>
                <a:cs typeface="Roboto Mono"/>
                <a:sym typeface="Roboto Mono"/>
              </a:rPr>
              <a:t> aux = b[k]; b[k] = b[p]; b[p] = aux;</a:t>
            </a:r>
            <a:endParaRPr sz="1300">
              <a:solidFill>
                <a:srgbClr val="222222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251" name="Google Shape;251;p33"/>
          <p:cNvSpPr txBox="1"/>
          <p:nvPr>
            <p:ph idx="1" type="body"/>
          </p:nvPr>
        </p:nvSpPr>
        <p:spPr>
          <a:xfrm>
            <a:off x="381000" y="1066800"/>
            <a:ext cx="8318400" cy="50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600">
                <a:solidFill>
                  <a:srgbClr val="626262"/>
                </a:solidFill>
              </a:rPr>
              <a:t>Mover A y olvidar b cambia el problema que estamos resolviendo.</a:t>
            </a:r>
            <a:endParaRPr sz="1600">
              <a:solidFill>
                <a:srgbClr val="626262"/>
              </a:solidFill>
            </a:endParaRPr>
          </a:p>
        </p:txBody>
      </p:sp>
      <p:sp>
        <p:nvSpPr>
          <p:cNvPr id="252" name="Google Shape;252;p33"/>
          <p:cNvSpPr/>
          <p:nvPr/>
        </p:nvSpPr>
        <p:spPr>
          <a:xfrm>
            <a:off x="6273800" y="2082800"/>
            <a:ext cx="2412900" cy="184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rgbClr val="1D4036"/>
                </a:solidFill>
                <a:latin typeface="Montserrat"/>
                <a:ea typeface="Montserrat"/>
                <a:cs typeface="Montserrat"/>
                <a:sym typeface="Montserrat"/>
              </a:rPr>
              <a:t>Si p ≠ k:</a:t>
            </a:r>
            <a:endParaRPr sz="1800">
              <a:solidFill>
                <a:srgbClr val="1D4036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rgbClr val="1D4036"/>
                </a:solidFill>
                <a:latin typeface="Montserrat"/>
                <a:ea typeface="Montserrat"/>
                <a:cs typeface="Montserrat"/>
                <a:sym typeface="Montserrat"/>
              </a:rPr>
              <a:t>intercambiamos</a:t>
            </a:r>
            <a:endParaRPr sz="1800">
              <a:solidFill>
                <a:srgbClr val="1D4036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rgbClr val="1D4036"/>
                </a:solidFill>
                <a:latin typeface="Montserrat"/>
                <a:ea typeface="Montserrat"/>
                <a:cs typeface="Montserrat"/>
                <a:sym typeface="Montserrat"/>
              </a:rPr>
              <a:t>las filas completas.</a:t>
            </a:r>
            <a:endParaRPr sz="1800">
              <a:solidFill>
                <a:srgbClr val="1D4036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1D4036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rgbClr val="1D4036"/>
                </a:solidFill>
                <a:latin typeface="Montserrat"/>
                <a:ea typeface="Montserrat"/>
                <a:cs typeface="Montserrat"/>
                <a:sym typeface="Montserrat"/>
              </a:rPr>
              <a:t>Con escalas,</a:t>
            </a:r>
            <a:endParaRPr sz="1800">
              <a:solidFill>
                <a:srgbClr val="1D4036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rgbClr val="1D4036"/>
                </a:solidFill>
                <a:latin typeface="Montserrat"/>
                <a:ea typeface="Montserrat"/>
                <a:cs typeface="Montserrat"/>
                <a:sym typeface="Montserrat"/>
              </a:rPr>
              <a:t>también s[k] y s[p].</a:t>
            </a:r>
            <a:endParaRPr sz="1800">
              <a:solidFill>
                <a:srgbClr val="1D403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34"/>
          <p:cNvSpPr txBox="1"/>
          <p:nvPr>
            <p:ph type="title"/>
          </p:nvPr>
        </p:nvSpPr>
        <p:spPr>
          <a:xfrm>
            <a:off x="317500" y="393700"/>
            <a:ext cx="8496300" cy="69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2400"/>
              <a:t>¿El número más grande siempre conviene?</a:t>
            </a:r>
            <a:endParaRPr sz="2400"/>
          </a:p>
        </p:txBody>
      </p:sp>
      <p:sp>
        <p:nvSpPr>
          <p:cNvPr id="258" name="Google Shape;258;p34"/>
          <p:cNvSpPr txBox="1"/>
          <p:nvPr>
            <p:ph idx="1" type="body"/>
          </p:nvPr>
        </p:nvSpPr>
        <p:spPr>
          <a:xfrm>
            <a:off x="381000" y="1066800"/>
            <a:ext cx="8318400" cy="55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600">
                <a:solidFill>
                  <a:srgbClr val="626262"/>
                </a:solidFill>
              </a:rPr>
              <a:t>Dos ecuaciones pueden tener escalas muy distintas.</a:t>
            </a:r>
            <a:endParaRPr sz="1600">
              <a:solidFill>
                <a:srgbClr val="626262"/>
              </a:solidFill>
            </a:endParaRPr>
          </a:p>
        </p:txBody>
      </p:sp>
      <p:sp>
        <p:nvSpPr>
          <p:cNvPr id="259" name="Google Shape;259;p34"/>
          <p:cNvSpPr txBox="1"/>
          <p:nvPr>
            <p:ph idx="12" type="sldNum"/>
          </p:nvPr>
        </p:nvSpPr>
        <p:spPr>
          <a:xfrm>
            <a:off x="8520083" y="4734654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sp>
        <p:nvSpPr>
          <p:cNvPr id="260" name="Google Shape;260;p34"/>
          <p:cNvSpPr/>
          <p:nvPr/>
        </p:nvSpPr>
        <p:spPr>
          <a:xfrm>
            <a:off x="381000" y="4508500"/>
            <a:ext cx="74931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rgbClr val="626262"/>
                </a:solidFill>
                <a:latin typeface="Montserrat"/>
                <a:ea typeface="Montserrat"/>
                <a:cs typeface="Montserrat"/>
                <a:sym typeface="Montserrat"/>
              </a:rPr>
              <a:t>Chapra, ej. 9.10, pp. 270–271</a:t>
            </a:r>
            <a:endParaRPr sz="900">
              <a:solidFill>
                <a:srgbClr val="62626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261" name="Google Shape;261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1000" y="1651000"/>
            <a:ext cx="8382000" cy="2743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35"/>
          <p:cNvSpPr txBox="1"/>
          <p:nvPr>
            <p:ph type="title"/>
          </p:nvPr>
        </p:nvSpPr>
        <p:spPr>
          <a:xfrm>
            <a:off x="317500" y="393700"/>
            <a:ext cx="8496300" cy="69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2400"/>
              <a:t>Escalar: expresar cada fila en su escala</a:t>
            </a:r>
            <a:endParaRPr sz="2400"/>
          </a:p>
        </p:txBody>
      </p:sp>
      <p:sp>
        <p:nvSpPr>
          <p:cNvPr id="267" name="Google Shape;267;p35"/>
          <p:cNvSpPr txBox="1"/>
          <p:nvPr>
            <p:ph idx="1" type="body"/>
          </p:nvPr>
        </p:nvSpPr>
        <p:spPr>
          <a:xfrm>
            <a:off x="381000" y="1066800"/>
            <a:ext cx="8318400" cy="55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600">
                <a:solidFill>
                  <a:srgbClr val="626262"/>
                </a:solidFill>
              </a:rPr>
              <a:t>s</a:t>
            </a:r>
            <a:r>
              <a:rPr baseline="-25000" lang="es" sz="1600">
                <a:solidFill>
                  <a:srgbClr val="626262"/>
                </a:solidFill>
              </a:rPr>
              <a:t>i</a:t>
            </a:r>
            <a:r>
              <a:rPr lang="es" sz="1600">
                <a:solidFill>
                  <a:srgbClr val="626262"/>
                </a:solidFill>
              </a:rPr>
              <a:t> = máximo |a</a:t>
            </a:r>
            <a:r>
              <a:rPr baseline="-25000" lang="es" sz="1600">
                <a:solidFill>
                  <a:srgbClr val="626262"/>
                </a:solidFill>
              </a:rPr>
              <a:t>ij</a:t>
            </a:r>
            <a:r>
              <a:rPr lang="es" sz="1600">
                <a:solidFill>
                  <a:srgbClr val="626262"/>
                </a:solidFill>
              </a:rPr>
              <a:t>| de la fila original; b no entra en ese máximo.</a:t>
            </a:r>
            <a:endParaRPr sz="1600">
              <a:solidFill>
                <a:srgbClr val="626262"/>
              </a:solidFill>
            </a:endParaRPr>
          </a:p>
        </p:txBody>
      </p:sp>
      <p:sp>
        <p:nvSpPr>
          <p:cNvPr id="268" name="Google Shape;268;p35"/>
          <p:cNvSpPr txBox="1"/>
          <p:nvPr>
            <p:ph idx="12" type="sldNum"/>
          </p:nvPr>
        </p:nvSpPr>
        <p:spPr>
          <a:xfrm>
            <a:off x="8520083" y="4734654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sp>
        <p:nvSpPr>
          <p:cNvPr id="269" name="Google Shape;269;p35"/>
          <p:cNvSpPr/>
          <p:nvPr/>
        </p:nvSpPr>
        <p:spPr>
          <a:xfrm>
            <a:off x="381000" y="4508500"/>
            <a:ext cx="74931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rgbClr val="626262"/>
                </a:solidFill>
                <a:latin typeface="Montserrat"/>
                <a:ea typeface="Montserrat"/>
                <a:cs typeface="Montserrat"/>
                <a:sym typeface="Montserrat"/>
              </a:rPr>
              <a:t>Chapra §9.4.3 · ej. 9.10</a:t>
            </a:r>
            <a:endParaRPr sz="900">
              <a:solidFill>
                <a:srgbClr val="62626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270" name="Google Shape;270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1000" y="1651000"/>
            <a:ext cx="8382000" cy="2743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36"/>
          <p:cNvSpPr txBox="1"/>
          <p:nvPr>
            <p:ph type="title"/>
          </p:nvPr>
        </p:nvSpPr>
        <p:spPr>
          <a:xfrm>
            <a:off x="317500" y="393700"/>
            <a:ext cx="8496300" cy="69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2400"/>
              <a:t>Usar la escala para elegir, sin dividir la fila</a:t>
            </a:r>
            <a:endParaRPr sz="2400"/>
          </a:p>
        </p:txBody>
      </p:sp>
      <p:sp>
        <p:nvSpPr>
          <p:cNvPr id="276" name="Google Shape;276;p36"/>
          <p:cNvSpPr txBox="1"/>
          <p:nvPr>
            <p:ph idx="1" type="body"/>
          </p:nvPr>
        </p:nvSpPr>
        <p:spPr>
          <a:xfrm>
            <a:off x="381000" y="1066800"/>
            <a:ext cx="8318400" cy="55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600">
                <a:solidFill>
                  <a:srgbClr val="626262"/>
                </a:solidFill>
              </a:rPr>
              <a:t>Pivoteo parcial escalado: comparar |a</a:t>
            </a:r>
            <a:r>
              <a:rPr baseline="-25000" lang="es" sz="1600">
                <a:solidFill>
                  <a:srgbClr val="626262"/>
                </a:solidFill>
              </a:rPr>
              <a:t>ik</a:t>
            </a:r>
            <a:r>
              <a:rPr lang="es" sz="1600">
                <a:solidFill>
                  <a:srgbClr val="626262"/>
                </a:solidFill>
              </a:rPr>
              <a:t>| / s</a:t>
            </a:r>
            <a:r>
              <a:rPr baseline="-25000" lang="es" sz="1600">
                <a:solidFill>
                  <a:srgbClr val="626262"/>
                </a:solidFill>
              </a:rPr>
              <a:t>i</a:t>
            </a:r>
            <a:r>
              <a:rPr lang="es" sz="1600">
                <a:solidFill>
                  <a:srgbClr val="626262"/>
                </a:solidFill>
              </a:rPr>
              <a:t>.</a:t>
            </a:r>
            <a:endParaRPr sz="1600">
              <a:solidFill>
                <a:srgbClr val="626262"/>
              </a:solidFill>
            </a:endParaRPr>
          </a:p>
        </p:txBody>
      </p:sp>
      <p:sp>
        <p:nvSpPr>
          <p:cNvPr id="277" name="Google Shape;277;p36"/>
          <p:cNvSpPr txBox="1"/>
          <p:nvPr>
            <p:ph idx="12" type="sldNum"/>
          </p:nvPr>
        </p:nvSpPr>
        <p:spPr>
          <a:xfrm>
            <a:off x="8520083" y="4734654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sp>
        <p:nvSpPr>
          <p:cNvPr id="278" name="Google Shape;278;p36"/>
          <p:cNvSpPr/>
          <p:nvPr/>
        </p:nvSpPr>
        <p:spPr>
          <a:xfrm>
            <a:off x="381000" y="4508500"/>
            <a:ext cx="74931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rgbClr val="626262"/>
                </a:solidFill>
                <a:latin typeface="Montserrat"/>
                <a:ea typeface="Montserrat"/>
                <a:cs typeface="Montserrat"/>
                <a:sym typeface="Montserrat"/>
              </a:rPr>
              <a:t>Chapra, ej. 9.10c y fig. 9.6 · escalas originales</a:t>
            </a:r>
            <a:endParaRPr sz="900">
              <a:solidFill>
                <a:srgbClr val="62626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279" name="Google Shape;279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1000" y="1651000"/>
            <a:ext cx="8382000" cy="2743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37"/>
          <p:cNvSpPr txBox="1"/>
          <p:nvPr>
            <p:ph type="title"/>
          </p:nvPr>
        </p:nvSpPr>
        <p:spPr>
          <a:xfrm>
            <a:off x="317500" y="393700"/>
            <a:ext cx="8496300" cy="69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2400"/>
              <a:t>En el código cambia la comparación</a:t>
            </a:r>
            <a:endParaRPr sz="2400"/>
          </a:p>
        </p:txBody>
      </p:sp>
      <p:sp>
        <p:nvSpPr>
          <p:cNvPr id="285" name="Google Shape;285;p37"/>
          <p:cNvSpPr txBox="1"/>
          <p:nvPr>
            <p:ph idx="12" type="sldNum"/>
          </p:nvPr>
        </p:nvSpPr>
        <p:spPr>
          <a:xfrm>
            <a:off x="8520083" y="4734654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sp>
        <p:nvSpPr>
          <p:cNvPr id="286" name="Google Shape;286;p37"/>
          <p:cNvSpPr/>
          <p:nvPr/>
        </p:nvSpPr>
        <p:spPr>
          <a:xfrm>
            <a:off x="381000" y="4508500"/>
            <a:ext cx="74931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rgbClr val="626262"/>
                </a:solidFill>
                <a:latin typeface="Montserrat"/>
                <a:ea typeface="Montserrat"/>
                <a:cs typeface="Montserrat"/>
                <a:sym typeface="Montserrat"/>
              </a:rPr>
              <a:t>Chapra, fig. 9.6 · codigo/gauss_pivoteo.cpp</a:t>
            </a:r>
            <a:endParaRPr sz="900">
              <a:solidFill>
                <a:srgbClr val="62626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87" name="Google Shape;287;p37"/>
          <p:cNvSpPr/>
          <p:nvPr/>
        </p:nvSpPr>
        <p:spPr>
          <a:xfrm>
            <a:off x="381000" y="1638300"/>
            <a:ext cx="5651400" cy="2628900"/>
          </a:xfrm>
          <a:prstGeom prst="roundRect">
            <a:avLst>
              <a:gd fmla="val 16667" name="adj"/>
            </a:avLst>
          </a:prstGeom>
          <a:solidFill>
            <a:srgbClr val="FAFA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88" name="Google Shape;288;p37"/>
          <p:cNvSpPr/>
          <p:nvPr/>
        </p:nvSpPr>
        <p:spPr>
          <a:xfrm>
            <a:off x="381000" y="1638300"/>
            <a:ext cx="5651400" cy="304800"/>
          </a:xfrm>
          <a:prstGeom prst="roundRect">
            <a:avLst>
              <a:gd fmla="val 16667" name="adj"/>
            </a:avLst>
          </a:prstGeom>
          <a:solidFill>
            <a:srgbClr val="41414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89" name="Google Shape;289;p37"/>
          <p:cNvSpPr/>
          <p:nvPr/>
        </p:nvSpPr>
        <p:spPr>
          <a:xfrm>
            <a:off x="508000" y="1739900"/>
            <a:ext cx="101700" cy="101700"/>
          </a:xfrm>
          <a:prstGeom prst="ellipse">
            <a:avLst/>
          </a:prstGeom>
          <a:solidFill>
            <a:srgbClr val="FF60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90" name="Google Shape;290;p37"/>
          <p:cNvSpPr/>
          <p:nvPr/>
        </p:nvSpPr>
        <p:spPr>
          <a:xfrm>
            <a:off x="698500" y="1739900"/>
            <a:ext cx="101700" cy="101700"/>
          </a:xfrm>
          <a:prstGeom prst="ellipse">
            <a:avLst/>
          </a:prstGeom>
          <a:solidFill>
            <a:srgbClr val="FFBD4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91" name="Google Shape;291;p37"/>
          <p:cNvSpPr/>
          <p:nvPr/>
        </p:nvSpPr>
        <p:spPr>
          <a:xfrm>
            <a:off x="889000" y="1739900"/>
            <a:ext cx="101700" cy="101700"/>
          </a:xfrm>
          <a:prstGeom prst="ellipse">
            <a:avLst/>
          </a:prstGeom>
          <a:solidFill>
            <a:srgbClr val="00CA4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92" name="Google Shape;292;p37"/>
          <p:cNvSpPr txBox="1"/>
          <p:nvPr>
            <p:ph idx="1" type="body"/>
          </p:nvPr>
        </p:nvSpPr>
        <p:spPr>
          <a:xfrm>
            <a:off x="520700" y="2006600"/>
            <a:ext cx="5372100" cy="218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400">
                <a:solidFill>
                  <a:srgbClr val="4285F4"/>
                </a:solidFill>
                <a:latin typeface="Roboto Mono"/>
                <a:ea typeface="Roboto Mono"/>
                <a:cs typeface="Roboto Mono"/>
                <a:sym typeface="Roboto Mono"/>
              </a:rPr>
              <a:t>int</a:t>
            </a:r>
            <a:r>
              <a:rPr lang="es" sz="1400">
                <a:solidFill>
                  <a:srgbClr val="222222"/>
                </a:solidFill>
                <a:latin typeface="Roboto Mono"/>
                <a:ea typeface="Roboto Mono"/>
                <a:cs typeface="Roboto Mono"/>
                <a:sym typeface="Roboto Mono"/>
              </a:rPr>
              <a:t> p = k;</a:t>
            </a:r>
            <a:endParaRPr sz="1400">
              <a:solidFill>
                <a:srgbClr val="222222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400">
                <a:solidFill>
                  <a:srgbClr val="4285F4"/>
                </a:solidFill>
                <a:latin typeface="Roboto Mono"/>
                <a:ea typeface="Roboto Mono"/>
                <a:cs typeface="Roboto Mono"/>
                <a:sym typeface="Roboto Mono"/>
              </a:rPr>
              <a:t>for</a:t>
            </a:r>
            <a:r>
              <a:rPr lang="es" sz="1400">
                <a:solidFill>
                  <a:srgbClr val="222222"/>
                </a:solidFill>
                <a:latin typeface="Roboto Mono"/>
                <a:ea typeface="Roboto Mono"/>
                <a:cs typeface="Roboto Mono"/>
                <a:sym typeface="Roboto Mono"/>
              </a:rPr>
              <a:t> (</a:t>
            </a:r>
            <a:r>
              <a:rPr lang="es" sz="1400">
                <a:solidFill>
                  <a:srgbClr val="4285F4"/>
                </a:solidFill>
                <a:latin typeface="Roboto Mono"/>
                <a:ea typeface="Roboto Mono"/>
                <a:cs typeface="Roboto Mono"/>
                <a:sym typeface="Roboto Mono"/>
              </a:rPr>
              <a:t>int</a:t>
            </a:r>
            <a:r>
              <a:rPr lang="es" sz="1400">
                <a:solidFill>
                  <a:srgbClr val="222222"/>
                </a:solidFill>
                <a:latin typeface="Roboto Mono"/>
                <a:ea typeface="Roboto Mono"/>
                <a:cs typeface="Roboto Mono"/>
                <a:sym typeface="Roboto Mono"/>
              </a:rPr>
              <a:t> i = k + 1; i &lt; n; i++) {</a:t>
            </a:r>
            <a:endParaRPr sz="1400">
              <a:solidFill>
                <a:srgbClr val="222222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400">
                <a:solidFill>
                  <a:srgbClr val="222222"/>
                </a:solidFill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r>
              <a:rPr lang="es" sz="1400">
                <a:solidFill>
                  <a:srgbClr val="4285F4"/>
                </a:solidFill>
                <a:latin typeface="Roboto Mono"/>
                <a:ea typeface="Roboto Mono"/>
                <a:cs typeface="Roboto Mono"/>
                <a:sym typeface="Roboto Mono"/>
              </a:rPr>
              <a:t>if</a:t>
            </a:r>
            <a:r>
              <a:rPr lang="es" sz="1400">
                <a:solidFill>
                  <a:srgbClr val="222222"/>
                </a:solidFill>
                <a:latin typeface="Roboto Mono"/>
                <a:ea typeface="Roboto Mono"/>
                <a:cs typeface="Roboto Mono"/>
                <a:sym typeface="Roboto Mono"/>
              </a:rPr>
              <a:t> (fabs(A[i][k]) / s[i] &gt;</a:t>
            </a:r>
            <a:endParaRPr sz="1400">
              <a:solidFill>
                <a:srgbClr val="222222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400">
                <a:solidFill>
                  <a:srgbClr val="222222"/>
                </a:solidFill>
                <a:latin typeface="Roboto Mono"/>
                <a:ea typeface="Roboto Mono"/>
                <a:cs typeface="Roboto Mono"/>
                <a:sym typeface="Roboto Mono"/>
              </a:rPr>
              <a:t>        fabs(A[p][k]) / s[p]) p = i;</a:t>
            </a:r>
            <a:endParaRPr sz="1400">
              <a:solidFill>
                <a:srgbClr val="222222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400">
                <a:solidFill>
                  <a:srgbClr val="222222"/>
                </a:solidFill>
                <a:latin typeface="Roboto Mono"/>
                <a:ea typeface="Roboto Mono"/>
                <a:cs typeface="Roboto Mono"/>
                <a:sym typeface="Roboto Mono"/>
              </a:rPr>
              <a:t>}</a:t>
            </a:r>
            <a:endParaRPr sz="1400">
              <a:solidFill>
                <a:srgbClr val="222222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293" name="Google Shape;293;p37"/>
          <p:cNvSpPr txBox="1"/>
          <p:nvPr>
            <p:ph idx="1" type="body"/>
          </p:nvPr>
        </p:nvSpPr>
        <p:spPr>
          <a:xfrm>
            <a:off x="381000" y="1066800"/>
            <a:ext cx="8318400" cy="50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600">
                <a:solidFill>
                  <a:srgbClr val="626262"/>
                </a:solidFill>
              </a:rPr>
              <a:t>Calculamos s una vez; las escalas acompañan a las filas.</a:t>
            </a:r>
            <a:endParaRPr sz="1600">
              <a:solidFill>
                <a:srgbClr val="626262"/>
              </a:solidFill>
            </a:endParaRPr>
          </a:p>
        </p:txBody>
      </p:sp>
      <p:sp>
        <p:nvSpPr>
          <p:cNvPr id="294" name="Google Shape;294;p37"/>
          <p:cNvSpPr/>
          <p:nvPr/>
        </p:nvSpPr>
        <p:spPr>
          <a:xfrm>
            <a:off x="6273800" y="2082800"/>
            <a:ext cx="2412900" cy="184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rgbClr val="1D4036"/>
                </a:solidFill>
                <a:latin typeface="Montserrat"/>
                <a:ea typeface="Montserrat"/>
                <a:cs typeface="Montserrat"/>
                <a:sym typeface="Montserrat"/>
              </a:rPr>
              <a:t>Antes de dividir:</a:t>
            </a:r>
            <a:endParaRPr sz="1800">
              <a:solidFill>
                <a:srgbClr val="1D4036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rgbClr val="1D4036"/>
                </a:solidFill>
                <a:latin typeface="Montserrat"/>
                <a:ea typeface="Montserrat"/>
                <a:cs typeface="Montserrat"/>
                <a:sym typeface="Montserrat"/>
              </a:rPr>
              <a:t>s[i] &gt; 0.</a:t>
            </a:r>
            <a:endParaRPr sz="1800">
              <a:solidFill>
                <a:srgbClr val="1D4036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1D4036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rgbClr val="1D4036"/>
                </a:solidFill>
                <a:latin typeface="Montserrat"/>
                <a:ea typeface="Montserrat"/>
                <a:cs typeface="Montserrat"/>
                <a:sym typeface="Montserrat"/>
              </a:rPr>
              <a:t>Controlar también</a:t>
            </a:r>
            <a:endParaRPr sz="1800">
              <a:solidFill>
                <a:srgbClr val="1D4036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rgbClr val="1D4036"/>
                </a:solidFill>
                <a:latin typeface="Montserrat"/>
                <a:ea typeface="Montserrat"/>
                <a:cs typeface="Montserrat"/>
                <a:sym typeface="Montserrat"/>
              </a:rPr>
              <a:t>el último pivote.</a:t>
            </a:r>
            <a:endParaRPr sz="1800">
              <a:solidFill>
                <a:srgbClr val="1D4036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1D4036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rgbClr val="1D4036"/>
                </a:solidFill>
                <a:latin typeface="Montserrat"/>
                <a:ea typeface="Montserrat"/>
                <a:cs typeface="Montserrat"/>
                <a:sym typeface="Montserrat"/>
              </a:rPr>
              <a:t>Un rechazo no clasifica</a:t>
            </a:r>
            <a:endParaRPr sz="1800">
              <a:solidFill>
                <a:srgbClr val="1D4036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rgbClr val="1D4036"/>
                </a:solidFill>
                <a:latin typeface="Montserrat"/>
                <a:ea typeface="Montserrat"/>
                <a:cs typeface="Montserrat"/>
                <a:sym typeface="Montserrat"/>
              </a:rPr>
              <a:t>el sistema.</a:t>
            </a:r>
            <a:endParaRPr sz="1800">
              <a:solidFill>
                <a:srgbClr val="1D403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38"/>
          <p:cNvSpPr txBox="1"/>
          <p:nvPr>
            <p:ph type="title"/>
          </p:nvPr>
        </p:nvSpPr>
        <p:spPr>
          <a:xfrm>
            <a:off x="317500" y="393700"/>
            <a:ext cx="8496300" cy="69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2400"/>
              <a:t>¿Y si el problema es muy sensible?</a:t>
            </a:r>
            <a:endParaRPr sz="2400"/>
          </a:p>
        </p:txBody>
      </p:sp>
      <p:sp>
        <p:nvSpPr>
          <p:cNvPr id="300" name="Google Shape;300;p38"/>
          <p:cNvSpPr txBox="1"/>
          <p:nvPr>
            <p:ph idx="1" type="body"/>
          </p:nvPr>
        </p:nvSpPr>
        <p:spPr>
          <a:xfrm>
            <a:off x="381000" y="1066800"/>
            <a:ext cx="8318400" cy="55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600">
                <a:solidFill>
                  <a:srgbClr val="626262"/>
                </a:solidFill>
              </a:rPr>
              <a:t>Rectas casi paralelas: pequeños cambios pueden mover mucho la intersección.</a:t>
            </a:r>
            <a:endParaRPr sz="1600">
              <a:solidFill>
                <a:srgbClr val="626262"/>
              </a:solidFill>
            </a:endParaRPr>
          </a:p>
        </p:txBody>
      </p:sp>
      <p:sp>
        <p:nvSpPr>
          <p:cNvPr id="301" name="Google Shape;301;p38"/>
          <p:cNvSpPr txBox="1"/>
          <p:nvPr>
            <p:ph idx="12" type="sldNum"/>
          </p:nvPr>
        </p:nvSpPr>
        <p:spPr>
          <a:xfrm>
            <a:off x="8520083" y="4734654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sp>
        <p:nvSpPr>
          <p:cNvPr id="302" name="Google Shape;302;p38"/>
          <p:cNvSpPr/>
          <p:nvPr/>
        </p:nvSpPr>
        <p:spPr>
          <a:xfrm>
            <a:off x="381000" y="4508500"/>
            <a:ext cx="74931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rgbClr val="626262"/>
                </a:solidFill>
                <a:latin typeface="Montserrat"/>
                <a:ea typeface="Montserrat"/>
                <a:cs typeface="Montserrat"/>
                <a:sym typeface="Montserrat"/>
              </a:rPr>
              <a:t>Adaptación conceptual de Chapra §9.3.3 · gráficos didácticos</a:t>
            </a:r>
            <a:endParaRPr sz="900">
              <a:solidFill>
                <a:srgbClr val="62626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03" name="Google Shape;303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1000" y="1651000"/>
            <a:ext cx="8382000" cy="2743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39"/>
          <p:cNvSpPr txBox="1"/>
          <p:nvPr>
            <p:ph type="title"/>
          </p:nvPr>
        </p:nvSpPr>
        <p:spPr>
          <a:xfrm>
            <a:off x="317500" y="393700"/>
            <a:ext cx="8496300" cy="69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2400"/>
              <a:t>Un cambio pequeño, una respuesta muy distinta</a:t>
            </a:r>
            <a:endParaRPr sz="2400"/>
          </a:p>
        </p:txBody>
      </p:sp>
      <p:sp>
        <p:nvSpPr>
          <p:cNvPr id="309" name="Google Shape;309;p39"/>
          <p:cNvSpPr txBox="1"/>
          <p:nvPr>
            <p:ph idx="1" type="body"/>
          </p:nvPr>
        </p:nvSpPr>
        <p:spPr>
          <a:xfrm>
            <a:off x="381000" y="1066800"/>
            <a:ext cx="8318400" cy="55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600">
                <a:solidFill>
                  <a:srgbClr val="626262"/>
                </a:solidFill>
              </a:rPr>
              <a:t>Condicionamiento: sensibilidad de la solución a los datos.</a:t>
            </a:r>
            <a:endParaRPr sz="1600">
              <a:solidFill>
                <a:srgbClr val="626262"/>
              </a:solidFill>
            </a:endParaRPr>
          </a:p>
        </p:txBody>
      </p:sp>
      <p:sp>
        <p:nvSpPr>
          <p:cNvPr id="310" name="Google Shape;310;p39"/>
          <p:cNvSpPr txBox="1"/>
          <p:nvPr>
            <p:ph idx="12" type="sldNum"/>
          </p:nvPr>
        </p:nvSpPr>
        <p:spPr>
          <a:xfrm>
            <a:off x="8520083" y="4734654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sp>
        <p:nvSpPr>
          <p:cNvPr id="311" name="Google Shape;311;p39"/>
          <p:cNvSpPr/>
          <p:nvPr/>
        </p:nvSpPr>
        <p:spPr>
          <a:xfrm>
            <a:off x="381000" y="4508500"/>
            <a:ext cx="74931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rgbClr val="626262"/>
                </a:solidFill>
                <a:latin typeface="Montserrat"/>
                <a:ea typeface="Montserrat"/>
                <a:cs typeface="Montserrat"/>
                <a:sym typeface="Montserrat"/>
              </a:rPr>
              <a:t>Ejemplo propio · fundamento: Chapra §9.3.3</a:t>
            </a:r>
            <a:endParaRPr sz="900">
              <a:solidFill>
                <a:srgbClr val="62626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12" name="Google Shape;312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1000" y="1651000"/>
            <a:ext cx="8382000" cy="2743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40"/>
          <p:cNvSpPr txBox="1"/>
          <p:nvPr>
            <p:ph type="title"/>
          </p:nvPr>
        </p:nvSpPr>
        <p:spPr>
          <a:xfrm>
            <a:off x="317500" y="393700"/>
            <a:ext cx="8496300" cy="69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2400"/>
              <a:t>Residuo pequeño ≠ solución necesariamente precisa</a:t>
            </a:r>
            <a:endParaRPr sz="2400"/>
          </a:p>
        </p:txBody>
      </p:sp>
      <p:sp>
        <p:nvSpPr>
          <p:cNvPr id="318" name="Google Shape;318;p40"/>
          <p:cNvSpPr txBox="1"/>
          <p:nvPr>
            <p:ph idx="1" type="body"/>
          </p:nvPr>
        </p:nvSpPr>
        <p:spPr>
          <a:xfrm>
            <a:off x="381000" y="1066800"/>
            <a:ext cx="8318400" cy="55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600">
                <a:solidFill>
                  <a:srgbClr val="626262"/>
                </a:solidFill>
              </a:rPr>
              <a:t>El residuo mide cuánto se incumplen las ecuaciones originales.</a:t>
            </a:r>
            <a:endParaRPr sz="1600">
              <a:solidFill>
                <a:srgbClr val="626262"/>
              </a:solidFill>
            </a:endParaRPr>
          </a:p>
        </p:txBody>
      </p:sp>
      <p:sp>
        <p:nvSpPr>
          <p:cNvPr id="319" name="Google Shape;319;p40"/>
          <p:cNvSpPr txBox="1"/>
          <p:nvPr>
            <p:ph idx="12" type="sldNum"/>
          </p:nvPr>
        </p:nvSpPr>
        <p:spPr>
          <a:xfrm>
            <a:off x="8520083" y="4734654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sp>
        <p:nvSpPr>
          <p:cNvPr id="320" name="Google Shape;320;p40"/>
          <p:cNvSpPr/>
          <p:nvPr/>
        </p:nvSpPr>
        <p:spPr>
          <a:xfrm>
            <a:off x="381000" y="4508500"/>
            <a:ext cx="74931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rgbClr val="626262"/>
                </a:solidFill>
                <a:latin typeface="Montserrat"/>
                <a:ea typeface="Montserrat"/>
                <a:cs typeface="Montserrat"/>
                <a:sym typeface="Montserrat"/>
              </a:rPr>
              <a:t>Chapra §9.3.3 · ejemplo propio, con datos originales</a:t>
            </a:r>
            <a:endParaRPr sz="900">
              <a:solidFill>
                <a:srgbClr val="62626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21" name="Google Shape;321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1000" y="1651000"/>
            <a:ext cx="8382000" cy="2743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41"/>
          <p:cNvSpPr txBox="1"/>
          <p:nvPr>
            <p:ph type="title"/>
          </p:nvPr>
        </p:nvSpPr>
        <p:spPr>
          <a:xfrm>
            <a:off x="317500" y="393700"/>
            <a:ext cx="8496300" cy="69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2400"/>
              <a:t>Gauss mejorado: el recorrido completo</a:t>
            </a:r>
            <a:endParaRPr sz="2400"/>
          </a:p>
        </p:txBody>
      </p:sp>
      <p:sp>
        <p:nvSpPr>
          <p:cNvPr id="327" name="Google Shape;327;p41"/>
          <p:cNvSpPr txBox="1"/>
          <p:nvPr>
            <p:ph idx="1" type="body"/>
          </p:nvPr>
        </p:nvSpPr>
        <p:spPr>
          <a:xfrm>
            <a:off x="381000" y="1066800"/>
            <a:ext cx="8318400" cy="55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600">
                <a:solidFill>
                  <a:srgbClr val="626262"/>
                </a:solidFill>
              </a:rPr>
              <a:t>La selección del pivote se agrega al comienzo de cada etapa.</a:t>
            </a:r>
            <a:endParaRPr sz="1600">
              <a:solidFill>
                <a:srgbClr val="626262"/>
              </a:solidFill>
            </a:endParaRPr>
          </a:p>
        </p:txBody>
      </p:sp>
      <p:sp>
        <p:nvSpPr>
          <p:cNvPr id="328" name="Google Shape;328;p41"/>
          <p:cNvSpPr txBox="1"/>
          <p:nvPr>
            <p:ph idx="12" type="sldNum"/>
          </p:nvPr>
        </p:nvSpPr>
        <p:spPr>
          <a:xfrm>
            <a:off x="8520083" y="4734654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sp>
        <p:nvSpPr>
          <p:cNvPr id="329" name="Google Shape;329;p41"/>
          <p:cNvSpPr/>
          <p:nvPr/>
        </p:nvSpPr>
        <p:spPr>
          <a:xfrm>
            <a:off x="381000" y="4508500"/>
            <a:ext cx="74931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rgbClr val="626262"/>
                </a:solidFill>
                <a:latin typeface="Montserrat"/>
                <a:ea typeface="Montserrat"/>
                <a:cs typeface="Montserrat"/>
                <a:sym typeface="Montserrat"/>
              </a:rPr>
              <a:t>Chapra, fig. 9.6 · implementación corregida disponible al final</a:t>
            </a:r>
            <a:endParaRPr sz="900">
              <a:solidFill>
                <a:srgbClr val="62626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30" name="Google Shape;330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1000" y="1651000"/>
            <a:ext cx="8382000" cy="2743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42"/>
          <p:cNvSpPr txBox="1"/>
          <p:nvPr>
            <p:ph type="ctrTitle"/>
          </p:nvPr>
        </p:nvSpPr>
        <p:spPr>
          <a:xfrm>
            <a:off x="311701" y="1506575"/>
            <a:ext cx="70668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Agregar ejemplo de la diferencia pequeña entre c</a:t>
            </a:r>
            <a:r>
              <a:rPr lang="es"/>
              <a:t>oeficientes</a:t>
            </a:r>
            <a:endParaRPr/>
          </a:p>
        </p:txBody>
      </p:sp>
      <p:sp>
        <p:nvSpPr>
          <p:cNvPr id="336" name="Google Shape;336;p42"/>
          <p:cNvSpPr txBox="1"/>
          <p:nvPr>
            <p:ph idx="1" type="subTitle"/>
          </p:nvPr>
        </p:nvSpPr>
        <p:spPr>
          <a:xfrm>
            <a:off x="311700" y="3596125"/>
            <a:ext cx="70668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43"/>
          <p:cNvSpPr txBox="1"/>
          <p:nvPr>
            <p:ph type="title"/>
          </p:nvPr>
        </p:nvSpPr>
        <p:spPr>
          <a:xfrm>
            <a:off x="317500" y="723900"/>
            <a:ext cx="8508900" cy="4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2400">
                <a:solidFill>
                  <a:srgbClr val="252C29"/>
                </a:solidFill>
                <a:latin typeface="Montserrat"/>
                <a:ea typeface="Montserrat"/>
                <a:cs typeface="Montserrat"/>
                <a:sym typeface="Montserrat"/>
              </a:rPr>
              <a:t>Interpolar a partir de dos datos</a:t>
            </a:r>
            <a:endParaRPr sz="2400">
              <a:solidFill>
                <a:srgbClr val="252C29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42" name="Google Shape;342;p43"/>
          <p:cNvSpPr txBox="1"/>
          <p:nvPr>
            <p:ph idx="12" type="sldNum"/>
          </p:nvPr>
        </p:nvSpPr>
        <p:spPr>
          <a:xfrm>
            <a:off x="8520083" y="4734654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sp>
        <p:nvSpPr>
          <p:cNvPr id="343" name="Google Shape;343;p43"/>
          <p:cNvSpPr txBox="1"/>
          <p:nvPr/>
        </p:nvSpPr>
        <p:spPr>
          <a:xfrm>
            <a:off x="381000" y="1244600"/>
            <a:ext cx="8382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600">
                <a:solidFill>
                  <a:srgbClr val="66716B"/>
                </a:solidFill>
                <a:latin typeface="Montserrat"/>
                <a:ea typeface="Montserrat"/>
                <a:cs typeface="Montserrat"/>
                <a:sym typeface="Montserrat"/>
              </a:rPr>
              <a:t>Calibración didáctica de un sensor, en unidades arbitrarias.</a:t>
            </a:r>
            <a:endParaRPr sz="1600">
              <a:solidFill>
                <a:srgbClr val="66716B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44" name="Google Shape;344;p43"/>
          <p:cNvSpPr txBox="1"/>
          <p:nvPr/>
        </p:nvSpPr>
        <p:spPr>
          <a:xfrm>
            <a:off x="381000" y="4368800"/>
            <a:ext cx="8255100" cy="40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rgbClr val="66716B"/>
                </a:solidFill>
                <a:latin typeface="Montserrat"/>
                <a:ea typeface="Montserrat"/>
                <a:cs typeface="Montserrat"/>
                <a:sym typeface="Montserrat"/>
              </a:rPr>
              <a:t>Interpolar: estimar un valor dentro del intervalo de datos conocidos.</a:t>
            </a:r>
            <a:endParaRPr>
              <a:solidFill>
                <a:srgbClr val="66716B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aphicFrame>
        <p:nvGraphicFramePr>
          <p:cNvPr id="345" name="Google Shape;345;p43"/>
          <p:cNvGraphicFramePr/>
          <p:nvPr/>
        </p:nvGraphicFramePr>
        <p:xfrm>
          <a:off x="444500" y="19177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{61632F88-6779-4D04-9DE2-9CD45BEE2DD9}</a:tableStyleId>
              </a:tblPr>
              <a:tblGrid>
                <a:gridCol w="1460500"/>
                <a:gridCol w="1460500"/>
              </a:tblGrid>
              <a:tr h="4572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800">
                          <a:solidFill>
                            <a:srgbClr val="1D4036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Entrada x</a:t>
                      </a:r>
                      <a:endParaRPr b="1" sz="1800">
                        <a:solidFill>
                          <a:srgbClr val="1D4036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D6D0C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D6D0C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D6D0C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D6D0C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4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800">
                          <a:solidFill>
                            <a:srgbClr val="1D4036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Salida y</a:t>
                      </a:r>
                      <a:endParaRPr b="1" sz="1800">
                        <a:solidFill>
                          <a:srgbClr val="1D4036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D6D0C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D6D0C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D6D0C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D6D0C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4D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800">
                          <a:solidFill>
                            <a:srgbClr val="252C29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0</a:t>
                      </a:r>
                      <a:endParaRPr sz="1800">
                        <a:solidFill>
                          <a:srgbClr val="252C29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D6D0C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D6D0C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D6D0C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D6D0C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4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800">
                          <a:solidFill>
                            <a:srgbClr val="252C29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</a:t>
                      </a:r>
                      <a:endParaRPr sz="1800">
                        <a:solidFill>
                          <a:srgbClr val="252C29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D6D0C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D6D0C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D6D0C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D6D0C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4D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800">
                          <a:solidFill>
                            <a:srgbClr val="252C29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</a:t>
                      </a:r>
                      <a:endParaRPr sz="1800">
                        <a:solidFill>
                          <a:srgbClr val="252C29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D6D0C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D6D0C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D6D0C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D6D0C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4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800">
                          <a:solidFill>
                            <a:srgbClr val="252C29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7</a:t>
                      </a:r>
                      <a:endParaRPr sz="1800">
                        <a:solidFill>
                          <a:srgbClr val="252C29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D6D0C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D6D0C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D6D0C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D6D0C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4D8"/>
                    </a:solidFill>
                  </a:tcPr>
                </a:tc>
              </a:tr>
            </a:tbl>
          </a:graphicData>
        </a:graphic>
      </p:graphicFrame>
      <p:sp>
        <p:nvSpPr>
          <p:cNvPr id="346" name="Google Shape;346;p43"/>
          <p:cNvSpPr txBox="1"/>
          <p:nvPr/>
        </p:nvSpPr>
        <p:spPr>
          <a:xfrm>
            <a:off x="444500" y="3429000"/>
            <a:ext cx="2984400" cy="66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600">
                <a:solidFill>
                  <a:srgbClr val="66716B"/>
                </a:solidFill>
                <a:latin typeface="Montserrat"/>
                <a:ea typeface="Montserrat"/>
                <a:cs typeface="Montserrat"/>
                <a:sym typeface="Montserrat"/>
              </a:rPr>
              <a:t>x: entrada del sensor</a:t>
            </a:r>
            <a:endParaRPr sz="1600">
              <a:solidFill>
                <a:srgbClr val="66716B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600">
                <a:solidFill>
                  <a:srgbClr val="66716B"/>
                </a:solidFill>
                <a:latin typeface="Montserrat"/>
                <a:ea typeface="Montserrat"/>
                <a:cs typeface="Montserrat"/>
                <a:sym typeface="Montserrat"/>
              </a:rPr>
              <a:t>y: salida del sensor</a:t>
            </a:r>
            <a:endParaRPr sz="1600">
              <a:solidFill>
                <a:srgbClr val="66716B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347" name="Google Shape;347;p43"/>
          <p:cNvCxnSpPr/>
          <p:nvPr/>
        </p:nvCxnSpPr>
        <p:spPr>
          <a:xfrm>
            <a:off x="4477349" y="1993900"/>
            <a:ext cx="0" cy="2019300"/>
          </a:xfrm>
          <a:prstGeom prst="straightConnector1">
            <a:avLst/>
          </a:prstGeom>
          <a:noFill/>
          <a:ln cap="flat" cmpd="sng" w="6350">
            <a:solidFill>
              <a:srgbClr val="D6D0C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48" name="Google Shape;348;p43"/>
          <p:cNvSpPr txBox="1"/>
          <p:nvPr/>
        </p:nvSpPr>
        <p:spPr>
          <a:xfrm>
            <a:off x="4299549" y="4051300"/>
            <a:ext cx="355500" cy="24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solidFill>
                  <a:srgbClr val="66716B"/>
                </a:solidFill>
                <a:latin typeface="Montserrat"/>
                <a:ea typeface="Montserrat"/>
                <a:cs typeface="Montserrat"/>
                <a:sym typeface="Montserrat"/>
              </a:rPr>
              <a:t>0</a:t>
            </a:r>
            <a:endParaRPr sz="1100">
              <a:solidFill>
                <a:srgbClr val="66716B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349" name="Google Shape;349;p43"/>
          <p:cNvCxnSpPr/>
          <p:nvPr/>
        </p:nvCxnSpPr>
        <p:spPr>
          <a:xfrm>
            <a:off x="5963009" y="1993900"/>
            <a:ext cx="0" cy="2019300"/>
          </a:xfrm>
          <a:prstGeom prst="straightConnector1">
            <a:avLst/>
          </a:prstGeom>
          <a:noFill/>
          <a:ln cap="flat" cmpd="sng" w="6350">
            <a:solidFill>
              <a:srgbClr val="D6D0C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50" name="Google Shape;350;p43"/>
          <p:cNvSpPr txBox="1"/>
          <p:nvPr/>
        </p:nvSpPr>
        <p:spPr>
          <a:xfrm>
            <a:off x="5785209" y="4051300"/>
            <a:ext cx="355500" cy="24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solidFill>
                  <a:srgbClr val="66716B"/>
                </a:solidFill>
                <a:latin typeface="Montserrat"/>
                <a:ea typeface="Montserrat"/>
                <a:cs typeface="Montserrat"/>
                <a:sym typeface="Montserrat"/>
              </a:rPr>
              <a:t>1</a:t>
            </a:r>
            <a:endParaRPr sz="1100">
              <a:solidFill>
                <a:srgbClr val="66716B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351" name="Google Shape;351;p43"/>
          <p:cNvCxnSpPr/>
          <p:nvPr/>
        </p:nvCxnSpPr>
        <p:spPr>
          <a:xfrm>
            <a:off x="7448670" y="1993900"/>
            <a:ext cx="0" cy="2019300"/>
          </a:xfrm>
          <a:prstGeom prst="straightConnector1">
            <a:avLst/>
          </a:prstGeom>
          <a:noFill/>
          <a:ln cap="flat" cmpd="sng" w="6350">
            <a:solidFill>
              <a:srgbClr val="D6D0C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52" name="Google Shape;352;p43"/>
          <p:cNvSpPr txBox="1"/>
          <p:nvPr/>
        </p:nvSpPr>
        <p:spPr>
          <a:xfrm>
            <a:off x="7270870" y="4051300"/>
            <a:ext cx="355500" cy="24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solidFill>
                  <a:srgbClr val="66716B"/>
                </a:solidFill>
                <a:latin typeface="Montserrat"/>
                <a:ea typeface="Montserrat"/>
                <a:cs typeface="Montserrat"/>
                <a:sym typeface="Montserrat"/>
              </a:rPr>
              <a:t>2</a:t>
            </a:r>
            <a:endParaRPr sz="1100">
              <a:solidFill>
                <a:srgbClr val="66716B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353" name="Google Shape;353;p43"/>
          <p:cNvCxnSpPr/>
          <p:nvPr/>
        </p:nvCxnSpPr>
        <p:spPr>
          <a:xfrm>
            <a:off x="4254500" y="3712453"/>
            <a:ext cx="3936900" cy="0"/>
          </a:xfrm>
          <a:prstGeom prst="straightConnector1">
            <a:avLst/>
          </a:prstGeom>
          <a:noFill/>
          <a:ln cap="flat" cmpd="sng" w="6350">
            <a:solidFill>
              <a:srgbClr val="D6D0C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54" name="Google Shape;354;p43"/>
          <p:cNvSpPr txBox="1"/>
          <p:nvPr/>
        </p:nvSpPr>
        <p:spPr>
          <a:xfrm>
            <a:off x="3822700" y="3585453"/>
            <a:ext cx="3684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solidFill>
                  <a:srgbClr val="66716B"/>
                </a:solidFill>
                <a:latin typeface="Montserrat"/>
                <a:ea typeface="Montserrat"/>
                <a:cs typeface="Montserrat"/>
                <a:sym typeface="Montserrat"/>
              </a:rPr>
              <a:t>1</a:t>
            </a:r>
            <a:endParaRPr sz="1100">
              <a:solidFill>
                <a:srgbClr val="66716B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355" name="Google Shape;355;p43"/>
          <p:cNvCxnSpPr/>
          <p:nvPr/>
        </p:nvCxnSpPr>
        <p:spPr>
          <a:xfrm>
            <a:off x="4254500" y="3067996"/>
            <a:ext cx="3936900" cy="0"/>
          </a:xfrm>
          <a:prstGeom prst="straightConnector1">
            <a:avLst/>
          </a:prstGeom>
          <a:noFill/>
          <a:ln cap="flat" cmpd="sng" w="6350">
            <a:solidFill>
              <a:srgbClr val="D6D0C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56" name="Google Shape;356;p43"/>
          <p:cNvSpPr txBox="1"/>
          <p:nvPr/>
        </p:nvSpPr>
        <p:spPr>
          <a:xfrm>
            <a:off x="3822700" y="2940996"/>
            <a:ext cx="3684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solidFill>
                  <a:srgbClr val="66716B"/>
                </a:solidFill>
                <a:latin typeface="Montserrat"/>
                <a:ea typeface="Montserrat"/>
                <a:cs typeface="Montserrat"/>
                <a:sym typeface="Montserrat"/>
              </a:rPr>
              <a:t>4</a:t>
            </a:r>
            <a:endParaRPr sz="1100">
              <a:solidFill>
                <a:srgbClr val="66716B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357" name="Google Shape;357;p43"/>
          <p:cNvCxnSpPr/>
          <p:nvPr/>
        </p:nvCxnSpPr>
        <p:spPr>
          <a:xfrm>
            <a:off x="4254500" y="2423538"/>
            <a:ext cx="3936900" cy="0"/>
          </a:xfrm>
          <a:prstGeom prst="straightConnector1">
            <a:avLst/>
          </a:prstGeom>
          <a:noFill/>
          <a:ln cap="flat" cmpd="sng" w="6350">
            <a:solidFill>
              <a:srgbClr val="D6D0C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58" name="Google Shape;358;p43"/>
          <p:cNvSpPr txBox="1"/>
          <p:nvPr/>
        </p:nvSpPr>
        <p:spPr>
          <a:xfrm>
            <a:off x="3822700" y="2296538"/>
            <a:ext cx="3684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solidFill>
                  <a:srgbClr val="66716B"/>
                </a:solidFill>
                <a:latin typeface="Montserrat"/>
                <a:ea typeface="Montserrat"/>
                <a:cs typeface="Montserrat"/>
                <a:sym typeface="Montserrat"/>
              </a:rPr>
              <a:t>7</a:t>
            </a:r>
            <a:endParaRPr sz="1100">
              <a:solidFill>
                <a:srgbClr val="66716B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359" name="Google Shape;359;p43"/>
          <p:cNvCxnSpPr/>
          <p:nvPr/>
        </p:nvCxnSpPr>
        <p:spPr>
          <a:xfrm>
            <a:off x="4254500" y="1993900"/>
            <a:ext cx="0" cy="2019300"/>
          </a:xfrm>
          <a:prstGeom prst="straightConnector1">
            <a:avLst/>
          </a:prstGeom>
          <a:noFill/>
          <a:ln cap="flat" cmpd="sng" w="10150">
            <a:solidFill>
              <a:srgbClr val="66716B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60" name="Google Shape;360;p43"/>
          <p:cNvCxnSpPr/>
          <p:nvPr/>
        </p:nvCxnSpPr>
        <p:spPr>
          <a:xfrm>
            <a:off x="4254500" y="4013200"/>
            <a:ext cx="3936900" cy="0"/>
          </a:xfrm>
          <a:prstGeom prst="straightConnector1">
            <a:avLst/>
          </a:prstGeom>
          <a:noFill/>
          <a:ln cap="flat" cmpd="sng" w="10150">
            <a:solidFill>
              <a:srgbClr val="66716B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61" name="Google Shape;361;p43"/>
          <p:cNvSpPr txBox="1"/>
          <p:nvPr/>
        </p:nvSpPr>
        <p:spPr>
          <a:xfrm>
            <a:off x="8204200" y="3987800"/>
            <a:ext cx="228600" cy="27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>
                <a:solidFill>
                  <a:srgbClr val="66716B"/>
                </a:solidFill>
                <a:latin typeface="Montserrat"/>
                <a:ea typeface="Montserrat"/>
                <a:cs typeface="Montserrat"/>
                <a:sym typeface="Montserrat"/>
              </a:rPr>
              <a:t>x</a:t>
            </a:r>
            <a:endParaRPr sz="1300">
              <a:solidFill>
                <a:srgbClr val="66716B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62" name="Google Shape;362;p43"/>
          <p:cNvSpPr txBox="1"/>
          <p:nvPr/>
        </p:nvSpPr>
        <p:spPr>
          <a:xfrm>
            <a:off x="4000500" y="1714500"/>
            <a:ext cx="2286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>
                <a:solidFill>
                  <a:srgbClr val="66716B"/>
                </a:solidFill>
                <a:latin typeface="Montserrat"/>
                <a:ea typeface="Montserrat"/>
                <a:cs typeface="Montserrat"/>
                <a:sym typeface="Montserrat"/>
              </a:rPr>
              <a:t>y</a:t>
            </a:r>
            <a:endParaRPr sz="1300">
              <a:solidFill>
                <a:srgbClr val="66716B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63" name="Google Shape;363;p43"/>
          <p:cNvSpPr/>
          <p:nvPr/>
        </p:nvSpPr>
        <p:spPr>
          <a:xfrm>
            <a:off x="4432899" y="3668003"/>
            <a:ext cx="88800" cy="88800"/>
          </a:xfrm>
          <a:prstGeom prst="ellipse">
            <a:avLst/>
          </a:prstGeom>
          <a:solidFill>
            <a:srgbClr val="1D4036"/>
          </a:solidFill>
          <a:ln cap="flat" cmpd="sng" w="7625">
            <a:solidFill>
              <a:srgbClr val="EFE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64" name="Google Shape;364;p43"/>
          <p:cNvSpPr txBox="1"/>
          <p:nvPr/>
        </p:nvSpPr>
        <p:spPr>
          <a:xfrm>
            <a:off x="4553549" y="3407653"/>
            <a:ext cx="8256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rgbClr val="1D4036"/>
                </a:solidFill>
                <a:latin typeface="Montserrat"/>
                <a:ea typeface="Montserrat"/>
                <a:cs typeface="Montserrat"/>
                <a:sym typeface="Montserrat"/>
              </a:rPr>
              <a:t>(0, 1)</a:t>
            </a:r>
            <a:endParaRPr b="1" sz="1200">
              <a:solidFill>
                <a:srgbClr val="1D403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65" name="Google Shape;365;p43"/>
          <p:cNvSpPr/>
          <p:nvPr/>
        </p:nvSpPr>
        <p:spPr>
          <a:xfrm>
            <a:off x="7404220" y="2379088"/>
            <a:ext cx="88800" cy="88800"/>
          </a:xfrm>
          <a:prstGeom prst="ellipse">
            <a:avLst/>
          </a:prstGeom>
          <a:solidFill>
            <a:srgbClr val="1D4036"/>
          </a:solidFill>
          <a:ln cap="flat" cmpd="sng" w="7625">
            <a:solidFill>
              <a:srgbClr val="EFE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66" name="Google Shape;366;p43"/>
          <p:cNvSpPr txBox="1"/>
          <p:nvPr/>
        </p:nvSpPr>
        <p:spPr>
          <a:xfrm>
            <a:off x="7359770" y="2106038"/>
            <a:ext cx="8256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rgbClr val="1D4036"/>
                </a:solidFill>
                <a:latin typeface="Montserrat"/>
                <a:ea typeface="Montserrat"/>
                <a:cs typeface="Montserrat"/>
                <a:sym typeface="Montserrat"/>
              </a:rPr>
              <a:t>(2, 7)</a:t>
            </a:r>
            <a:endParaRPr b="1" sz="1200">
              <a:solidFill>
                <a:srgbClr val="1D403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367" name="Google Shape;367;p43"/>
          <p:cNvCxnSpPr/>
          <p:nvPr/>
        </p:nvCxnSpPr>
        <p:spPr>
          <a:xfrm rot="10800000">
            <a:off x="5963009" y="2208572"/>
            <a:ext cx="0" cy="1718700"/>
          </a:xfrm>
          <a:prstGeom prst="straightConnector1">
            <a:avLst/>
          </a:prstGeom>
          <a:noFill/>
          <a:ln cap="flat" cmpd="sng" w="12700">
            <a:solidFill>
              <a:srgbClr val="BF6B1B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368" name="Google Shape;368;p43"/>
          <p:cNvSpPr txBox="1"/>
          <p:nvPr/>
        </p:nvSpPr>
        <p:spPr>
          <a:xfrm>
            <a:off x="6075650" y="2571750"/>
            <a:ext cx="24129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2000">
                <a:solidFill>
                  <a:srgbClr val="BF6B1B"/>
                </a:solidFill>
                <a:latin typeface="Montserrat"/>
                <a:ea typeface="Montserrat"/>
                <a:cs typeface="Montserrat"/>
                <a:sym typeface="Montserrat"/>
              </a:rPr>
              <a:t>x = 1</a:t>
            </a:r>
            <a:endParaRPr sz="2000">
              <a:solidFill>
                <a:srgbClr val="BF6B1B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2000">
                <a:solidFill>
                  <a:srgbClr val="BF6B1B"/>
                </a:solidFill>
                <a:latin typeface="Montserrat"/>
                <a:ea typeface="Montserrat"/>
                <a:cs typeface="Montserrat"/>
                <a:sym typeface="Montserrat"/>
              </a:rPr>
              <a:t>y por estimar</a:t>
            </a:r>
            <a:endParaRPr sz="2000">
              <a:solidFill>
                <a:srgbClr val="BF6B1B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44"/>
          <p:cNvSpPr txBox="1"/>
          <p:nvPr>
            <p:ph type="title"/>
          </p:nvPr>
        </p:nvSpPr>
        <p:spPr>
          <a:xfrm>
            <a:off x="317500" y="393700"/>
            <a:ext cx="8508900" cy="4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2400">
                <a:solidFill>
                  <a:srgbClr val="252C29"/>
                </a:solidFill>
                <a:latin typeface="Montserrat"/>
                <a:ea typeface="Montserrat"/>
                <a:cs typeface="Montserrat"/>
                <a:sym typeface="Montserrat"/>
              </a:rPr>
              <a:t>La pendiente de la recta</a:t>
            </a:r>
            <a:endParaRPr sz="2400">
              <a:solidFill>
                <a:srgbClr val="252C29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74" name="Google Shape;374;p44"/>
          <p:cNvSpPr txBox="1"/>
          <p:nvPr>
            <p:ph idx="1" type="body"/>
          </p:nvPr>
        </p:nvSpPr>
        <p:spPr>
          <a:xfrm>
            <a:off x="381000" y="1041400"/>
            <a:ext cx="8382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600">
                <a:solidFill>
                  <a:srgbClr val="66716B"/>
                </a:solidFill>
              </a:rPr>
              <a:t>Por cada unidad que avanzamos en x, y aumenta 3 unidades.</a:t>
            </a:r>
            <a:endParaRPr sz="1600">
              <a:solidFill>
                <a:srgbClr val="66716B"/>
              </a:solidFill>
            </a:endParaRPr>
          </a:p>
        </p:txBody>
      </p:sp>
      <p:sp>
        <p:nvSpPr>
          <p:cNvPr id="375" name="Google Shape;375;p44"/>
          <p:cNvSpPr txBox="1"/>
          <p:nvPr>
            <p:ph idx="12" type="sldNum"/>
          </p:nvPr>
        </p:nvSpPr>
        <p:spPr>
          <a:xfrm>
            <a:off x="8520083" y="4734654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sp>
        <p:nvSpPr>
          <p:cNvPr id="376" name="Google Shape;376;p44"/>
          <p:cNvSpPr/>
          <p:nvPr/>
        </p:nvSpPr>
        <p:spPr>
          <a:xfrm>
            <a:off x="381000" y="4432300"/>
            <a:ext cx="8255100" cy="29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>
                <a:solidFill>
                  <a:srgbClr val="66716B"/>
                </a:solidFill>
                <a:latin typeface="Montserrat"/>
                <a:ea typeface="Montserrat"/>
                <a:cs typeface="Montserrat"/>
                <a:sym typeface="Montserrat"/>
              </a:rPr>
              <a:t>Elegimos una recta para representar el comportamiento entre los dos datos.</a:t>
            </a:r>
            <a:endParaRPr sz="1300">
              <a:solidFill>
                <a:srgbClr val="66716B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377" name="Google Shape;377;p44"/>
          <p:cNvCxnSpPr/>
          <p:nvPr/>
        </p:nvCxnSpPr>
        <p:spPr>
          <a:xfrm>
            <a:off x="1042838" y="1905000"/>
            <a:ext cx="0" cy="2209800"/>
          </a:xfrm>
          <a:prstGeom prst="straightConnector1">
            <a:avLst/>
          </a:prstGeom>
          <a:noFill/>
          <a:ln cap="flat" cmpd="sng" w="6350">
            <a:solidFill>
              <a:srgbClr val="D6D0C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78" name="Google Shape;378;p44"/>
          <p:cNvSpPr txBox="1"/>
          <p:nvPr/>
        </p:nvSpPr>
        <p:spPr>
          <a:xfrm>
            <a:off x="865038" y="4152900"/>
            <a:ext cx="355500" cy="24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solidFill>
                  <a:srgbClr val="66716B"/>
                </a:solidFill>
                <a:latin typeface="Montserrat"/>
                <a:ea typeface="Montserrat"/>
                <a:cs typeface="Montserrat"/>
                <a:sym typeface="Montserrat"/>
              </a:rPr>
              <a:t>0</a:t>
            </a:r>
            <a:endParaRPr sz="1100">
              <a:solidFill>
                <a:srgbClr val="66716B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379" name="Google Shape;379;p44"/>
          <p:cNvCxnSpPr/>
          <p:nvPr/>
        </p:nvCxnSpPr>
        <p:spPr>
          <a:xfrm>
            <a:off x="2576423" y="1905000"/>
            <a:ext cx="0" cy="2209800"/>
          </a:xfrm>
          <a:prstGeom prst="straightConnector1">
            <a:avLst/>
          </a:prstGeom>
          <a:noFill/>
          <a:ln cap="flat" cmpd="sng" w="6350">
            <a:solidFill>
              <a:srgbClr val="D6D0C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80" name="Google Shape;380;p44"/>
          <p:cNvSpPr txBox="1"/>
          <p:nvPr/>
        </p:nvSpPr>
        <p:spPr>
          <a:xfrm>
            <a:off x="2398623" y="4152900"/>
            <a:ext cx="355500" cy="24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solidFill>
                  <a:srgbClr val="66716B"/>
                </a:solidFill>
                <a:latin typeface="Montserrat"/>
                <a:ea typeface="Montserrat"/>
                <a:cs typeface="Montserrat"/>
                <a:sym typeface="Montserrat"/>
              </a:rPr>
              <a:t>1</a:t>
            </a:r>
            <a:endParaRPr sz="1100">
              <a:solidFill>
                <a:srgbClr val="66716B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381" name="Google Shape;381;p44"/>
          <p:cNvCxnSpPr/>
          <p:nvPr/>
        </p:nvCxnSpPr>
        <p:spPr>
          <a:xfrm>
            <a:off x="4110008" y="1905000"/>
            <a:ext cx="0" cy="2209800"/>
          </a:xfrm>
          <a:prstGeom prst="straightConnector1">
            <a:avLst/>
          </a:prstGeom>
          <a:noFill/>
          <a:ln cap="flat" cmpd="sng" w="6350">
            <a:solidFill>
              <a:srgbClr val="D6D0C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82" name="Google Shape;382;p44"/>
          <p:cNvSpPr txBox="1"/>
          <p:nvPr/>
        </p:nvSpPr>
        <p:spPr>
          <a:xfrm>
            <a:off x="3932208" y="4152900"/>
            <a:ext cx="355500" cy="24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solidFill>
                  <a:srgbClr val="66716B"/>
                </a:solidFill>
                <a:latin typeface="Montserrat"/>
                <a:ea typeface="Montserrat"/>
                <a:cs typeface="Montserrat"/>
                <a:sym typeface="Montserrat"/>
              </a:rPr>
              <a:t>2</a:t>
            </a:r>
            <a:endParaRPr sz="1100">
              <a:solidFill>
                <a:srgbClr val="66716B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383" name="Google Shape;383;p44"/>
          <p:cNvCxnSpPr/>
          <p:nvPr/>
        </p:nvCxnSpPr>
        <p:spPr>
          <a:xfrm>
            <a:off x="812800" y="3788352"/>
            <a:ext cx="4064100" cy="0"/>
          </a:xfrm>
          <a:prstGeom prst="straightConnector1">
            <a:avLst/>
          </a:prstGeom>
          <a:noFill/>
          <a:ln cap="flat" cmpd="sng" w="6350">
            <a:solidFill>
              <a:srgbClr val="D6D0C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84" name="Google Shape;384;p44"/>
          <p:cNvSpPr txBox="1"/>
          <p:nvPr/>
        </p:nvSpPr>
        <p:spPr>
          <a:xfrm>
            <a:off x="381000" y="3661352"/>
            <a:ext cx="3684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solidFill>
                  <a:srgbClr val="66716B"/>
                </a:solidFill>
                <a:latin typeface="Montserrat"/>
                <a:ea typeface="Montserrat"/>
                <a:cs typeface="Montserrat"/>
                <a:sym typeface="Montserrat"/>
              </a:rPr>
              <a:t>1</a:t>
            </a:r>
            <a:endParaRPr sz="1100">
              <a:solidFill>
                <a:srgbClr val="66716B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385" name="Google Shape;385;p44"/>
          <p:cNvCxnSpPr/>
          <p:nvPr/>
        </p:nvCxnSpPr>
        <p:spPr>
          <a:xfrm>
            <a:off x="812800" y="3035011"/>
            <a:ext cx="4064100" cy="0"/>
          </a:xfrm>
          <a:prstGeom prst="straightConnector1">
            <a:avLst/>
          </a:prstGeom>
          <a:noFill/>
          <a:ln cap="flat" cmpd="sng" w="6350">
            <a:solidFill>
              <a:srgbClr val="D6D0C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86" name="Google Shape;386;p44"/>
          <p:cNvSpPr txBox="1"/>
          <p:nvPr/>
        </p:nvSpPr>
        <p:spPr>
          <a:xfrm>
            <a:off x="381000" y="2908011"/>
            <a:ext cx="3684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solidFill>
                  <a:srgbClr val="66716B"/>
                </a:solidFill>
                <a:latin typeface="Montserrat"/>
                <a:ea typeface="Montserrat"/>
                <a:cs typeface="Montserrat"/>
                <a:sym typeface="Montserrat"/>
              </a:rPr>
              <a:t>4</a:t>
            </a:r>
            <a:endParaRPr sz="1100">
              <a:solidFill>
                <a:srgbClr val="66716B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387" name="Google Shape;387;p44"/>
          <p:cNvCxnSpPr/>
          <p:nvPr/>
        </p:nvCxnSpPr>
        <p:spPr>
          <a:xfrm>
            <a:off x="812800" y="2281670"/>
            <a:ext cx="4064100" cy="0"/>
          </a:xfrm>
          <a:prstGeom prst="straightConnector1">
            <a:avLst/>
          </a:prstGeom>
          <a:noFill/>
          <a:ln cap="flat" cmpd="sng" w="6350">
            <a:solidFill>
              <a:srgbClr val="D6D0C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88" name="Google Shape;388;p44"/>
          <p:cNvSpPr txBox="1"/>
          <p:nvPr/>
        </p:nvSpPr>
        <p:spPr>
          <a:xfrm>
            <a:off x="381000" y="2154670"/>
            <a:ext cx="3684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solidFill>
                  <a:srgbClr val="66716B"/>
                </a:solidFill>
                <a:latin typeface="Montserrat"/>
                <a:ea typeface="Montserrat"/>
                <a:cs typeface="Montserrat"/>
                <a:sym typeface="Montserrat"/>
              </a:rPr>
              <a:t>7</a:t>
            </a:r>
            <a:endParaRPr sz="1100">
              <a:solidFill>
                <a:srgbClr val="66716B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389" name="Google Shape;389;p44"/>
          <p:cNvCxnSpPr/>
          <p:nvPr/>
        </p:nvCxnSpPr>
        <p:spPr>
          <a:xfrm>
            <a:off x="812800" y="1905000"/>
            <a:ext cx="0" cy="2209800"/>
          </a:xfrm>
          <a:prstGeom prst="straightConnector1">
            <a:avLst/>
          </a:prstGeom>
          <a:noFill/>
          <a:ln cap="flat" cmpd="sng" w="10150">
            <a:solidFill>
              <a:srgbClr val="66716B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90" name="Google Shape;390;p44"/>
          <p:cNvCxnSpPr/>
          <p:nvPr/>
        </p:nvCxnSpPr>
        <p:spPr>
          <a:xfrm>
            <a:off x="812800" y="4114800"/>
            <a:ext cx="4064100" cy="0"/>
          </a:xfrm>
          <a:prstGeom prst="straightConnector1">
            <a:avLst/>
          </a:prstGeom>
          <a:noFill/>
          <a:ln cap="flat" cmpd="sng" w="10150">
            <a:solidFill>
              <a:srgbClr val="66716B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91" name="Google Shape;391;p44"/>
          <p:cNvSpPr txBox="1"/>
          <p:nvPr/>
        </p:nvSpPr>
        <p:spPr>
          <a:xfrm>
            <a:off x="4889500" y="4089400"/>
            <a:ext cx="228600" cy="27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>
                <a:solidFill>
                  <a:srgbClr val="66716B"/>
                </a:solidFill>
                <a:latin typeface="Montserrat"/>
                <a:ea typeface="Montserrat"/>
                <a:cs typeface="Montserrat"/>
                <a:sym typeface="Montserrat"/>
              </a:rPr>
              <a:t>x</a:t>
            </a:r>
            <a:endParaRPr sz="1300">
              <a:solidFill>
                <a:srgbClr val="66716B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92" name="Google Shape;392;p44"/>
          <p:cNvSpPr txBox="1"/>
          <p:nvPr/>
        </p:nvSpPr>
        <p:spPr>
          <a:xfrm>
            <a:off x="558800" y="1625600"/>
            <a:ext cx="2286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>
                <a:solidFill>
                  <a:srgbClr val="66716B"/>
                </a:solidFill>
                <a:latin typeface="Montserrat"/>
                <a:ea typeface="Montserrat"/>
                <a:cs typeface="Montserrat"/>
                <a:sym typeface="Montserrat"/>
              </a:rPr>
              <a:t>y</a:t>
            </a:r>
            <a:endParaRPr sz="1300">
              <a:solidFill>
                <a:srgbClr val="66716B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393" name="Google Shape;393;p44"/>
          <p:cNvCxnSpPr/>
          <p:nvPr/>
        </p:nvCxnSpPr>
        <p:spPr>
          <a:xfrm flipH="1" rot="10800000">
            <a:off x="1042838" y="3748752"/>
            <a:ext cx="80700" cy="39600"/>
          </a:xfrm>
          <a:prstGeom prst="straightConnector1">
            <a:avLst/>
          </a:prstGeom>
          <a:noFill/>
          <a:ln cap="flat" cmpd="sng" w="25400">
            <a:solidFill>
              <a:srgbClr val="1D403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94" name="Google Shape;394;p44"/>
          <p:cNvCxnSpPr/>
          <p:nvPr/>
        </p:nvCxnSpPr>
        <p:spPr>
          <a:xfrm flipH="1" rot="10800000">
            <a:off x="1123553" y="3709103"/>
            <a:ext cx="80700" cy="39600"/>
          </a:xfrm>
          <a:prstGeom prst="straightConnector1">
            <a:avLst/>
          </a:prstGeom>
          <a:noFill/>
          <a:ln cap="flat" cmpd="sng" w="25400">
            <a:solidFill>
              <a:srgbClr val="1D403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95" name="Google Shape;395;p44"/>
          <p:cNvCxnSpPr/>
          <p:nvPr/>
        </p:nvCxnSpPr>
        <p:spPr>
          <a:xfrm flipH="1" rot="10800000">
            <a:off x="1204268" y="3669453"/>
            <a:ext cx="80700" cy="39600"/>
          </a:xfrm>
          <a:prstGeom prst="straightConnector1">
            <a:avLst/>
          </a:prstGeom>
          <a:noFill/>
          <a:ln cap="flat" cmpd="sng" w="25400">
            <a:solidFill>
              <a:srgbClr val="1D403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96" name="Google Shape;396;p44"/>
          <p:cNvCxnSpPr/>
          <p:nvPr/>
        </p:nvCxnSpPr>
        <p:spPr>
          <a:xfrm flipH="1" rot="10800000">
            <a:off x="1284983" y="3629804"/>
            <a:ext cx="80700" cy="39600"/>
          </a:xfrm>
          <a:prstGeom prst="straightConnector1">
            <a:avLst/>
          </a:prstGeom>
          <a:noFill/>
          <a:ln cap="flat" cmpd="sng" w="25400">
            <a:solidFill>
              <a:srgbClr val="1D403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97" name="Google Shape;397;p44"/>
          <p:cNvCxnSpPr/>
          <p:nvPr/>
        </p:nvCxnSpPr>
        <p:spPr>
          <a:xfrm flipH="1" rot="10800000">
            <a:off x="1365698" y="3590154"/>
            <a:ext cx="80700" cy="39600"/>
          </a:xfrm>
          <a:prstGeom prst="straightConnector1">
            <a:avLst/>
          </a:prstGeom>
          <a:noFill/>
          <a:ln cap="flat" cmpd="sng" w="25400">
            <a:solidFill>
              <a:srgbClr val="1D403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98" name="Google Shape;398;p44"/>
          <p:cNvCxnSpPr/>
          <p:nvPr/>
        </p:nvCxnSpPr>
        <p:spPr>
          <a:xfrm flipH="1" rot="10800000">
            <a:off x="1446413" y="3550505"/>
            <a:ext cx="80700" cy="39600"/>
          </a:xfrm>
          <a:prstGeom prst="straightConnector1">
            <a:avLst/>
          </a:prstGeom>
          <a:noFill/>
          <a:ln cap="flat" cmpd="sng" w="25400">
            <a:solidFill>
              <a:srgbClr val="1D403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99" name="Google Shape;399;p44"/>
          <p:cNvCxnSpPr/>
          <p:nvPr/>
        </p:nvCxnSpPr>
        <p:spPr>
          <a:xfrm flipH="1" rot="10800000">
            <a:off x="1527128" y="3510855"/>
            <a:ext cx="80700" cy="39600"/>
          </a:xfrm>
          <a:prstGeom prst="straightConnector1">
            <a:avLst/>
          </a:prstGeom>
          <a:noFill/>
          <a:ln cap="flat" cmpd="sng" w="25400">
            <a:solidFill>
              <a:srgbClr val="1D403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00" name="Google Shape;400;p44"/>
          <p:cNvCxnSpPr/>
          <p:nvPr/>
        </p:nvCxnSpPr>
        <p:spPr>
          <a:xfrm flipH="1" rot="10800000">
            <a:off x="1607843" y="3471206"/>
            <a:ext cx="80700" cy="39600"/>
          </a:xfrm>
          <a:prstGeom prst="straightConnector1">
            <a:avLst/>
          </a:prstGeom>
          <a:noFill/>
          <a:ln cap="flat" cmpd="sng" w="25400">
            <a:solidFill>
              <a:srgbClr val="1D403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01" name="Google Shape;401;p44"/>
          <p:cNvCxnSpPr/>
          <p:nvPr/>
        </p:nvCxnSpPr>
        <p:spPr>
          <a:xfrm flipH="1" rot="10800000">
            <a:off x="1688558" y="3431556"/>
            <a:ext cx="80700" cy="39600"/>
          </a:xfrm>
          <a:prstGeom prst="straightConnector1">
            <a:avLst/>
          </a:prstGeom>
          <a:noFill/>
          <a:ln cap="flat" cmpd="sng" w="25400">
            <a:solidFill>
              <a:srgbClr val="1D403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02" name="Google Shape;402;p44"/>
          <p:cNvCxnSpPr/>
          <p:nvPr/>
        </p:nvCxnSpPr>
        <p:spPr>
          <a:xfrm flipH="1" rot="10800000">
            <a:off x="1769273" y="3391907"/>
            <a:ext cx="80700" cy="39600"/>
          </a:xfrm>
          <a:prstGeom prst="straightConnector1">
            <a:avLst/>
          </a:prstGeom>
          <a:noFill/>
          <a:ln cap="flat" cmpd="sng" w="25400">
            <a:solidFill>
              <a:srgbClr val="1D403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03" name="Google Shape;403;p44"/>
          <p:cNvCxnSpPr/>
          <p:nvPr/>
        </p:nvCxnSpPr>
        <p:spPr>
          <a:xfrm flipH="1" rot="10800000">
            <a:off x="1849988" y="3352257"/>
            <a:ext cx="80700" cy="39600"/>
          </a:xfrm>
          <a:prstGeom prst="straightConnector1">
            <a:avLst/>
          </a:prstGeom>
          <a:noFill/>
          <a:ln cap="flat" cmpd="sng" w="25400">
            <a:solidFill>
              <a:srgbClr val="1D403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04" name="Google Shape;404;p44"/>
          <p:cNvCxnSpPr/>
          <p:nvPr/>
        </p:nvCxnSpPr>
        <p:spPr>
          <a:xfrm flipH="1" rot="10800000">
            <a:off x="1930703" y="3312608"/>
            <a:ext cx="80700" cy="39600"/>
          </a:xfrm>
          <a:prstGeom prst="straightConnector1">
            <a:avLst/>
          </a:prstGeom>
          <a:noFill/>
          <a:ln cap="flat" cmpd="sng" w="25400">
            <a:solidFill>
              <a:srgbClr val="1D403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05" name="Google Shape;405;p44"/>
          <p:cNvCxnSpPr/>
          <p:nvPr/>
        </p:nvCxnSpPr>
        <p:spPr>
          <a:xfrm flipH="1" rot="10800000">
            <a:off x="2011418" y="3272958"/>
            <a:ext cx="80700" cy="39600"/>
          </a:xfrm>
          <a:prstGeom prst="straightConnector1">
            <a:avLst/>
          </a:prstGeom>
          <a:noFill/>
          <a:ln cap="flat" cmpd="sng" w="25400">
            <a:solidFill>
              <a:srgbClr val="1D403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06" name="Google Shape;406;p44"/>
          <p:cNvCxnSpPr/>
          <p:nvPr/>
        </p:nvCxnSpPr>
        <p:spPr>
          <a:xfrm flipH="1" rot="10800000">
            <a:off x="2092133" y="3233308"/>
            <a:ext cx="80700" cy="39600"/>
          </a:xfrm>
          <a:prstGeom prst="straightConnector1">
            <a:avLst/>
          </a:prstGeom>
          <a:noFill/>
          <a:ln cap="flat" cmpd="sng" w="25400">
            <a:solidFill>
              <a:srgbClr val="1D403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07" name="Google Shape;407;p44"/>
          <p:cNvCxnSpPr/>
          <p:nvPr/>
        </p:nvCxnSpPr>
        <p:spPr>
          <a:xfrm flipH="1" rot="10800000">
            <a:off x="2172848" y="3193659"/>
            <a:ext cx="80700" cy="39600"/>
          </a:xfrm>
          <a:prstGeom prst="straightConnector1">
            <a:avLst/>
          </a:prstGeom>
          <a:noFill/>
          <a:ln cap="flat" cmpd="sng" w="25400">
            <a:solidFill>
              <a:srgbClr val="1D403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08" name="Google Shape;408;p44"/>
          <p:cNvCxnSpPr/>
          <p:nvPr/>
        </p:nvCxnSpPr>
        <p:spPr>
          <a:xfrm flipH="1" rot="10800000">
            <a:off x="2253563" y="3154009"/>
            <a:ext cx="80700" cy="39600"/>
          </a:xfrm>
          <a:prstGeom prst="straightConnector1">
            <a:avLst/>
          </a:prstGeom>
          <a:noFill/>
          <a:ln cap="flat" cmpd="sng" w="25400">
            <a:solidFill>
              <a:srgbClr val="1D403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09" name="Google Shape;409;p44"/>
          <p:cNvCxnSpPr/>
          <p:nvPr/>
        </p:nvCxnSpPr>
        <p:spPr>
          <a:xfrm flipH="1" rot="10800000">
            <a:off x="2334278" y="3114360"/>
            <a:ext cx="80700" cy="39600"/>
          </a:xfrm>
          <a:prstGeom prst="straightConnector1">
            <a:avLst/>
          </a:prstGeom>
          <a:noFill/>
          <a:ln cap="flat" cmpd="sng" w="25400">
            <a:solidFill>
              <a:srgbClr val="1D403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10" name="Google Shape;410;p44"/>
          <p:cNvCxnSpPr/>
          <p:nvPr/>
        </p:nvCxnSpPr>
        <p:spPr>
          <a:xfrm flipH="1" rot="10800000">
            <a:off x="2414993" y="3074710"/>
            <a:ext cx="80700" cy="39600"/>
          </a:xfrm>
          <a:prstGeom prst="straightConnector1">
            <a:avLst/>
          </a:prstGeom>
          <a:noFill/>
          <a:ln cap="flat" cmpd="sng" w="25400">
            <a:solidFill>
              <a:srgbClr val="1D403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11" name="Google Shape;411;p44"/>
          <p:cNvCxnSpPr/>
          <p:nvPr/>
        </p:nvCxnSpPr>
        <p:spPr>
          <a:xfrm flipH="1" rot="10800000">
            <a:off x="2495708" y="3035061"/>
            <a:ext cx="80700" cy="39600"/>
          </a:xfrm>
          <a:prstGeom prst="straightConnector1">
            <a:avLst/>
          </a:prstGeom>
          <a:noFill/>
          <a:ln cap="flat" cmpd="sng" w="25400">
            <a:solidFill>
              <a:srgbClr val="1D403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12" name="Google Shape;412;p44"/>
          <p:cNvCxnSpPr/>
          <p:nvPr/>
        </p:nvCxnSpPr>
        <p:spPr>
          <a:xfrm flipH="1" rot="10800000">
            <a:off x="2576423" y="2995411"/>
            <a:ext cx="80700" cy="39600"/>
          </a:xfrm>
          <a:prstGeom prst="straightConnector1">
            <a:avLst/>
          </a:prstGeom>
          <a:noFill/>
          <a:ln cap="flat" cmpd="sng" w="25400">
            <a:solidFill>
              <a:srgbClr val="1D403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13" name="Google Shape;413;p44"/>
          <p:cNvCxnSpPr/>
          <p:nvPr/>
        </p:nvCxnSpPr>
        <p:spPr>
          <a:xfrm flipH="1" rot="10800000">
            <a:off x="2657138" y="2955762"/>
            <a:ext cx="80700" cy="39600"/>
          </a:xfrm>
          <a:prstGeom prst="straightConnector1">
            <a:avLst/>
          </a:prstGeom>
          <a:noFill/>
          <a:ln cap="flat" cmpd="sng" w="25400">
            <a:solidFill>
              <a:srgbClr val="1D403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14" name="Google Shape;414;p44"/>
          <p:cNvCxnSpPr/>
          <p:nvPr/>
        </p:nvCxnSpPr>
        <p:spPr>
          <a:xfrm flipH="1" rot="10800000">
            <a:off x="2737853" y="2916112"/>
            <a:ext cx="80700" cy="39600"/>
          </a:xfrm>
          <a:prstGeom prst="straightConnector1">
            <a:avLst/>
          </a:prstGeom>
          <a:noFill/>
          <a:ln cap="flat" cmpd="sng" w="25400">
            <a:solidFill>
              <a:srgbClr val="1D403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15" name="Google Shape;415;p44"/>
          <p:cNvCxnSpPr/>
          <p:nvPr/>
        </p:nvCxnSpPr>
        <p:spPr>
          <a:xfrm flipH="1" rot="10800000">
            <a:off x="2818568" y="2876463"/>
            <a:ext cx="80700" cy="39600"/>
          </a:xfrm>
          <a:prstGeom prst="straightConnector1">
            <a:avLst/>
          </a:prstGeom>
          <a:noFill/>
          <a:ln cap="flat" cmpd="sng" w="25400">
            <a:solidFill>
              <a:srgbClr val="1D403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16" name="Google Shape;416;p44"/>
          <p:cNvCxnSpPr/>
          <p:nvPr/>
        </p:nvCxnSpPr>
        <p:spPr>
          <a:xfrm flipH="1" rot="10800000">
            <a:off x="2899283" y="2836813"/>
            <a:ext cx="80700" cy="39600"/>
          </a:xfrm>
          <a:prstGeom prst="straightConnector1">
            <a:avLst/>
          </a:prstGeom>
          <a:noFill/>
          <a:ln cap="flat" cmpd="sng" w="25400">
            <a:solidFill>
              <a:srgbClr val="1D403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17" name="Google Shape;417;p44"/>
          <p:cNvCxnSpPr/>
          <p:nvPr/>
        </p:nvCxnSpPr>
        <p:spPr>
          <a:xfrm flipH="1" rot="10800000">
            <a:off x="2979998" y="2797164"/>
            <a:ext cx="80700" cy="39600"/>
          </a:xfrm>
          <a:prstGeom prst="straightConnector1">
            <a:avLst/>
          </a:prstGeom>
          <a:noFill/>
          <a:ln cap="flat" cmpd="sng" w="25400">
            <a:solidFill>
              <a:srgbClr val="1D403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18" name="Google Shape;418;p44"/>
          <p:cNvCxnSpPr/>
          <p:nvPr/>
        </p:nvCxnSpPr>
        <p:spPr>
          <a:xfrm flipH="1" rot="10800000">
            <a:off x="3060713" y="2757514"/>
            <a:ext cx="80700" cy="39600"/>
          </a:xfrm>
          <a:prstGeom prst="straightConnector1">
            <a:avLst/>
          </a:prstGeom>
          <a:noFill/>
          <a:ln cap="flat" cmpd="sng" w="25400">
            <a:solidFill>
              <a:srgbClr val="1D403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19" name="Google Shape;419;p44"/>
          <p:cNvCxnSpPr/>
          <p:nvPr/>
        </p:nvCxnSpPr>
        <p:spPr>
          <a:xfrm flipH="1" rot="10800000">
            <a:off x="3141428" y="2717865"/>
            <a:ext cx="80700" cy="39600"/>
          </a:xfrm>
          <a:prstGeom prst="straightConnector1">
            <a:avLst/>
          </a:prstGeom>
          <a:noFill/>
          <a:ln cap="flat" cmpd="sng" w="25400">
            <a:solidFill>
              <a:srgbClr val="1D403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20" name="Google Shape;420;p44"/>
          <p:cNvCxnSpPr/>
          <p:nvPr/>
        </p:nvCxnSpPr>
        <p:spPr>
          <a:xfrm flipH="1" rot="10800000">
            <a:off x="3222143" y="2678215"/>
            <a:ext cx="80700" cy="39600"/>
          </a:xfrm>
          <a:prstGeom prst="straightConnector1">
            <a:avLst/>
          </a:prstGeom>
          <a:noFill/>
          <a:ln cap="flat" cmpd="sng" w="25400">
            <a:solidFill>
              <a:srgbClr val="1D403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21" name="Google Shape;421;p44"/>
          <p:cNvCxnSpPr/>
          <p:nvPr/>
        </p:nvCxnSpPr>
        <p:spPr>
          <a:xfrm flipH="1" rot="10800000">
            <a:off x="3302858" y="2638566"/>
            <a:ext cx="80700" cy="39600"/>
          </a:xfrm>
          <a:prstGeom prst="straightConnector1">
            <a:avLst/>
          </a:prstGeom>
          <a:noFill/>
          <a:ln cap="flat" cmpd="sng" w="25400">
            <a:solidFill>
              <a:srgbClr val="1D403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22" name="Google Shape;422;p44"/>
          <p:cNvCxnSpPr/>
          <p:nvPr/>
        </p:nvCxnSpPr>
        <p:spPr>
          <a:xfrm flipH="1" rot="10800000">
            <a:off x="3383573" y="2598916"/>
            <a:ext cx="80700" cy="39600"/>
          </a:xfrm>
          <a:prstGeom prst="straightConnector1">
            <a:avLst/>
          </a:prstGeom>
          <a:noFill/>
          <a:ln cap="flat" cmpd="sng" w="25400">
            <a:solidFill>
              <a:srgbClr val="1D403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23" name="Google Shape;423;p44"/>
          <p:cNvCxnSpPr/>
          <p:nvPr/>
        </p:nvCxnSpPr>
        <p:spPr>
          <a:xfrm flipH="1" rot="10800000">
            <a:off x="3464288" y="2559267"/>
            <a:ext cx="80700" cy="39600"/>
          </a:xfrm>
          <a:prstGeom prst="straightConnector1">
            <a:avLst/>
          </a:prstGeom>
          <a:noFill/>
          <a:ln cap="flat" cmpd="sng" w="25400">
            <a:solidFill>
              <a:srgbClr val="1D403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24" name="Google Shape;424;p44"/>
          <p:cNvCxnSpPr/>
          <p:nvPr/>
        </p:nvCxnSpPr>
        <p:spPr>
          <a:xfrm flipH="1" rot="10800000">
            <a:off x="3545003" y="2519617"/>
            <a:ext cx="80700" cy="39600"/>
          </a:xfrm>
          <a:prstGeom prst="straightConnector1">
            <a:avLst/>
          </a:prstGeom>
          <a:noFill/>
          <a:ln cap="flat" cmpd="sng" w="25400">
            <a:solidFill>
              <a:srgbClr val="1D403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25" name="Google Shape;425;p44"/>
          <p:cNvCxnSpPr/>
          <p:nvPr/>
        </p:nvCxnSpPr>
        <p:spPr>
          <a:xfrm flipH="1" rot="10800000">
            <a:off x="3625718" y="2479968"/>
            <a:ext cx="80700" cy="39600"/>
          </a:xfrm>
          <a:prstGeom prst="straightConnector1">
            <a:avLst/>
          </a:prstGeom>
          <a:noFill/>
          <a:ln cap="flat" cmpd="sng" w="25400">
            <a:solidFill>
              <a:srgbClr val="1D403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26" name="Google Shape;426;p44"/>
          <p:cNvCxnSpPr/>
          <p:nvPr/>
        </p:nvCxnSpPr>
        <p:spPr>
          <a:xfrm flipH="1" rot="10800000">
            <a:off x="3706433" y="2440318"/>
            <a:ext cx="80700" cy="39600"/>
          </a:xfrm>
          <a:prstGeom prst="straightConnector1">
            <a:avLst/>
          </a:prstGeom>
          <a:noFill/>
          <a:ln cap="flat" cmpd="sng" w="25400">
            <a:solidFill>
              <a:srgbClr val="1D403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27" name="Google Shape;427;p44"/>
          <p:cNvCxnSpPr/>
          <p:nvPr/>
        </p:nvCxnSpPr>
        <p:spPr>
          <a:xfrm flipH="1" rot="10800000">
            <a:off x="3787148" y="2400669"/>
            <a:ext cx="80700" cy="39600"/>
          </a:xfrm>
          <a:prstGeom prst="straightConnector1">
            <a:avLst/>
          </a:prstGeom>
          <a:noFill/>
          <a:ln cap="flat" cmpd="sng" w="25400">
            <a:solidFill>
              <a:srgbClr val="1D403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28" name="Google Shape;428;p44"/>
          <p:cNvCxnSpPr/>
          <p:nvPr/>
        </p:nvCxnSpPr>
        <p:spPr>
          <a:xfrm flipH="1" rot="10800000">
            <a:off x="3867863" y="2361019"/>
            <a:ext cx="80700" cy="39600"/>
          </a:xfrm>
          <a:prstGeom prst="straightConnector1">
            <a:avLst/>
          </a:prstGeom>
          <a:noFill/>
          <a:ln cap="flat" cmpd="sng" w="25400">
            <a:solidFill>
              <a:srgbClr val="1D403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29" name="Google Shape;429;p44"/>
          <p:cNvCxnSpPr/>
          <p:nvPr/>
        </p:nvCxnSpPr>
        <p:spPr>
          <a:xfrm flipH="1" rot="10800000">
            <a:off x="3948578" y="2321369"/>
            <a:ext cx="80700" cy="39600"/>
          </a:xfrm>
          <a:prstGeom prst="straightConnector1">
            <a:avLst/>
          </a:prstGeom>
          <a:noFill/>
          <a:ln cap="flat" cmpd="sng" w="25400">
            <a:solidFill>
              <a:srgbClr val="1D403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30" name="Google Shape;430;p44"/>
          <p:cNvCxnSpPr/>
          <p:nvPr/>
        </p:nvCxnSpPr>
        <p:spPr>
          <a:xfrm flipH="1" rot="10800000">
            <a:off x="4029293" y="2281720"/>
            <a:ext cx="80700" cy="39600"/>
          </a:xfrm>
          <a:prstGeom prst="straightConnector1">
            <a:avLst/>
          </a:prstGeom>
          <a:noFill/>
          <a:ln cap="flat" cmpd="sng" w="25400">
            <a:solidFill>
              <a:srgbClr val="1D403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31" name="Google Shape;431;p44"/>
          <p:cNvCxnSpPr/>
          <p:nvPr/>
        </p:nvCxnSpPr>
        <p:spPr>
          <a:xfrm>
            <a:off x="1042838" y="3788352"/>
            <a:ext cx="3067200" cy="0"/>
          </a:xfrm>
          <a:prstGeom prst="straightConnector1">
            <a:avLst/>
          </a:prstGeom>
          <a:noFill/>
          <a:ln cap="flat" cmpd="sng" w="12700">
            <a:solidFill>
              <a:srgbClr val="3979BD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432" name="Google Shape;432;p44"/>
          <p:cNvCxnSpPr/>
          <p:nvPr/>
        </p:nvCxnSpPr>
        <p:spPr>
          <a:xfrm rot="10800000">
            <a:off x="4110008" y="2281752"/>
            <a:ext cx="0" cy="1506600"/>
          </a:xfrm>
          <a:prstGeom prst="straightConnector1">
            <a:avLst/>
          </a:prstGeom>
          <a:noFill/>
          <a:ln cap="flat" cmpd="sng" w="12700">
            <a:solidFill>
              <a:srgbClr val="3979BD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433" name="Google Shape;433;p44"/>
          <p:cNvSpPr/>
          <p:nvPr/>
        </p:nvSpPr>
        <p:spPr>
          <a:xfrm>
            <a:off x="998388" y="3743902"/>
            <a:ext cx="88800" cy="88800"/>
          </a:xfrm>
          <a:prstGeom prst="ellipse">
            <a:avLst/>
          </a:prstGeom>
          <a:solidFill>
            <a:srgbClr val="1D4036"/>
          </a:solidFill>
          <a:ln cap="flat" cmpd="sng" w="7625">
            <a:solidFill>
              <a:srgbClr val="EFE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34" name="Google Shape;434;p44"/>
          <p:cNvSpPr txBox="1"/>
          <p:nvPr/>
        </p:nvSpPr>
        <p:spPr>
          <a:xfrm>
            <a:off x="1017438" y="3254952"/>
            <a:ext cx="8256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rgbClr val="1D4036"/>
                </a:solidFill>
                <a:latin typeface="Montserrat"/>
                <a:ea typeface="Montserrat"/>
                <a:cs typeface="Montserrat"/>
                <a:sym typeface="Montserrat"/>
              </a:rPr>
              <a:t>(0, 1)</a:t>
            </a:r>
            <a:endParaRPr b="1" sz="1200">
              <a:solidFill>
                <a:srgbClr val="1D403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35" name="Google Shape;435;p44"/>
          <p:cNvSpPr/>
          <p:nvPr/>
        </p:nvSpPr>
        <p:spPr>
          <a:xfrm>
            <a:off x="4065558" y="2237220"/>
            <a:ext cx="88800" cy="88800"/>
          </a:xfrm>
          <a:prstGeom prst="ellipse">
            <a:avLst/>
          </a:prstGeom>
          <a:solidFill>
            <a:srgbClr val="1D4036"/>
          </a:solidFill>
          <a:ln cap="flat" cmpd="sng" w="7625">
            <a:solidFill>
              <a:srgbClr val="EFE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36" name="Google Shape;436;p44"/>
          <p:cNvSpPr txBox="1"/>
          <p:nvPr/>
        </p:nvSpPr>
        <p:spPr>
          <a:xfrm>
            <a:off x="4033808" y="1976870"/>
            <a:ext cx="8256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rgbClr val="1D4036"/>
                </a:solidFill>
                <a:latin typeface="Montserrat"/>
                <a:ea typeface="Montserrat"/>
                <a:cs typeface="Montserrat"/>
                <a:sym typeface="Montserrat"/>
              </a:rPr>
              <a:t>(2, 7)</a:t>
            </a:r>
            <a:endParaRPr b="1" sz="1200">
              <a:solidFill>
                <a:srgbClr val="1D403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37" name="Google Shape;437;p44"/>
          <p:cNvSpPr txBox="1"/>
          <p:nvPr/>
        </p:nvSpPr>
        <p:spPr>
          <a:xfrm>
            <a:off x="1485900" y="3848100"/>
            <a:ext cx="1524000" cy="29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rgbClr val="3979BD"/>
                </a:solidFill>
                <a:latin typeface="Montserrat"/>
                <a:ea typeface="Montserrat"/>
                <a:cs typeface="Montserrat"/>
                <a:sym typeface="Montserrat"/>
              </a:rPr>
              <a:t>avance: 2</a:t>
            </a:r>
            <a:endParaRPr>
              <a:solidFill>
                <a:srgbClr val="3979BD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38" name="Google Shape;438;p44"/>
          <p:cNvSpPr txBox="1"/>
          <p:nvPr/>
        </p:nvSpPr>
        <p:spPr>
          <a:xfrm>
            <a:off x="3429000" y="2717800"/>
            <a:ext cx="1460400" cy="29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rgbClr val="3979BD"/>
                </a:solidFill>
                <a:latin typeface="Montserrat"/>
                <a:ea typeface="Montserrat"/>
                <a:cs typeface="Montserrat"/>
                <a:sym typeface="Montserrat"/>
              </a:rPr>
              <a:t>subida: 6</a:t>
            </a:r>
            <a:endParaRPr>
              <a:solidFill>
                <a:srgbClr val="3979BD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39" name="Google Shape;439;p44"/>
          <p:cNvSpPr txBox="1"/>
          <p:nvPr/>
        </p:nvSpPr>
        <p:spPr>
          <a:xfrm>
            <a:off x="5461000" y="1739900"/>
            <a:ext cx="33654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rgbClr val="1D4036"/>
                </a:solidFill>
                <a:latin typeface="Montserrat"/>
                <a:ea typeface="Montserrat"/>
                <a:cs typeface="Montserrat"/>
                <a:sym typeface="Montserrat"/>
              </a:rPr>
              <a:t>Cambio en y: 7 − 1 = 6</a:t>
            </a:r>
            <a:endParaRPr sz="1800">
              <a:solidFill>
                <a:srgbClr val="1D403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40" name="Google Shape;440;p44"/>
          <p:cNvSpPr txBox="1"/>
          <p:nvPr/>
        </p:nvSpPr>
        <p:spPr>
          <a:xfrm>
            <a:off x="5461000" y="2286000"/>
            <a:ext cx="33654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rgbClr val="1D4036"/>
                </a:solidFill>
                <a:latin typeface="Montserrat"/>
                <a:ea typeface="Montserrat"/>
                <a:cs typeface="Montserrat"/>
                <a:sym typeface="Montserrat"/>
              </a:rPr>
              <a:t>Cambio en x: 2 − 0 = 2</a:t>
            </a:r>
            <a:endParaRPr sz="1800">
              <a:solidFill>
                <a:srgbClr val="1D403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41" name="Google Shape;441;p44"/>
          <p:cNvSpPr txBox="1"/>
          <p:nvPr/>
        </p:nvSpPr>
        <p:spPr>
          <a:xfrm>
            <a:off x="5461000" y="3162300"/>
            <a:ext cx="1968600" cy="4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2100">
                <a:solidFill>
                  <a:srgbClr val="1D4036"/>
                </a:solidFill>
                <a:latin typeface="Montserrat"/>
                <a:ea typeface="Montserrat"/>
                <a:cs typeface="Montserrat"/>
                <a:sym typeface="Montserrat"/>
              </a:rPr>
              <a:t>Pendiente =</a:t>
            </a:r>
            <a:endParaRPr sz="2100">
              <a:solidFill>
                <a:srgbClr val="1D403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42" name="Google Shape;442;p44"/>
          <p:cNvSpPr txBox="1"/>
          <p:nvPr/>
        </p:nvSpPr>
        <p:spPr>
          <a:xfrm>
            <a:off x="7315200" y="2946400"/>
            <a:ext cx="5334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2400">
                <a:solidFill>
                  <a:srgbClr val="1D4036"/>
                </a:solidFill>
                <a:latin typeface="Montserrat"/>
                <a:ea typeface="Montserrat"/>
                <a:cs typeface="Montserrat"/>
                <a:sym typeface="Montserrat"/>
              </a:rPr>
              <a:t>6</a:t>
            </a:r>
            <a:endParaRPr sz="2400">
              <a:solidFill>
                <a:srgbClr val="1D403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443" name="Google Shape;443;p44"/>
          <p:cNvCxnSpPr/>
          <p:nvPr/>
        </p:nvCxnSpPr>
        <p:spPr>
          <a:xfrm>
            <a:off x="7378700" y="3378200"/>
            <a:ext cx="406500" cy="0"/>
          </a:xfrm>
          <a:prstGeom prst="straightConnector1">
            <a:avLst/>
          </a:prstGeom>
          <a:noFill/>
          <a:ln cap="flat" cmpd="sng" w="12700">
            <a:solidFill>
              <a:srgbClr val="1D403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44" name="Google Shape;444;p44"/>
          <p:cNvSpPr txBox="1"/>
          <p:nvPr/>
        </p:nvSpPr>
        <p:spPr>
          <a:xfrm>
            <a:off x="7315200" y="3403600"/>
            <a:ext cx="533400" cy="40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2400">
                <a:solidFill>
                  <a:srgbClr val="1D4036"/>
                </a:solidFill>
                <a:latin typeface="Montserrat"/>
                <a:ea typeface="Montserrat"/>
                <a:cs typeface="Montserrat"/>
                <a:sym typeface="Montserrat"/>
              </a:rPr>
              <a:t>2</a:t>
            </a:r>
            <a:endParaRPr sz="2400">
              <a:solidFill>
                <a:srgbClr val="1D403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45" name="Google Shape;445;p44"/>
          <p:cNvSpPr txBox="1"/>
          <p:nvPr/>
        </p:nvSpPr>
        <p:spPr>
          <a:xfrm>
            <a:off x="7937500" y="3175000"/>
            <a:ext cx="850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2500">
                <a:solidFill>
                  <a:srgbClr val="BF6B1B"/>
                </a:solidFill>
                <a:latin typeface="Montserrat"/>
                <a:ea typeface="Montserrat"/>
                <a:cs typeface="Montserrat"/>
                <a:sym typeface="Montserrat"/>
              </a:rPr>
              <a:t>= 3</a:t>
            </a:r>
            <a:endParaRPr sz="2500">
              <a:solidFill>
                <a:srgbClr val="BF6B1B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9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p45"/>
          <p:cNvSpPr txBox="1"/>
          <p:nvPr>
            <p:ph type="title"/>
          </p:nvPr>
        </p:nvSpPr>
        <p:spPr>
          <a:xfrm>
            <a:off x="317500" y="393700"/>
            <a:ext cx="8508900" cy="4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2400">
                <a:solidFill>
                  <a:srgbClr val="252C29"/>
                </a:solidFill>
                <a:latin typeface="Montserrat"/>
                <a:ea typeface="Montserrat"/>
                <a:cs typeface="Montserrat"/>
                <a:sym typeface="Montserrat"/>
              </a:rPr>
              <a:t>Newton lineal: la fórmula y la consulta</a:t>
            </a:r>
            <a:endParaRPr sz="2400">
              <a:solidFill>
                <a:srgbClr val="252C29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51" name="Google Shape;451;p45"/>
          <p:cNvSpPr txBox="1"/>
          <p:nvPr>
            <p:ph idx="1" type="body"/>
          </p:nvPr>
        </p:nvSpPr>
        <p:spPr>
          <a:xfrm>
            <a:off x="381000" y="1041400"/>
            <a:ext cx="8382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600">
                <a:solidFill>
                  <a:srgbClr val="66716B"/>
                </a:solidFill>
              </a:rPr>
              <a:t>Valor inicial + pendiente × avance desde el primer punto.</a:t>
            </a:r>
            <a:endParaRPr sz="1600">
              <a:solidFill>
                <a:srgbClr val="66716B"/>
              </a:solidFill>
            </a:endParaRPr>
          </a:p>
        </p:txBody>
      </p:sp>
      <p:sp>
        <p:nvSpPr>
          <p:cNvPr id="452" name="Google Shape;452;p45"/>
          <p:cNvSpPr txBox="1"/>
          <p:nvPr>
            <p:ph idx="12" type="sldNum"/>
          </p:nvPr>
        </p:nvSpPr>
        <p:spPr>
          <a:xfrm>
            <a:off x="8520083" y="4734654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sp>
        <p:nvSpPr>
          <p:cNvPr id="453" name="Google Shape;453;p45"/>
          <p:cNvSpPr/>
          <p:nvPr/>
        </p:nvSpPr>
        <p:spPr>
          <a:xfrm>
            <a:off x="381000" y="4419600"/>
            <a:ext cx="8255100" cy="29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>
                <a:solidFill>
                  <a:srgbClr val="66716B"/>
                </a:solidFill>
                <a:latin typeface="Montserrat"/>
                <a:ea typeface="Montserrat"/>
                <a:cs typeface="Montserrat"/>
                <a:sym typeface="Montserrat"/>
              </a:rPr>
              <a:t>P nombra el polinomio. El subíndice 1 indica grado uno: una recta.</a:t>
            </a:r>
            <a:endParaRPr sz="1300">
              <a:solidFill>
                <a:srgbClr val="66716B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54" name="Google Shape;454;p45"/>
          <p:cNvSpPr txBox="1"/>
          <p:nvPr/>
        </p:nvSpPr>
        <p:spPr>
          <a:xfrm>
            <a:off x="660400" y="1498600"/>
            <a:ext cx="8064600" cy="62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2700">
                <a:solidFill>
                  <a:srgbClr val="1D4036"/>
                </a:solidFill>
                <a:latin typeface="Montserrat"/>
                <a:ea typeface="Montserrat"/>
                <a:cs typeface="Montserrat"/>
                <a:sym typeface="Montserrat"/>
              </a:rPr>
              <a:t>P</a:t>
            </a:r>
            <a:r>
              <a:rPr baseline="-25000" lang="es" sz="2700">
                <a:solidFill>
                  <a:srgbClr val="1D4036"/>
                </a:solidFill>
                <a:latin typeface="Montserrat"/>
                <a:ea typeface="Montserrat"/>
                <a:cs typeface="Montserrat"/>
                <a:sym typeface="Montserrat"/>
              </a:rPr>
              <a:t>1</a:t>
            </a:r>
            <a:r>
              <a:rPr lang="es" sz="2700">
                <a:solidFill>
                  <a:srgbClr val="1D4036"/>
                </a:solidFill>
                <a:latin typeface="Montserrat"/>
                <a:ea typeface="Montserrat"/>
                <a:cs typeface="Montserrat"/>
                <a:sym typeface="Montserrat"/>
              </a:rPr>
              <a:t>(x) = 1 + 3(x − 0) = 1 + 3x</a:t>
            </a:r>
            <a:endParaRPr sz="2700">
              <a:solidFill>
                <a:srgbClr val="1D403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455" name="Google Shape;455;p45"/>
          <p:cNvCxnSpPr/>
          <p:nvPr/>
        </p:nvCxnSpPr>
        <p:spPr>
          <a:xfrm>
            <a:off x="1040130" y="2501900"/>
            <a:ext cx="0" cy="1638300"/>
          </a:xfrm>
          <a:prstGeom prst="straightConnector1">
            <a:avLst/>
          </a:prstGeom>
          <a:noFill/>
          <a:ln cap="flat" cmpd="sng" w="6350">
            <a:solidFill>
              <a:srgbClr val="D6D0C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56" name="Google Shape;456;p45"/>
          <p:cNvSpPr txBox="1"/>
          <p:nvPr/>
        </p:nvSpPr>
        <p:spPr>
          <a:xfrm>
            <a:off x="862330" y="4178300"/>
            <a:ext cx="355500" cy="24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solidFill>
                  <a:srgbClr val="66716B"/>
                </a:solidFill>
                <a:latin typeface="Montserrat"/>
                <a:ea typeface="Montserrat"/>
                <a:cs typeface="Montserrat"/>
                <a:sym typeface="Montserrat"/>
              </a:rPr>
              <a:t>0</a:t>
            </a:r>
            <a:endParaRPr sz="1100">
              <a:solidFill>
                <a:srgbClr val="66716B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457" name="Google Shape;457;p45"/>
          <p:cNvCxnSpPr/>
          <p:nvPr/>
        </p:nvCxnSpPr>
        <p:spPr>
          <a:xfrm>
            <a:off x="2386330" y="2501900"/>
            <a:ext cx="0" cy="1638300"/>
          </a:xfrm>
          <a:prstGeom prst="straightConnector1">
            <a:avLst/>
          </a:prstGeom>
          <a:noFill/>
          <a:ln cap="flat" cmpd="sng" w="6350">
            <a:solidFill>
              <a:srgbClr val="D6D0C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58" name="Google Shape;458;p45"/>
          <p:cNvSpPr txBox="1"/>
          <p:nvPr/>
        </p:nvSpPr>
        <p:spPr>
          <a:xfrm>
            <a:off x="2208530" y="4178300"/>
            <a:ext cx="355500" cy="24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solidFill>
                  <a:srgbClr val="66716B"/>
                </a:solidFill>
                <a:latin typeface="Montserrat"/>
                <a:ea typeface="Montserrat"/>
                <a:cs typeface="Montserrat"/>
                <a:sym typeface="Montserrat"/>
              </a:rPr>
              <a:t>1</a:t>
            </a:r>
            <a:endParaRPr sz="1100">
              <a:solidFill>
                <a:srgbClr val="66716B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459" name="Google Shape;459;p45"/>
          <p:cNvCxnSpPr/>
          <p:nvPr/>
        </p:nvCxnSpPr>
        <p:spPr>
          <a:xfrm>
            <a:off x="3732530" y="2501900"/>
            <a:ext cx="0" cy="1638300"/>
          </a:xfrm>
          <a:prstGeom prst="straightConnector1">
            <a:avLst/>
          </a:prstGeom>
          <a:noFill/>
          <a:ln cap="flat" cmpd="sng" w="6350">
            <a:solidFill>
              <a:srgbClr val="D6D0C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60" name="Google Shape;460;p45"/>
          <p:cNvSpPr txBox="1"/>
          <p:nvPr/>
        </p:nvSpPr>
        <p:spPr>
          <a:xfrm>
            <a:off x="3554730" y="4178300"/>
            <a:ext cx="355500" cy="24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solidFill>
                  <a:srgbClr val="66716B"/>
                </a:solidFill>
                <a:latin typeface="Montserrat"/>
                <a:ea typeface="Montserrat"/>
                <a:cs typeface="Montserrat"/>
                <a:sym typeface="Montserrat"/>
              </a:rPr>
              <a:t>2</a:t>
            </a:r>
            <a:endParaRPr sz="1100">
              <a:solidFill>
                <a:srgbClr val="66716B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461" name="Google Shape;461;p45"/>
          <p:cNvCxnSpPr/>
          <p:nvPr/>
        </p:nvCxnSpPr>
        <p:spPr>
          <a:xfrm>
            <a:off x="838200" y="3883599"/>
            <a:ext cx="3365400" cy="0"/>
          </a:xfrm>
          <a:prstGeom prst="straightConnector1">
            <a:avLst/>
          </a:prstGeom>
          <a:noFill/>
          <a:ln cap="flat" cmpd="sng" w="6350">
            <a:solidFill>
              <a:srgbClr val="D6D0C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62" name="Google Shape;462;p45"/>
          <p:cNvSpPr txBox="1"/>
          <p:nvPr/>
        </p:nvSpPr>
        <p:spPr>
          <a:xfrm>
            <a:off x="406400" y="3756599"/>
            <a:ext cx="3684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solidFill>
                  <a:srgbClr val="66716B"/>
                </a:solidFill>
                <a:latin typeface="Montserrat"/>
                <a:ea typeface="Montserrat"/>
                <a:cs typeface="Montserrat"/>
                <a:sym typeface="Montserrat"/>
              </a:rPr>
              <a:t>1</a:t>
            </a:r>
            <a:endParaRPr sz="1100">
              <a:solidFill>
                <a:srgbClr val="66716B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463" name="Google Shape;463;p45"/>
          <p:cNvCxnSpPr/>
          <p:nvPr/>
        </p:nvCxnSpPr>
        <p:spPr>
          <a:xfrm>
            <a:off x="838200" y="3291442"/>
            <a:ext cx="3365400" cy="0"/>
          </a:xfrm>
          <a:prstGeom prst="straightConnector1">
            <a:avLst/>
          </a:prstGeom>
          <a:noFill/>
          <a:ln cap="flat" cmpd="sng" w="6350">
            <a:solidFill>
              <a:srgbClr val="D6D0C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64" name="Google Shape;464;p45"/>
          <p:cNvSpPr txBox="1"/>
          <p:nvPr/>
        </p:nvSpPr>
        <p:spPr>
          <a:xfrm>
            <a:off x="406400" y="3164442"/>
            <a:ext cx="3684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solidFill>
                  <a:srgbClr val="66716B"/>
                </a:solidFill>
                <a:latin typeface="Montserrat"/>
                <a:ea typeface="Montserrat"/>
                <a:cs typeface="Montserrat"/>
                <a:sym typeface="Montserrat"/>
              </a:rPr>
              <a:t>4</a:t>
            </a:r>
            <a:endParaRPr sz="1100">
              <a:solidFill>
                <a:srgbClr val="66716B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465" name="Google Shape;465;p45"/>
          <p:cNvCxnSpPr/>
          <p:nvPr/>
        </p:nvCxnSpPr>
        <p:spPr>
          <a:xfrm>
            <a:off x="838200" y="2699286"/>
            <a:ext cx="3365400" cy="0"/>
          </a:xfrm>
          <a:prstGeom prst="straightConnector1">
            <a:avLst/>
          </a:prstGeom>
          <a:noFill/>
          <a:ln cap="flat" cmpd="sng" w="6350">
            <a:solidFill>
              <a:srgbClr val="D6D0C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66" name="Google Shape;466;p45"/>
          <p:cNvSpPr txBox="1"/>
          <p:nvPr/>
        </p:nvSpPr>
        <p:spPr>
          <a:xfrm>
            <a:off x="406400" y="2572286"/>
            <a:ext cx="3684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solidFill>
                  <a:srgbClr val="66716B"/>
                </a:solidFill>
                <a:latin typeface="Montserrat"/>
                <a:ea typeface="Montserrat"/>
                <a:cs typeface="Montserrat"/>
                <a:sym typeface="Montserrat"/>
              </a:rPr>
              <a:t>7</a:t>
            </a:r>
            <a:endParaRPr sz="1100">
              <a:solidFill>
                <a:srgbClr val="66716B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467" name="Google Shape;467;p45"/>
          <p:cNvCxnSpPr/>
          <p:nvPr/>
        </p:nvCxnSpPr>
        <p:spPr>
          <a:xfrm>
            <a:off x="838200" y="2501900"/>
            <a:ext cx="0" cy="1638300"/>
          </a:xfrm>
          <a:prstGeom prst="straightConnector1">
            <a:avLst/>
          </a:prstGeom>
          <a:noFill/>
          <a:ln cap="flat" cmpd="sng" w="10150">
            <a:solidFill>
              <a:srgbClr val="66716B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68" name="Google Shape;468;p45"/>
          <p:cNvCxnSpPr/>
          <p:nvPr/>
        </p:nvCxnSpPr>
        <p:spPr>
          <a:xfrm>
            <a:off x="838200" y="4140200"/>
            <a:ext cx="3365400" cy="0"/>
          </a:xfrm>
          <a:prstGeom prst="straightConnector1">
            <a:avLst/>
          </a:prstGeom>
          <a:noFill/>
          <a:ln cap="flat" cmpd="sng" w="10150">
            <a:solidFill>
              <a:srgbClr val="66716B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69" name="Google Shape;469;p45"/>
          <p:cNvSpPr txBox="1"/>
          <p:nvPr/>
        </p:nvSpPr>
        <p:spPr>
          <a:xfrm>
            <a:off x="4216400" y="4114800"/>
            <a:ext cx="228600" cy="27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>
                <a:solidFill>
                  <a:srgbClr val="66716B"/>
                </a:solidFill>
                <a:latin typeface="Montserrat"/>
                <a:ea typeface="Montserrat"/>
                <a:cs typeface="Montserrat"/>
                <a:sym typeface="Montserrat"/>
              </a:rPr>
              <a:t>x</a:t>
            </a:r>
            <a:endParaRPr sz="1300">
              <a:solidFill>
                <a:srgbClr val="66716B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70" name="Google Shape;470;p45"/>
          <p:cNvSpPr txBox="1"/>
          <p:nvPr/>
        </p:nvSpPr>
        <p:spPr>
          <a:xfrm>
            <a:off x="584200" y="2222500"/>
            <a:ext cx="2286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>
                <a:solidFill>
                  <a:srgbClr val="66716B"/>
                </a:solidFill>
                <a:latin typeface="Montserrat"/>
                <a:ea typeface="Montserrat"/>
                <a:cs typeface="Montserrat"/>
                <a:sym typeface="Montserrat"/>
              </a:rPr>
              <a:t>y</a:t>
            </a:r>
            <a:endParaRPr sz="1300">
              <a:solidFill>
                <a:srgbClr val="66716B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471" name="Google Shape;471;p45"/>
          <p:cNvCxnSpPr/>
          <p:nvPr/>
        </p:nvCxnSpPr>
        <p:spPr>
          <a:xfrm flipH="1" rot="10800000">
            <a:off x="1040130" y="3852399"/>
            <a:ext cx="70800" cy="31200"/>
          </a:xfrm>
          <a:prstGeom prst="straightConnector1">
            <a:avLst/>
          </a:prstGeom>
          <a:noFill/>
          <a:ln cap="flat" cmpd="sng" w="25400">
            <a:solidFill>
              <a:srgbClr val="1D403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72" name="Google Shape;472;p45"/>
          <p:cNvCxnSpPr/>
          <p:nvPr/>
        </p:nvCxnSpPr>
        <p:spPr>
          <a:xfrm flipH="1" rot="10800000">
            <a:off x="1110983" y="3821233"/>
            <a:ext cx="70800" cy="31200"/>
          </a:xfrm>
          <a:prstGeom prst="straightConnector1">
            <a:avLst/>
          </a:prstGeom>
          <a:noFill/>
          <a:ln cap="flat" cmpd="sng" w="25400">
            <a:solidFill>
              <a:srgbClr val="1D403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73" name="Google Shape;473;p45"/>
          <p:cNvCxnSpPr/>
          <p:nvPr/>
        </p:nvCxnSpPr>
        <p:spPr>
          <a:xfrm flipH="1" rot="10800000">
            <a:off x="1181835" y="3790067"/>
            <a:ext cx="70800" cy="31200"/>
          </a:xfrm>
          <a:prstGeom prst="straightConnector1">
            <a:avLst/>
          </a:prstGeom>
          <a:noFill/>
          <a:ln cap="flat" cmpd="sng" w="25400">
            <a:solidFill>
              <a:srgbClr val="1D403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74" name="Google Shape;474;p45"/>
          <p:cNvCxnSpPr/>
          <p:nvPr/>
        </p:nvCxnSpPr>
        <p:spPr>
          <a:xfrm flipH="1" rot="10800000">
            <a:off x="1252688" y="3758900"/>
            <a:ext cx="70800" cy="31200"/>
          </a:xfrm>
          <a:prstGeom prst="straightConnector1">
            <a:avLst/>
          </a:prstGeom>
          <a:noFill/>
          <a:ln cap="flat" cmpd="sng" w="25400">
            <a:solidFill>
              <a:srgbClr val="1D403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75" name="Google Shape;475;p45"/>
          <p:cNvCxnSpPr/>
          <p:nvPr/>
        </p:nvCxnSpPr>
        <p:spPr>
          <a:xfrm flipH="1" rot="10800000">
            <a:off x="1323541" y="3727734"/>
            <a:ext cx="70800" cy="31200"/>
          </a:xfrm>
          <a:prstGeom prst="straightConnector1">
            <a:avLst/>
          </a:prstGeom>
          <a:noFill/>
          <a:ln cap="flat" cmpd="sng" w="25400">
            <a:solidFill>
              <a:srgbClr val="1D403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76" name="Google Shape;476;p45"/>
          <p:cNvCxnSpPr/>
          <p:nvPr/>
        </p:nvCxnSpPr>
        <p:spPr>
          <a:xfrm flipH="1" rot="10800000">
            <a:off x="1394393" y="3696568"/>
            <a:ext cx="70800" cy="31200"/>
          </a:xfrm>
          <a:prstGeom prst="straightConnector1">
            <a:avLst/>
          </a:prstGeom>
          <a:noFill/>
          <a:ln cap="flat" cmpd="sng" w="25400">
            <a:solidFill>
              <a:srgbClr val="1D403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77" name="Google Shape;477;p45"/>
          <p:cNvCxnSpPr/>
          <p:nvPr/>
        </p:nvCxnSpPr>
        <p:spPr>
          <a:xfrm flipH="1" rot="10800000">
            <a:off x="1465246" y="3665402"/>
            <a:ext cx="70800" cy="31200"/>
          </a:xfrm>
          <a:prstGeom prst="straightConnector1">
            <a:avLst/>
          </a:prstGeom>
          <a:noFill/>
          <a:ln cap="flat" cmpd="sng" w="25400">
            <a:solidFill>
              <a:srgbClr val="1D403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78" name="Google Shape;478;p45"/>
          <p:cNvCxnSpPr/>
          <p:nvPr/>
        </p:nvCxnSpPr>
        <p:spPr>
          <a:xfrm flipH="1" rot="10800000">
            <a:off x="1536098" y="3634236"/>
            <a:ext cx="70800" cy="31200"/>
          </a:xfrm>
          <a:prstGeom prst="straightConnector1">
            <a:avLst/>
          </a:prstGeom>
          <a:noFill/>
          <a:ln cap="flat" cmpd="sng" w="25400">
            <a:solidFill>
              <a:srgbClr val="1D403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79" name="Google Shape;479;p45"/>
          <p:cNvCxnSpPr/>
          <p:nvPr/>
        </p:nvCxnSpPr>
        <p:spPr>
          <a:xfrm flipH="1" rot="10800000">
            <a:off x="1606951" y="3603070"/>
            <a:ext cx="70800" cy="31200"/>
          </a:xfrm>
          <a:prstGeom prst="straightConnector1">
            <a:avLst/>
          </a:prstGeom>
          <a:noFill/>
          <a:ln cap="flat" cmpd="sng" w="25400">
            <a:solidFill>
              <a:srgbClr val="1D403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80" name="Google Shape;480;p45"/>
          <p:cNvCxnSpPr/>
          <p:nvPr/>
        </p:nvCxnSpPr>
        <p:spPr>
          <a:xfrm flipH="1" rot="10800000">
            <a:off x="1677804" y="3571904"/>
            <a:ext cx="70800" cy="31200"/>
          </a:xfrm>
          <a:prstGeom prst="straightConnector1">
            <a:avLst/>
          </a:prstGeom>
          <a:noFill/>
          <a:ln cap="flat" cmpd="sng" w="25400">
            <a:solidFill>
              <a:srgbClr val="1D403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81" name="Google Shape;481;p45"/>
          <p:cNvCxnSpPr/>
          <p:nvPr/>
        </p:nvCxnSpPr>
        <p:spPr>
          <a:xfrm flipH="1" rot="10800000">
            <a:off x="1748656" y="3540737"/>
            <a:ext cx="70800" cy="31200"/>
          </a:xfrm>
          <a:prstGeom prst="straightConnector1">
            <a:avLst/>
          </a:prstGeom>
          <a:noFill/>
          <a:ln cap="flat" cmpd="sng" w="25400">
            <a:solidFill>
              <a:srgbClr val="1D403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82" name="Google Shape;482;p45"/>
          <p:cNvCxnSpPr/>
          <p:nvPr/>
        </p:nvCxnSpPr>
        <p:spPr>
          <a:xfrm flipH="1" rot="10800000">
            <a:off x="1819509" y="3509571"/>
            <a:ext cx="70800" cy="31200"/>
          </a:xfrm>
          <a:prstGeom prst="straightConnector1">
            <a:avLst/>
          </a:prstGeom>
          <a:noFill/>
          <a:ln cap="flat" cmpd="sng" w="25400">
            <a:solidFill>
              <a:srgbClr val="1D403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83" name="Google Shape;483;p45"/>
          <p:cNvCxnSpPr/>
          <p:nvPr/>
        </p:nvCxnSpPr>
        <p:spPr>
          <a:xfrm flipH="1" rot="10800000">
            <a:off x="1890362" y="3478405"/>
            <a:ext cx="70800" cy="31200"/>
          </a:xfrm>
          <a:prstGeom prst="straightConnector1">
            <a:avLst/>
          </a:prstGeom>
          <a:noFill/>
          <a:ln cap="flat" cmpd="sng" w="25400">
            <a:solidFill>
              <a:srgbClr val="1D403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84" name="Google Shape;484;p45"/>
          <p:cNvCxnSpPr/>
          <p:nvPr/>
        </p:nvCxnSpPr>
        <p:spPr>
          <a:xfrm flipH="1" rot="10800000">
            <a:off x="1961214" y="3447239"/>
            <a:ext cx="70800" cy="31200"/>
          </a:xfrm>
          <a:prstGeom prst="straightConnector1">
            <a:avLst/>
          </a:prstGeom>
          <a:noFill/>
          <a:ln cap="flat" cmpd="sng" w="25400">
            <a:solidFill>
              <a:srgbClr val="1D403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85" name="Google Shape;485;p45"/>
          <p:cNvCxnSpPr/>
          <p:nvPr/>
        </p:nvCxnSpPr>
        <p:spPr>
          <a:xfrm flipH="1" rot="10800000">
            <a:off x="2032067" y="3416073"/>
            <a:ext cx="70800" cy="31200"/>
          </a:xfrm>
          <a:prstGeom prst="straightConnector1">
            <a:avLst/>
          </a:prstGeom>
          <a:noFill/>
          <a:ln cap="flat" cmpd="sng" w="25400">
            <a:solidFill>
              <a:srgbClr val="1D403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86" name="Google Shape;486;p45"/>
          <p:cNvCxnSpPr/>
          <p:nvPr/>
        </p:nvCxnSpPr>
        <p:spPr>
          <a:xfrm flipH="1" rot="10800000">
            <a:off x="2102919" y="3384907"/>
            <a:ext cx="70800" cy="31200"/>
          </a:xfrm>
          <a:prstGeom prst="straightConnector1">
            <a:avLst/>
          </a:prstGeom>
          <a:noFill/>
          <a:ln cap="flat" cmpd="sng" w="25400">
            <a:solidFill>
              <a:srgbClr val="1D403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87" name="Google Shape;487;p45"/>
          <p:cNvCxnSpPr/>
          <p:nvPr/>
        </p:nvCxnSpPr>
        <p:spPr>
          <a:xfrm flipH="1" rot="10800000">
            <a:off x="2173772" y="3353741"/>
            <a:ext cx="70800" cy="31200"/>
          </a:xfrm>
          <a:prstGeom prst="straightConnector1">
            <a:avLst/>
          </a:prstGeom>
          <a:noFill/>
          <a:ln cap="flat" cmpd="sng" w="25400">
            <a:solidFill>
              <a:srgbClr val="1D403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88" name="Google Shape;488;p45"/>
          <p:cNvCxnSpPr/>
          <p:nvPr/>
        </p:nvCxnSpPr>
        <p:spPr>
          <a:xfrm flipH="1" rot="10800000">
            <a:off x="2244625" y="3322574"/>
            <a:ext cx="70800" cy="31200"/>
          </a:xfrm>
          <a:prstGeom prst="straightConnector1">
            <a:avLst/>
          </a:prstGeom>
          <a:noFill/>
          <a:ln cap="flat" cmpd="sng" w="25400">
            <a:solidFill>
              <a:srgbClr val="1D403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89" name="Google Shape;489;p45"/>
          <p:cNvCxnSpPr/>
          <p:nvPr/>
        </p:nvCxnSpPr>
        <p:spPr>
          <a:xfrm flipH="1" rot="10800000">
            <a:off x="2315477" y="3291408"/>
            <a:ext cx="70800" cy="31200"/>
          </a:xfrm>
          <a:prstGeom prst="straightConnector1">
            <a:avLst/>
          </a:prstGeom>
          <a:noFill/>
          <a:ln cap="flat" cmpd="sng" w="25400">
            <a:solidFill>
              <a:srgbClr val="1D403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90" name="Google Shape;490;p45"/>
          <p:cNvCxnSpPr/>
          <p:nvPr/>
        </p:nvCxnSpPr>
        <p:spPr>
          <a:xfrm flipH="1" rot="10800000">
            <a:off x="2386330" y="3260242"/>
            <a:ext cx="70800" cy="31200"/>
          </a:xfrm>
          <a:prstGeom prst="straightConnector1">
            <a:avLst/>
          </a:prstGeom>
          <a:noFill/>
          <a:ln cap="flat" cmpd="sng" w="25400">
            <a:solidFill>
              <a:srgbClr val="1D403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91" name="Google Shape;491;p45"/>
          <p:cNvCxnSpPr/>
          <p:nvPr/>
        </p:nvCxnSpPr>
        <p:spPr>
          <a:xfrm flipH="1" rot="10800000">
            <a:off x="2457183" y="3229076"/>
            <a:ext cx="70800" cy="31200"/>
          </a:xfrm>
          <a:prstGeom prst="straightConnector1">
            <a:avLst/>
          </a:prstGeom>
          <a:noFill/>
          <a:ln cap="flat" cmpd="sng" w="25400">
            <a:solidFill>
              <a:srgbClr val="1D403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92" name="Google Shape;492;p45"/>
          <p:cNvCxnSpPr/>
          <p:nvPr/>
        </p:nvCxnSpPr>
        <p:spPr>
          <a:xfrm flipH="1" rot="10800000">
            <a:off x="2528035" y="3197910"/>
            <a:ext cx="70800" cy="31200"/>
          </a:xfrm>
          <a:prstGeom prst="straightConnector1">
            <a:avLst/>
          </a:prstGeom>
          <a:noFill/>
          <a:ln cap="flat" cmpd="sng" w="25400">
            <a:solidFill>
              <a:srgbClr val="1D403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93" name="Google Shape;493;p45"/>
          <p:cNvCxnSpPr/>
          <p:nvPr/>
        </p:nvCxnSpPr>
        <p:spPr>
          <a:xfrm flipH="1" rot="10800000">
            <a:off x="2598888" y="3166744"/>
            <a:ext cx="70800" cy="31200"/>
          </a:xfrm>
          <a:prstGeom prst="straightConnector1">
            <a:avLst/>
          </a:prstGeom>
          <a:noFill/>
          <a:ln cap="flat" cmpd="sng" w="25400">
            <a:solidFill>
              <a:srgbClr val="1D403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94" name="Google Shape;494;p45"/>
          <p:cNvCxnSpPr/>
          <p:nvPr/>
        </p:nvCxnSpPr>
        <p:spPr>
          <a:xfrm flipH="1" rot="10800000">
            <a:off x="2669741" y="3135578"/>
            <a:ext cx="70800" cy="31200"/>
          </a:xfrm>
          <a:prstGeom prst="straightConnector1">
            <a:avLst/>
          </a:prstGeom>
          <a:noFill/>
          <a:ln cap="flat" cmpd="sng" w="25400">
            <a:solidFill>
              <a:srgbClr val="1D403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95" name="Google Shape;495;p45"/>
          <p:cNvCxnSpPr/>
          <p:nvPr/>
        </p:nvCxnSpPr>
        <p:spPr>
          <a:xfrm flipH="1" rot="10800000">
            <a:off x="2740593" y="3104411"/>
            <a:ext cx="70800" cy="31200"/>
          </a:xfrm>
          <a:prstGeom prst="straightConnector1">
            <a:avLst/>
          </a:prstGeom>
          <a:noFill/>
          <a:ln cap="flat" cmpd="sng" w="25400">
            <a:solidFill>
              <a:srgbClr val="1D403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96" name="Google Shape;496;p45"/>
          <p:cNvCxnSpPr/>
          <p:nvPr/>
        </p:nvCxnSpPr>
        <p:spPr>
          <a:xfrm flipH="1" rot="10800000">
            <a:off x="2811446" y="3073245"/>
            <a:ext cx="70800" cy="31200"/>
          </a:xfrm>
          <a:prstGeom prst="straightConnector1">
            <a:avLst/>
          </a:prstGeom>
          <a:noFill/>
          <a:ln cap="flat" cmpd="sng" w="25400">
            <a:solidFill>
              <a:srgbClr val="1D403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97" name="Google Shape;497;p45"/>
          <p:cNvCxnSpPr/>
          <p:nvPr/>
        </p:nvCxnSpPr>
        <p:spPr>
          <a:xfrm flipH="1" rot="10800000">
            <a:off x="2882298" y="3042079"/>
            <a:ext cx="70800" cy="31200"/>
          </a:xfrm>
          <a:prstGeom prst="straightConnector1">
            <a:avLst/>
          </a:prstGeom>
          <a:noFill/>
          <a:ln cap="flat" cmpd="sng" w="25400">
            <a:solidFill>
              <a:srgbClr val="1D403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98" name="Google Shape;498;p45"/>
          <p:cNvCxnSpPr/>
          <p:nvPr/>
        </p:nvCxnSpPr>
        <p:spPr>
          <a:xfrm flipH="1" rot="10800000">
            <a:off x="2953151" y="3010913"/>
            <a:ext cx="70800" cy="31200"/>
          </a:xfrm>
          <a:prstGeom prst="straightConnector1">
            <a:avLst/>
          </a:prstGeom>
          <a:noFill/>
          <a:ln cap="flat" cmpd="sng" w="25400">
            <a:solidFill>
              <a:srgbClr val="1D403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99" name="Google Shape;499;p45"/>
          <p:cNvCxnSpPr/>
          <p:nvPr/>
        </p:nvCxnSpPr>
        <p:spPr>
          <a:xfrm flipH="1" rot="10800000">
            <a:off x="3024004" y="2979747"/>
            <a:ext cx="70800" cy="31200"/>
          </a:xfrm>
          <a:prstGeom prst="straightConnector1">
            <a:avLst/>
          </a:prstGeom>
          <a:noFill/>
          <a:ln cap="flat" cmpd="sng" w="25400">
            <a:solidFill>
              <a:srgbClr val="1D403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00" name="Google Shape;500;p45"/>
          <p:cNvCxnSpPr/>
          <p:nvPr/>
        </p:nvCxnSpPr>
        <p:spPr>
          <a:xfrm flipH="1" rot="10800000">
            <a:off x="3094856" y="2948581"/>
            <a:ext cx="70800" cy="31200"/>
          </a:xfrm>
          <a:prstGeom prst="straightConnector1">
            <a:avLst/>
          </a:prstGeom>
          <a:noFill/>
          <a:ln cap="flat" cmpd="sng" w="25400">
            <a:solidFill>
              <a:srgbClr val="1D403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01" name="Google Shape;501;p45"/>
          <p:cNvCxnSpPr/>
          <p:nvPr/>
        </p:nvCxnSpPr>
        <p:spPr>
          <a:xfrm flipH="1" rot="10800000">
            <a:off x="3165709" y="2917415"/>
            <a:ext cx="70800" cy="31200"/>
          </a:xfrm>
          <a:prstGeom prst="straightConnector1">
            <a:avLst/>
          </a:prstGeom>
          <a:noFill/>
          <a:ln cap="flat" cmpd="sng" w="25400">
            <a:solidFill>
              <a:srgbClr val="1D403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02" name="Google Shape;502;p45"/>
          <p:cNvCxnSpPr/>
          <p:nvPr/>
        </p:nvCxnSpPr>
        <p:spPr>
          <a:xfrm flipH="1" rot="10800000">
            <a:off x="3236562" y="2886249"/>
            <a:ext cx="70800" cy="31200"/>
          </a:xfrm>
          <a:prstGeom prst="straightConnector1">
            <a:avLst/>
          </a:prstGeom>
          <a:noFill/>
          <a:ln cap="flat" cmpd="sng" w="25400">
            <a:solidFill>
              <a:srgbClr val="1D403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03" name="Google Shape;503;p45"/>
          <p:cNvCxnSpPr/>
          <p:nvPr/>
        </p:nvCxnSpPr>
        <p:spPr>
          <a:xfrm flipH="1" rot="10800000">
            <a:off x="3307414" y="2855082"/>
            <a:ext cx="70800" cy="31200"/>
          </a:xfrm>
          <a:prstGeom prst="straightConnector1">
            <a:avLst/>
          </a:prstGeom>
          <a:noFill/>
          <a:ln cap="flat" cmpd="sng" w="25400">
            <a:solidFill>
              <a:srgbClr val="1D403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04" name="Google Shape;504;p45"/>
          <p:cNvCxnSpPr/>
          <p:nvPr/>
        </p:nvCxnSpPr>
        <p:spPr>
          <a:xfrm flipH="1" rot="10800000">
            <a:off x="3378267" y="2823916"/>
            <a:ext cx="70800" cy="31200"/>
          </a:xfrm>
          <a:prstGeom prst="straightConnector1">
            <a:avLst/>
          </a:prstGeom>
          <a:noFill/>
          <a:ln cap="flat" cmpd="sng" w="25400">
            <a:solidFill>
              <a:srgbClr val="1D403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05" name="Google Shape;505;p45"/>
          <p:cNvCxnSpPr/>
          <p:nvPr/>
        </p:nvCxnSpPr>
        <p:spPr>
          <a:xfrm flipH="1" rot="10800000">
            <a:off x="3449119" y="2792750"/>
            <a:ext cx="70800" cy="31200"/>
          </a:xfrm>
          <a:prstGeom prst="straightConnector1">
            <a:avLst/>
          </a:prstGeom>
          <a:noFill/>
          <a:ln cap="flat" cmpd="sng" w="25400">
            <a:solidFill>
              <a:srgbClr val="1D403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06" name="Google Shape;506;p45"/>
          <p:cNvCxnSpPr/>
          <p:nvPr/>
        </p:nvCxnSpPr>
        <p:spPr>
          <a:xfrm flipH="1" rot="10800000">
            <a:off x="3519972" y="2761584"/>
            <a:ext cx="70800" cy="31200"/>
          </a:xfrm>
          <a:prstGeom prst="straightConnector1">
            <a:avLst/>
          </a:prstGeom>
          <a:noFill/>
          <a:ln cap="flat" cmpd="sng" w="25400">
            <a:solidFill>
              <a:srgbClr val="1D403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07" name="Google Shape;507;p45"/>
          <p:cNvCxnSpPr/>
          <p:nvPr/>
        </p:nvCxnSpPr>
        <p:spPr>
          <a:xfrm flipH="1" rot="10800000">
            <a:off x="3590825" y="2730418"/>
            <a:ext cx="70800" cy="31200"/>
          </a:xfrm>
          <a:prstGeom prst="straightConnector1">
            <a:avLst/>
          </a:prstGeom>
          <a:noFill/>
          <a:ln cap="flat" cmpd="sng" w="25400">
            <a:solidFill>
              <a:srgbClr val="1D403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08" name="Google Shape;508;p45"/>
          <p:cNvCxnSpPr/>
          <p:nvPr/>
        </p:nvCxnSpPr>
        <p:spPr>
          <a:xfrm flipH="1" rot="10800000">
            <a:off x="3661677" y="2699252"/>
            <a:ext cx="70800" cy="31200"/>
          </a:xfrm>
          <a:prstGeom prst="straightConnector1">
            <a:avLst/>
          </a:prstGeom>
          <a:noFill/>
          <a:ln cap="flat" cmpd="sng" w="25400">
            <a:solidFill>
              <a:srgbClr val="1D403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09" name="Google Shape;509;p45"/>
          <p:cNvCxnSpPr/>
          <p:nvPr/>
        </p:nvCxnSpPr>
        <p:spPr>
          <a:xfrm rot="10800000">
            <a:off x="2386330" y="3291384"/>
            <a:ext cx="0" cy="789600"/>
          </a:xfrm>
          <a:prstGeom prst="straightConnector1">
            <a:avLst/>
          </a:prstGeom>
          <a:noFill/>
          <a:ln cap="flat" cmpd="sng" w="12700">
            <a:solidFill>
              <a:srgbClr val="BF6B1B"/>
            </a:solidFill>
            <a:prstDash val="dot"/>
            <a:round/>
            <a:headEnd len="med" w="med" type="none"/>
            <a:tailEnd len="med" w="med" type="none"/>
          </a:ln>
        </p:spPr>
      </p:cxnSp>
      <p:cxnSp>
        <p:nvCxnSpPr>
          <p:cNvPr id="510" name="Google Shape;510;p45"/>
          <p:cNvCxnSpPr/>
          <p:nvPr/>
        </p:nvCxnSpPr>
        <p:spPr>
          <a:xfrm>
            <a:off x="1040130" y="3291442"/>
            <a:ext cx="1346100" cy="0"/>
          </a:xfrm>
          <a:prstGeom prst="straightConnector1">
            <a:avLst/>
          </a:prstGeom>
          <a:noFill/>
          <a:ln cap="flat" cmpd="sng" w="12700">
            <a:solidFill>
              <a:srgbClr val="BF6B1B"/>
            </a:solidFill>
            <a:prstDash val="dot"/>
            <a:round/>
            <a:headEnd len="med" w="med" type="none"/>
            <a:tailEnd len="med" w="med" type="none"/>
          </a:ln>
        </p:spPr>
      </p:cxnSp>
      <p:sp>
        <p:nvSpPr>
          <p:cNvPr id="511" name="Google Shape;511;p45"/>
          <p:cNvSpPr/>
          <p:nvPr/>
        </p:nvSpPr>
        <p:spPr>
          <a:xfrm>
            <a:off x="995680" y="3839149"/>
            <a:ext cx="88800" cy="88800"/>
          </a:xfrm>
          <a:prstGeom prst="ellipse">
            <a:avLst/>
          </a:prstGeom>
          <a:solidFill>
            <a:srgbClr val="1D4036"/>
          </a:solidFill>
          <a:ln cap="flat" cmpd="sng" w="7625">
            <a:solidFill>
              <a:srgbClr val="EFE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12" name="Google Shape;512;p45"/>
          <p:cNvSpPr/>
          <p:nvPr/>
        </p:nvSpPr>
        <p:spPr>
          <a:xfrm>
            <a:off x="3688080" y="2654836"/>
            <a:ext cx="88800" cy="88800"/>
          </a:xfrm>
          <a:prstGeom prst="ellipse">
            <a:avLst/>
          </a:prstGeom>
          <a:solidFill>
            <a:srgbClr val="1D4036"/>
          </a:solidFill>
          <a:ln cap="flat" cmpd="sng" w="7625">
            <a:solidFill>
              <a:srgbClr val="EFE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13" name="Google Shape;513;p45"/>
          <p:cNvSpPr/>
          <p:nvPr/>
        </p:nvSpPr>
        <p:spPr>
          <a:xfrm>
            <a:off x="2341880" y="3246992"/>
            <a:ext cx="88800" cy="88800"/>
          </a:xfrm>
          <a:prstGeom prst="ellipse">
            <a:avLst/>
          </a:prstGeom>
          <a:solidFill>
            <a:srgbClr val="BF6B1B"/>
          </a:solidFill>
          <a:ln cap="flat" cmpd="sng" w="7625">
            <a:solidFill>
              <a:srgbClr val="EFE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14" name="Google Shape;514;p45"/>
          <p:cNvSpPr txBox="1"/>
          <p:nvPr/>
        </p:nvSpPr>
        <p:spPr>
          <a:xfrm>
            <a:off x="1624330" y="2935842"/>
            <a:ext cx="8256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rgbClr val="BF6B1B"/>
                </a:solidFill>
                <a:latin typeface="Montserrat"/>
                <a:ea typeface="Montserrat"/>
                <a:cs typeface="Montserrat"/>
                <a:sym typeface="Montserrat"/>
              </a:rPr>
              <a:t>(1, 4)</a:t>
            </a:r>
            <a:endParaRPr b="1" sz="1200">
              <a:solidFill>
                <a:srgbClr val="BF6B1B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15" name="Google Shape;515;p45"/>
          <p:cNvSpPr txBox="1"/>
          <p:nvPr/>
        </p:nvSpPr>
        <p:spPr>
          <a:xfrm>
            <a:off x="4965700" y="2349500"/>
            <a:ext cx="3683100" cy="31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700">
                <a:solidFill>
                  <a:srgbClr val="66716B"/>
                </a:solidFill>
                <a:latin typeface="Montserrat"/>
                <a:ea typeface="Montserrat"/>
                <a:cs typeface="Montserrat"/>
                <a:sym typeface="Montserrat"/>
              </a:rPr>
              <a:t>Consulta x = 1</a:t>
            </a:r>
            <a:endParaRPr sz="1700">
              <a:solidFill>
                <a:srgbClr val="66716B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16" name="Google Shape;516;p45"/>
          <p:cNvSpPr txBox="1"/>
          <p:nvPr/>
        </p:nvSpPr>
        <p:spPr>
          <a:xfrm>
            <a:off x="4965700" y="2743200"/>
            <a:ext cx="38100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2300">
                <a:solidFill>
                  <a:srgbClr val="BF6B1B"/>
                </a:solidFill>
                <a:latin typeface="Montserrat"/>
                <a:ea typeface="Montserrat"/>
                <a:cs typeface="Montserrat"/>
                <a:sym typeface="Montserrat"/>
              </a:rPr>
              <a:t>P</a:t>
            </a:r>
            <a:r>
              <a:rPr baseline="-25000" lang="es" sz="2300">
                <a:solidFill>
                  <a:srgbClr val="BF6B1B"/>
                </a:solidFill>
                <a:latin typeface="Montserrat"/>
                <a:ea typeface="Montserrat"/>
                <a:cs typeface="Montserrat"/>
                <a:sym typeface="Montserrat"/>
              </a:rPr>
              <a:t>1</a:t>
            </a:r>
            <a:r>
              <a:rPr lang="es" sz="2300">
                <a:solidFill>
                  <a:srgbClr val="BF6B1B"/>
                </a:solidFill>
                <a:latin typeface="Montserrat"/>
                <a:ea typeface="Montserrat"/>
                <a:cs typeface="Montserrat"/>
                <a:sym typeface="Montserrat"/>
              </a:rPr>
              <a:t>(1) = 1 + 3·1 = 4</a:t>
            </a:r>
            <a:endParaRPr sz="2300">
              <a:solidFill>
                <a:srgbClr val="BF6B1B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17" name="Google Shape;517;p45"/>
          <p:cNvSpPr txBox="1"/>
          <p:nvPr/>
        </p:nvSpPr>
        <p:spPr>
          <a:xfrm>
            <a:off x="4965700" y="3454400"/>
            <a:ext cx="3810000" cy="33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600">
                <a:solidFill>
                  <a:srgbClr val="66716B"/>
                </a:solidFill>
                <a:latin typeface="Montserrat"/>
                <a:ea typeface="Montserrat"/>
                <a:cs typeface="Montserrat"/>
                <a:sym typeface="Montserrat"/>
              </a:rPr>
              <a:t>Comprobación de los datos</a:t>
            </a:r>
            <a:endParaRPr sz="1600">
              <a:solidFill>
                <a:srgbClr val="66716B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18" name="Google Shape;518;p45"/>
          <p:cNvSpPr txBox="1"/>
          <p:nvPr/>
        </p:nvSpPr>
        <p:spPr>
          <a:xfrm>
            <a:off x="4965700" y="3822700"/>
            <a:ext cx="3810000" cy="43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rgbClr val="1D4036"/>
                </a:solidFill>
                <a:latin typeface="Montserrat"/>
                <a:ea typeface="Montserrat"/>
                <a:cs typeface="Montserrat"/>
                <a:sym typeface="Montserrat"/>
              </a:rPr>
              <a:t>P</a:t>
            </a:r>
            <a:r>
              <a:rPr baseline="-25000" lang="es" sz="1800">
                <a:solidFill>
                  <a:srgbClr val="1D4036"/>
                </a:solidFill>
                <a:latin typeface="Montserrat"/>
                <a:ea typeface="Montserrat"/>
                <a:cs typeface="Montserrat"/>
                <a:sym typeface="Montserrat"/>
              </a:rPr>
              <a:t>1</a:t>
            </a:r>
            <a:r>
              <a:rPr lang="es" sz="1800">
                <a:solidFill>
                  <a:srgbClr val="1D4036"/>
                </a:solidFill>
                <a:latin typeface="Montserrat"/>
                <a:ea typeface="Montserrat"/>
                <a:cs typeface="Montserrat"/>
                <a:sym typeface="Montserrat"/>
              </a:rPr>
              <a:t>(0) = 1       P</a:t>
            </a:r>
            <a:r>
              <a:rPr baseline="-25000" lang="es" sz="1800">
                <a:solidFill>
                  <a:srgbClr val="1D4036"/>
                </a:solidFill>
                <a:latin typeface="Montserrat"/>
                <a:ea typeface="Montserrat"/>
                <a:cs typeface="Montserrat"/>
                <a:sym typeface="Montserrat"/>
              </a:rPr>
              <a:t>1</a:t>
            </a:r>
            <a:r>
              <a:rPr lang="es" sz="1800">
                <a:solidFill>
                  <a:srgbClr val="1D4036"/>
                </a:solidFill>
                <a:latin typeface="Montserrat"/>
                <a:ea typeface="Montserrat"/>
                <a:cs typeface="Montserrat"/>
                <a:sym typeface="Montserrat"/>
              </a:rPr>
              <a:t>(2) = 7</a:t>
            </a:r>
            <a:endParaRPr sz="1800">
              <a:solidFill>
                <a:srgbClr val="1D403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2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3" name="Google Shape;523;p46"/>
          <p:cNvSpPr txBox="1"/>
          <p:nvPr>
            <p:ph type="title"/>
          </p:nvPr>
        </p:nvSpPr>
        <p:spPr>
          <a:xfrm>
            <a:off x="317500" y="393700"/>
            <a:ext cx="8508900" cy="4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2400">
                <a:solidFill>
                  <a:srgbClr val="252C29"/>
                </a:solidFill>
                <a:latin typeface="Montserrat"/>
                <a:ea typeface="Montserrat"/>
                <a:cs typeface="Montserrat"/>
                <a:sym typeface="Montserrat"/>
              </a:rPr>
              <a:t>El tercer dato queda fuera de la recta</a:t>
            </a:r>
            <a:endParaRPr sz="2400">
              <a:solidFill>
                <a:srgbClr val="252C29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24" name="Google Shape;524;p46"/>
          <p:cNvSpPr txBox="1"/>
          <p:nvPr>
            <p:ph idx="1" type="body"/>
          </p:nvPr>
        </p:nvSpPr>
        <p:spPr>
          <a:xfrm>
            <a:off x="381000" y="1041400"/>
            <a:ext cx="8382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600">
                <a:solidFill>
                  <a:srgbClr val="66716B"/>
                </a:solidFill>
              </a:rPr>
              <a:t>Agregamos (3, 13) a los dos datos anteriores.</a:t>
            </a:r>
            <a:endParaRPr sz="1600">
              <a:solidFill>
                <a:srgbClr val="66716B"/>
              </a:solidFill>
            </a:endParaRPr>
          </a:p>
        </p:txBody>
      </p:sp>
      <p:sp>
        <p:nvSpPr>
          <p:cNvPr id="525" name="Google Shape;525;p46"/>
          <p:cNvSpPr txBox="1"/>
          <p:nvPr>
            <p:ph idx="12" type="sldNum"/>
          </p:nvPr>
        </p:nvSpPr>
        <p:spPr>
          <a:xfrm>
            <a:off x="8520083" y="4734654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sp>
        <p:nvSpPr>
          <p:cNvPr id="526" name="Google Shape;526;p46"/>
          <p:cNvSpPr/>
          <p:nvPr/>
        </p:nvSpPr>
        <p:spPr>
          <a:xfrm>
            <a:off x="381000" y="4406900"/>
            <a:ext cx="8255100" cy="29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rgbClr val="66716B"/>
                </a:solidFill>
                <a:latin typeface="Montserrat"/>
                <a:ea typeface="Montserrat"/>
                <a:cs typeface="Montserrat"/>
                <a:sym typeface="Montserrat"/>
              </a:rPr>
              <a:t>Necesitamos sumar 3 en x = 3 y conservar los dos datos anteriores.</a:t>
            </a:r>
            <a:endParaRPr>
              <a:solidFill>
                <a:srgbClr val="66716B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527" name="Google Shape;527;p46"/>
          <p:cNvCxnSpPr/>
          <p:nvPr/>
        </p:nvCxnSpPr>
        <p:spPr>
          <a:xfrm>
            <a:off x="1051821" y="1841500"/>
            <a:ext cx="0" cy="2324100"/>
          </a:xfrm>
          <a:prstGeom prst="straightConnector1">
            <a:avLst/>
          </a:prstGeom>
          <a:noFill/>
          <a:ln cap="flat" cmpd="sng" w="6350">
            <a:solidFill>
              <a:srgbClr val="D6D0C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28" name="Google Shape;528;p46"/>
          <p:cNvSpPr txBox="1"/>
          <p:nvPr/>
        </p:nvSpPr>
        <p:spPr>
          <a:xfrm>
            <a:off x="874021" y="4203700"/>
            <a:ext cx="355500" cy="24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solidFill>
                  <a:srgbClr val="66716B"/>
                </a:solidFill>
                <a:latin typeface="Montserrat"/>
                <a:ea typeface="Montserrat"/>
                <a:cs typeface="Montserrat"/>
                <a:sym typeface="Montserrat"/>
              </a:rPr>
              <a:t>0</a:t>
            </a:r>
            <a:endParaRPr sz="1100">
              <a:solidFill>
                <a:srgbClr val="66716B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529" name="Google Shape;529;p46"/>
          <p:cNvCxnSpPr/>
          <p:nvPr/>
        </p:nvCxnSpPr>
        <p:spPr>
          <a:xfrm>
            <a:off x="2119923" y="1841500"/>
            <a:ext cx="0" cy="2324100"/>
          </a:xfrm>
          <a:prstGeom prst="straightConnector1">
            <a:avLst/>
          </a:prstGeom>
          <a:noFill/>
          <a:ln cap="flat" cmpd="sng" w="6350">
            <a:solidFill>
              <a:srgbClr val="D6D0C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30" name="Google Shape;530;p46"/>
          <p:cNvSpPr txBox="1"/>
          <p:nvPr/>
        </p:nvSpPr>
        <p:spPr>
          <a:xfrm>
            <a:off x="1942123" y="4203700"/>
            <a:ext cx="355500" cy="24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solidFill>
                  <a:srgbClr val="66716B"/>
                </a:solidFill>
                <a:latin typeface="Montserrat"/>
                <a:ea typeface="Montserrat"/>
                <a:cs typeface="Montserrat"/>
                <a:sym typeface="Montserrat"/>
              </a:rPr>
              <a:t>1</a:t>
            </a:r>
            <a:endParaRPr sz="1100">
              <a:solidFill>
                <a:srgbClr val="66716B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531" name="Google Shape;531;p46"/>
          <p:cNvCxnSpPr/>
          <p:nvPr/>
        </p:nvCxnSpPr>
        <p:spPr>
          <a:xfrm>
            <a:off x="3188026" y="1841500"/>
            <a:ext cx="0" cy="2324100"/>
          </a:xfrm>
          <a:prstGeom prst="straightConnector1">
            <a:avLst/>
          </a:prstGeom>
          <a:noFill/>
          <a:ln cap="flat" cmpd="sng" w="6350">
            <a:solidFill>
              <a:srgbClr val="D6D0C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32" name="Google Shape;532;p46"/>
          <p:cNvSpPr txBox="1"/>
          <p:nvPr/>
        </p:nvSpPr>
        <p:spPr>
          <a:xfrm>
            <a:off x="3010226" y="4203700"/>
            <a:ext cx="355500" cy="24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solidFill>
                  <a:srgbClr val="66716B"/>
                </a:solidFill>
                <a:latin typeface="Montserrat"/>
                <a:ea typeface="Montserrat"/>
                <a:cs typeface="Montserrat"/>
                <a:sym typeface="Montserrat"/>
              </a:rPr>
              <a:t>2</a:t>
            </a:r>
            <a:endParaRPr sz="1100">
              <a:solidFill>
                <a:srgbClr val="66716B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533" name="Google Shape;533;p46"/>
          <p:cNvCxnSpPr/>
          <p:nvPr/>
        </p:nvCxnSpPr>
        <p:spPr>
          <a:xfrm>
            <a:off x="4256128" y="1841500"/>
            <a:ext cx="0" cy="2324100"/>
          </a:xfrm>
          <a:prstGeom prst="straightConnector1">
            <a:avLst/>
          </a:prstGeom>
          <a:noFill/>
          <a:ln cap="flat" cmpd="sng" w="6350">
            <a:solidFill>
              <a:srgbClr val="D6D0C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34" name="Google Shape;534;p46"/>
          <p:cNvSpPr txBox="1"/>
          <p:nvPr/>
        </p:nvSpPr>
        <p:spPr>
          <a:xfrm>
            <a:off x="4078328" y="4203700"/>
            <a:ext cx="355500" cy="24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solidFill>
                  <a:srgbClr val="66716B"/>
                </a:solidFill>
                <a:latin typeface="Montserrat"/>
                <a:ea typeface="Montserrat"/>
                <a:cs typeface="Montserrat"/>
                <a:sym typeface="Montserrat"/>
              </a:rPr>
              <a:t>3</a:t>
            </a:r>
            <a:endParaRPr sz="1100">
              <a:solidFill>
                <a:srgbClr val="66716B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535" name="Google Shape;535;p46"/>
          <p:cNvCxnSpPr/>
          <p:nvPr/>
        </p:nvCxnSpPr>
        <p:spPr>
          <a:xfrm>
            <a:off x="838200" y="3940687"/>
            <a:ext cx="4165500" cy="0"/>
          </a:xfrm>
          <a:prstGeom prst="straightConnector1">
            <a:avLst/>
          </a:prstGeom>
          <a:noFill/>
          <a:ln cap="flat" cmpd="sng" w="6350">
            <a:solidFill>
              <a:srgbClr val="D6D0C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36" name="Google Shape;536;p46"/>
          <p:cNvSpPr txBox="1"/>
          <p:nvPr/>
        </p:nvSpPr>
        <p:spPr>
          <a:xfrm>
            <a:off x="406400" y="3813687"/>
            <a:ext cx="3684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solidFill>
                  <a:srgbClr val="66716B"/>
                </a:solidFill>
                <a:latin typeface="Montserrat"/>
                <a:ea typeface="Montserrat"/>
                <a:cs typeface="Montserrat"/>
                <a:sym typeface="Montserrat"/>
              </a:rPr>
              <a:t>1</a:t>
            </a:r>
            <a:endParaRPr sz="1100">
              <a:solidFill>
                <a:srgbClr val="66716B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537" name="Google Shape;537;p46"/>
          <p:cNvCxnSpPr/>
          <p:nvPr/>
        </p:nvCxnSpPr>
        <p:spPr>
          <a:xfrm>
            <a:off x="838200" y="3041035"/>
            <a:ext cx="4165500" cy="0"/>
          </a:xfrm>
          <a:prstGeom prst="straightConnector1">
            <a:avLst/>
          </a:prstGeom>
          <a:noFill/>
          <a:ln cap="flat" cmpd="sng" w="6350">
            <a:solidFill>
              <a:srgbClr val="D6D0C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38" name="Google Shape;538;p46"/>
          <p:cNvSpPr txBox="1"/>
          <p:nvPr/>
        </p:nvSpPr>
        <p:spPr>
          <a:xfrm>
            <a:off x="406400" y="2914035"/>
            <a:ext cx="3684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solidFill>
                  <a:srgbClr val="66716B"/>
                </a:solidFill>
                <a:latin typeface="Montserrat"/>
                <a:ea typeface="Montserrat"/>
                <a:cs typeface="Montserrat"/>
                <a:sym typeface="Montserrat"/>
              </a:rPr>
              <a:t>7</a:t>
            </a:r>
            <a:endParaRPr sz="1100">
              <a:solidFill>
                <a:srgbClr val="66716B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539" name="Google Shape;539;p46"/>
          <p:cNvCxnSpPr/>
          <p:nvPr/>
        </p:nvCxnSpPr>
        <p:spPr>
          <a:xfrm>
            <a:off x="838200" y="2591210"/>
            <a:ext cx="4165500" cy="0"/>
          </a:xfrm>
          <a:prstGeom prst="straightConnector1">
            <a:avLst/>
          </a:prstGeom>
          <a:noFill/>
          <a:ln cap="flat" cmpd="sng" w="6350">
            <a:solidFill>
              <a:srgbClr val="D6D0C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40" name="Google Shape;540;p46"/>
          <p:cNvSpPr txBox="1"/>
          <p:nvPr/>
        </p:nvSpPr>
        <p:spPr>
          <a:xfrm>
            <a:off x="406400" y="2464210"/>
            <a:ext cx="3684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solidFill>
                  <a:srgbClr val="66716B"/>
                </a:solidFill>
                <a:latin typeface="Montserrat"/>
                <a:ea typeface="Montserrat"/>
                <a:cs typeface="Montserrat"/>
                <a:sym typeface="Montserrat"/>
              </a:rPr>
              <a:t>10</a:t>
            </a:r>
            <a:endParaRPr sz="1100">
              <a:solidFill>
                <a:srgbClr val="66716B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541" name="Google Shape;541;p46"/>
          <p:cNvCxnSpPr/>
          <p:nvPr/>
        </p:nvCxnSpPr>
        <p:spPr>
          <a:xfrm>
            <a:off x="838200" y="2141384"/>
            <a:ext cx="4165500" cy="0"/>
          </a:xfrm>
          <a:prstGeom prst="straightConnector1">
            <a:avLst/>
          </a:prstGeom>
          <a:noFill/>
          <a:ln cap="flat" cmpd="sng" w="6350">
            <a:solidFill>
              <a:srgbClr val="D6D0C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42" name="Google Shape;542;p46"/>
          <p:cNvSpPr txBox="1"/>
          <p:nvPr/>
        </p:nvSpPr>
        <p:spPr>
          <a:xfrm>
            <a:off x="406400" y="2014384"/>
            <a:ext cx="3684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solidFill>
                  <a:srgbClr val="66716B"/>
                </a:solidFill>
                <a:latin typeface="Montserrat"/>
                <a:ea typeface="Montserrat"/>
                <a:cs typeface="Montserrat"/>
                <a:sym typeface="Montserrat"/>
              </a:rPr>
              <a:t>13</a:t>
            </a:r>
            <a:endParaRPr sz="1100">
              <a:solidFill>
                <a:srgbClr val="66716B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543" name="Google Shape;543;p46"/>
          <p:cNvCxnSpPr/>
          <p:nvPr/>
        </p:nvCxnSpPr>
        <p:spPr>
          <a:xfrm>
            <a:off x="838200" y="1841500"/>
            <a:ext cx="0" cy="2324100"/>
          </a:xfrm>
          <a:prstGeom prst="straightConnector1">
            <a:avLst/>
          </a:prstGeom>
          <a:noFill/>
          <a:ln cap="flat" cmpd="sng" w="10150">
            <a:solidFill>
              <a:srgbClr val="66716B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44" name="Google Shape;544;p46"/>
          <p:cNvCxnSpPr/>
          <p:nvPr/>
        </p:nvCxnSpPr>
        <p:spPr>
          <a:xfrm>
            <a:off x="838200" y="4165600"/>
            <a:ext cx="4165500" cy="0"/>
          </a:xfrm>
          <a:prstGeom prst="straightConnector1">
            <a:avLst/>
          </a:prstGeom>
          <a:noFill/>
          <a:ln cap="flat" cmpd="sng" w="10150">
            <a:solidFill>
              <a:srgbClr val="66716B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45" name="Google Shape;545;p46"/>
          <p:cNvSpPr txBox="1"/>
          <p:nvPr/>
        </p:nvSpPr>
        <p:spPr>
          <a:xfrm>
            <a:off x="5016500" y="4140200"/>
            <a:ext cx="228600" cy="27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>
                <a:solidFill>
                  <a:srgbClr val="66716B"/>
                </a:solidFill>
                <a:latin typeface="Montserrat"/>
                <a:ea typeface="Montserrat"/>
                <a:cs typeface="Montserrat"/>
                <a:sym typeface="Montserrat"/>
              </a:rPr>
              <a:t>x</a:t>
            </a:r>
            <a:endParaRPr sz="1300">
              <a:solidFill>
                <a:srgbClr val="66716B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46" name="Google Shape;546;p46"/>
          <p:cNvSpPr txBox="1"/>
          <p:nvPr/>
        </p:nvSpPr>
        <p:spPr>
          <a:xfrm>
            <a:off x="584200" y="1562100"/>
            <a:ext cx="2286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>
                <a:solidFill>
                  <a:srgbClr val="66716B"/>
                </a:solidFill>
                <a:latin typeface="Montserrat"/>
                <a:ea typeface="Montserrat"/>
                <a:cs typeface="Montserrat"/>
                <a:sym typeface="Montserrat"/>
              </a:rPr>
              <a:t>y</a:t>
            </a:r>
            <a:endParaRPr sz="1300">
              <a:solidFill>
                <a:srgbClr val="66716B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547" name="Google Shape;547;p46"/>
          <p:cNvCxnSpPr/>
          <p:nvPr/>
        </p:nvCxnSpPr>
        <p:spPr>
          <a:xfrm flipH="1" rot="10800000">
            <a:off x="1051821" y="3916987"/>
            <a:ext cx="56100" cy="23700"/>
          </a:xfrm>
          <a:prstGeom prst="straightConnector1">
            <a:avLst/>
          </a:prstGeom>
          <a:noFill/>
          <a:ln cap="flat" cmpd="sng" w="25400">
            <a:solidFill>
              <a:srgbClr val="1D403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48" name="Google Shape;548;p46"/>
          <p:cNvCxnSpPr/>
          <p:nvPr/>
        </p:nvCxnSpPr>
        <p:spPr>
          <a:xfrm flipH="1" rot="10800000">
            <a:off x="1108036" y="3893312"/>
            <a:ext cx="56100" cy="23700"/>
          </a:xfrm>
          <a:prstGeom prst="straightConnector1">
            <a:avLst/>
          </a:prstGeom>
          <a:noFill/>
          <a:ln cap="flat" cmpd="sng" w="25400">
            <a:solidFill>
              <a:srgbClr val="1D403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49" name="Google Shape;549;p46"/>
          <p:cNvCxnSpPr/>
          <p:nvPr/>
        </p:nvCxnSpPr>
        <p:spPr>
          <a:xfrm flipH="1" rot="10800000">
            <a:off x="1164252" y="3869637"/>
            <a:ext cx="56100" cy="23700"/>
          </a:xfrm>
          <a:prstGeom prst="straightConnector1">
            <a:avLst/>
          </a:prstGeom>
          <a:noFill/>
          <a:ln cap="flat" cmpd="sng" w="25400">
            <a:solidFill>
              <a:srgbClr val="1D403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50" name="Google Shape;550;p46"/>
          <p:cNvCxnSpPr/>
          <p:nvPr/>
        </p:nvCxnSpPr>
        <p:spPr>
          <a:xfrm flipH="1" rot="10800000">
            <a:off x="1220468" y="3845962"/>
            <a:ext cx="56100" cy="23700"/>
          </a:xfrm>
          <a:prstGeom prst="straightConnector1">
            <a:avLst/>
          </a:prstGeom>
          <a:noFill/>
          <a:ln cap="flat" cmpd="sng" w="25400">
            <a:solidFill>
              <a:srgbClr val="1D403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51" name="Google Shape;551;p46"/>
          <p:cNvCxnSpPr/>
          <p:nvPr/>
        </p:nvCxnSpPr>
        <p:spPr>
          <a:xfrm flipH="1" rot="10800000">
            <a:off x="1276684" y="3822287"/>
            <a:ext cx="56100" cy="23700"/>
          </a:xfrm>
          <a:prstGeom prst="straightConnector1">
            <a:avLst/>
          </a:prstGeom>
          <a:noFill/>
          <a:ln cap="flat" cmpd="sng" w="25400">
            <a:solidFill>
              <a:srgbClr val="1D403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52" name="Google Shape;552;p46"/>
          <p:cNvCxnSpPr/>
          <p:nvPr/>
        </p:nvCxnSpPr>
        <p:spPr>
          <a:xfrm flipH="1" rot="10800000">
            <a:off x="1332900" y="3798612"/>
            <a:ext cx="56100" cy="23700"/>
          </a:xfrm>
          <a:prstGeom prst="straightConnector1">
            <a:avLst/>
          </a:prstGeom>
          <a:noFill/>
          <a:ln cap="flat" cmpd="sng" w="25400">
            <a:solidFill>
              <a:srgbClr val="1D403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53" name="Google Shape;553;p46"/>
          <p:cNvCxnSpPr/>
          <p:nvPr/>
        </p:nvCxnSpPr>
        <p:spPr>
          <a:xfrm flipH="1" rot="10800000">
            <a:off x="1389116" y="3774937"/>
            <a:ext cx="56100" cy="23700"/>
          </a:xfrm>
          <a:prstGeom prst="straightConnector1">
            <a:avLst/>
          </a:prstGeom>
          <a:noFill/>
          <a:ln cap="flat" cmpd="sng" w="25400">
            <a:solidFill>
              <a:srgbClr val="1D403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54" name="Google Shape;554;p46"/>
          <p:cNvCxnSpPr/>
          <p:nvPr/>
        </p:nvCxnSpPr>
        <p:spPr>
          <a:xfrm flipH="1" rot="10800000">
            <a:off x="1445332" y="3751262"/>
            <a:ext cx="56100" cy="23700"/>
          </a:xfrm>
          <a:prstGeom prst="straightConnector1">
            <a:avLst/>
          </a:prstGeom>
          <a:noFill/>
          <a:ln cap="flat" cmpd="sng" w="25400">
            <a:solidFill>
              <a:srgbClr val="1D403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55" name="Google Shape;555;p46"/>
          <p:cNvCxnSpPr/>
          <p:nvPr/>
        </p:nvCxnSpPr>
        <p:spPr>
          <a:xfrm flipH="1" rot="10800000">
            <a:off x="1501548" y="3727587"/>
            <a:ext cx="56100" cy="23700"/>
          </a:xfrm>
          <a:prstGeom prst="straightConnector1">
            <a:avLst/>
          </a:prstGeom>
          <a:noFill/>
          <a:ln cap="flat" cmpd="sng" w="25400">
            <a:solidFill>
              <a:srgbClr val="1D403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56" name="Google Shape;556;p46"/>
          <p:cNvCxnSpPr/>
          <p:nvPr/>
        </p:nvCxnSpPr>
        <p:spPr>
          <a:xfrm flipH="1" rot="10800000">
            <a:off x="1557764" y="3703912"/>
            <a:ext cx="56100" cy="23700"/>
          </a:xfrm>
          <a:prstGeom prst="straightConnector1">
            <a:avLst/>
          </a:prstGeom>
          <a:noFill/>
          <a:ln cap="flat" cmpd="sng" w="25400">
            <a:solidFill>
              <a:srgbClr val="1D403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57" name="Google Shape;557;p46"/>
          <p:cNvCxnSpPr/>
          <p:nvPr/>
        </p:nvCxnSpPr>
        <p:spPr>
          <a:xfrm flipH="1" rot="10800000">
            <a:off x="1613980" y="3680237"/>
            <a:ext cx="56100" cy="23700"/>
          </a:xfrm>
          <a:prstGeom prst="straightConnector1">
            <a:avLst/>
          </a:prstGeom>
          <a:noFill/>
          <a:ln cap="flat" cmpd="sng" w="25400">
            <a:solidFill>
              <a:srgbClr val="1D403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58" name="Google Shape;558;p46"/>
          <p:cNvCxnSpPr/>
          <p:nvPr/>
        </p:nvCxnSpPr>
        <p:spPr>
          <a:xfrm flipH="1" rot="10800000">
            <a:off x="1670196" y="3656562"/>
            <a:ext cx="56100" cy="23700"/>
          </a:xfrm>
          <a:prstGeom prst="straightConnector1">
            <a:avLst/>
          </a:prstGeom>
          <a:noFill/>
          <a:ln cap="flat" cmpd="sng" w="25400">
            <a:solidFill>
              <a:srgbClr val="1D403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59" name="Google Shape;559;p46"/>
          <p:cNvCxnSpPr/>
          <p:nvPr/>
        </p:nvCxnSpPr>
        <p:spPr>
          <a:xfrm flipH="1" rot="10800000">
            <a:off x="1726412" y="3632887"/>
            <a:ext cx="56100" cy="23700"/>
          </a:xfrm>
          <a:prstGeom prst="straightConnector1">
            <a:avLst/>
          </a:prstGeom>
          <a:noFill/>
          <a:ln cap="flat" cmpd="sng" w="25400">
            <a:solidFill>
              <a:srgbClr val="1D403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60" name="Google Shape;560;p46"/>
          <p:cNvCxnSpPr/>
          <p:nvPr/>
        </p:nvCxnSpPr>
        <p:spPr>
          <a:xfrm flipH="1" rot="10800000">
            <a:off x="1782628" y="3609212"/>
            <a:ext cx="56100" cy="23700"/>
          </a:xfrm>
          <a:prstGeom prst="straightConnector1">
            <a:avLst/>
          </a:prstGeom>
          <a:noFill/>
          <a:ln cap="flat" cmpd="sng" w="25400">
            <a:solidFill>
              <a:srgbClr val="1D403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61" name="Google Shape;561;p46"/>
          <p:cNvCxnSpPr/>
          <p:nvPr/>
        </p:nvCxnSpPr>
        <p:spPr>
          <a:xfrm flipH="1" rot="10800000">
            <a:off x="1838843" y="3585537"/>
            <a:ext cx="56100" cy="23700"/>
          </a:xfrm>
          <a:prstGeom prst="straightConnector1">
            <a:avLst/>
          </a:prstGeom>
          <a:noFill/>
          <a:ln cap="flat" cmpd="sng" w="25400">
            <a:solidFill>
              <a:srgbClr val="1D403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62" name="Google Shape;562;p46"/>
          <p:cNvCxnSpPr/>
          <p:nvPr/>
        </p:nvCxnSpPr>
        <p:spPr>
          <a:xfrm flipH="1" rot="10800000">
            <a:off x="1895059" y="3561861"/>
            <a:ext cx="56100" cy="23700"/>
          </a:xfrm>
          <a:prstGeom prst="straightConnector1">
            <a:avLst/>
          </a:prstGeom>
          <a:noFill/>
          <a:ln cap="flat" cmpd="sng" w="25400">
            <a:solidFill>
              <a:srgbClr val="1D403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63" name="Google Shape;563;p46"/>
          <p:cNvCxnSpPr/>
          <p:nvPr/>
        </p:nvCxnSpPr>
        <p:spPr>
          <a:xfrm flipH="1" rot="10800000">
            <a:off x="1951275" y="3538186"/>
            <a:ext cx="56100" cy="23700"/>
          </a:xfrm>
          <a:prstGeom prst="straightConnector1">
            <a:avLst/>
          </a:prstGeom>
          <a:noFill/>
          <a:ln cap="flat" cmpd="sng" w="25400">
            <a:solidFill>
              <a:srgbClr val="1D403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64" name="Google Shape;564;p46"/>
          <p:cNvCxnSpPr/>
          <p:nvPr/>
        </p:nvCxnSpPr>
        <p:spPr>
          <a:xfrm flipH="1" rot="10800000">
            <a:off x="2007491" y="3514511"/>
            <a:ext cx="56100" cy="23700"/>
          </a:xfrm>
          <a:prstGeom prst="straightConnector1">
            <a:avLst/>
          </a:prstGeom>
          <a:noFill/>
          <a:ln cap="flat" cmpd="sng" w="25400">
            <a:solidFill>
              <a:srgbClr val="1D403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65" name="Google Shape;565;p46"/>
          <p:cNvCxnSpPr/>
          <p:nvPr/>
        </p:nvCxnSpPr>
        <p:spPr>
          <a:xfrm flipH="1" rot="10800000">
            <a:off x="2063707" y="3490836"/>
            <a:ext cx="56100" cy="23700"/>
          </a:xfrm>
          <a:prstGeom prst="straightConnector1">
            <a:avLst/>
          </a:prstGeom>
          <a:noFill/>
          <a:ln cap="flat" cmpd="sng" w="25400">
            <a:solidFill>
              <a:srgbClr val="1D403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66" name="Google Shape;566;p46"/>
          <p:cNvCxnSpPr/>
          <p:nvPr/>
        </p:nvCxnSpPr>
        <p:spPr>
          <a:xfrm flipH="1" rot="10800000">
            <a:off x="2119923" y="3467161"/>
            <a:ext cx="56100" cy="23700"/>
          </a:xfrm>
          <a:prstGeom prst="straightConnector1">
            <a:avLst/>
          </a:prstGeom>
          <a:noFill/>
          <a:ln cap="flat" cmpd="sng" w="25400">
            <a:solidFill>
              <a:srgbClr val="1D403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67" name="Google Shape;567;p46"/>
          <p:cNvCxnSpPr/>
          <p:nvPr/>
        </p:nvCxnSpPr>
        <p:spPr>
          <a:xfrm flipH="1" rot="10800000">
            <a:off x="2176139" y="3443486"/>
            <a:ext cx="56100" cy="23700"/>
          </a:xfrm>
          <a:prstGeom prst="straightConnector1">
            <a:avLst/>
          </a:prstGeom>
          <a:noFill/>
          <a:ln cap="flat" cmpd="sng" w="25400">
            <a:solidFill>
              <a:srgbClr val="1D403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68" name="Google Shape;568;p46"/>
          <p:cNvCxnSpPr/>
          <p:nvPr/>
        </p:nvCxnSpPr>
        <p:spPr>
          <a:xfrm flipH="1" rot="10800000">
            <a:off x="2232355" y="3419811"/>
            <a:ext cx="56100" cy="23700"/>
          </a:xfrm>
          <a:prstGeom prst="straightConnector1">
            <a:avLst/>
          </a:prstGeom>
          <a:noFill/>
          <a:ln cap="flat" cmpd="sng" w="25400">
            <a:solidFill>
              <a:srgbClr val="1D403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69" name="Google Shape;569;p46"/>
          <p:cNvCxnSpPr/>
          <p:nvPr/>
        </p:nvCxnSpPr>
        <p:spPr>
          <a:xfrm flipH="1" rot="10800000">
            <a:off x="2288571" y="3396136"/>
            <a:ext cx="56100" cy="23700"/>
          </a:xfrm>
          <a:prstGeom prst="straightConnector1">
            <a:avLst/>
          </a:prstGeom>
          <a:noFill/>
          <a:ln cap="flat" cmpd="sng" w="25400">
            <a:solidFill>
              <a:srgbClr val="1D403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70" name="Google Shape;570;p46"/>
          <p:cNvCxnSpPr/>
          <p:nvPr/>
        </p:nvCxnSpPr>
        <p:spPr>
          <a:xfrm flipH="1" rot="10800000">
            <a:off x="2344787" y="3372461"/>
            <a:ext cx="56100" cy="23700"/>
          </a:xfrm>
          <a:prstGeom prst="straightConnector1">
            <a:avLst/>
          </a:prstGeom>
          <a:noFill/>
          <a:ln cap="flat" cmpd="sng" w="25400">
            <a:solidFill>
              <a:srgbClr val="1D403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71" name="Google Shape;571;p46"/>
          <p:cNvCxnSpPr/>
          <p:nvPr/>
        </p:nvCxnSpPr>
        <p:spPr>
          <a:xfrm flipH="1" rot="10800000">
            <a:off x="2401003" y="3348786"/>
            <a:ext cx="56100" cy="23700"/>
          </a:xfrm>
          <a:prstGeom prst="straightConnector1">
            <a:avLst/>
          </a:prstGeom>
          <a:noFill/>
          <a:ln cap="flat" cmpd="sng" w="25400">
            <a:solidFill>
              <a:srgbClr val="1D403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72" name="Google Shape;572;p46"/>
          <p:cNvCxnSpPr/>
          <p:nvPr/>
        </p:nvCxnSpPr>
        <p:spPr>
          <a:xfrm flipH="1" rot="10800000">
            <a:off x="2457219" y="3325111"/>
            <a:ext cx="56100" cy="23700"/>
          </a:xfrm>
          <a:prstGeom prst="straightConnector1">
            <a:avLst/>
          </a:prstGeom>
          <a:noFill/>
          <a:ln cap="flat" cmpd="sng" w="25400">
            <a:solidFill>
              <a:srgbClr val="1D403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73" name="Google Shape;573;p46"/>
          <p:cNvCxnSpPr/>
          <p:nvPr/>
        </p:nvCxnSpPr>
        <p:spPr>
          <a:xfrm flipH="1" rot="10800000">
            <a:off x="2513435" y="3301436"/>
            <a:ext cx="56100" cy="23700"/>
          </a:xfrm>
          <a:prstGeom prst="straightConnector1">
            <a:avLst/>
          </a:prstGeom>
          <a:noFill/>
          <a:ln cap="flat" cmpd="sng" w="25400">
            <a:solidFill>
              <a:srgbClr val="1D403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74" name="Google Shape;574;p46"/>
          <p:cNvCxnSpPr/>
          <p:nvPr/>
        </p:nvCxnSpPr>
        <p:spPr>
          <a:xfrm flipH="1" rot="10800000">
            <a:off x="2569650" y="3277761"/>
            <a:ext cx="56100" cy="23700"/>
          </a:xfrm>
          <a:prstGeom prst="straightConnector1">
            <a:avLst/>
          </a:prstGeom>
          <a:noFill/>
          <a:ln cap="flat" cmpd="sng" w="25400">
            <a:solidFill>
              <a:srgbClr val="1D403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75" name="Google Shape;575;p46"/>
          <p:cNvCxnSpPr/>
          <p:nvPr/>
        </p:nvCxnSpPr>
        <p:spPr>
          <a:xfrm flipH="1" rot="10800000">
            <a:off x="2625866" y="3254086"/>
            <a:ext cx="56100" cy="23700"/>
          </a:xfrm>
          <a:prstGeom prst="straightConnector1">
            <a:avLst/>
          </a:prstGeom>
          <a:noFill/>
          <a:ln cap="flat" cmpd="sng" w="25400">
            <a:solidFill>
              <a:srgbClr val="1D403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76" name="Google Shape;576;p46"/>
          <p:cNvCxnSpPr/>
          <p:nvPr/>
        </p:nvCxnSpPr>
        <p:spPr>
          <a:xfrm flipH="1" rot="10800000">
            <a:off x="2682082" y="3230411"/>
            <a:ext cx="56100" cy="23700"/>
          </a:xfrm>
          <a:prstGeom prst="straightConnector1">
            <a:avLst/>
          </a:prstGeom>
          <a:noFill/>
          <a:ln cap="flat" cmpd="sng" w="25400">
            <a:solidFill>
              <a:srgbClr val="1D403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77" name="Google Shape;577;p46"/>
          <p:cNvCxnSpPr/>
          <p:nvPr/>
        </p:nvCxnSpPr>
        <p:spPr>
          <a:xfrm flipH="1" rot="10800000">
            <a:off x="2738298" y="3206736"/>
            <a:ext cx="56100" cy="23700"/>
          </a:xfrm>
          <a:prstGeom prst="straightConnector1">
            <a:avLst/>
          </a:prstGeom>
          <a:noFill/>
          <a:ln cap="flat" cmpd="sng" w="25400">
            <a:solidFill>
              <a:srgbClr val="1D403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78" name="Google Shape;578;p46"/>
          <p:cNvCxnSpPr/>
          <p:nvPr/>
        </p:nvCxnSpPr>
        <p:spPr>
          <a:xfrm flipH="1" rot="10800000">
            <a:off x="2794514" y="3183061"/>
            <a:ext cx="56100" cy="23700"/>
          </a:xfrm>
          <a:prstGeom prst="straightConnector1">
            <a:avLst/>
          </a:prstGeom>
          <a:noFill/>
          <a:ln cap="flat" cmpd="sng" w="25400">
            <a:solidFill>
              <a:srgbClr val="1D403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79" name="Google Shape;579;p46"/>
          <p:cNvCxnSpPr/>
          <p:nvPr/>
        </p:nvCxnSpPr>
        <p:spPr>
          <a:xfrm flipH="1" rot="10800000">
            <a:off x="2850730" y="3159386"/>
            <a:ext cx="56100" cy="23700"/>
          </a:xfrm>
          <a:prstGeom prst="straightConnector1">
            <a:avLst/>
          </a:prstGeom>
          <a:noFill/>
          <a:ln cap="flat" cmpd="sng" w="25400">
            <a:solidFill>
              <a:srgbClr val="1D403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80" name="Google Shape;580;p46"/>
          <p:cNvCxnSpPr/>
          <p:nvPr/>
        </p:nvCxnSpPr>
        <p:spPr>
          <a:xfrm flipH="1" rot="10800000">
            <a:off x="2906946" y="3135711"/>
            <a:ext cx="56100" cy="23700"/>
          </a:xfrm>
          <a:prstGeom prst="straightConnector1">
            <a:avLst/>
          </a:prstGeom>
          <a:noFill/>
          <a:ln cap="flat" cmpd="sng" w="25400">
            <a:solidFill>
              <a:srgbClr val="1D403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81" name="Google Shape;581;p46"/>
          <p:cNvCxnSpPr/>
          <p:nvPr/>
        </p:nvCxnSpPr>
        <p:spPr>
          <a:xfrm flipH="1" rot="10800000">
            <a:off x="2963162" y="3112036"/>
            <a:ext cx="56100" cy="23700"/>
          </a:xfrm>
          <a:prstGeom prst="straightConnector1">
            <a:avLst/>
          </a:prstGeom>
          <a:noFill/>
          <a:ln cap="flat" cmpd="sng" w="25400">
            <a:solidFill>
              <a:srgbClr val="1D403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82" name="Google Shape;582;p46"/>
          <p:cNvCxnSpPr/>
          <p:nvPr/>
        </p:nvCxnSpPr>
        <p:spPr>
          <a:xfrm flipH="1" rot="10800000">
            <a:off x="3019378" y="3088361"/>
            <a:ext cx="56100" cy="23700"/>
          </a:xfrm>
          <a:prstGeom prst="straightConnector1">
            <a:avLst/>
          </a:prstGeom>
          <a:noFill/>
          <a:ln cap="flat" cmpd="sng" w="25400">
            <a:solidFill>
              <a:srgbClr val="1D403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83" name="Google Shape;583;p46"/>
          <p:cNvCxnSpPr/>
          <p:nvPr/>
        </p:nvCxnSpPr>
        <p:spPr>
          <a:xfrm flipH="1" rot="10800000">
            <a:off x="3075594" y="3064686"/>
            <a:ext cx="56100" cy="23700"/>
          </a:xfrm>
          <a:prstGeom prst="straightConnector1">
            <a:avLst/>
          </a:prstGeom>
          <a:noFill/>
          <a:ln cap="flat" cmpd="sng" w="25400">
            <a:solidFill>
              <a:srgbClr val="1D403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84" name="Google Shape;584;p46"/>
          <p:cNvCxnSpPr/>
          <p:nvPr/>
        </p:nvCxnSpPr>
        <p:spPr>
          <a:xfrm flipH="1" rot="10800000">
            <a:off x="3131810" y="3041011"/>
            <a:ext cx="56100" cy="23700"/>
          </a:xfrm>
          <a:prstGeom prst="straightConnector1">
            <a:avLst/>
          </a:prstGeom>
          <a:noFill/>
          <a:ln cap="flat" cmpd="sng" w="25400">
            <a:solidFill>
              <a:srgbClr val="1D403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85" name="Google Shape;585;p46"/>
          <p:cNvCxnSpPr/>
          <p:nvPr/>
        </p:nvCxnSpPr>
        <p:spPr>
          <a:xfrm flipH="1" rot="10800000">
            <a:off x="3188026" y="2591335"/>
            <a:ext cx="1068000" cy="449700"/>
          </a:xfrm>
          <a:prstGeom prst="straightConnector1">
            <a:avLst/>
          </a:prstGeom>
          <a:noFill/>
          <a:ln cap="flat" cmpd="sng" w="20325">
            <a:solidFill>
              <a:srgbClr val="1D4036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586" name="Google Shape;586;p46"/>
          <p:cNvSpPr/>
          <p:nvPr/>
        </p:nvSpPr>
        <p:spPr>
          <a:xfrm>
            <a:off x="1007371" y="3896237"/>
            <a:ext cx="88800" cy="88800"/>
          </a:xfrm>
          <a:prstGeom prst="ellipse">
            <a:avLst/>
          </a:prstGeom>
          <a:solidFill>
            <a:srgbClr val="1D4036"/>
          </a:solidFill>
          <a:ln cap="flat" cmpd="sng" w="7625">
            <a:solidFill>
              <a:srgbClr val="EFE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87" name="Google Shape;587;p46"/>
          <p:cNvSpPr txBox="1"/>
          <p:nvPr/>
        </p:nvSpPr>
        <p:spPr>
          <a:xfrm>
            <a:off x="1026421" y="3407287"/>
            <a:ext cx="8256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rgbClr val="1D4036"/>
                </a:solidFill>
                <a:latin typeface="Montserrat"/>
                <a:ea typeface="Montserrat"/>
                <a:cs typeface="Montserrat"/>
                <a:sym typeface="Montserrat"/>
              </a:rPr>
              <a:t>(0, 1)</a:t>
            </a:r>
            <a:endParaRPr b="1" sz="1200">
              <a:solidFill>
                <a:srgbClr val="1D403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88" name="Google Shape;588;p46"/>
          <p:cNvSpPr/>
          <p:nvPr/>
        </p:nvSpPr>
        <p:spPr>
          <a:xfrm>
            <a:off x="3143576" y="2996585"/>
            <a:ext cx="88800" cy="88800"/>
          </a:xfrm>
          <a:prstGeom prst="ellipse">
            <a:avLst/>
          </a:prstGeom>
          <a:solidFill>
            <a:srgbClr val="1D4036"/>
          </a:solidFill>
          <a:ln cap="flat" cmpd="sng" w="7625">
            <a:solidFill>
              <a:srgbClr val="EFE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89" name="Google Shape;589;p46"/>
          <p:cNvSpPr txBox="1"/>
          <p:nvPr/>
        </p:nvSpPr>
        <p:spPr>
          <a:xfrm>
            <a:off x="2375226" y="2736235"/>
            <a:ext cx="8256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rgbClr val="1D4036"/>
                </a:solidFill>
                <a:latin typeface="Montserrat"/>
                <a:ea typeface="Montserrat"/>
                <a:cs typeface="Montserrat"/>
                <a:sym typeface="Montserrat"/>
              </a:rPr>
              <a:t>(2, 7)</a:t>
            </a:r>
            <a:endParaRPr b="1" sz="1200">
              <a:solidFill>
                <a:srgbClr val="1D403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90" name="Google Shape;590;p46"/>
          <p:cNvSpPr/>
          <p:nvPr/>
        </p:nvSpPr>
        <p:spPr>
          <a:xfrm>
            <a:off x="4211678" y="2546760"/>
            <a:ext cx="88800" cy="88800"/>
          </a:xfrm>
          <a:prstGeom prst="ellipse">
            <a:avLst/>
          </a:prstGeom>
          <a:solidFill>
            <a:srgbClr val="1D4036"/>
          </a:solidFill>
          <a:ln cap="flat" cmpd="sng" w="7625">
            <a:solidFill>
              <a:srgbClr val="EFE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91" name="Google Shape;591;p46"/>
          <p:cNvSpPr/>
          <p:nvPr/>
        </p:nvSpPr>
        <p:spPr>
          <a:xfrm>
            <a:off x="4211678" y="2096934"/>
            <a:ext cx="88800" cy="88800"/>
          </a:xfrm>
          <a:prstGeom prst="ellipse">
            <a:avLst/>
          </a:prstGeom>
          <a:solidFill>
            <a:srgbClr val="B94C43"/>
          </a:solidFill>
          <a:ln cap="flat" cmpd="sng" w="7625">
            <a:solidFill>
              <a:srgbClr val="EFE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592" name="Google Shape;592;p46"/>
          <p:cNvCxnSpPr/>
          <p:nvPr/>
        </p:nvCxnSpPr>
        <p:spPr>
          <a:xfrm rot="10800000">
            <a:off x="4555197" y="2141510"/>
            <a:ext cx="0" cy="449700"/>
          </a:xfrm>
          <a:prstGeom prst="straightConnector1">
            <a:avLst/>
          </a:prstGeom>
          <a:noFill/>
          <a:ln cap="flat" cmpd="sng" w="19050">
            <a:solidFill>
              <a:srgbClr val="B94C43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593" name="Google Shape;593;p46"/>
          <p:cNvSpPr txBox="1"/>
          <p:nvPr/>
        </p:nvSpPr>
        <p:spPr>
          <a:xfrm>
            <a:off x="5676900" y="1739900"/>
            <a:ext cx="3048000" cy="33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rgbClr val="66716B"/>
                </a:solidFill>
                <a:latin typeface="Montserrat"/>
                <a:ea typeface="Montserrat"/>
                <a:cs typeface="Montserrat"/>
                <a:sym typeface="Montserrat"/>
              </a:rPr>
              <a:t>La recta da</a:t>
            </a:r>
            <a:endParaRPr sz="1800">
              <a:solidFill>
                <a:srgbClr val="66716B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94" name="Google Shape;594;p46"/>
          <p:cNvSpPr txBox="1"/>
          <p:nvPr/>
        </p:nvSpPr>
        <p:spPr>
          <a:xfrm>
            <a:off x="5346700" y="2146300"/>
            <a:ext cx="3492600" cy="4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2100">
                <a:solidFill>
                  <a:srgbClr val="1D4036"/>
                </a:solidFill>
                <a:latin typeface="Montserrat"/>
                <a:ea typeface="Montserrat"/>
                <a:cs typeface="Montserrat"/>
                <a:sym typeface="Montserrat"/>
              </a:rPr>
              <a:t>P</a:t>
            </a:r>
            <a:r>
              <a:rPr baseline="-25000" lang="es" sz="2100">
                <a:solidFill>
                  <a:srgbClr val="1D4036"/>
                </a:solidFill>
                <a:latin typeface="Montserrat"/>
                <a:ea typeface="Montserrat"/>
                <a:cs typeface="Montserrat"/>
                <a:sym typeface="Montserrat"/>
              </a:rPr>
              <a:t>1</a:t>
            </a:r>
            <a:r>
              <a:rPr lang="es" sz="2100">
                <a:solidFill>
                  <a:srgbClr val="1D4036"/>
                </a:solidFill>
                <a:latin typeface="Montserrat"/>
                <a:ea typeface="Montserrat"/>
                <a:cs typeface="Montserrat"/>
                <a:sym typeface="Montserrat"/>
              </a:rPr>
              <a:t>(3) = 1 + 3·3 = 10</a:t>
            </a:r>
            <a:endParaRPr sz="2100">
              <a:solidFill>
                <a:srgbClr val="1D403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95" name="Google Shape;595;p46"/>
          <p:cNvSpPr txBox="1"/>
          <p:nvPr/>
        </p:nvSpPr>
        <p:spPr>
          <a:xfrm>
            <a:off x="5676900" y="2895600"/>
            <a:ext cx="3111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2000">
                <a:solidFill>
                  <a:srgbClr val="B94C43"/>
                </a:solidFill>
                <a:latin typeface="Montserrat"/>
                <a:ea typeface="Montserrat"/>
                <a:cs typeface="Montserrat"/>
                <a:sym typeface="Montserrat"/>
              </a:rPr>
              <a:t>El dato nuevo es 13</a:t>
            </a:r>
            <a:endParaRPr sz="2000">
              <a:solidFill>
                <a:srgbClr val="B94C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96" name="Google Shape;596;p46"/>
          <p:cNvSpPr txBox="1"/>
          <p:nvPr/>
        </p:nvSpPr>
        <p:spPr>
          <a:xfrm>
            <a:off x="5448300" y="3505200"/>
            <a:ext cx="3340200" cy="44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2200">
                <a:solidFill>
                  <a:srgbClr val="B94C43"/>
                </a:solidFill>
                <a:latin typeface="Montserrat"/>
                <a:ea typeface="Montserrat"/>
                <a:cs typeface="Montserrat"/>
                <a:sym typeface="Montserrat"/>
              </a:rPr>
              <a:t>Faltan 13 − 10 = 3</a:t>
            </a:r>
            <a:endParaRPr sz="2200">
              <a:solidFill>
                <a:srgbClr val="B94C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0" name="Shape 6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1" name="Google Shape;601;p47"/>
          <p:cNvSpPr txBox="1"/>
          <p:nvPr>
            <p:ph type="title"/>
          </p:nvPr>
        </p:nvSpPr>
        <p:spPr>
          <a:xfrm>
            <a:off x="317500" y="393700"/>
            <a:ext cx="8508900" cy="4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2400">
                <a:solidFill>
                  <a:srgbClr val="252C29"/>
                </a:solidFill>
                <a:latin typeface="Montserrat"/>
                <a:ea typeface="Montserrat"/>
                <a:cs typeface="Montserrat"/>
                <a:sym typeface="Montserrat"/>
              </a:rPr>
              <a:t>Una corrección que conserva los puntos</a:t>
            </a:r>
            <a:endParaRPr sz="2400">
              <a:solidFill>
                <a:srgbClr val="252C29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02" name="Google Shape;602;p47"/>
          <p:cNvSpPr txBox="1"/>
          <p:nvPr>
            <p:ph idx="1" type="body"/>
          </p:nvPr>
        </p:nvSpPr>
        <p:spPr>
          <a:xfrm>
            <a:off x="381000" y="1041400"/>
            <a:ext cx="8382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600">
                <a:solidFill>
                  <a:srgbClr val="66716B"/>
                </a:solidFill>
              </a:rPr>
              <a:t>El término nuevo debe valer </a:t>
            </a:r>
            <a:r>
              <a:rPr b="1" lang="es" sz="1600">
                <a:solidFill>
                  <a:srgbClr val="66716B"/>
                </a:solidFill>
              </a:rPr>
              <a:t>cero</a:t>
            </a:r>
            <a:r>
              <a:rPr lang="es" sz="1600">
                <a:solidFill>
                  <a:srgbClr val="66716B"/>
                </a:solidFill>
              </a:rPr>
              <a:t> en x = 0 y en x = 2.</a:t>
            </a:r>
            <a:endParaRPr sz="1600">
              <a:solidFill>
                <a:srgbClr val="66716B"/>
              </a:solidFill>
            </a:endParaRPr>
          </a:p>
        </p:txBody>
      </p:sp>
      <p:sp>
        <p:nvSpPr>
          <p:cNvPr id="603" name="Google Shape;603;p47"/>
          <p:cNvSpPr txBox="1"/>
          <p:nvPr>
            <p:ph idx="12" type="sldNum"/>
          </p:nvPr>
        </p:nvSpPr>
        <p:spPr>
          <a:xfrm>
            <a:off x="8520083" y="4734654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sp>
        <p:nvSpPr>
          <p:cNvPr id="604" name="Google Shape;604;p47"/>
          <p:cNvSpPr/>
          <p:nvPr/>
        </p:nvSpPr>
        <p:spPr>
          <a:xfrm>
            <a:off x="381000" y="4508500"/>
            <a:ext cx="7874100" cy="29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rgbClr val="66716B"/>
                </a:solidFill>
                <a:latin typeface="Montserrat"/>
                <a:ea typeface="Montserrat"/>
                <a:cs typeface="Montserrat"/>
                <a:sym typeface="Montserrat"/>
              </a:rPr>
              <a:t>C es el número que ajustará cuánto sumamos en el tercer punto.</a:t>
            </a:r>
            <a:endParaRPr sz="1200">
              <a:solidFill>
                <a:srgbClr val="66716B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05" name="Google Shape;605;p47"/>
          <p:cNvSpPr txBox="1"/>
          <p:nvPr/>
        </p:nvSpPr>
        <p:spPr>
          <a:xfrm>
            <a:off x="1397000" y="1562100"/>
            <a:ext cx="6350100" cy="59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2900">
                <a:solidFill>
                  <a:srgbClr val="BF6B1B"/>
                </a:solidFill>
                <a:latin typeface="Montserrat"/>
                <a:ea typeface="Montserrat"/>
                <a:cs typeface="Montserrat"/>
                <a:sym typeface="Montserrat"/>
              </a:rPr>
              <a:t>Corrección: C · (</a:t>
            </a:r>
            <a:r>
              <a:rPr lang="es" sz="2900">
                <a:solidFill>
                  <a:srgbClr val="BF6B1B"/>
                </a:solidFill>
                <a:latin typeface="Montserrat"/>
                <a:ea typeface="Montserrat"/>
                <a:cs typeface="Montserrat"/>
                <a:sym typeface="Montserrat"/>
              </a:rPr>
              <a:t>x − </a:t>
            </a:r>
            <a:r>
              <a:rPr lang="es" sz="2900">
                <a:solidFill>
                  <a:srgbClr val="BF6B1B"/>
                </a:solidFill>
                <a:latin typeface="Montserrat"/>
                <a:ea typeface="Montserrat"/>
                <a:cs typeface="Montserrat"/>
                <a:sym typeface="Montserrat"/>
              </a:rPr>
              <a:t>0)(x − 2)</a:t>
            </a:r>
            <a:endParaRPr sz="2900">
              <a:solidFill>
                <a:srgbClr val="BF6B1B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06" name="Google Shape;606;p47"/>
          <p:cNvSpPr txBox="1"/>
          <p:nvPr/>
        </p:nvSpPr>
        <p:spPr>
          <a:xfrm>
            <a:off x="622300" y="2425700"/>
            <a:ext cx="3683100" cy="35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rgbClr val="1D4036"/>
                </a:solidFill>
                <a:latin typeface="Montserrat"/>
                <a:ea typeface="Montserrat"/>
                <a:cs typeface="Montserrat"/>
                <a:sym typeface="Montserrat"/>
              </a:rPr>
              <a:t>En x = 0</a:t>
            </a:r>
            <a:endParaRPr sz="1800">
              <a:solidFill>
                <a:srgbClr val="1D403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07" name="Google Shape;607;p47"/>
          <p:cNvSpPr txBox="1"/>
          <p:nvPr/>
        </p:nvSpPr>
        <p:spPr>
          <a:xfrm>
            <a:off x="4813300" y="2425700"/>
            <a:ext cx="3683100" cy="35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rgbClr val="1D4036"/>
                </a:solidFill>
                <a:latin typeface="Montserrat"/>
                <a:ea typeface="Montserrat"/>
                <a:cs typeface="Montserrat"/>
                <a:sym typeface="Montserrat"/>
              </a:rPr>
              <a:t>En x = 2</a:t>
            </a:r>
            <a:endParaRPr sz="1800">
              <a:solidFill>
                <a:srgbClr val="1D403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08" name="Google Shape;608;p47"/>
          <p:cNvSpPr txBox="1"/>
          <p:nvPr/>
        </p:nvSpPr>
        <p:spPr>
          <a:xfrm>
            <a:off x="457200" y="2882900"/>
            <a:ext cx="4064100" cy="49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2400">
                <a:solidFill>
                  <a:srgbClr val="1D4036"/>
                </a:solidFill>
                <a:latin typeface="Montserrat"/>
                <a:ea typeface="Montserrat"/>
                <a:cs typeface="Montserrat"/>
                <a:sym typeface="Montserrat"/>
              </a:rPr>
              <a:t>C · 0 · (0 − 2) = 0</a:t>
            </a:r>
            <a:endParaRPr sz="2400">
              <a:solidFill>
                <a:srgbClr val="1D403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09" name="Google Shape;609;p47"/>
          <p:cNvSpPr txBox="1"/>
          <p:nvPr/>
        </p:nvSpPr>
        <p:spPr>
          <a:xfrm>
            <a:off x="4635500" y="2882900"/>
            <a:ext cx="4064100" cy="49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2400">
                <a:solidFill>
                  <a:srgbClr val="1D4036"/>
                </a:solidFill>
                <a:latin typeface="Montserrat"/>
                <a:ea typeface="Montserrat"/>
                <a:cs typeface="Montserrat"/>
                <a:sym typeface="Montserrat"/>
              </a:rPr>
              <a:t>C · 2 · (2 − 2) = 0</a:t>
            </a:r>
            <a:endParaRPr sz="2400">
              <a:solidFill>
                <a:srgbClr val="1D403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10" name="Google Shape;610;p47"/>
          <p:cNvSpPr txBox="1"/>
          <p:nvPr/>
        </p:nvSpPr>
        <p:spPr>
          <a:xfrm>
            <a:off x="622300" y="3505200"/>
            <a:ext cx="78741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700">
                <a:solidFill>
                  <a:srgbClr val="66716B"/>
                </a:solidFill>
                <a:latin typeface="Montserrat"/>
                <a:ea typeface="Montserrat"/>
                <a:cs typeface="Montserrat"/>
                <a:sym typeface="Montserrat"/>
              </a:rPr>
              <a:t>Un factor cero hace que todo el producto valga cero.</a:t>
            </a:r>
            <a:endParaRPr sz="1700">
              <a:solidFill>
                <a:srgbClr val="66716B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11" name="Google Shape;611;p47"/>
          <p:cNvSpPr txBox="1"/>
          <p:nvPr/>
        </p:nvSpPr>
        <p:spPr>
          <a:xfrm>
            <a:off x="787400" y="3975100"/>
            <a:ext cx="74931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2700">
                <a:solidFill>
                  <a:srgbClr val="1D4036"/>
                </a:solidFill>
                <a:latin typeface="Montserrat"/>
                <a:ea typeface="Montserrat"/>
                <a:cs typeface="Montserrat"/>
                <a:sym typeface="Montserrat"/>
              </a:rPr>
              <a:t>P</a:t>
            </a:r>
            <a:r>
              <a:rPr baseline="-25000" lang="es" sz="2700">
                <a:solidFill>
                  <a:srgbClr val="1D4036"/>
                </a:solidFill>
                <a:latin typeface="Montserrat"/>
                <a:ea typeface="Montserrat"/>
                <a:cs typeface="Montserrat"/>
                <a:sym typeface="Montserrat"/>
              </a:rPr>
              <a:t>2</a:t>
            </a:r>
            <a:r>
              <a:rPr lang="es" sz="2700">
                <a:solidFill>
                  <a:srgbClr val="1D4036"/>
                </a:solidFill>
                <a:latin typeface="Montserrat"/>
                <a:ea typeface="Montserrat"/>
                <a:cs typeface="Montserrat"/>
                <a:sym typeface="Montserrat"/>
              </a:rPr>
              <a:t>(x) = P</a:t>
            </a:r>
            <a:r>
              <a:rPr baseline="-25000" lang="es" sz="2700">
                <a:solidFill>
                  <a:srgbClr val="1D4036"/>
                </a:solidFill>
                <a:latin typeface="Montserrat"/>
                <a:ea typeface="Montserrat"/>
                <a:cs typeface="Montserrat"/>
                <a:sym typeface="Montserrat"/>
              </a:rPr>
              <a:t>1</a:t>
            </a:r>
            <a:r>
              <a:rPr lang="es" sz="2700">
                <a:solidFill>
                  <a:srgbClr val="1D4036"/>
                </a:solidFill>
                <a:latin typeface="Montserrat"/>
                <a:ea typeface="Montserrat"/>
                <a:cs typeface="Montserrat"/>
                <a:sym typeface="Montserrat"/>
              </a:rPr>
              <a:t>(x) + C · x(x − 2)</a:t>
            </a:r>
            <a:endParaRPr sz="2700">
              <a:solidFill>
                <a:srgbClr val="1D403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5" name="Shape 6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6" name="Google Shape;616;p48"/>
          <p:cNvSpPr txBox="1"/>
          <p:nvPr>
            <p:ph type="title"/>
          </p:nvPr>
        </p:nvSpPr>
        <p:spPr>
          <a:xfrm>
            <a:off x="317500" y="393700"/>
            <a:ext cx="8508900" cy="4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2400">
                <a:solidFill>
                  <a:srgbClr val="252C29"/>
                </a:solidFill>
                <a:latin typeface="Montserrat"/>
                <a:ea typeface="Montserrat"/>
                <a:cs typeface="Montserrat"/>
                <a:sym typeface="Montserrat"/>
              </a:rPr>
              <a:t>El nuevo dato permite calcular C</a:t>
            </a:r>
            <a:endParaRPr sz="2400">
              <a:solidFill>
                <a:srgbClr val="252C29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17" name="Google Shape;617;p48"/>
          <p:cNvSpPr txBox="1"/>
          <p:nvPr>
            <p:ph idx="1" type="body"/>
          </p:nvPr>
        </p:nvSpPr>
        <p:spPr>
          <a:xfrm>
            <a:off x="381000" y="1041400"/>
            <a:ext cx="8382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600">
                <a:solidFill>
                  <a:srgbClr val="66716B"/>
                </a:solidFill>
              </a:rPr>
              <a:t>Exigimos que el polinomio pase por (3, 13).</a:t>
            </a:r>
            <a:endParaRPr sz="1600">
              <a:solidFill>
                <a:srgbClr val="66716B"/>
              </a:solidFill>
            </a:endParaRPr>
          </a:p>
        </p:txBody>
      </p:sp>
      <p:sp>
        <p:nvSpPr>
          <p:cNvPr id="618" name="Google Shape;618;p48"/>
          <p:cNvSpPr txBox="1"/>
          <p:nvPr>
            <p:ph idx="12" type="sldNum"/>
          </p:nvPr>
        </p:nvSpPr>
        <p:spPr>
          <a:xfrm>
            <a:off x="8520083" y="4734654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sp>
        <p:nvSpPr>
          <p:cNvPr id="619" name="Google Shape;619;p48"/>
          <p:cNvSpPr/>
          <p:nvPr/>
        </p:nvSpPr>
        <p:spPr>
          <a:xfrm>
            <a:off x="381000" y="4445000"/>
            <a:ext cx="8255100" cy="29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rgbClr val="66716B"/>
                </a:solidFill>
                <a:latin typeface="Montserrat"/>
                <a:ea typeface="Montserrat"/>
                <a:cs typeface="Montserrat"/>
                <a:sym typeface="Montserrat"/>
              </a:rPr>
              <a:t>El término x</a:t>
            </a:r>
            <a:r>
              <a:rPr baseline="30000" lang="es" sz="1200">
                <a:solidFill>
                  <a:srgbClr val="66716B"/>
                </a:solidFill>
                <a:latin typeface="Montserrat"/>
                <a:ea typeface="Montserrat"/>
                <a:cs typeface="Montserrat"/>
                <a:sym typeface="Montserrat"/>
              </a:rPr>
              <a:t>2</a:t>
            </a:r>
            <a:r>
              <a:rPr lang="es" sz="1200">
                <a:solidFill>
                  <a:srgbClr val="66716B"/>
                </a:solidFill>
                <a:latin typeface="Montserrat"/>
                <a:ea typeface="Montserrat"/>
                <a:cs typeface="Montserrat"/>
                <a:sym typeface="Montserrat"/>
              </a:rPr>
              <a:t> hace que el polinomio sea cuadrático. Su gráfico es una parábola.</a:t>
            </a:r>
            <a:endParaRPr sz="1200">
              <a:solidFill>
                <a:srgbClr val="66716B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20" name="Google Shape;620;p48"/>
          <p:cNvSpPr txBox="1"/>
          <p:nvPr/>
        </p:nvSpPr>
        <p:spPr>
          <a:xfrm>
            <a:off x="419100" y="1562100"/>
            <a:ext cx="4445100" cy="33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700">
                <a:solidFill>
                  <a:srgbClr val="66716B"/>
                </a:solidFill>
                <a:latin typeface="Montserrat"/>
                <a:ea typeface="Montserrat"/>
                <a:cs typeface="Montserrat"/>
                <a:sym typeface="Montserrat"/>
              </a:rPr>
              <a:t>Reemplazamos x por 3</a:t>
            </a:r>
            <a:endParaRPr sz="1700">
              <a:solidFill>
                <a:srgbClr val="66716B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21" name="Google Shape;621;p48"/>
          <p:cNvSpPr txBox="1"/>
          <p:nvPr/>
        </p:nvSpPr>
        <p:spPr>
          <a:xfrm>
            <a:off x="419100" y="2006600"/>
            <a:ext cx="4508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2100">
                <a:solidFill>
                  <a:srgbClr val="1D4036"/>
                </a:solidFill>
                <a:latin typeface="Montserrat"/>
                <a:ea typeface="Montserrat"/>
                <a:cs typeface="Montserrat"/>
                <a:sym typeface="Montserrat"/>
              </a:rPr>
              <a:t>13 = 1 + 3·3 + C·3(3 − 2)</a:t>
            </a:r>
            <a:endParaRPr sz="2100">
              <a:solidFill>
                <a:srgbClr val="1D403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22" name="Google Shape;622;p48"/>
          <p:cNvSpPr txBox="1"/>
          <p:nvPr/>
        </p:nvSpPr>
        <p:spPr>
          <a:xfrm>
            <a:off x="812800" y="2628900"/>
            <a:ext cx="3619500" cy="43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2500">
                <a:solidFill>
                  <a:srgbClr val="1D4036"/>
                </a:solidFill>
                <a:latin typeface="Montserrat"/>
                <a:ea typeface="Montserrat"/>
                <a:cs typeface="Montserrat"/>
                <a:sym typeface="Montserrat"/>
              </a:rPr>
              <a:t>13 = 10 + 3C</a:t>
            </a:r>
            <a:endParaRPr sz="2500">
              <a:solidFill>
                <a:srgbClr val="1D403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23" name="Google Shape;623;p48"/>
          <p:cNvSpPr txBox="1"/>
          <p:nvPr/>
        </p:nvSpPr>
        <p:spPr>
          <a:xfrm>
            <a:off x="812800" y="3175000"/>
            <a:ext cx="3619500" cy="43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2500">
                <a:solidFill>
                  <a:srgbClr val="1D4036"/>
                </a:solidFill>
                <a:latin typeface="Montserrat"/>
                <a:ea typeface="Montserrat"/>
                <a:cs typeface="Montserrat"/>
                <a:sym typeface="Montserrat"/>
              </a:rPr>
              <a:t>3 = 3C</a:t>
            </a:r>
            <a:endParaRPr sz="2500">
              <a:solidFill>
                <a:srgbClr val="1D403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24" name="Google Shape;624;p48"/>
          <p:cNvSpPr txBox="1"/>
          <p:nvPr/>
        </p:nvSpPr>
        <p:spPr>
          <a:xfrm>
            <a:off x="812800" y="3733800"/>
            <a:ext cx="36195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3000">
                <a:solidFill>
                  <a:srgbClr val="BF6B1B"/>
                </a:solidFill>
                <a:latin typeface="Montserrat"/>
                <a:ea typeface="Montserrat"/>
                <a:cs typeface="Montserrat"/>
                <a:sym typeface="Montserrat"/>
              </a:rPr>
              <a:t>C = 1</a:t>
            </a:r>
            <a:endParaRPr b="1" sz="3000">
              <a:solidFill>
                <a:srgbClr val="BF6B1B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625" name="Google Shape;625;p48"/>
          <p:cNvCxnSpPr/>
          <p:nvPr/>
        </p:nvCxnSpPr>
        <p:spPr>
          <a:xfrm>
            <a:off x="4965700" y="1663700"/>
            <a:ext cx="0" cy="2527200"/>
          </a:xfrm>
          <a:prstGeom prst="straightConnector1">
            <a:avLst/>
          </a:prstGeom>
          <a:noFill/>
          <a:ln cap="flat" cmpd="sng" w="12700">
            <a:solidFill>
              <a:srgbClr val="D6D0C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26" name="Google Shape;626;p48"/>
          <p:cNvSpPr txBox="1"/>
          <p:nvPr/>
        </p:nvSpPr>
        <p:spPr>
          <a:xfrm>
            <a:off x="5257800" y="1574800"/>
            <a:ext cx="3555900" cy="35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rgbClr val="66716B"/>
                </a:solidFill>
                <a:latin typeface="Montserrat"/>
                <a:ea typeface="Montserrat"/>
                <a:cs typeface="Montserrat"/>
                <a:sym typeface="Montserrat"/>
              </a:rPr>
              <a:t>Polinomio nuevo</a:t>
            </a:r>
            <a:endParaRPr sz="1800">
              <a:solidFill>
                <a:srgbClr val="66716B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27" name="Google Shape;627;p48"/>
          <p:cNvSpPr txBox="1"/>
          <p:nvPr/>
        </p:nvSpPr>
        <p:spPr>
          <a:xfrm>
            <a:off x="5194300" y="2108200"/>
            <a:ext cx="3645000" cy="46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2100">
                <a:solidFill>
                  <a:srgbClr val="1D4036"/>
                </a:solidFill>
                <a:latin typeface="Montserrat"/>
                <a:ea typeface="Montserrat"/>
                <a:cs typeface="Montserrat"/>
                <a:sym typeface="Montserrat"/>
              </a:rPr>
              <a:t>P</a:t>
            </a:r>
            <a:r>
              <a:rPr baseline="-25000" lang="es" sz="2100">
                <a:solidFill>
                  <a:srgbClr val="1D4036"/>
                </a:solidFill>
                <a:latin typeface="Montserrat"/>
                <a:ea typeface="Montserrat"/>
                <a:cs typeface="Montserrat"/>
                <a:sym typeface="Montserrat"/>
              </a:rPr>
              <a:t>2</a:t>
            </a:r>
            <a:r>
              <a:rPr lang="es" sz="2100">
                <a:solidFill>
                  <a:srgbClr val="1D4036"/>
                </a:solidFill>
                <a:latin typeface="Montserrat"/>
                <a:ea typeface="Montserrat"/>
                <a:cs typeface="Montserrat"/>
                <a:sym typeface="Montserrat"/>
              </a:rPr>
              <a:t>(x) = 1 + 3x + 1x(x − 2)</a:t>
            </a:r>
            <a:endParaRPr sz="2100">
              <a:solidFill>
                <a:srgbClr val="1D403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28" name="Google Shape;628;p48"/>
          <p:cNvSpPr txBox="1"/>
          <p:nvPr/>
        </p:nvSpPr>
        <p:spPr>
          <a:xfrm>
            <a:off x="5308600" y="2806700"/>
            <a:ext cx="3429000" cy="44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2200">
                <a:solidFill>
                  <a:srgbClr val="1D4036"/>
                </a:solidFill>
                <a:latin typeface="Montserrat"/>
                <a:ea typeface="Montserrat"/>
                <a:cs typeface="Montserrat"/>
                <a:sym typeface="Montserrat"/>
              </a:rPr>
              <a:t>x(x − 2) = x</a:t>
            </a:r>
            <a:r>
              <a:rPr baseline="30000" lang="es" sz="2200">
                <a:solidFill>
                  <a:srgbClr val="1D4036"/>
                </a:solidFill>
                <a:latin typeface="Montserrat"/>
                <a:ea typeface="Montserrat"/>
                <a:cs typeface="Montserrat"/>
                <a:sym typeface="Montserrat"/>
              </a:rPr>
              <a:t>2</a:t>
            </a:r>
            <a:r>
              <a:rPr lang="es" sz="2200">
                <a:solidFill>
                  <a:srgbClr val="1D4036"/>
                </a:solidFill>
                <a:latin typeface="Montserrat"/>
                <a:ea typeface="Montserrat"/>
                <a:cs typeface="Montserrat"/>
                <a:sym typeface="Montserrat"/>
              </a:rPr>
              <a:t> − 2x</a:t>
            </a:r>
            <a:endParaRPr sz="2200">
              <a:solidFill>
                <a:srgbClr val="1D403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29" name="Google Shape;629;p48"/>
          <p:cNvSpPr txBox="1"/>
          <p:nvPr/>
        </p:nvSpPr>
        <p:spPr>
          <a:xfrm>
            <a:off x="5207000" y="3581400"/>
            <a:ext cx="35814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2500">
                <a:solidFill>
                  <a:srgbClr val="BF6B1B"/>
                </a:solidFill>
                <a:latin typeface="Montserrat"/>
                <a:ea typeface="Montserrat"/>
                <a:cs typeface="Montserrat"/>
                <a:sym typeface="Montserrat"/>
              </a:rPr>
              <a:t>P</a:t>
            </a:r>
            <a:r>
              <a:rPr baseline="-25000" lang="es" sz="2500">
                <a:solidFill>
                  <a:srgbClr val="BF6B1B"/>
                </a:solidFill>
                <a:latin typeface="Montserrat"/>
                <a:ea typeface="Montserrat"/>
                <a:cs typeface="Montserrat"/>
                <a:sym typeface="Montserrat"/>
              </a:rPr>
              <a:t>2</a:t>
            </a:r>
            <a:r>
              <a:rPr lang="es" sz="2500">
                <a:solidFill>
                  <a:srgbClr val="BF6B1B"/>
                </a:solidFill>
                <a:latin typeface="Montserrat"/>
                <a:ea typeface="Montserrat"/>
                <a:cs typeface="Montserrat"/>
                <a:sym typeface="Montserrat"/>
              </a:rPr>
              <a:t>(x) = 1 + x + x</a:t>
            </a:r>
            <a:r>
              <a:rPr baseline="30000" lang="es" sz="2500">
                <a:solidFill>
                  <a:srgbClr val="BF6B1B"/>
                </a:solidFill>
                <a:latin typeface="Montserrat"/>
                <a:ea typeface="Montserrat"/>
                <a:cs typeface="Montserrat"/>
                <a:sym typeface="Montserrat"/>
              </a:rPr>
              <a:t>2</a:t>
            </a:r>
            <a:endParaRPr baseline="30000" sz="2500">
              <a:solidFill>
                <a:srgbClr val="BF6B1B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3" name="Shape 6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" name="Google Shape;634;p49"/>
          <p:cNvSpPr txBox="1"/>
          <p:nvPr>
            <p:ph type="title"/>
          </p:nvPr>
        </p:nvSpPr>
        <p:spPr>
          <a:xfrm>
            <a:off x="317500" y="393700"/>
            <a:ext cx="8508900" cy="4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2400">
                <a:solidFill>
                  <a:srgbClr val="252C29"/>
                </a:solidFill>
                <a:latin typeface="Montserrat"/>
                <a:ea typeface="Montserrat"/>
                <a:cs typeface="Montserrat"/>
                <a:sym typeface="Montserrat"/>
              </a:rPr>
              <a:t>La corrección cambia la consulta a 3</a:t>
            </a:r>
            <a:endParaRPr sz="2400">
              <a:solidFill>
                <a:srgbClr val="252C29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35" name="Google Shape;635;p49"/>
          <p:cNvSpPr txBox="1"/>
          <p:nvPr>
            <p:ph idx="1" type="body"/>
          </p:nvPr>
        </p:nvSpPr>
        <p:spPr>
          <a:xfrm>
            <a:off x="381000" y="1041400"/>
            <a:ext cx="8382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600">
                <a:solidFill>
                  <a:srgbClr val="66716B"/>
                </a:solidFill>
              </a:rPr>
              <a:t>En x = 1, el término nuevo vale 1(1 − 2) = −1.</a:t>
            </a:r>
            <a:endParaRPr sz="1600">
              <a:solidFill>
                <a:srgbClr val="66716B"/>
              </a:solidFill>
            </a:endParaRPr>
          </a:p>
        </p:txBody>
      </p:sp>
      <p:sp>
        <p:nvSpPr>
          <p:cNvPr id="636" name="Google Shape;636;p49"/>
          <p:cNvSpPr txBox="1"/>
          <p:nvPr>
            <p:ph idx="12" type="sldNum"/>
          </p:nvPr>
        </p:nvSpPr>
        <p:spPr>
          <a:xfrm>
            <a:off x="8520083" y="4734654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sp>
        <p:nvSpPr>
          <p:cNvPr id="637" name="Google Shape;637;p49"/>
          <p:cNvSpPr/>
          <p:nvPr/>
        </p:nvSpPr>
        <p:spPr>
          <a:xfrm>
            <a:off x="381000" y="4508500"/>
            <a:ext cx="8001000" cy="29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>
                <a:solidFill>
                  <a:srgbClr val="66716B"/>
                </a:solidFill>
                <a:latin typeface="Montserrat"/>
                <a:ea typeface="Montserrat"/>
                <a:cs typeface="Montserrat"/>
                <a:sym typeface="Montserrat"/>
              </a:rPr>
              <a:t>El cambio entre grados no garantiza el error verdadero.</a:t>
            </a:r>
            <a:endParaRPr sz="1300">
              <a:solidFill>
                <a:srgbClr val="66716B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38" name="Google Shape;638;p49"/>
          <p:cNvSpPr txBox="1"/>
          <p:nvPr/>
        </p:nvSpPr>
        <p:spPr>
          <a:xfrm>
            <a:off x="406400" y="1498600"/>
            <a:ext cx="3873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rgbClr val="BF6B1B"/>
                </a:solidFill>
                <a:latin typeface="Montserrat"/>
                <a:ea typeface="Montserrat"/>
                <a:cs typeface="Montserrat"/>
                <a:sym typeface="Montserrat"/>
              </a:rPr>
              <a:t>Corrección q(x) = x(x − 2)</a:t>
            </a:r>
            <a:endParaRPr sz="1800">
              <a:solidFill>
                <a:srgbClr val="BF6B1B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639" name="Google Shape;639;p49"/>
          <p:cNvCxnSpPr/>
          <p:nvPr/>
        </p:nvCxnSpPr>
        <p:spPr>
          <a:xfrm>
            <a:off x="943401" y="2044700"/>
            <a:ext cx="0" cy="1752600"/>
          </a:xfrm>
          <a:prstGeom prst="straightConnector1">
            <a:avLst/>
          </a:prstGeom>
          <a:noFill/>
          <a:ln cap="flat" cmpd="sng" w="6350">
            <a:solidFill>
              <a:srgbClr val="D6D0C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40" name="Google Shape;640;p49"/>
          <p:cNvSpPr txBox="1"/>
          <p:nvPr/>
        </p:nvSpPr>
        <p:spPr>
          <a:xfrm>
            <a:off x="765601" y="3835400"/>
            <a:ext cx="355500" cy="24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solidFill>
                  <a:srgbClr val="66716B"/>
                </a:solidFill>
                <a:latin typeface="Montserrat"/>
                <a:ea typeface="Montserrat"/>
                <a:cs typeface="Montserrat"/>
                <a:sym typeface="Montserrat"/>
              </a:rPr>
              <a:t>0</a:t>
            </a:r>
            <a:endParaRPr sz="1100">
              <a:solidFill>
                <a:srgbClr val="66716B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641" name="Google Shape;641;p49"/>
          <p:cNvCxnSpPr/>
          <p:nvPr/>
        </p:nvCxnSpPr>
        <p:spPr>
          <a:xfrm>
            <a:off x="1898745" y="2044700"/>
            <a:ext cx="0" cy="1752600"/>
          </a:xfrm>
          <a:prstGeom prst="straightConnector1">
            <a:avLst/>
          </a:prstGeom>
          <a:noFill/>
          <a:ln cap="flat" cmpd="sng" w="6350">
            <a:solidFill>
              <a:srgbClr val="D6D0C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42" name="Google Shape;642;p49"/>
          <p:cNvSpPr txBox="1"/>
          <p:nvPr/>
        </p:nvSpPr>
        <p:spPr>
          <a:xfrm>
            <a:off x="1720945" y="3835400"/>
            <a:ext cx="355500" cy="24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solidFill>
                  <a:srgbClr val="66716B"/>
                </a:solidFill>
                <a:latin typeface="Montserrat"/>
                <a:ea typeface="Montserrat"/>
                <a:cs typeface="Montserrat"/>
                <a:sym typeface="Montserrat"/>
              </a:rPr>
              <a:t>1</a:t>
            </a:r>
            <a:endParaRPr sz="1100">
              <a:solidFill>
                <a:srgbClr val="66716B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643" name="Google Shape;643;p49"/>
          <p:cNvCxnSpPr/>
          <p:nvPr/>
        </p:nvCxnSpPr>
        <p:spPr>
          <a:xfrm>
            <a:off x="2854088" y="2044700"/>
            <a:ext cx="0" cy="1752600"/>
          </a:xfrm>
          <a:prstGeom prst="straightConnector1">
            <a:avLst/>
          </a:prstGeom>
          <a:noFill/>
          <a:ln cap="flat" cmpd="sng" w="6350">
            <a:solidFill>
              <a:srgbClr val="D6D0C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44" name="Google Shape;644;p49"/>
          <p:cNvSpPr txBox="1"/>
          <p:nvPr/>
        </p:nvSpPr>
        <p:spPr>
          <a:xfrm>
            <a:off x="2676288" y="3835400"/>
            <a:ext cx="355500" cy="24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solidFill>
                  <a:srgbClr val="66716B"/>
                </a:solidFill>
                <a:latin typeface="Montserrat"/>
                <a:ea typeface="Montserrat"/>
                <a:cs typeface="Montserrat"/>
                <a:sym typeface="Montserrat"/>
              </a:rPr>
              <a:t>2</a:t>
            </a:r>
            <a:endParaRPr sz="1100">
              <a:solidFill>
                <a:srgbClr val="66716B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645" name="Google Shape;645;p49"/>
          <p:cNvCxnSpPr/>
          <p:nvPr/>
        </p:nvCxnSpPr>
        <p:spPr>
          <a:xfrm>
            <a:off x="3809431" y="2044700"/>
            <a:ext cx="0" cy="1752600"/>
          </a:xfrm>
          <a:prstGeom prst="straightConnector1">
            <a:avLst/>
          </a:prstGeom>
          <a:noFill/>
          <a:ln cap="flat" cmpd="sng" w="6350">
            <a:solidFill>
              <a:srgbClr val="D6D0C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46" name="Google Shape;646;p49"/>
          <p:cNvSpPr txBox="1"/>
          <p:nvPr/>
        </p:nvSpPr>
        <p:spPr>
          <a:xfrm>
            <a:off x="3631631" y="3835400"/>
            <a:ext cx="355500" cy="24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solidFill>
                  <a:srgbClr val="66716B"/>
                </a:solidFill>
                <a:latin typeface="Montserrat"/>
                <a:ea typeface="Montserrat"/>
                <a:cs typeface="Montserrat"/>
                <a:sym typeface="Montserrat"/>
              </a:rPr>
              <a:t>3</a:t>
            </a:r>
            <a:endParaRPr sz="1100">
              <a:solidFill>
                <a:srgbClr val="66716B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647" name="Google Shape;647;p49"/>
          <p:cNvCxnSpPr/>
          <p:nvPr/>
        </p:nvCxnSpPr>
        <p:spPr>
          <a:xfrm>
            <a:off x="800100" y="3606107"/>
            <a:ext cx="3200400" cy="0"/>
          </a:xfrm>
          <a:prstGeom prst="straightConnector1">
            <a:avLst/>
          </a:prstGeom>
          <a:noFill/>
          <a:ln cap="flat" cmpd="sng" w="6350">
            <a:solidFill>
              <a:srgbClr val="D6D0C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48" name="Google Shape;648;p49"/>
          <p:cNvSpPr txBox="1"/>
          <p:nvPr/>
        </p:nvSpPr>
        <p:spPr>
          <a:xfrm>
            <a:off x="368300" y="3479107"/>
            <a:ext cx="3684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solidFill>
                  <a:srgbClr val="66716B"/>
                </a:solidFill>
                <a:latin typeface="Montserrat"/>
                <a:ea typeface="Montserrat"/>
                <a:cs typeface="Montserrat"/>
                <a:sym typeface="Montserrat"/>
              </a:rPr>
              <a:t>-1</a:t>
            </a:r>
            <a:endParaRPr sz="1100">
              <a:solidFill>
                <a:srgbClr val="66716B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649" name="Google Shape;649;p49"/>
          <p:cNvCxnSpPr/>
          <p:nvPr/>
        </p:nvCxnSpPr>
        <p:spPr>
          <a:xfrm>
            <a:off x="800100" y="3287453"/>
            <a:ext cx="3200400" cy="0"/>
          </a:xfrm>
          <a:prstGeom prst="straightConnector1">
            <a:avLst/>
          </a:prstGeom>
          <a:noFill/>
          <a:ln cap="flat" cmpd="sng" w="6350">
            <a:solidFill>
              <a:srgbClr val="D6D0C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50" name="Google Shape;650;p49"/>
          <p:cNvSpPr txBox="1"/>
          <p:nvPr/>
        </p:nvSpPr>
        <p:spPr>
          <a:xfrm>
            <a:off x="368300" y="3160453"/>
            <a:ext cx="3684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solidFill>
                  <a:srgbClr val="66716B"/>
                </a:solidFill>
                <a:latin typeface="Montserrat"/>
                <a:ea typeface="Montserrat"/>
                <a:cs typeface="Montserrat"/>
                <a:sym typeface="Montserrat"/>
              </a:rPr>
              <a:t>0</a:t>
            </a:r>
            <a:endParaRPr sz="1100">
              <a:solidFill>
                <a:srgbClr val="66716B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651" name="Google Shape;651;p49"/>
          <p:cNvCxnSpPr/>
          <p:nvPr/>
        </p:nvCxnSpPr>
        <p:spPr>
          <a:xfrm>
            <a:off x="800100" y="2331489"/>
            <a:ext cx="3200400" cy="0"/>
          </a:xfrm>
          <a:prstGeom prst="straightConnector1">
            <a:avLst/>
          </a:prstGeom>
          <a:noFill/>
          <a:ln cap="flat" cmpd="sng" w="6350">
            <a:solidFill>
              <a:srgbClr val="D6D0C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52" name="Google Shape;652;p49"/>
          <p:cNvSpPr txBox="1"/>
          <p:nvPr/>
        </p:nvSpPr>
        <p:spPr>
          <a:xfrm>
            <a:off x="368300" y="2204489"/>
            <a:ext cx="3684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solidFill>
                  <a:srgbClr val="66716B"/>
                </a:solidFill>
                <a:latin typeface="Montserrat"/>
                <a:ea typeface="Montserrat"/>
                <a:cs typeface="Montserrat"/>
                <a:sym typeface="Montserrat"/>
              </a:rPr>
              <a:t>3</a:t>
            </a:r>
            <a:endParaRPr sz="1100">
              <a:solidFill>
                <a:srgbClr val="66716B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653" name="Google Shape;653;p49"/>
          <p:cNvCxnSpPr/>
          <p:nvPr/>
        </p:nvCxnSpPr>
        <p:spPr>
          <a:xfrm>
            <a:off x="800100" y="2044700"/>
            <a:ext cx="0" cy="1752600"/>
          </a:xfrm>
          <a:prstGeom prst="straightConnector1">
            <a:avLst/>
          </a:prstGeom>
          <a:noFill/>
          <a:ln cap="flat" cmpd="sng" w="10150">
            <a:solidFill>
              <a:srgbClr val="66716B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54" name="Google Shape;654;p49"/>
          <p:cNvCxnSpPr/>
          <p:nvPr/>
        </p:nvCxnSpPr>
        <p:spPr>
          <a:xfrm>
            <a:off x="800100" y="3797300"/>
            <a:ext cx="3200400" cy="0"/>
          </a:xfrm>
          <a:prstGeom prst="straightConnector1">
            <a:avLst/>
          </a:prstGeom>
          <a:noFill/>
          <a:ln cap="flat" cmpd="sng" w="10150">
            <a:solidFill>
              <a:srgbClr val="66716B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55" name="Google Shape;655;p49"/>
          <p:cNvSpPr txBox="1"/>
          <p:nvPr/>
        </p:nvSpPr>
        <p:spPr>
          <a:xfrm>
            <a:off x="4013200" y="3771900"/>
            <a:ext cx="228600" cy="27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>
                <a:solidFill>
                  <a:srgbClr val="66716B"/>
                </a:solidFill>
                <a:latin typeface="Montserrat"/>
                <a:ea typeface="Montserrat"/>
                <a:cs typeface="Montserrat"/>
                <a:sym typeface="Montserrat"/>
              </a:rPr>
              <a:t>x</a:t>
            </a:r>
            <a:endParaRPr sz="1300">
              <a:solidFill>
                <a:srgbClr val="66716B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56" name="Google Shape;656;p49"/>
          <p:cNvSpPr txBox="1"/>
          <p:nvPr/>
        </p:nvSpPr>
        <p:spPr>
          <a:xfrm>
            <a:off x="546100" y="1765300"/>
            <a:ext cx="2286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>
                <a:solidFill>
                  <a:srgbClr val="66716B"/>
                </a:solidFill>
                <a:latin typeface="Montserrat"/>
                <a:ea typeface="Montserrat"/>
                <a:cs typeface="Montserrat"/>
                <a:sym typeface="Montserrat"/>
              </a:rPr>
              <a:t>q</a:t>
            </a:r>
            <a:endParaRPr sz="1300">
              <a:solidFill>
                <a:srgbClr val="66716B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657" name="Google Shape;657;p49"/>
          <p:cNvCxnSpPr/>
          <p:nvPr/>
        </p:nvCxnSpPr>
        <p:spPr>
          <a:xfrm>
            <a:off x="943401" y="3287453"/>
            <a:ext cx="75300" cy="48300"/>
          </a:xfrm>
          <a:prstGeom prst="straightConnector1">
            <a:avLst/>
          </a:prstGeom>
          <a:noFill/>
          <a:ln cap="flat" cmpd="sng" w="25400">
            <a:solidFill>
              <a:srgbClr val="BF6B1B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58" name="Google Shape;658;p49"/>
          <p:cNvCxnSpPr/>
          <p:nvPr/>
        </p:nvCxnSpPr>
        <p:spPr>
          <a:xfrm>
            <a:off x="1018823" y="3335781"/>
            <a:ext cx="75300" cy="44400"/>
          </a:xfrm>
          <a:prstGeom prst="straightConnector1">
            <a:avLst/>
          </a:prstGeom>
          <a:noFill/>
          <a:ln cap="flat" cmpd="sng" w="25400">
            <a:solidFill>
              <a:srgbClr val="BF6B1B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59" name="Google Shape;659;p49"/>
          <p:cNvCxnSpPr/>
          <p:nvPr/>
        </p:nvCxnSpPr>
        <p:spPr>
          <a:xfrm>
            <a:off x="1094245" y="3380136"/>
            <a:ext cx="75300" cy="40500"/>
          </a:xfrm>
          <a:prstGeom prst="straightConnector1">
            <a:avLst/>
          </a:prstGeom>
          <a:noFill/>
          <a:ln cap="flat" cmpd="sng" w="25400">
            <a:solidFill>
              <a:srgbClr val="BF6B1B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60" name="Google Shape;660;p49"/>
          <p:cNvCxnSpPr/>
          <p:nvPr/>
        </p:nvCxnSpPr>
        <p:spPr>
          <a:xfrm>
            <a:off x="1169667" y="3420520"/>
            <a:ext cx="75300" cy="36300"/>
          </a:xfrm>
          <a:prstGeom prst="straightConnector1">
            <a:avLst/>
          </a:prstGeom>
          <a:noFill/>
          <a:ln cap="flat" cmpd="sng" w="25400">
            <a:solidFill>
              <a:srgbClr val="BF6B1B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61" name="Google Shape;661;p49"/>
          <p:cNvCxnSpPr/>
          <p:nvPr/>
        </p:nvCxnSpPr>
        <p:spPr>
          <a:xfrm>
            <a:off x="1245089" y="3456931"/>
            <a:ext cx="75300" cy="32400"/>
          </a:xfrm>
          <a:prstGeom prst="straightConnector1">
            <a:avLst/>
          </a:prstGeom>
          <a:noFill/>
          <a:ln cap="flat" cmpd="sng" w="25400">
            <a:solidFill>
              <a:srgbClr val="BF6B1B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62" name="Google Shape;662;p49"/>
          <p:cNvCxnSpPr/>
          <p:nvPr/>
        </p:nvCxnSpPr>
        <p:spPr>
          <a:xfrm>
            <a:off x="1320511" y="3489370"/>
            <a:ext cx="75300" cy="28500"/>
          </a:xfrm>
          <a:prstGeom prst="straightConnector1">
            <a:avLst/>
          </a:prstGeom>
          <a:noFill/>
          <a:ln cap="flat" cmpd="sng" w="25400">
            <a:solidFill>
              <a:srgbClr val="BF6B1B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63" name="Google Shape;663;p49"/>
          <p:cNvCxnSpPr/>
          <p:nvPr/>
        </p:nvCxnSpPr>
        <p:spPr>
          <a:xfrm>
            <a:off x="1395933" y="3517837"/>
            <a:ext cx="75300" cy="24600"/>
          </a:xfrm>
          <a:prstGeom prst="straightConnector1">
            <a:avLst/>
          </a:prstGeom>
          <a:noFill/>
          <a:ln cap="flat" cmpd="sng" w="25400">
            <a:solidFill>
              <a:srgbClr val="BF6B1B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64" name="Google Shape;664;p49"/>
          <p:cNvCxnSpPr/>
          <p:nvPr/>
        </p:nvCxnSpPr>
        <p:spPr>
          <a:xfrm>
            <a:off x="1471354" y="3542332"/>
            <a:ext cx="75300" cy="20400"/>
          </a:xfrm>
          <a:prstGeom prst="straightConnector1">
            <a:avLst/>
          </a:prstGeom>
          <a:noFill/>
          <a:ln cap="flat" cmpd="sng" w="25400">
            <a:solidFill>
              <a:srgbClr val="BF6B1B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65" name="Google Shape;665;p49"/>
          <p:cNvCxnSpPr/>
          <p:nvPr/>
        </p:nvCxnSpPr>
        <p:spPr>
          <a:xfrm>
            <a:off x="1546776" y="3562855"/>
            <a:ext cx="75300" cy="16500"/>
          </a:xfrm>
          <a:prstGeom prst="straightConnector1">
            <a:avLst/>
          </a:prstGeom>
          <a:noFill/>
          <a:ln cap="flat" cmpd="sng" w="25400">
            <a:solidFill>
              <a:srgbClr val="BF6B1B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66" name="Google Shape;666;p49"/>
          <p:cNvCxnSpPr/>
          <p:nvPr/>
        </p:nvCxnSpPr>
        <p:spPr>
          <a:xfrm>
            <a:off x="1622198" y="3579406"/>
            <a:ext cx="75300" cy="12600"/>
          </a:xfrm>
          <a:prstGeom prst="straightConnector1">
            <a:avLst/>
          </a:prstGeom>
          <a:noFill/>
          <a:ln cap="flat" cmpd="sng" w="25400">
            <a:solidFill>
              <a:srgbClr val="BF6B1B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67" name="Google Shape;667;p49"/>
          <p:cNvCxnSpPr/>
          <p:nvPr/>
        </p:nvCxnSpPr>
        <p:spPr>
          <a:xfrm>
            <a:off x="1697620" y="3591984"/>
            <a:ext cx="75300" cy="8700"/>
          </a:xfrm>
          <a:prstGeom prst="straightConnector1">
            <a:avLst/>
          </a:prstGeom>
          <a:noFill/>
          <a:ln cap="flat" cmpd="sng" w="25400">
            <a:solidFill>
              <a:srgbClr val="BF6B1B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68" name="Google Shape;668;p49"/>
          <p:cNvCxnSpPr/>
          <p:nvPr/>
        </p:nvCxnSpPr>
        <p:spPr>
          <a:xfrm>
            <a:off x="1773042" y="3600590"/>
            <a:ext cx="75300" cy="4500"/>
          </a:xfrm>
          <a:prstGeom prst="straightConnector1">
            <a:avLst/>
          </a:prstGeom>
          <a:noFill/>
          <a:ln cap="flat" cmpd="sng" w="25400">
            <a:solidFill>
              <a:srgbClr val="BF6B1B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69" name="Google Shape;669;p49"/>
          <p:cNvCxnSpPr/>
          <p:nvPr/>
        </p:nvCxnSpPr>
        <p:spPr>
          <a:xfrm>
            <a:off x="1848464" y="3605225"/>
            <a:ext cx="75300" cy="600"/>
          </a:xfrm>
          <a:prstGeom prst="straightConnector1">
            <a:avLst/>
          </a:prstGeom>
          <a:noFill/>
          <a:ln cap="flat" cmpd="sng" w="25400">
            <a:solidFill>
              <a:srgbClr val="BF6B1B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70" name="Google Shape;670;p49"/>
          <p:cNvCxnSpPr/>
          <p:nvPr/>
        </p:nvCxnSpPr>
        <p:spPr>
          <a:xfrm flipH="1" rot="10800000">
            <a:off x="1923885" y="3602587"/>
            <a:ext cx="75300" cy="3300"/>
          </a:xfrm>
          <a:prstGeom prst="straightConnector1">
            <a:avLst/>
          </a:prstGeom>
          <a:noFill/>
          <a:ln cap="flat" cmpd="sng" w="25400">
            <a:solidFill>
              <a:srgbClr val="BF6B1B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71" name="Google Shape;671;p49"/>
          <p:cNvCxnSpPr/>
          <p:nvPr/>
        </p:nvCxnSpPr>
        <p:spPr>
          <a:xfrm flipH="1" rot="10800000">
            <a:off x="1999307" y="3595376"/>
            <a:ext cx="75300" cy="7200"/>
          </a:xfrm>
          <a:prstGeom prst="straightConnector1">
            <a:avLst/>
          </a:prstGeom>
          <a:noFill/>
          <a:ln cap="flat" cmpd="sng" w="25400">
            <a:solidFill>
              <a:srgbClr val="BF6B1B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72" name="Google Shape;672;p49"/>
          <p:cNvCxnSpPr/>
          <p:nvPr/>
        </p:nvCxnSpPr>
        <p:spPr>
          <a:xfrm flipH="1" rot="10800000">
            <a:off x="2074729" y="3583894"/>
            <a:ext cx="75300" cy="11400"/>
          </a:xfrm>
          <a:prstGeom prst="straightConnector1">
            <a:avLst/>
          </a:prstGeom>
          <a:noFill/>
          <a:ln cap="flat" cmpd="sng" w="25400">
            <a:solidFill>
              <a:srgbClr val="BF6B1B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73" name="Google Shape;673;p49"/>
          <p:cNvCxnSpPr/>
          <p:nvPr/>
        </p:nvCxnSpPr>
        <p:spPr>
          <a:xfrm flipH="1" rot="10800000">
            <a:off x="2150151" y="3568740"/>
            <a:ext cx="75300" cy="15300"/>
          </a:xfrm>
          <a:prstGeom prst="straightConnector1">
            <a:avLst/>
          </a:prstGeom>
          <a:noFill/>
          <a:ln cap="flat" cmpd="sng" w="25400">
            <a:solidFill>
              <a:srgbClr val="BF6B1B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74" name="Google Shape;674;p49"/>
          <p:cNvCxnSpPr/>
          <p:nvPr/>
        </p:nvCxnSpPr>
        <p:spPr>
          <a:xfrm flipH="1" rot="10800000">
            <a:off x="2225573" y="3549613"/>
            <a:ext cx="75300" cy="19200"/>
          </a:xfrm>
          <a:prstGeom prst="straightConnector1">
            <a:avLst/>
          </a:prstGeom>
          <a:noFill/>
          <a:ln cap="flat" cmpd="sng" w="25400">
            <a:solidFill>
              <a:srgbClr val="BF6B1B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75" name="Google Shape;675;p49"/>
          <p:cNvCxnSpPr/>
          <p:nvPr/>
        </p:nvCxnSpPr>
        <p:spPr>
          <a:xfrm flipH="1" rot="10800000">
            <a:off x="2300995" y="3526514"/>
            <a:ext cx="75300" cy="23100"/>
          </a:xfrm>
          <a:prstGeom prst="straightConnector1">
            <a:avLst/>
          </a:prstGeom>
          <a:noFill/>
          <a:ln cap="flat" cmpd="sng" w="25400">
            <a:solidFill>
              <a:srgbClr val="BF6B1B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76" name="Google Shape;676;p49"/>
          <p:cNvCxnSpPr/>
          <p:nvPr/>
        </p:nvCxnSpPr>
        <p:spPr>
          <a:xfrm flipH="1" rot="10800000">
            <a:off x="2376416" y="3499444"/>
            <a:ext cx="75300" cy="27000"/>
          </a:xfrm>
          <a:prstGeom prst="straightConnector1">
            <a:avLst/>
          </a:prstGeom>
          <a:noFill/>
          <a:ln cap="flat" cmpd="sng" w="25400">
            <a:solidFill>
              <a:srgbClr val="BF6B1B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77" name="Google Shape;677;p49"/>
          <p:cNvCxnSpPr/>
          <p:nvPr/>
        </p:nvCxnSpPr>
        <p:spPr>
          <a:xfrm flipH="1" rot="10800000">
            <a:off x="2451838" y="3468101"/>
            <a:ext cx="75300" cy="31200"/>
          </a:xfrm>
          <a:prstGeom prst="straightConnector1">
            <a:avLst/>
          </a:prstGeom>
          <a:noFill/>
          <a:ln cap="flat" cmpd="sng" w="25400">
            <a:solidFill>
              <a:srgbClr val="BF6B1B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78" name="Google Shape;678;p49"/>
          <p:cNvCxnSpPr/>
          <p:nvPr/>
        </p:nvCxnSpPr>
        <p:spPr>
          <a:xfrm flipH="1" rot="10800000">
            <a:off x="2527260" y="3433085"/>
            <a:ext cx="75300" cy="35100"/>
          </a:xfrm>
          <a:prstGeom prst="straightConnector1">
            <a:avLst/>
          </a:prstGeom>
          <a:noFill/>
          <a:ln cap="flat" cmpd="sng" w="25400">
            <a:solidFill>
              <a:srgbClr val="BF6B1B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79" name="Google Shape;679;p49"/>
          <p:cNvCxnSpPr/>
          <p:nvPr/>
        </p:nvCxnSpPr>
        <p:spPr>
          <a:xfrm flipH="1" rot="10800000">
            <a:off x="2602682" y="3394098"/>
            <a:ext cx="75300" cy="39000"/>
          </a:xfrm>
          <a:prstGeom prst="straightConnector1">
            <a:avLst/>
          </a:prstGeom>
          <a:noFill/>
          <a:ln cap="flat" cmpd="sng" w="25400">
            <a:solidFill>
              <a:srgbClr val="BF6B1B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80" name="Google Shape;680;p49"/>
          <p:cNvCxnSpPr/>
          <p:nvPr/>
        </p:nvCxnSpPr>
        <p:spPr>
          <a:xfrm flipH="1" rot="10800000">
            <a:off x="2678104" y="3351139"/>
            <a:ext cx="75300" cy="42900"/>
          </a:xfrm>
          <a:prstGeom prst="straightConnector1">
            <a:avLst/>
          </a:prstGeom>
          <a:noFill/>
          <a:ln cap="flat" cmpd="sng" w="25400">
            <a:solidFill>
              <a:srgbClr val="BF6B1B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81" name="Google Shape;681;p49"/>
          <p:cNvCxnSpPr/>
          <p:nvPr/>
        </p:nvCxnSpPr>
        <p:spPr>
          <a:xfrm flipH="1" rot="10800000">
            <a:off x="2753526" y="3303907"/>
            <a:ext cx="75300" cy="47100"/>
          </a:xfrm>
          <a:prstGeom prst="straightConnector1">
            <a:avLst/>
          </a:prstGeom>
          <a:noFill/>
          <a:ln cap="flat" cmpd="sng" w="25400">
            <a:solidFill>
              <a:srgbClr val="BF6B1B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82" name="Google Shape;682;p49"/>
          <p:cNvCxnSpPr/>
          <p:nvPr/>
        </p:nvCxnSpPr>
        <p:spPr>
          <a:xfrm flipH="1" rot="10800000">
            <a:off x="2828947" y="3253003"/>
            <a:ext cx="75300" cy="51000"/>
          </a:xfrm>
          <a:prstGeom prst="straightConnector1">
            <a:avLst/>
          </a:prstGeom>
          <a:noFill/>
          <a:ln cap="flat" cmpd="sng" w="25400">
            <a:solidFill>
              <a:srgbClr val="BF6B1B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83" name="Google Shape;683;p49"/>
          <p:cNvCxnSpPr/>
          <p:nvPr/>
        </p:nvCxnSpPr>
        <p:spPr>
          <a:xfrm flipH="1" rot="10800000">
            <a:off x="2904369" y="3198127"/>
            <a:ext cx="75300" cy="54900"/>
          </a:xfrm>
          <a:prstGeom prst="straightConnector1">
            <a:avLst/>
          </a:prstGeom>
          <a:noFill/>
          <a:ln cap="flat" cmpd="sng" w="25400">
            <a:solidFill>
              <a:srgbClr val="BF6B1B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84" name="Google Shape;684;p49"/>
          <p:cNvCxnSpPr/>
          <p:nvPr/>
        </p:nvCxnSpPr>
        <p:spPr>
          <a:xfrm flipH="1" rot="10800000">
            <a:off x="2979791" y="3139279"/>
            <a:ext cx="75300" cy="58800"/>
          </a:xfrm>
          <a:prstGeom prst="straightConnector1">
            <a:avLst/>
          </a:prstGeom>
          <a:noFill/>
          <a:ln cap="flat" cmpd="sng" w="25400">
            <a:solidFill>
              <a:srgbClr val="BF6B1B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85" name="Google Shape;685;p49"/>
          <p:cNvCxnSpPr/>
          <p:nvPr/>
        </p:nvCxnSpPr>
        <p:spPr>
          <a:xfrm flipH="1" rot="10800000">
            <a:off x="3055213" y="3076159"/>
            <a:ext cx="75300" cy="63000"/>
          </a:xfrm>
          <a:prstGeom prst="straightConnector1">
            <a:avLst/>
          </a:prstGeom>
          <a:noFill/>
          <a:ln cap="flat" cmpd="sng" w="25400">
            <a:solidFill>
              <a:srgbClr val="BF6B1B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86" name="Google Shape;686;p49"/>
          <p:cNvCxnSpPr/>
          <p:nvPr/>
        </p:nvCxnSpPr>
        <p:spPr>
          <a:xfrm flipH="1" rot="10800000">
            <a:off x="3130635" y="3009367"/>
            <a:ext cx="75300" cy="66900"/>
          </a:xfrm>
          <a:prstGeom prst="straightConnector1">
            <a:avLst/>
          </a:prstGeom>
          <a:noFill/>
          <a:ln cap="flat" cmpd="sng" w="25400">
            <a:solidFill>
              <a:srgbClr val="BF6B1B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87" name="Google Shape;687;p49"/>
          <p:cNvCxnSpPr/>
          <p:nvPr/>
        </p:nvCxnSpPr>
        <p:spPr>
          <a:xfrm flipH="1" rot="10800000">
            <a:off x="3206057" y="2938602"/>
            <a:ext cx="75300" cy="70800"/>
          </a:xfrm>
          <a:prstGeom prst="straightConnector1">
            <a:avLst/>
          </a:prstGeom>
          <a:noFill/>
          <a:ln cap="flat" cmpd="sng" w="25400">
            <a:solidFill>
              <a:srgbClr val="BF6B1B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88" name="Google Shape;688;p49"/>
          <p:cNvCxnSpPr/>
          <p:nvPr/>
        </p:nvCxnSpPr>
        <p:spPr>
          <a:xfrm flipH="1" rot="10800000">
            <a:off x="3281478" y="2863866"/>
            <a:ext cx="75300" cy="74700"/>
          </a:xfrm>
          <a:prstGeom prst="straightConnector1">
            <a:avLst/>
          </a:prstGeom>
          <a:noFill/>
          <a:ln cap="flat" cmpd="sng" w="25400">
            <a:solidFill>
              <a:srgbClr val="BF6B1B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89" name="Google Shape;689;p49"/>
          <p:cNvCxnSpPr/>
          <p:nvPr/>
        </p:nvCxnSpPr>
        <p:spPr>
          <a:xfrm flipH="1" rot="10800000">
            <a:off x="3356900" y="2784857"/>
            <a:ext cx="75300" cy="78900"/>
          </a:xfrm>
          <a:prstGeom prst="straightConnector1">
            <a:avLst/>
          </a:prstGeom>
          <a:noFill/>
          <a:ln cap="flat" cmpd="sng" w="25400">
            <a:solidFill>
              <a:srgbClr val="BF6B1B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90" name="Google Shape;690;p49"/>
          <p:cNvCxnSpPr/>
          <p:nvPr/>
        </p:nvCxnSpPr>
        <p:spPr>
          <a:xfrm flipH="1" rot="10800000">
            <a:off x="3432322" y="2702176"/>
            <a:ext cx="75300" cy="82800"/>
          </a:xfrm>
          <a:prstGeom prst="straightConnector1">
            <a:avLst/>
          </a:prstGeom>
          <a:noFill/>
          <a:ln cap="flat" cmpd="sng" w="25400">
            <a:solidFill>
              <a:srgbClr val="BF6B1B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91" name="Google Shape;691;p49"/>
          <p:cNvCxnSpPr/>
          <p:nvPr/>
        </p:nvCxnSpPr>
        <p:spPr>
          <a:xfrm flipH="1" rot="10800000">
            <a:off x="3507744" y="2615523"/>
            <a:ext cx="75300" cy="86700"/>
          </a:xfrm>
          <a:prstGeom prst="straightConnector1">
            <a:avLst/>
          </a:prstGeom>
          <a:noFill/>
          <a:ln cap="flat" cmpd="sng" w="25400">
            <a:solidFill>
              <a:srgbClr val="BF6B1B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92" name="Google Shape;692;p49"/>
          <p:cNvCxnSpPr/>
          <p:nvPr/>
        </p:nvCxnSpPr>
        <p:spPr>
          <a:xfrm flipH="1" rot="10800000">
            <a:off x="3583166" y="2524898"/>
            <a:ext cx="75300" cy="90600"/>
          </a:xfrm>
          <a:prstGeom prst="straightConnector1">
            <a:avLst/>
          </a:prstGeom>
          <a:noFill/>
          <a:ln cap="flat" cmpd="sng" w="25400">
            <a:solidFill>
              <a:srgbClr val="BF6B1B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93" name="Google Shape;693;p49"/>
          <p:cNvCxnSpPr/>
          <p:nvPr/>
        </p:nvCxnSpPr>
        <p:spPr>
          <a:xfrm flipH="1" rot="10800000">
            <a:off x="3658588" y="2430000"/>
            <a:ext cx="75300" cy="94800"/>
          </a:xfrm>
          <a:prstGeom prst="straightConnector1">
            <a:avLst/>
          </a:prstGeom>
          <a:noFill/>
          <a:ln cap="flat" cmpd="sng" w="25400">
            <a:solidFill>
              <a:srgbClr val="BF6B1B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94" name="Google Shape;694;p49"/>
          <p:cNvCxnSpPr/>
          <p:nvPr/>
        </p:nvCxnSpPr>
        <p:spPr>
          <a:xfrm flipH="1" rot="10800000">
            <a:off x="3734010" y="2331431"/>
            <a:ext cx="75300" cy="98700"/>
          </a:xfrm>
          <a:prstGeom prst="straightConnector1">
            <a:avLst/>
          </a:prstGeom>
          <a:noFill/>
          <a:ln cap="flat" cmpd="sng" w="25400">
            <a:solidFill>
              <a:srgbClr val="BF6B1B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95" name="Google Shape;695;p49"/>
          <p:cNvCxnSpPr/>
          <p:nvPr/>
        </p:nvCxnSpPr>
        <p:spPr>
          <a:xfrm>
            <a:off x="943401" y="3287453"/>
            <a:ext cx="2865900" cy="0"/>
          </a:xfrm>
          <a:prstGeom prst="straightConnector1">
            <a:avLst/>
          </a:prstGeom>
          <a:noFill/>
          <a:ln cap="flat" cmpd="sng" w="8900">
            <a:solidFill>
              <a:srgbClr val="66716B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96" name="Google Shape;696;p49"/>
          <p:cNvSpPr/>
          <p:nvPr/>
        </p:nvSpPr>
        <p:spPr>
          <a:xfrm>
            <a:off x="898951" y="3243003"/>
            <a:ext cx="88800" cy="88800"/>
          </a:xfrm>
          <a:prstGeom prst="ellipse">
            <a:avLst/>
          </a:prstGeom>
          <a:solidFill>
            <a:srgbClr val="BF6B1B"/>
          </a:solidFill>
          <a:ln cap="flat" cmpd="sng" w="7625">
            <a:solidFill>
              <a:srgbClr val="EFE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97" name="Google Shape;697;p49"/>
          <p:cNvSpPr txBox="1"/>
          <p:nvPr/>
        </p:nvSpPr>
        <p:spPr>
          <a:xfrm>
            <a:off x="918001" y="2969953"/>
            <a:ext cx="5079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rgbClr val="BF6B1B"/>
                </a:solidFill>
                <a:latin typeface="Montserrat"/>
                <a:ea typeface="Montserrat"/>
                <a:cs typeface="Montserrat"/>
                <a:sym typeface="Montserrat"/>
              </a:rPr>
              <a:t>0</a:t>
            </a:r>
            <a:endParaRPr b="1" sz="1200">
              <a:solidFill>
                <a:srgbClr val="BF6B1B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98" name="Google Shape;698;p49"/>
          <p:cNvSpPr/>
          <p:nvPr/>
        </p:nvSpPr>
        <p:spPr>
          <a:xfrm>
            <a:off x="2809638" y="3243003"/>
            <a:ext cx="88800" cy="88800"/>
          </a:xfrm>
          <a:prstGeom prst="ellipse">
            <a:avLst/>
          </a:prstGeom>
          <a:solidFill>
            <a:srgbClr val="BF6B1B"/>
          </a:solidFill>
          <a:ln cap="flat" cmpd="sng" w="7625">
            <a:solidFill>
              <a:srgbClr val="EFE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99" name="Google Shape;699;p49"/>
          <p:cNvSpPr txBox="1"/>
          <p:nvPr/>
        </p:nvSpPr>
        <p:spPr>
          <a:xfrm>
            <a:off x="2828688" y="2969953"/>
            <a:ext cx="5079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rgbClr val="BF6B1B"/>
                </a:solidFill>
                <a:latin typeface="Montserrat"/>
                <a:ea typeface="Montserrat"/>
                <a:cs typeface="Montserrat"/>
                <a:sym typeface="Montserrat"/>
              </a:rPr>
              <a:t>0</a:t>
            </a:r>
            <a:endParaRPr b="1" sz="1200">
              <a:solidFill>
                <a:srgbClr val="BF6B1B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00" name="Google Shape;700;p49"/>
          <p:cNvSpPr/>
          <p:nvPr/>
        </p:nvSpPr>
        <p:spPr>
          <a:xfrm>
            <a:off x="3764981" y="2287039"/>
            <a:ext cx="88800" cy="88800"/>
          </a:xfrm>
          <a:prstGeom prst="ellipse">
            <a:avLst/>
          </a:prstGeom>
          <a:solidFill>
            <a:srgbClr val="BF6B1B"/>
          </a:solidFill>
          <a:ln cap="flat" cmpd="sng" w="7625">
            <a:solidFill>
              <a:srgbClr val="EFE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01" name="Google Shape;701;p49"/>
          <p:cNvSpPr txBox="1"/>
          <p:nvPr/>
        </p:nvSpPr>
        <p:spPr>
          <a:xfrm>
            <a:off x="3784031" y="2013989"/>
            <a:ext cx="5079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rgbClr val="BF6B1B"/>
                </a:solidFill>
                <a:latin typeface="Montserrat"/>
                <a:ea typeface="Montserrat"/>
                <a:cs typeface="Montserrat"/>
                <a:sym typeface="Montserrat"/>
              </a:rPr>
              <a:t>+3</a:t>
            </a:r>
            <a:endParaRPr b="1" sz="1200">
              <a:solidFill>
                <a:srgbClr val="BF6B1B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02" name="Google Shape;702;p49"/>
          <p:cNvSpPr/>
          <p:nvPr/>
        </p:nvSpPr>
        <p:spPr>
          <a:xfrm>
            <a:off x="1854295" y="3561657"/>
            <a:ext cx="88800" cy="88800"/>
          </a:xfrm>
          <a:prstGeom prst="ellipse">
            <a:avLst/>
          </a:prstGeom>
          <a:solidFill>
            <a:srgbClr val="BF6B1B"/>
          </a:solidFill>
          <a:ln cap="flat" cmpd="sng" w="7625">
            <a:solidFill>
              <a:srgbClr val="EFE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03" name="Google Shape;703;p49"/>
          <p:cNvSpPr txBox="1"/>
          <p:nvPr/>
        </p:nvSpPr>
        <p:spPr>
          <a:xfrm>
            <a:off x="1873345" y="3288607"/>
            <a:ext cx="5079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rgbClr val="BF6B1B"/>
                </a:solidFill>
                <a:latin typeface="Montserrat"/>
                <a:ea typeface="Montserrat"/>
                <a:cs typeface="Montserrat"/>
                <a:sym typeface="Montserrat"/>
              </a:rPr>
              <a:t>−1</a:t>
            </a:r>
            <a:endParaRPr b="1" sz="1200">
              <a:solidFill>
                <a:srgbClr val="BF6B1B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04" name="Google Shape;704;p49"/>
          <p:cNvSpPr txBox="1"/>
          <p:nvPr/>
        </p:nvSpPr>
        <p:spPr>
          <a:xfrm>
            <a:off x="4749800" y="1498600"/>
            <a:ext cx="40005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rgbClr val="1D4036"/>
                </a:solidFill>
                <a:latin typeface="Montserrat"/>
                <a:ea typeface="Montserrat"/>
                <a:cs typeface="Montserrat"/>
                <a:sym typeface="Montserrat"/>
              </a:rPr>
              <a:t>Resultado P</a:t>
            </a:r>
            <a:r>
              <a:rPr baseline="-25000" lang="es" sz="1800">
                <a:solidFill>
                  <a:srgbClr val="1D4036"/>
                </a:solidFill>
                <a:latin typeface="Montserrat"/>
                <a:ea typeface="Montserrat"/>
                <a:cs typeface="Montserrat"/>
                <a:sym typeface="Montserrat"/>
              </a:rPr>
              <a:t>2</a:t>
            </a:r>
            <a:r>
              <a:rPr lang="es" sz="1800">
                <a:solidFill>
                  <a:srgbClr val="1D4036"/>
                </a:solidFill>
                <a:latin typeface="Montserrat"/>
                <a:ea typeface="Montserrat"/>
                <a:cs typeface="Montserrat"/>
                <a:sym typeface="Montserrat"/>
              </a:rPr>
              <a:t> = P</a:t>
            </a:r>
            <a:r>
              <a:rPr baseline="-25000" lang="es" sz="1800">
                <a:solidFill>
                  <a:srgbClr val="1D4036"/>
                </a:solidFill>
                <a:latin typeface="Montserrat"/>
                <a:ea typeface="Montserrat"/>
                <a:cs typeface="Montserrat"/>
                <a:sym typeface="Montserrat"/>
              </a:rPr>
              <a:t>1</a:t>
            </a:r>
            <a:r>
              <a:rPr lang="es" sz="1800">
                <a:solidFill>
                  <a:srgbClr val="1D4036"/>
                </a:solidFill>
                <a:latin typeface="Montserrat"/>
                <a:ea typeface="Montserrat"/>
                <a:cs typeface="Montserrat"/>
                <a:sym typeface="Montserrat"/>
              </a:rPr>
              <a:t> + q</a:t>
            </a:r>
            <a:endParaRPr sz="1800">
              <a:solidFill>
                <a:srgbClr val="1D403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705" name="Google Shape;705;p49"/>
          <p:cNvCxnSpPr/>
          <p:nvPr/>
        </p:nvCxnSpPr>
        <p:spPr>
          <a:xfrm>
            <a:off x="5399964" y="2044700"/>
            <a:ext cx="0" cy="1752600"/>
          </a:xfrm>
          <a:prstGeom prst="straightConnector1">
            <a:avLst/>
          </a:prstGeom>
          <a:noFill/>
          <a:ln cap="flat" cmpd="sng" w="6350">
            <a:solidFill>
              <a:srgbClr val="D6D0C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06" name="Google Shape;706;p49"/>
          <p:cNvSpPr txBox="1"/>
          <p:nvPr/>
        </p:nvSpPr>
        <p:spPr>
          <a:xfrm>
            <a:off x="5222164" y="3835400"/>
            <a:ext cx="355500" cy="24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solidFill>
                  <a:srgbClr val="66716B"/>
                </a:solidFill>
                <a:latin typeface="Montserrat"/>
                <a:ea typeface="Montserrat"/>
                <a:cs typeface="Montserrat"/>
                <a:sym typeface="Montserrat"/>
              </a:rPr>
              <a:t>0</a:t>
            </a:r>
            <a:endParaRPr sz="1100">
              <a:solidFill>
                <a:srgbClr val="66716B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707" name="Google Shape;707;p49"/>
          <p:cNvCxnSpPr/>
          <p:nvPr/>
        </p:nvCxnSpPr>
        <p:spPr>
          <a:xfrm>
            <a:off x="6347725" y="2044700"/>
            <a:ext cx="0" cy="1752600"/>
          </a:xfrm>
          <a:prstGeom prst="straightConnector1">
            <a:avLst/>
          </a:prstGeom>
          <a:noFill/>
          <a:ln cap="flat" cmpd="sng" w="6350">
            <a:solidFill>
              <a:srgbClr val="D6D0C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08" name="Google Shape;708;p49"/>
          <p:cNvSpPr txBox="1"/>
          <p:nvPr/>
        </p:nvSpPr>
        <p:spPr>
          <a:xfrm>
            <a:off x="6169925" y="3835400"/>
            <a:ext cx="355500" cy="24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solidFill>
                  <a:srgbClr val="66716B"/>
                </a:solidFill>
                <a:latin typeface="Montserrat"/>
                <a:ea typeface="Montserrat"/>
                <a:cs typeface="Montserrat"/>
                <a:sym typeface="Montserrat"/>
              </a:rPr>
              <a:t>1</a:t>
            </a:r>
            <a:endParaRPr sz="1100">
              <a:solidFill>
                <a:srgbClr val="66716B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709" name="Google Shape;709;p49"/>
          <p:cNvCxnSpPr/>
          <p:nvPr/>
        </p:nvCxnSpPr>
        <p:spPr>
          <a:xfrm>
            <a:off x="7295487" y="2044700"/>
            <a:ext cx="0" cy="1752600"/>
          </a:xfrm>
          <a:prstGeom prst="straightConnector1">
            <a:avLst/>
          </a:prstGeom>
          <a:noFill/>
          <a:ln cap="flat" cmpd="sng" w="6350">
            <a:solidFill>
              <a:srgbClr val="D6D0C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10" name="Google Shape;710;p49"/>
          <p:cNvSpPr txBox="1"/>
          <p:nvPr/>
        </p:nvSpPr>
        <p:spPr>
          <a:xfrm>
            <a:off x="7117687" y="3835400"/>
            <a:ext cx="355500" cy="24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solidFill>
                  <a:srgbClr val="66716B"/>
                </a:solidFill>
                <a:latin typeface="Montserrat"/>
                <a:ea typeface="Montserrat"/>
                <a:cs typeface="Montserrat"/>
                <a:sym typeface="Montserrat"/>
              </a:rPr>
              <a:t>2</a:t>
            </a:r>
            <a:endParaRPr sz="1100">
              <a:solidFill>
                <a:srgbClr val="66716B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711" name="Google Shape;711;p49"/>
          <p:cNvCxnSpPr/>
          <p:nvPr/>
        </p:nvCxnSpPr>
        <p:spPr>
          <a:xfrm>
            <a:off x="8243248" y="2044700"/>
            <a:ext cx="0" cy="1752600"/>
          </a:xfrm>
          <a:prstGeom prst="straightConnector1">
            <a:avLst/>
          </a:prstGeom>
          <a:noFill/>
          <a:ln cap="flat" cmpd="sng" w="6350">
            <a:solidFill>
              <a:srgbClr val="D6D0C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12" name="Google Shape;712;p49"/>
          <p:cNvSpPr txBox="1"/>
          <p:nvPr/>
        </p:nvSpPr>
        <p:spPr>
          <a:xfrm>
            <a:off x="8065448" y="3835400"/>
            <a:ext cx="355500" cy="24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solidFill>
                  <a:srgbClr val="66716B"/>
                </a:solidFill>
                <a:latin typeface="Montserrat"/>
                <a:ea typeface="Montserrat"/>
                <a:cs typeface="Montserrat"/>
                <a:sym typeface="Montserrat"/>
              </a:rPr>
              <a:t>3</a:t>
            </a:r>
            <a:endParaRPr sz="1100">
              <a:solidFill>
                <a:srgbClr val="66716B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713" name="Google Shape;713;p49"/>
          <p:cNvCxnSpPr/>
          <p:nvPr/>
        </p:nvCxnSpPr>
        <p:spPr>
          <a:xfrm>
            <a:off x="5257800" y="3627694"/>
            <a:ext cx="3174900" cy="0"/>
          </a:xfrm>
          <a:prstGeom prst="straightConnector1">
            <a:avLst/>
          </a:prstGeom>
          <a:noFill/>
          <a:ln cap="flat" cmpd="sng" w="6350">
            <a:solidFill>
              <a:srgbClr val="D6D0C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14" name="Google Shape;714;p49"/>
          <p:cNvSpPr txBox="1"/>
          <p:nvPr/>
        </p:nvSpPr>
        <p:spPr>
          <a:xfrm>
            <a:off x="4826000" y="3500694"/>
            <a:ext cx="3684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solidFill>
                  <a:srgbClr val="66716B"/>
                </a:solidFill>
                <a:latin typeface="Montserrat"/>
                <a:ea typeface="Montserrat"/>
                <a:cs typeface="Montserrat"/>
                <a:sym typeface="Montserrat"/>
              </a:rPr>
              <a:t>1</a:t>
            </a:r>
            <a:endParaRPr sz="1100">
              <a:solidFill>
                <a:srgbClr val="66716B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715" name="Google Shape;715;p49"/>
          <p:cNvCxnSpPr/>
          <p:nvPr/>
        </p:nvCxnSpPr>
        <p:spPr>
          <a:xfrm>
            <a:off x="5257800" y="3288481"/>
            <a:ext cx="3174900" cy="0"/>
          </a:xfrm>
          <a:prstGeom prst="straightConnector1">
            <a:avLst/>
          </a:prstGeom>
          <a:noFill/>
          <a:ln cap="flat" cmpd="sng" w="6350">
            <a:solidFill>
              <a:srgbClr val="D6D0C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16" name="Google Shape;716;p49"/>
          <p:cNvSpPr txBox="1"/>
          <p:nvPr/>
        </p:nvSpPr>
        <p:spPr>
          <a:xfrm>
            <a:off x="4826000" y="3161481"/>
            <a:ext cx="3684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solidFill>
                  <a:srgbClr val="66716B"/>
                </a:solidFill>
                <a:latin typeface="Montserrat"/>
                <a:ea typeface="Montserrat"/>
                <a:cs typeface="Montserrat"/>
                <a:sym typeface="Montserrat"/>
              </a:rPr>
              <a:t>4</a:t>
            </a:r>
            <a:endParaRPr sz="1100">
              <a:solidFill>
                <a:srgbClr val="66716B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717" name="Google Shape;717;p49"/>
          <p:cNvCxnSpPr/>
          <p:nvPr/>
        </p:nvCxnSpPr>
        <p:spPr>
          <a:xfrm>
            <a:off x="5257800" y="2949268"/>
            <a:ext cx="3174900" cy="0"/>
          </a:xfrm>
          <a:prstGeom prst="straightConnector1">
            <a:avLst/>
          </a:prstGeom>
          <a:noFill/>
          <a:ln cap="flat" cmpd="sng" w="6350">
            <a:solidFill>
              <a:srgbClr val="D6D0C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18" name="Google Shape;718;p49"/>
          <p:cNvSpPr txBox="1"/>
          <p:nvPr/>
        </p:nvSpPr>
        <p:spPr>
          <a:xfrm>
            <a:off x="4826000" y="2822268"/>
            <a:ext cx="3684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solidFill>
                  <a:srgbClr val="66716B"/>
                </a:solidFill>
                <a:latin typeface="Montserrat"/>
                <a:ea typeface="Montserrat"/>
                <a:cs typeface="Montserrat"/>
                <a:sym typeface="Montserrat"/>
              </a:rPr>
              <a:t>7</a:t>
            </a:r>
            <a:endParaRPr sz="1100">
              <a:solidFill>
                <a:srgbClr val="66716B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719" name="Google Shape;719;p49"/>
          <p:cNvCxnSpPr/>
          <p:nvPr/>
        </p:nvCxnSpPr>
        <p:spPr>
          <a:xfrm>
            <a:off x="5257800" y="2270842"/>
            <a:ext cx="3174900" cy="0"/>
          </a:xfrm>
          <a:prstGeom prst="straightConnector1">
            <a:avLst/>
          </a:prstGeom>
          <a:noFill/>
          <a:ln cap="flat" cmpd="sng" w="6350">
            <a:solidFill>
              <a:srgbClr val="D6D0C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20" name="Google Shape;720;p49"/>
          <p:cNvSpPr txBox="1"/>
          <p:nvPr/>
        </p:nvSpPr>
        <p:spPr>
          <a:xfrm>
            <a:off x="4826000" y="2143842"/>
            <a:ext cx="3684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solidFill>
                  <a:srgbClr val="66716B"/>
                </a:solidFill>
                <a:latin typeface="Montserrat"/>
                <a:ea typeface="Montserrat"/>
                <a:cs typeface="Montserrat"/>
                <a:sym typeface="Montserrat"/>
              </a:rPr>
              <a:t>13</a:t>
            </a:r>
            <a:endParaRPr sz="1100">
              <a:solidFill>
                <a:srgbClr val="66716B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721" name="Google Shape;721;p49"/>
          <p:cNvCxnSpPr/>
          <p:nvPr/>
        </p:nvCxnSpPr>
        <p:spPr>
          <a:xfrm>
            <a:off x="5257800" y="2044700"/>
            <a:ext cx="0" cy="1752600"/>
          </a:xfrm>
          <a:prstGeom prst="straightConnector1">
            <a:avLst/>
          </a:prstGeom>
          <a:noFill/>
          <a:ln cap="flat" cmpd="sng" w="10150">
            <a:solidFill>
              <a:srgbClr val="66716B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22" name="Google Shape;722;p49"/>
          <p:cNvCxnSpPr/>
          <p:nvPr/>
        </p:nvCxnSpPr>
        <p:spPr>
          <a:xfrm>
            <a:off x="5257800" y="3797300"/>
            <a:ext cx="3174900" cy="0"/>
          </a:xfrm>
          <a:prstGeom prst="straightConnector1">
            <a:avLst/>
          </a:prstGeom>
          <a:noFill/>
          <a:ln cap="flat" cmpd="sng" w="10150">
            <a:solidFill>
              <a:srgbClr val="66716B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23" name="Google Shape;723;p49"/>
          <p:cNvSpPr txBox="1"/>
          <p:nvPr/>
        </p:nvSpPr>
        <p:spPr>
          <a:xfrm>
            <a:off x="8445500" y="3771900"/>
            <a:ext cx="228600" cy="27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>
                <a:solidFill>
                  <a:srgbClr val="66716B"/>
                </a:solidFill>
                <a:latin typeface="Montserrat"/>
                <a:ea typeface="Montserrat"/>
                <a:cs typeface="Montserrat"/>
                <a:sym typeface="Montserrat"/>
              </a:rPr>
              <a:t>x</a:t>
            </a:r>
            <a:endParaRPr sz="1300">
              <a:solidFill>
                <a:srgbClr val="66716B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24" name="Google Shape;724;p49"/>
          <p:cNvSpPr txBox="1"/>
          <p:nvPr/>
        </p:nvSpPr>
        <p:spPr>
          <a:xfrm>
            <a:off x="5003800" y="1765300"/>
            <a:ext cx="2286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>
                <a:solidFill>
                  <a:srgbClr val="66716B"/>
                </a:solidFill>
                <a:latin typeface="Montserrat"/>
                <a:ea typeface="Montserrat"/>
                <a:cs typeface="Montserrat"/>
                <a:sym typeface="Montserrat"/>
              </a:rPr>
              <a:t>y</a:t>
            </a:r>
            <a:endParaRPr sz="1300">
              <a:solidFill>
                <a:srgbClr val="66716B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725" name="Google Shape;725;p49"/>
          <p:cNvCxnSpPr/>
          <p:nvPr/>
        </p:nvCxnSpPr>
        <p:spPr>
          <a:xfrm flipH="1" rot="10800000">
            <a:off x="5399964" y="2610094"/>
            <a:ext cx="2843400" cy="1017600"/>
          </a:xfrm>
          <a:prstGeom prst="straightConnector1">
            <a:avLst/>
          </a:prstGeom>
          <a:noFill/>
          <a:ln cap="flat" cmpd="sng" w="15250">
            <a:solidFill>
              <a:srgbClr val="66716B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726" name="Google Shape;726;p49"/>
          <p:cNvCxnSpPr/>
          <p:nvPr/>
        </p:nvCxnSpPr>
        <p:spPr>
          <a:xfrm flipH="1" rot="10800000">
            <a:off x="5399964" y="3618094"/>
            <a:ext cx="74700" cy="9600"/>
          </a:xfrm>
          <a:prstGeom prst="straightConnector1">
            <a:avLst/>
          </a:prstGeom>
          <a:noFill/>
          <a:ln cap="flat" cmpd="sng" w="25400">
            <a:solidFill>
              <a:srgbClr val="1D403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27" name="Google Shape;727;p49"/>
          <p:cNvCxnSpPr/>
          <p:nvPr/>
        </p:nvCxnSpPr>
        <p:spPr>
          <a:xfrm flipH="1" rot="10800000">
            <a:off x="5474787" y="3606962"/>
            <a:ext cx="74700" cy="11100"/>
          </a:xfrm>
          <a:prstGeom prst="straightConnector1">
            <a:avLst/>
          </a:prstGeom>
          <a:noFill/>
          <a:ln cap="flat" cmpd="sng" w="25400">
            <a:solidFill>
              <a:srgbClr val="1D403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28" name="Google Shape;728;p49"/>
          <p:cNvCxnSpPr/>
          <p:nvPr/>
        </p:nvCxnSpPr>
        <p:spPr>
          <a:xfrm flipH="1" rot="10800000">
            <a:off x="5549611" y="3594421"/>
            <a:ext cx="74700" cy="12600"/>
          </a:xfrm>
          <a:prstGeom prst="straightConnector1">
            <a:avLst/>
          </a:prstGeom>
          <a:noFill/>
          <a:ln cap="flat" cmpd="sng" w="25400">
            <a:solidFill>
              <a:srgbClr val="1D403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29" name="Google Shape;729;p49"/>
          <p:cNvCxnSpPr/>
          <p:nvPr/>
        </p:nvCxnSpPr>
        <p:spPr>
          <a:xfrm flipH="1" rot="10800000">
            <a:off x="5624434" y="3580771"/>
            <a:ext cx="74700" cy="13800"/>
          </a:xfrm>
          <a:prstGeom prst="straightConnector1">
            <a:avLst/>
          </a:prstGeom>
          <a:noFill/>
          <a:ln cap="flat" cmpd="sng" w="25400">
            <a:solidFill>
              <a:srgbClr val="1D403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30" name="Google Shape;730;p49"/>
          <p:cNvCxnSpPr/>
          <p:nvPr/>
        </p:nvCxnSpPr>
        <p:spPr>
          <a:xfrm flipH="1" rot="10800000">
            <a:off x="5699257" y="3565411"/>
            <a:ext cx="74700" cy="15300"/>
          </a:xfrm>
          <a:prstGeom prst="straightConnector1">
            <a:avLst/>
          </a:prstGeom>
          <a:noFill/>
          <a:ln cap="flat" cmpd="sng" w="25400">
            <a:solidFill>
              <a:srgbClr val="1D403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31" name="Google Shape;731;p49"/>
          <p:cNvCxnSpPr/>
          <p:nvPr/>
        </p:nvCxnSpPr>
        <p:spPr>
          <a:xfrm flipH="1" rot="10800000">
            <a:off x="5774080" y="3548642"/>
            <a:ext cx="74700" cy="16800"/>
          </a:xfrm>
          <a:prstGeom prst="straightConnector1">
            <a:avLst/>
          </a:prstGeom>
          <a:noFill/>
          <a:ln cap="flat" cmpd="sng" w="25400">
            <a:solidFill>
              <a:srgbClr val="1D403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32" name="Google Shape;732;p49"/>
          <p:cNvCxnSpPr/>
          <p:nvPr/>
        </p:nvCxnSpPr>
        <p:spPr>
          <a:xfrm flipH="1" rot="10800000">
            <a:off x="5848904" y="3530763"/>
            <a:ext cx="74700" cy="18000"/>
          </a:xfrm>
          <a:prstGeom prst="straightConnector1">
            <a:avLst/>
          </a:prstGeom>
          <a:noFill/>
          <a:ln cap="flat" cmpd="sng" w="25400">
            <a:solidFill>
              <a:srgbClr val="1D403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33" name="Google Shape;733;p49"/>
          <p:cNvCxnSpPr/>
          <p:nvPr/>
        </p:nvCxnSpPr>
        <p:spPr>
          <a:xfrm flipH="1" rot="10800000">
            <a:off x="5923727" y="3511175"/>
            <a:ext cx="74700" cy="19500"/>
          </a:xfrm>
          <a:prstGeom prst="straightConnector1">
            <a:avLst/>
          </a:prstGeom>
          <a:noFill/>
          <a:ln cap="flat" cmpd="sng" w="25400">
            <a:solidFill>
              <a:srgbClr val="1D403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34" name="Google Shape;734;p49"/>
          <p:cNvCxnSpPr/>
          <p:nvPr/>
        </p:nvCxnSpPr>
        <p:spPr>
          <a:xfrm flipH="1" rot="10800000">
            <a:off x="5998550" y="3490177"/>
            <a:ext cx="74700" cy="21000"/>
          </a:xfrm>
          <a:prstGeom prst="straightConnector1">
            <a:avLst/>
          </a:prstGeom>
          <a:noFill/>
          <a:ln cap="flat" cmpd="sng" w="25400">
            <a:solidFill>
              <a:srgbClr val="1D403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35" name="Google Shape;735;p49"/>
          <p:cNvCxnSpPr/>
          <p:nvPr/>
        </p:nvCxnSpPr>
        <p:spPr>
          <a:xfrm flipH="1" rot="10800000">
            <a:off x="6073373" y="3468070"/>
            <a:ext cx="74700" cy="22200"/>
          </a:xfrm>
          <a:prstGeom prst="straightConnector1">
            <a:avLst/>
          </a:prstGeom>
          <a:noFill/>
          <a:ln cap="flat" cmpd="sng" w="25400">
            <a:solidFill>
              <a:srgbClr val="1D403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36" name="Google Shape;736;p49"/>
          <p:cNvCxnSpPr/>
          <p:nvPr/>
        </p:nvCxnSpPr>
        <p:spPr>
          <a:xfrm flipH="1" rot="10800000">
            <a:off x="6148197" y="3444253"/>
            <a:ext cx="74700" cy="23700"/>
          </a:xfrm>
          <a:prstGeom prst="straightConnector1">
            <a:avLst/>
          </a:prstGeom>
          <a:noFill/>
          <a:ln cap="flat" cmpd="sng" w="25400">
            <a:solidFill>
              <a:srgbClr val="1D403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37" name="Google Shape;737;p49"/>
          <p:cNvCxnSpPr/>
          <p:nvPr/>
        </p:nvCxnSpPr>
        <p:spPr>
          <a:xfrm flipH="1" rot="10800000">
            <a:off x="6223020" y="3419027"/>
            <a:ext cx="74700" cy="25200"/>
          </a:xfrm>
          <a:prstGeom prst="straightConnector1">
            <a:avLst/>
          </a:prstGeom>
          <a:noFill/>
          <a:ln cap="flat" cmpd="sng" w="25400">
            <a:solidFill>
              <a:srgbClr val="1D403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38" name="Google Shape;738;p49"/>
          <p:cNvCxnSpPr/>
          <p:nvPr/>
        </p:nvCxnSpPr>
        <p:spPr>
          <a:xfrm flipH="1" rot="10800000">
            <a:off x="6297843" y="3392692"/>
            <a:ext cx="74700" cy="26400"/>
          </a:xfrm>
          <a:prstGeom prst="straightConnector1">
            <a:avLst/>
          </a:prstGeom>
          <a:noFill/>
          <a:ln cap="flat" cmpd="sng" w="25400">
            <a:solidFill>
              <a:srgbClr val="1D403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39" name="Google Shape;739;p49"/>
          <p:cNvCxnSpPr/>
          <p:nvPr/>
        </p:nvCxnSpPr>
        <p:spPr>
          <a:xfrm flipH="1" rot="10800000">
            <a:off x="6372666" y="3364647"/>
            <a:ext cx="74700" cy="27900"/>
          </a:xfrm>
          <a:prstGeom prst="straightConnector1">
            <a:avLst/>
          </a:prstGeom>
          <a:noFill/>
          <a:ln cap="flat" cmpd="sng" w="25400">
            <a:solidFill>
              <a:srgbClr val="1D403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40" name="Google Shape;740;p49"/>
          <p:cNvCxnSpPr/>
          <p:nvPr/>
        </p:nvCxnSpPr>
        <p:spPr>
          <a:xfrm flipH="1" rot="10800000">
            <a:off x="6447490" y="3335192"/>
            <a:ext cx="74700" cy="29400"/>
          </a:xfrm>
          <a:prstGeom prst="straightConnector1">
            <a:avLst/>
          </a:prstGeom>
          <a:noFill/>
          <a:ln cap="flat" cmpd="sng" w="25400">
            <a:solidFill>
              <a:srgbClr val="1D403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41" name="Google Shape;741;p49"/>
          <p:cNvCxnSpPr/>
          <p:nvPr/>
        </p:nvCxnSpPr>
        <p:spPr>
          <a:xfrm flipH="1" rot="10800000">
            <a:off x="6522313" y="3304328"/>
            <a:ext cx="74700" cy="30900"/>
          </a:xfrm>
          <a:prstGeom prst="straightConnector1">
            <a:avLst/>
          </a:prstGeom>
          <a:noFill/>
          <a:ln cap="flat" cmpd="sng" w="25400">
            <a:solidFill>
              <a:srgbClr val="1D403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42" name="Google Shape;742;p49"/>
          <p:cNvCxnSpPr/>
          <p:nvPr/>
        </p:nvCxnSpPr>
        <p:spPr>
          <a:xfrm flipH="1" rot="10800000">
            <a:off x="6597136" y="3272355"/>
            <a:ext cx="74700" cy="32100"/>
          </a:xfrm>
          <a:prstGeom prst="straightConnector1">
            <a:avLst/>
          </a:prstGeom>
          <a:noFill/>
          <a:ln cap="flat" cmpd="sng" w="25400">
            <a:solidFill>
              <a:srgbClr val="1D403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43" name="Google Shape;743;p49"/>
          <p:cNvCxnSpPr/>
          <p:nvPr/>
        </p:nvCxnSpPr>
        <p:spPr>
          <a:xfrm flipH="1" rot="10800000">
            <a:off x="6671959" y="3238672"/>
            <a:ext cx="74700" cy="33600"/>
          </a:xfrm>
          <a:prstGeom prst="straightConnector1">
            <a:avLst/>
          </a:prstGeom>
          <a:noFill/>
          <a:ln cap="flat" cmpd="sng" w="25400">
            <a:solidFill>
              <a:srgbClr val="1D403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44" name="Google Shape;744;p49"/>
          <p:cNvCxnSpPr/>
          <p:nvPr/>
        </p:nvCxnSpPr>
        <p:spPr>
          <a:xfrm flipH="1" rot="10800000">
            <a:off x="6746783" y="3203579"/>
            <a:ext cx="74700" cy="35100"/>
          </a:xfrm>
          <a:prstGeom prst="straightConnector1">
            <a:avLst/>
          </a:prstGeom>
          <a:noFill/>
          <a:ln cap="flat" cmpd="sng" w="25400">
            <a:solidFill>
              <a:srgbClr val="1D403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45" name="Google Shape;745;p49"/>
          <p:cNvCxnSpPr/>
          <p:nvPr/>
        </p:nvCxnSpPr>
        <p:spPr>
          <a:xfrm flipH="1" rot="10800000">
            <a:off x="6821606" y="3167377"/>
            <a:ext cx="74700" cy="36300"/>
          </a:xfrm>
          <a:prstGeom prst="straightConnector1">
            <a:avLst/>
          </a:prstGeom>
          <a:noFill/>
          <a:ln cap="flat" cmpd="sng" w="25400">
            <a:solidFill>
              <a:srgbClr val="1D403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46" name="Google Shape;746;p49"/>
          <p:cNvCxnSpPr/>
          <p:nvPr/>
        </p:nvCxnSpPr>
        <p:spPr>
          <a:xfrm flipH="1" rot="10800000">
            <a:off x="6896429" y="3129466"/>
            <a:ext cx="74700" cy="37800"/>
          </a:xfrm>
          <a:prstGeom prst="straightConnector1">
            <a:avLst/>
          </a:prstGeom>
          <a:noFill/>
          <a:ln cap="flat" cmpd="sng" w="25400">
            <a:solidFill>
              <a:srgbClr val="1D403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47" name="Google Shape;747;p49"/>
          <p:cNvCxnSpPr/>
          <p:nvPr/>
        </p:nvCxnSpPr>
        <p:spPr>
          <a:xfrm flipH="1" rot="10800000">
            <a:off x="6971252" y="3090145"/>
            <a:ext cx="74700" cy="39300"/>
          </a:xfrm>
          <a:prstGeom prst="straightConnector1">
            <a:avLst/>
          </a:prstGeom>
          <a:noFill/>
          <a:ln cap="flat" cmpd="sng" w="25400">
            <a:solidFill>
              <a:srgbClr val="1D403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48" name="Google Shape;748;p49"/>
          <p:cNvCxnSpPr/>
          <p:nvPr/>
        </p:nvCxnSpPr>
        <p:spPr>
          <a:xfrm flipH="1" rot="10800000">
            <a:off x="7046076" y="3049715"/>
            <a:ext cx="74700" cy="40500"/>
          </a:xfrm>
          <a:prstGeom prst="straightConnector1">
            <a:avLst/>
          </a:prstGeom>
          <a:noFill/>
          <a:ln cap="flat" cmpd="sng" w="25400">
            <a:solidFill>
              <a:srgbClr val="1D403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49" name="Google Shape;749;p49"/>
          <p:cNvCxnSpPr/>
          <p:nvPr/>
        </p:nvCxnSpPr>
        <p:spPr>
          <a:xfrm flipH="1" rot="10800000">
            <a:off x="7120899" y="3007575"/>
            <a:ext cx="74700" cy="42000"/>
          </a:xfrm>
          <a:prstGeom prst="straightConnector1">
            <a:avLst/>
          </a:prstGeom>
          <a:noFill/>
          <a:ln cap="flat" cmpd="sng" w="25400">
            <a:solidFill>
              <a:srgbClr val="1D403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50" name="Google Shape;750;p49"/>
          <p:cNvCxnSpPr/>
          <p:nvPr/>
        </p:nvCxnSpPr>
        <p:spPr>
          <a:xfrm flipH="1" rot="10800000">
            <a:off x="7195722" y="2964026"/>
            <a:ext cx="74700" cy="43500"/>
          </a:xfrm>
          <a:prstGeom prst="straightConnector1">
            <a:avLst/>
          </a:prstGeom>
          <a:noFill/>
          <a:ln cap="flat" cmpd="sng" w="25400">
            <a:solidFill>
              <a:srgbClr val="1D403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51" name="Google Shape;751;p49"/>
          <p:cNvCxnSpPr/>
          <p:nvPr/>
        </p:nvCxnSpPr>
        <p:spPr>
          <a:xfrm flipH="1" rot="10800000">
            <a:off x="7270545" y="2919067"/>
            <a:ext cx="74700" cy="45000"/>
          </a:xfrm>
          <a:prstGeom prst="straightConnector1">
            <a:avLst/>
          </a:prstGeom>
          <a:noFill/>
          <a:ln cap="flat" cmpd="sng" w="25400">
            <a:solidFill>
              <a:srgbClr val="1D403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52" name="Google Shape;752;p49"/>
          <p:cNvCxnSpPr/>
          <p:nvPr/>
        </p:nvCxnSpPr>
        <p:spPr>
          <a:xfrm flipH="1" rot="10800000">
            <a:off x="7345369" y="2872999"/>
            <a:ext cx="74700" cy="46200"/>
          </a:xfrm>
          <a:prstGeom prst="straightConnector1">
            <a:avLst/>
          </a:prstGeom>
          <a:noFill/>
          <a:ln cap="flat" cmpd="sng" w="25400">
            <a:solidFill>
              <a:srgbClr val="1D403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53" name="Google Shape;753;p49"/>
          <p:cNvCxnSpPr/>
          <p:nvPr/>
        </p:nvCxnSpPr>
        <p:spPr>
          <a:xfrm flipH="1" rot="10800000">
            <a:off x="7420192" y="2825221"/>
            <a:ext cx="74700" cy="47700"/>
          </a:xfrm>
          <a:prstGeom prst="straightConnector1">
            <a:avLst/>
          </a:prstGeom>
          <a:noFill/>
          <a:ln cap="flat" cmpd="sng" w="25400">
            <a:solidFill>
              <a:srgbClr val="1D403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54" name="Google Shape;754;p49"/>
          <p:cNvCxnSpPr/>
          <p:nvPr/>
        </p:nvCxnSpPr>
        <p:spPr>
          <a:xfrm flipH="1" rot="10800000">
            <a:off x="7495015" y="2776034"/>
            <a:ext cx="74700" cy="49200"/>
          </a:xfrm>
          <a:prstGeom prst="straightConnector1">
            <a:avLst/>
          </a:prstGeom>
          <a:noFill/>
          <a:ln cap="flat" cmpd="sng" w="25400">
            <a:solidFill>
              <a:srgbClr val="1D403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55" name="Google Shape;755;p49"/>
          <p:cNvCxnSpPr/>
          <p:nvPr/>
        </p:nvCxnSpPr>
        <p:spPr>
          <a:xfrm flipH="1" rot="10800000">
            <a:off x="7569838" y="2725738"/>
            <a:ext cx="74700" cy="50400"/>
          </a:xfrm>
          <a:prstGeom prst="straightConnector1">
            <a:avLst/>
          </a:prstGeom>
          <a:noFill/>
          <a:ln cap="flat" cmpd="sng" w="25400">
            <a:solidFill>
              <a:srgbClr val="1D403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56" name="Google Shape;756;p49"/>
          <p:cNvCxnSpPr/>
          <p:nvPr/>
        </p:nvCxnSpPr>
        <p:spPr>
          <a:xfrm flipH="1" rot="10800000">
            <a:off x="7644662" y="2673732"/>
            <a:ext cx="74700" cy="51900"/>
          </a:xfrm>
          <a:prstGeom prst="straightConnector1">
            <a:avLst/>
          </a:prstGeom>
          <a:noFill/>
          <a:ln cap="flat" cmpd="sng" w="25400">
            <a:solidFill>
              <a:srgbClr val="1D403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57" name="Google Shape;757;p49"/>
          <p:cNvCxnSpPr/>
          <p:nvPr/>
        </p:nvCxnSpPr>
        <p:spPr>
          <a:xfrm flipH="1" rot="10800000">
            <a:off x="7719485" y="2620316"/>
            <a:ext cx="74700" cy="53400"/>
          </a:xfrm>
          <a:prstGeom prst="straightConnector1">
            <a:avLst/>
          </a:prstGeom>
          <a:noFill/>
          <a:ln cap="flat" cmpd="sng" w="25400">
            <a:solidFill>
              <a:srgbClr val="1D403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58" name="Google Shape;758;p49"/>
          <p:cNvCxnSpPr/>
          <p:nvPr/>
        </p:nvCxnSpPr>
        <p:spPr>
          <a:xfrm flipH="1" rot="10800000">
            <a:off x="7794308" y="2565791"/>
            <a:ext cx="74700" cy="54600"/>
          </a:xfrm>
          <a:prstGeom prst="straightConnector1">
            <a:avLst/>
          </a:prstGeom>
          <a:noFill/>
          <a:ln cap="flat" cmpd="sng" w="25400">
            <a:solidFill>
              <a:srgbClr val="1D403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59" name="Google Shape;759;p49"/>
          <p:cNvCxnSpPr/>
          <p:nvPr/>
        </p:nvCxnSpPr>
        <p:spPr>
          <a:xfrm flipH="1" rot="10800000">
            <a:off x="7869132" y="2509556"/>
            <a:ext cx="74700" cy="56100"/>
          </a:xfrm>
          <a:prstGeom prst="straightConnector1">
            <a:avLst/>
          </a:prstGeom>
          <a:noFill/>
          <a:ln cap="flat" cmpd="sng" w="25400">
            <a:solidFill>
              <a:srgbClr val="1D403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60" name="Google Shape;760;p49"/>
          <p:cNvCxnSpPr/>
          <p:nvPr/>
        </p:nvCxnSpPr>
        <p:spPr>
          <a:xfrm flipH="1" rot="10800000">
            <a:off x="7943955" y="2451913"/>
            <a:ext cx="74700" cy="57600"/>
          </a:xfrm>
          <a:prstGeom prst="straightConnector1">
            <a:avLst/>
          </a:prstGeom>
          <a:noFill/>
          <a:ln cap="flat" cmpd="sng" w="25400">
            <a:solidFill>
              <a:srgbClr val="1D403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61" name="Google Shape;761;p49"/>
          <p:cNvCxnSpPr/>
          <p:nvPr/>
        </p:nvCxnSpPr>
        <p:spPr>
          <a:xfrm flipH="1" rot="10800000">
            <a:off x="8018778" y="2392859"/>
            <a:ext cx="74700" cy="59100"/>
          </a:xfrm>
          <a:prstGeom prst="straightConnector1">
            <a:avLst/>
          </a:prstGeom>
          <a:noFill/>
          <a:ln cap="flat" cmpd="sng" w="25400">
            <a:solidFill>
              <a:srgbClr val="1D403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62" name="Google Shape;762;p49"/>
          <p:cNvCxnSpPr/>
          <p:nvPr/>
        </p:nvCxnSpPr>
        <p:spPr>
          <a:xfrm flipH="1" rot="10800000">
            <a:off x="8093601" y="2332696"/>
            <a:ext cx="74700" cy="60300"/>
          </a:xfrm>
          <a:prstGeom prst="straightConnector1">
            <a:avLst/>
          </a:prstGeom>
          <a:noFill/>
          <a:ln cap="flat" cmpd="sng" w="25400">
            <a:solidFill>
              <a:srgbClr val="1D403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63" name="Google Shape;763;p49"/>
          <p:cNvCxnSpPr/>
          <p:nvPr/>
        </p:nvCxnSpPr>
        <p:spPr>
          <a:xfrm flipH="1" rot="10800000">
            <a:off x="8168425" y="2270824"/>
            <a:ext cx="74700" cy="61800"/>
          </a:xfrm>
          <a:prstGeom prst="straightConnector1">
            <a:avLst/>
          </a:prstGeom>
          <a:noFill/>
          <a:ln cap="flat" cmpd="sng" w="25400">
            <a:solidFill>
              <a:srgbClr val="1D403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64" name="Google Shape;764;p49"/>
          <p:cNvSpPr/>
          <p:nvPr/>
        </p:nvSpPr>
        <p:spPr>
          <a:xfrm>
            <a:off x="5355514" y="3583244"/>
            <a:ext cx="88800" cy="88800"/>
          </a:xfrm>
          <a:prstGeom prst="ellipse">
            <a:avLst/>
          </a:prstGeom>
          <a:solidFill>
            <a:srgbClr val="1D4036"/>
          </a:solidFill>
          <a:ln cap="flat" cmpd="sng" w="7625">
            <a:solidFill>
              <a:srgbClr val="EFE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65" name="Google Shape;765;p49"/>
          <p:cNvSpPr/>
          <p:nvPr/>
        </p:nvSpPr>
        <p:spPr>
          <a:xfrm>
            <a:off x="7251037" y="2904818"/>
            <a:ext cx="88800" cy="88800"/>
          </a:xfrm>
          <a:prstGeom prst="ellipse">
            <a:avLst/>
          </a:prstGeom>
          <a:solidFill>
            <a:srgbClr val="1D4036"/>
          </a:solidFill>
          <a:ln cap="flat" cmpd="sng" w="7625">
            <a:solidFill>
              <a:srgbClr val="EFE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66" name="Google Shape;766;p49"/>
          <p:cNvSpPr/>
          <p:nvPr/>
        </p:nvSpPr>
        <p:spPr>
          <a:xfrm>
            <a:off x="8198798" y="2226392"/>
            <a:ext cx="88800" cy="88800"/>
          </a:xfrm>
          <a:prstGeom prst="ellipse">
            <a:avLst/>
          </a:prstGeom>
          <a:solidFill>
            <a:srgbClr val="1D4036"/>
          </a:solidFill>
          <a:ln cap="flat" cmpd="sng" w="7625">
            <a:solidFill>
              <a:srgbClr val="EFE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67" name="Google Shape;767;p49"/>
          <p:cNvSpPr/>
          <p:nvPr/>
        </p:nvSpPr>
        <p:spPr>
          <a:xfrm>
            <a:off x="6303275" y="3244031"/>
            <a:ext cx="88800" cy="88800"/>
          </a:xfrm>
          <a:prstGeom prst="ellipse">
            <a:avLst/>
          </a:prstGeom>
          <a:solidFill>
            <a:srgbClr val="66716B"/>
          </a:solidFill>
          <a:ln cap="flat" cmpd="sng" w="7625">
            <a:solidFill>
              <a:srgbClr val="EFE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68" name="Google Shape;768;p49"/>
          <p:cNvSpPr/>
          <p:nvPr/>
        </p:nvSpPr>
        <p:spPr>
          <a:xfrm>
            <a:off x="6303275" y="3357102"/>
            <a:ext cx="88800" cy="88800"/>
          </a:xfrm>
          <a:prstGeom prst="ellipse">
            <a:avLst/>
          </a:prstGeom>
          <a:solidFill>
            <a:srgbClr val="BF6B1B"/>
          </a:solidFill>
          <a:ln cap="flat" cmpd="sng" w="7625">
            <a:solidFill>
              <a:srgbClr val="EFE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69" name="Google Shape;769;p49"/>
          <p:cNvSpPr txBox="1"/>
          <p:nvPr/>
        </p:nvSpPr>
        <p:spPr>
          <a:xfrm>
            <a:off x="6436625" y="3299952"/>
            <a:ext cx="4065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rgbClr val="BF6B1B"/>
                </a:solidFill>
                <a:latin typeface="Montserrat"/>
                <a:ea typeface="Montserrat"/>
                <a:cs typeface="Montserrat"/>
                <a:sym typeface="Montserrat"/>
              </a:rPr>
              <a:t>3</a:t>
            </a:r>
            <a:endParaRPr b="1" sz="1200">
              <a:solidFill>
                <a:srgbClr val="BF6B1B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70" name="Google Shape;770;p49"/>
          <p:cNvSpPr txBox="1"/>
          <p:nvPr/>
        </p:nvSpPr>
        <p:spPr>
          <a:xfrm>
            <a:off x="2159000" y="4064000"/>
            <a:ext cx="5016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2700">
                <a:solidFill>
                  <a:srgbClr val="BF6B1B"/>
                </a:solidFill>
                <a:latin typeface="Montserrat"/>
                <a:ea typeface="Montserrat"/>
                <a:cs typeface="Montserrat"/>
                <a:sym typeface="Montserrat"/>
              </a:rPr>
              <a:t>P</a:t>
            </a:r>
            <a:r>
              <a:rPr baseline="-25000" lang="es" sz="2700">
                <a:solidFill>
                  <a:srgbClr val="BF6B1B"/>
                </a:solidFill>
                <a:latin typeface="Montserrat"/>
                <a:ea typeface="Montserrat"/>
                <a:cs typeface="Montserrat"/>
                <a:sym typeface="Montserrat"/>
              </a:rPr>
              <a:t>2</a:t>
            </a:r>
            <a:r>
              <a:rPr lang="es" sz="2700">
                <a:solidFill>
                  <a:srgbClr val="BF6B1B"/>
                </a:solidFill>
                <a:latin typeface="Montserrat"/>
                <a:ea typeface="Montserrat"/>
                <a:cs typeface="Montserrat"/>
                <a:sym typeface="Montserrat"/>
              </a:rPr>
              <a:t>(1) = 4 − 1 = 3</a:t>
            </a:r>
            <a:endParaRPr sz="2700">
              <a:solidFill>
                <a:srgbClr val="BF6B1B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4" name="Shape 7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5" name="Google Shape;775;p50"/>
          <p:cNvSpPr txBox="1"/>
          <p:nvPr>
            <p:ph type="title"/>
          </p:nvPr>
        </p:nvSpPr>
        <p:spPr>
          <a:xfrm>
            <a:off x="317500" y="393700"/>
            <a:ext cx="8508900" cy="4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2400">
                <a:solidFill>
                  <a:srgbClr val="252C29"/>
                </a:solidFill>
                <a:latin typeface="Montserrat"/>
                <a:ea typeface="Montserrat"/>
                <a:cs typeface="Montserrat"/>
                <a:sym typeface="Montserrat"/>
              </a:rPr>
              <a:t>Las diferencias divididas organizan las cuentas</a:t>
            </a:r>
            <a:endParaRPr sz="2400">
              <a:solidFill>
                <a:srgbClr val="252C29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76" name="Google Shape;776;p50"/>
          <p:cNvSpPr txBox="1"/>
          <p:nvPr>
            <p:ph idx="1" type="body"/>
          </p:nvPr>
        </p:nvSpPr>
        <p:spPr>
          <a:xfrm>
            <a:off x="381000" y="1041400"/>
            <a:ext cx="8382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600">
                <a:solidFill>
                  <a:srgbClr val="66716B"/>
                </a:solidFill>
              </a:rPr>
              <a:t>Calculamos dos pendientes y luego comparamos sus valores.</a:t>
            </a:r>
            <a:endParaRPr sz="1600">
              <a:solidFill>
                <a:srgbClr val="66716B"/>
              </a:solidFill>
            </a:endParaRPr>
          </a:p>
        </p:txBody>
      </p:sp>
      <p:sp>
        <p:nvSpPr>
          <p:cNvPr id="777" name="Google Shape;777;p50"/>
          <p:cNvSpPr txBox="1"/>
          <p:nvPr>
            <p:ph idx="12" type="sldNum"/>
          </p:nvPr>
        </p:nvSpPr>
        <p:spPr>
          <a:xfrm>
            <a:off x="8520083" y="4734654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sp>
        <p:nvSpPr>
          <p:cNvPr id="778" name="Google Shape;778;p50"/>
          <p:cNvSpPr/>
          <p:nvPr/>
        </p:nvSpPr>
        <p:spPr>
          <a:xfrm>
            <a:off x="381000" y="4445000"/>
            <a:ext cx="8255100" cy="29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>
                <a:solidFill>
                  <a:srgbClr val="66716B"/>
                </a:solidFill>
                <a:latin typeface="Montserrat"/>
                <a:ea typeface="Montserrat"/>
                <a:cs typeface="Montserrat"/>
                <a:sym typeface="Montserrat"/>
              </a:rPr>
              <a:t>Coeficientes de Newton: 1 (dato inicial), 3 (pendiente), 1 (corrección).</a:t>
            </a:r>
            <a:endParaRPr sz="1300">
              <a:solidFill>
                <a:srgbClr val="66716B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aphicFrame>
        <p:nvGraphicFramePr>
          <p:cNvPr id="779" name="Google Shape;779;p50"/>
          <p:cNvGraphicFramePr/>
          <p:nvPr/>
        </p:nvGraphicFramePr>
        <p:xfrm>
          <a:off x="406400" y="19177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{61632F88-6779-4D04-9DE2-9CD45BEE2DD9}</a:tableStyleId>
              </a:tblPr>
              <a:tblGrid>
                <a:gridCol w="793750"/>
                <a:gridCol w="793750"/>
              </a:tblGrid>
              <a:tr h="4826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800">
                          <a:solidFill>
                            <a:srgbClr val="1D4036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x</a:t>
                      </a:r>
                      <a:endParaRPr b="1" sz="1800">
                        <a:solidFill>
                          <a:srgbClr val="1D4036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D6D0C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D6D0C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D6D0C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D6D0C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4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800">
                          <a:solidFill>
                            <a:srgbClr val="1D4036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y</a:t>
                      </a:r>
                      <a:endParaRPr b="1" sz="1800">
                        <a:solidFill>
                          <a:srgbClr val="1D4036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D6D0C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D6D0C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D6D0C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D6D0C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4D8"/>
                    </a:solidFill>
                  </a:tcPr>
                </a:tc>
              </a:tr>
              <a:tr h="4826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800">
                          <a:solidFill>
                            <a:srgbClr val="252C29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0</a:t>
                      </a:r>
                      <a:endParaRPr sz="1800">
                        <a:solidFill>
                          <a:srgbClr val="252C29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D6D0C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D6D0C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D6D0C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D6D0C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4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800">
                          <a:solidFill>
                            <a:srgbClr val="252C29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</a:t>
                      </a:r>
                      <a:endParaRPr sz="1800">
                        <a:solidFill>
                          <a:srgbClr val="252C29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D6D0C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D6D0C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D6D0C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D6D0C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4D8"/>
                    </a:solidFill>
                  </a:tcPr>
                </a:tc>
              </a:tr>
              <a:tr h="4826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800">
                          <a:solidFill>
                            <a:srgbClr val="252C29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</a:t>
                      </a:r>
                      <a:endParaRPr sz="1800">
                        <a:solidFill>
                          <a:srgbClr val="252C29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D6D0C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D6D0C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D6D0C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D6D0C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4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800">
                          <a:solidFill>
                            <a:srgbClr val="252C29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7</a:t>
                      </a:r>
                      <a:endParaRPr sz="1800">
                        <a:solidFill>
                          <a:srgbClr val="252C29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D6D0C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D6D0C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D6D0C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D6D0C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4D8"/>
                    </a:solidFill>
                  </a:tcPr>
                </a:tc>
              </a:tr>
              <a:tr h="4826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800">
                          <a:solidFill>
                            <a:srgbClr val="252C29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3</a:t>
                      </a:r>
                      <a:endParaRPr sz="1800">
                        <a:solidFill>
                          <a:srgbClr val="252C29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D6D0C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D6D0C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D6D0C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D6D0C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4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800">
                          <a:solidFill>
                            <a:srgbClr val="252C29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13</a:t>
                      </a:r>
                      <a:endParaRPr sz="1800">
                        <a:solidFill>
                          <a:srgbClr val="252C29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D6D0C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D6D0C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D6D0C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D6D0C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4D8"/>
                    </a:solidFill>
                  </a:tcPr>
                </a:tc>
              </a:tr>
            </a:tbl>
          </a:graphicData>
        </a:graphic>
      </p:graphicFrame>
      <p:sp>
        <p:nvSpPr>
          <p:cNvPr id="780" name="Google Shape;780;p50"/>
          <p:cNvSpPr txBox="1"/>
          <p:nvPr/>
        </p:nvSpPr>
        <p:spPr>
          <a:xfrm>
            <a:off x="2540000" y="1498600"/>
            <a:ext cx="2857500" cy="35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rgbClr val="3979BD"/>
                </a:solidFill>
                <a:latin typeface="Montserrat"/>
                <a:ea typeface="Montserrat"/>
                <a:cs typeface="Montserrat"/>
                <a:sym typeface="Montserrat"/>
              </a:rPr>
              <a:t>Primer orden</a:t>
            </a:r>
            <a:endParaRPr sz="1800">
              <a:solidFill>
                <a:srgbClr val="3979BD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81" name="Google Shape;781;p50"/>
          <p:cNvSpPr txBox="1"/>
          <p:nvPr/>
        </p:nvSpPr>
        <p:spPr>
          <a:xfrm>
            <a:off x="2679700" y="2032000"/>
            <a:ext cx="1397100" cy="40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2300">
                <a:solidFill>
                  <a:srgbClr val="3979BD"/>
                </a:solidFill>
                <a:latin typeface="Montserrat"/>
                <a:ea typeface="Montserrat"/>
                <a:cs typeface="Montserrat"/>
                <a:sym typeface="Montserrat"/>
              </a:rPr>
              <a:t>7 − 1</a:t>
            </a:r>
            <a:endParaRPr sz="2300">
              <a:solidFill>
                <a:srgbClr val="3979BD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782" name="Google Shape;782;p50"/>
          <p:cNvCxnSpPr/>
          <p:nvPr/>
        </p:nvCxnSpPr>
        <p:spPr>
          <a:xfrm>
            <a:off x="2743200" y="2451100"/>
            <a:ext cx="1269900" cy="0"/>
          </a:xfrm>
          <a:prstGeom prst="straightConnector1">
            <a:avLst/>
          </a:prstGeom>
          <a:noFill/>
          <a:ln cap="flat" cmpd="sng" w="12700">
            <a:solidFill>
              <a:srgbClr val="3979BD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83" name="Google Shape;783;p50"/>
          <p:cNvSpPr txBox="1"/>
          <p:nvPr/>
        </p:nvSpPr>
        <p:spPr>
          <a:xfrm>
            <a:off x="2679700" y="2476500"/>
            <a:ext cx="13971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2300">
                <a:solidFill>
                  <a:srgbClr val="3979BD"/>
                </a:solidFill>
                <a:latin typeface="Montserrat"/>
                <a:ea typeface="Montserrat"/>
                <a:cs typeface="Montserrat"/>
                <a:sym typeface="Montserrat"/>
              </a:rPr>
              <a:t>2 − 0</a:t>
            </a:r>
            <a:endParaRPr sz="2300">
              <a:solidFill>
                <a:srgbClr val="3979BD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84" name="Google Shape;784;p50"/>
          <p:cNvSpPr txBox="1"/>
          <p:nvPr/>
        </p:nvSpPr>
        <p:spPr>
          <a:xfrm>
            <a:off x="4165600" y="2247900"/>
            <a:ext cx="8889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2700">
                <a:solidFill>
                  <a:srgbClr val="3979BD"/>
                </a:solidFill>
                <a:latin typeface="Montserrat"/>
                <a:ea typeface="Montserrat"/>
                <a:cs typeface="Montserrat"/>
                <a:sym typeface="Montserrat"/>
              </a:rPr>
              <a:t>= 3</a:t>
            </a:r>
            <a:endParaRPr sz="2700">
              <a:solidFill>
                <a:srgbClr val="3979BD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85" name="Google Shape;785;p50"/>
          <p:cNvSpPr txBox="1"/>
          <p:nvPr/>
        </p:nvSpPr>
        <p:spPr>
          <a:xfrm>
            <a:off x="2679700" y="3136900"/>
            <a:ext cx="1397100" cy="40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2300">
                <a:solidFill>
                  <a:srgbClr val="3979BD"/>
                </a:solidFill>
                <a:latin typeface="Montserrat"/>
                <a:ea typeface="Montserrat"/>
                <a:cs typeface="Montserrat"/>
                <a:sym typeface="Montserrat"/>
              </a:rPr>
              <a:t>13 − 7</a:t>
            </a:r>
            <a:endParaRPr sz="2300">
              <a:solidFill>
                <a:srgbClr val="3979BD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786" name="Google Shape;786;p50"/>
          <p:cNvCxnSpPr/>
          <p:nvPr/>
        </p:nvCxnSpPr>
        <p:spPr>
          <a:xfrm>
            <a:off x="2743200" y="3556000"/>
            <a:ext cx="1269900" cy="0"/>
          </a:xfrm>
          <a:prstGeom prst="straightConnector1">
            <a:avLst/>
          </a:prstGeom>
          <a:noFill/>
          <a:ln cap="flat" cmpd="sng" w="12700">
            <a:solidFill>
              <a:srgbClr val="3979BD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87" name="Google Shape;787;p50"/>
          <p:cNvSpPr txBox="1"/>
          <p:nvPr/>
        </p:nvSpPr>
        <p:spPr>
          <a:xfrm>
            <a:off x="2679700" y="3581400"/>
            <a:ext cx="13971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2300">
                <a:solidFill>
                  <a:srgbClr val="3979BD"/>
                </a:solidFill>
                <a:latin typeface="Montserrat"/>
                <a:ea typeface="Montserrat"/>
                <a:cs typeface="Montserrat"/>
                <a:sym typeface="Montserrat"/>
              </a:rPr>
              <a:t>3 − 2</a:t>
            </a:r>
            <a:endParaRPr sz="2300">
              <a:solidFill>
                <a:srgbClr val="3979BD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88" name="Google Shape;788;p50"/>
          <p:cNvSpPr txBox="1"/>
          <p:nvPr/>
        </p:nvSpPr>
        <p:spPr>
          <a:xfrm>
            <a:off x="4165600" y="3352800"/>
            <a:ext cx="8889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2700">
                <a:solidFill>
                  <a:srgbClr val="3979BD"/>
                </a:solidFill>
                <a:latin typeface="Montserrat"/>
                <a:ea typeface="Montserrat"/>
                <a:cs typeface="Montserrat"/>
                <a:sym typeface="Montserrat"/>
              </a:rPr>
              <a:t>= 6</a:t>
            </a:r>
            <a:endParaRPr sz="2700">
              <a:solidFill>
                <a:srgbClr val="3979BD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789" name="Google Shape;789;p50"/>
          <p:cNvCxnSpPr/>
          <p:nvPr/>
        </p:nvCxnSpPr>
        <p:spPr>
          <a:xfrm flipH="1" rot="10800000">
            <a:off x="1993900" y="2425700"/>
            <a:ext cx="558900" cy="38100"/>
          </a:xfrm>
          <a:prstGeom prst="straightConnector1">
            <a:avLst/>
          </a:prstGeom>
          <a:noFill/>
          <a:ln cap="flat" cmpd="sng" w="12700">
            <a:solidFill>
              <a:srgbClr val="66716B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90" name="Google Shape;790;p50"/>
          <p:cNvCxnSpPr/>
          <p:nvPr/>
        </p:nvCxnSpPr>
        <p:spPr>
          <a:xfrm>
            <a:off x="1993900" y="3416300"/>
            <a:ext cx="558900" cy="114300"/>
          </a:xfrm>
          <a:prstGeom prst="straightConnector1">
            <a:avLst/>
          </a:prstGeom>
          <a:noFill/>
          <a:ln cap="flat" cmpd="sng" w="12700">
            <a:solidFill>
              <a:srgbClr val="66716B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791" name="Google Shape;791;p50"/>
          <p:cNvSpPr txBox="1"/>
          <p:nvPr/>
        </p:nvSpPr>
        <p:spPr>
          <a:xfrm>
            <a:off x="5803900" y="1498600"/>
            <a:ext cx="2921100" cy="35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rgbClr val="BF6B1B"/>
                </a:solidFill>
                <a:latin typeface="Montserrat"/>
                <a:ea typeface="Montserrat"/>
                <a:cs typeface="Montserrat"/>
                <a:sym typeface="Montserrat"/>
              </a:rPr>
              <a:t>Segundo orden</a:t>
            </a:r>
            <a:endParaRPr sz="1800">
              <a:solidFill>
                <a:srgbClr val="BF6B1B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92" name="Google Shape;792;p50"/>
          <p:cNvSpPr txBox="1"/>
          <p:nvPr/>
        </p:nvSpPr>
        <p:spPr>
          <a:xfrm>
            <a:off x="6070600" y="2527300"/>
            <a:ext cx="1397100" cy="43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2500">
                <a:solidFill>
                  <a:srgbClr val="BF6B1B"/>
                </a:solidFill>
                <a:latin typeface="Montserrat"/>
                <a:ea typeface="Montserrat"/>
                <a:cs typeface="Montserrat"/>
                <a:sym typeface="Montserrat"/>
              </a:rPr>
              <a:t>6 − 3</a:t>
            </a:r>
            <a:endParaRPr sz="2500">
              <a:solidFill>
                <a:srgbClr val="BF6B1B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793" name="Google Shape;793;p50"/>
          <p:cNvCxnSpPr/>
          <p:nvPr/>
        </p:nvCxnSpPr>
        <p:spPr>
          <a:xfrm>
            <a:off x="6134100" y="2971800"/>
            <a:ext cx="1269900" cy="0"/>
          </a:xfrm>
          <a:prstGeom prst="straightConnector1">
            <a:avLst/>
          </a:prstGeom>
          <a:noFill/>
          <a:ln cap="flat" cmpd="sng" w="12700">
            <a:solidFill>
              <a:srgbClr val="BF6B1B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94" name="Google Shape;794;p50"/>
          <p:cNvSpPr txBox="1"/>
          <p:nvPr/>
        </p:nvSpPr>
        <p:spPr>
          <a:xfrm>
            <a:off x="6070600" y="2997200"/>
            <a:ext cx="13971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2500">
                <a:solidFill>
                  <a:srgbClr val="BF6B1B"/>
                </a:solidFill>
                <a:latin typeface="Montserrat"/>
                <a:ea typeface="Montserrat"/>
                <a:cs typeface="Montserrat"/>
                <a:sym typeface="Montserrat"/>
              </a:rPr>
              <a:t>3 − 0</a:t>
            </a:r>
            <a:endParaRPr sz="2500">
              <a:solidFill>
                <a:srgbClr val="BF6B1B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95" name="Google Shape;795;p50"/>
          <p:cNvSpPr txBox="1"/>
          <p:nvPr/>
        </p:nvSpPr>
        <p:spPr>
          <a:xfrm>
            <a:off x="7581900" y="2755900"/>
            <a:ext cx="9270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2900">
                <a:solidFill>
                  <a:srgbClr val="BF6B1B"/>
                </a:solidFill>
                <a:latin typeface="Montserrat"/>
                <a:ea typeface="Montserrat"/>
                <a:cs typeface="Montserrat"/>
                <a:sym typeface="Montserrat"/>
              </a:rPr>
              <a:t>= 1</a:t>
            </a:r>
            <a:endParaRPr sz="2900">
              <a:solidFill>
                <a:srgbClr val="BF6B1B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796" name="Google Shape;796;p50"/>
          <p:cNvCxnSpPr/>
          <p:nvPr/>
        </p:nvCxnSpPr>
        <p:spPr>
          <a:xfrm>
            <a:off x="5118100" y="2501900"/>
            <a:ext cx="800100" cy="317400"/>
          </a:xfrm>
          <a:prstGeom prst="straightConnector1">
            <a:avLst/>
          </a:prstGeom>
          <a:noFill/>
          <a:ln cap="flat" cmpd="sng" w="12700">
            <a:solidFill>
              <a:srgbClr val="66716B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97" name="Google Shape;797;p50"/>
          <p:cNvCxnSpPr/>
          <p:nvPr/>
        </p:nvCxnSpPr>
        <p:spPr>
          <a:xfrm flipH="1" rot="10800000">
            <a:off x="5118100" y="3149700"/>
            <a:ext cx="800100" cy="469800"/>
          </a:xfrm>
          <a:prstGeom prst="straightConnector1">
            <a:avLst/>
          </a:prstGeom>
          <a:noFill/>
          <a:ln cap="flat" cmpd="sng" w="12700">
            <a:solidFill>
              <a:srgbClr val="66716B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798" name="Google Shape;798;p50"/>
          <p:cNvSpPr txBox="1"/>
          <p:nvPr/>
        </p:nvSpPr>
        <p:spPr>
          <a:xfrm>
            <a:off x="288950" y="3987650"/>
            <a:ext cx="8957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https://onlinegdb.com/Ihjxxv97_</a:t>
            </a:r>
            <a:endParaRPr sz="18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2" name="Shape 8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3" name="Google Shape;803;p51"/>
          <p:cNvSpPr txBox="1"/>
          <p:nvPr>
            <p:ph type="title"/>
          </p:nvPr>
        </p:nvSpPr>
        <p:spPr>
          <a:xfrm>
            <a:off x="317500" y="393700"/>
            <a:ext cx="8508900" cy="4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2400">
                <a:solidFill>
                  <a:srgbClr val="252C29"/>
                </a:solidFill>
                <a:latin typeface="Montserrat"/>
                <a:ea typeface="Montserrat"/>
                <a:cs typeface="Montserrat"/>
                <a:sym typeface="Montserrat"/>
              </a:rPr>
              <a:t>Newton incorpora un término por dato</a:t>
            </a:r>
            <a:endParaRPr sz="2400">
              <a:solidFill>
                <a:srgbClr val="252C29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04" name="Google Shape;804;p51"/>
          <p:cNvSpPr txBox="1"/>
          <p:nvPr>
            <p:ph idx="1" type="body"/>
          </p:nvPr>
        </p:nvSpPr>
        <p:spPr>
          <a:xfrm>
            <a:off x="381000" y="1041400"/>
            <a:ext cx="8382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600">
                <a:solidFill>
                  <a:srgbClr val="66716B"/>
                </a:solidFill>
              </a:rPr>
              <a:t>Los índices numeran los datos: x</a:t>
            </a:r>
            <a:r>
              <a:rPr baseline="-25000" lang="es" sz="1600">
                <a:solidFill>
                  <a:srgbClr val="66716B"/>
                </a:solidFill>
              </a:rPr>
              <a:t>0</a:t>
            </a:r>
            <a:r>
              <a:rPr lang="es" sz="1600">
                <a:solidFill>
                  <a:srgbClr val="66716B"/>
                </a:solidFill>
              </a:rPr>
              <a:t> = 0, x</a:t>
            </a:r>
            <a:r>
              <a:rPr baseline="-25000" lang="es" sz="1600">
                <a:solidFill>
                  <a:srgbClr val="66716B"/>
                </a:solidFill>
              </a:rPr>
              <a:t>1</a:t>
            </a:r>
            <a:r>
              <a:rPr lang="es" sz="1600">
                <a:solidFill>
                  <a:srgbClr val="66716B"/>
                </a:solidFill>
              </a:rPr>
              <a:t> = 2 y x</a:t>
            </a:r>
            <a:r>
              <a:rPr baseline="-25000" lang="es" sz="1600">
                <a:solidFill>
                  <a:srgbClr val="66716B"/>
                </a:solidFill>
              </a:rPr>
              <a:t>2</a:t>
            </a:r>
            <a:r>
              <a:rPr lang="es" sz="1600">
                <a:solidFill>
                  <a:srgbClr val="66716B"/>
                </a:solidFill>
              </a:rPr>
              <a:t> = 3.</a:t>
            </a:r>
            <a:endParaRPr sz="1600">
              <a:solidFill>
                <a:srgbClr val="66716B"/>
              </a:solidFill>
            </a:endParaRPr>
          </a:p>
        </p:txBody>
      </p:sp>
      <p:sp>
        <p:nvSpPr>
          <p:cNvPr id="805" name="Google Shape;805;p51"/>
          <p:cNvSpPr txBox="1"/>
          <p:nvPr>
            <p:ph idx="12" type="sldNum"/>
          </p:nvPr>
        </p:nvSpPr>
        <p:spPr>
          <a:xfrm>
            <a:off x="8520083" y="4734654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sp>
        <p:nvSpPr>
          <p:cNvPr id="806" name="Google Shape;806;p51"/>
          <p:cNvSpPr/>
          <p:nvPr/>
        </p:nvSpPr>
        <p:spPr>
          <a:xfrm>
            <a:off x="381000" y="4495800"/>
            <a:ext cx="8255100" cy="29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solidFill>
                  <a:srgbClr val="66716B"/>
                </a:solidFill>
                <a:latin typeface="Montserrat"/>
                <a:ea typeface="Montserrat"/>
                <a:cs typeface="Montserrat"/>
                <a:sym typeface="Montserrat"/>
              </a:rPr>
              <a:t>El producto se anula en 0, 2 y 3. Terminamos al incorporar los datos elegidos y evaluar P.</a:t>
            </a:r>
            <a:endParaRPr sz="1100">
              <a:solidFill>
                <a:srgbClr val="66716B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07" name="Google Shape;807;p51"/>
          <p:cNvSpPr txBox="1"/>
          <p:nvPr/>
        </p:nvSpPr>
        <p:spPr>
          <a:xfrm>
            <a:off x="419100" y="1600200"/>
            <a:ext cx="83439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2300">
                <a:solidFill>
                  <a:srgbClr val="1D4036"/>
                </a:solidFill>
                <a:latin typeface="Montserrat"/>
                <a:ea typeface="Montserrat"/>
                <a:cs typeface="Montserrat"/>
                <a:sym typeface="Montserrat"/>
              </a:rPr>
              <a:t>P</a:t>
            </a:r>
            <a:r>
              <a:rPr baseline="-25000" lang="es" sz="2300">
                <a:solidFill>
                  <a:srgbClr val="1D4036"/>
                </a:solidFill>
                <a:latin typeface="Montserrat"/>
                <a:ea typeface="Montserrat"/>
                <a:cs typeface="Montserrat"/>
                <a:sym typeface="Montserrat"/>
              </a:rPr>
              <a:t>2</a:t>
            </a:r>
            <a:r>
              <a:rPr lang="es" sz="2300">
                <a:solidFill>
                  <a:srgbClr val="1D4036"/>
                </a:solidFill>
                <a:latin typeface="Montserrat"/>
                <a:ea typeface="Montserrat"/>
                <a:cs typeface="Montserrat"/>
                <a:sym typeface="Montserrat"/>
              </a:rPr>
              <a:t>(x) = b</a:t>
            </a:r>
            <a:r>
              <a:rPr baseline="-25000" lang="es" sz="2300">
                <a:solidFill>
                  <a:srgbClr val="1D4036"/>
                </a:solidFill>
                <a:latin typeface="Montserrat"/>
                <a:ea typeface="Montserrat"/>
                <a:cs typeface="Montserrat"/>
                <a:sym typeface="Montserrat"/>
              </a:rPr>
              <a:t>0</a:t>
            </a:r>
            <a:r>
              <a:rPr lang="es" sz="2300">
                <a:solidFill>
                  <a:srgbClr val="1D4036"/>
                </a:solidFill>
                <a:latin typeface="Montserrat"/>
                <a:ea typeface="Montserrat"/>
                <a:cs typeface="Montserrat"/>
                <a:sym typeface="Montserrat"/>
              </a:rPr>
              <a:t> + b</a:t>
            </a:r>
            <a:r>
              <a:rPr baseline="-25000" lang="es" sz="2300">
                <a:solidFill>
                  <a:srgbClr val="1D4036"/>
                </a:solidFill>
                <a:latin typeface="Montserrat"/>
                <a:ea typeface="Montserrat"/>
                <a:cs typeface="Montserrat"/>
                <a:sym typeface="Montserrat"/>
              </a:rPr>
              <a:t>1</a:t>
            </a:r>
            <a:r>
              <a:rPr lang="es" sz="2300">
                <a:solidFill>
                  <a:srgbClr val="1D4036"/>
                </a:solidFill>
                <a:latin typeface="Montserrat"/>
                <a:ea typeface="Montserrat"/>
                <a:cs typeface="Montserrat"/>
                <a:sym typeface="Montserrat"/>
              </a:rPr>
              <a:t>(x − x</a:t>
            </a:r>
            <a:r>
              <a:rPr baseline="-25000" lang="es" sz="2300">
                <a:solidFill>
                  <a:srgbClr val="1D4036"/>
                </a:solidFill>
                <a:latin typeface="Montserrat"/>
                <a:ea typeface="Montserrat"/>
                <a:cs typeface="Montserrat"/>
                <a:sym typeface="Montserrat"/>
              </a:rPr>
              <a:t>0</a:t>
            </a:r>
            <a:r>
              <a:rPr lang="es" sz="2300">
                <a:solidFill>
                  <a:srgbClr val="1D4036"/>
                </a:solidFill>
                <a:latin typeface="Montserrat"/>
                <a:ea typeface="Montserrat"/>
                <a:cs typeface="Montserrat"/>
                <a:sym typeface="Montserrat"/>
              </a:rPr>
              <a:t>) + b</a:t>
            </a:r>
            <a:r>
              <a:rPr baseline="-25000" lang="es" sz="2300">
                <a:solidFill>
                  <a:srgbClr val="1D4036"/>
                </a:solidFill>
                <a:latin typeface="Montserrat"/>
                <a:ea typeface="Montserrat"/>
                <a:cs typeface="Montserrat"/>
                <a:sym typeface="Montserrat"/>
              </a:rPr>
              <a:t>2</a:t>
            </a:r>
            <a:r>
              <a:rPr lang="es" sz="2300">
                <a:solidFill>
                  <a:srgbClr val="1D4036"/>
                </a:solidFill>
                <a:latin typeface="Montserrat"/>
                <a:ea typeface="Montserrat"/>
                <a:cs typeface="Montserrat"/>
                <a:sym typeface="Montserrat"/>
              </a:rPr>
              <a:t>(x − x</a:t>
            </a:r>
            <a:r>
              <a:rPr baseline="-25000" lang="es" sz="2300">
                <a:solidFill>
                  <a:srgbClr val="1D4036"/>
                </a:solidFill>
                <a:latin typeface="Montserrat"/>
                <a:ea typeface="Montserrat"/>
                <a:cs typeface="Montserrat"/>
                <a:sym typeface="Montserrat"/>
              </a:rPr>
              <a:t>0</a:t>
            </a:r>
            <a:r>
              <a:rPr lang="es" sz="2300">
                <a:solidFill>
                  <a:srgbClr val="1D4036"/>
                </a:solidFill>
                <a:latin typeface="Montserrat"/>
                <a:ea typeface="Montserrat"/>
                <a:cs typeface="Montserrat"/>
                <a:sym typeface="Montserrat"/>
              </a:rPr>
              <a:t>)(x − x</a:t>
            </a:r>
            <a:r>
              <a:rPr baseline="-25000" lang="es" sz="2300">
                <a:solidFill>
                  <a:srgbClr val="1D4036"/>
                </a:solidFill>
                <a:latin typeface="Montserrat"/>
                <a:ea typeface="Montserrat"/>
                <a:cs typeface="Montserrat"/>
                <a:sym typeface="Montserrat"/>
              </a:rPr>
              <a:t>1</a:t>
            </a:r>
            <a:r>
              <a:rPr lang="es" sz="2300">
                <a:solidFill>
                  <a:srgbClr val="1D4036"/>
                </a:solidFill>
                <a:latin typeface="Montserrat"/>
                <a:ea typeface="Montserrat"/>
                <a:cs typeface="Montserrat"/>
                <a:sym typeface="Montserrat"/>
              </a:rPr>
              <a:t>)</a:t>
            </a:r>
            <a:endParaRPr sz="2300">
              <a:solidFill>
                <a:srgbClr val="1D403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08" name="Google Shape;808;p51"/>
          <p:cNvSpPr txBox="1"/>
          <p:nvPr/>
        </p:nvSpPr>
        <p:spPr>
          <a:xfrm>
            <a:off x="736600" y="2336800"/>
            <a:ext cx="21591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2300">
                <a:solidFill>
                  <a:srgbClr val="BF6B1B"/>
                </a:solidFill>
                <a:latin typeface="Montserrat"/>
                <a:ea typeface="Montserrat"/>
                <a:cs typeface="Montserrat"/>
                <a:sym typeface="Montserrat"/>
              </a:rPr>
              <a:t>b</a:t>
            </a:r>
            <a:r>
              <a:rPr baseline="-25000" lang="es" sz="2300">
                <a:solidFill>
                  <a:srgbClr val="BF6B1B"/>
                </a:solidFill>
                <a:latin typeface="Montserrat"/>
                <a:ea typeface="Montserrat"/>
                <a:cs typeface="Montserrat"/>
                <a:sym typeface="Montserrat"/>
              </a:rPr>
              <a:t>0</a:t>
            </a:r>
            <a:r>
              <a:rPr lang="es" sz="2300">
                <a:solidFill>
                  <a:srgbClr val="BF6B1B"/>
                </a:solidFill>
                <a:latin typeface="Montserrat"/>
                <a:ea typeface="Montserrat"/>
                <a:cs typeface="Montserrat"/>
                <a:sym typeface="Montserrat"/>
              </a:rPr>
              <a:t> = 1</a:t>
            </a:r>
            <a:endParaRPr sz="2300">
              <a:solidFill>
                <a:srgbClr val="BF6B1B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09" name="Google Shape;809;p51"/>
          <p:cNvSpPr txBox="1"/>
          <p:nvPr/>
        </p:nvSpPr>
        <p:spPr>
          <a:xfrm>
            <a:off x="3454400" y="2336800"/>
            <a:ext cx="21591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2300">
                <a:solidFill>
                  <a:srgbClr val="BF6B1B"/>
                </a:solidFill>
                <a:latin typeface="Montserrat"/>
                <a:ea typeface="Montserrat"/>
                <a:cs typeface="Montserrat"/>
                <a:sym typeface="Montserrat"/>
              </a:rPr>
              <a:t>b</a:t>
            </a:r>
            <a:r>
              <a:rPr baseline="-25000" lang="es" sz="2300">
                <a:solidFill>
                  <a:srgbClr val="BF6B1B"/>
                </a:solidFill>
                <a:latin typeface="Montserrat"/>
                <a:ea typeface="Montserrat"/>
                <a:cs typeface="Montserrat"/>
                <a:sym typeface="Montserrat"/>
              </a:rPr>
              <a:t>1</a:t>
            </a:r>
            <a:r>
              <a:rPr lang="es" sz="2300">
                <a:solidFill>
                  <a:srgbClr val="BF6B1B"/>
                </a:solidFill>
                <a:latin typeface="Montserrat"/>
                <a:ea typeface="Montserrat"/>
                <a:cs typeface="Montserrat"/>
                <a:sym typeface="Montserrat"/>
              </a:rPr>
              <a:t> = 3</a:t>
            </a:r>
            <a:endParaRPr sz="2300">
              <a:solidFill>
                <a:srgbClr val="BF6B1B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10" name="Google Shape;810;p51"/>
          <p:cNvSpPr txBox="1"/>
          <p:nvPr/>
        </p:nvSpPr>
        <p:spPr>
          <a:xfrm>
            <a:off x="6223000" y="2336800"/>
            <a:ext cx="21591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2300">
                <a:solidFill>
                  <a:srgbClr val="BF6B1B"/>
                </a:solidFill>
                <a:latin typeface="Montserrat"/>
                <a:ea typeface="Montserrat"/>
                <a:cs typeface="Montserrat"/>
                <a:sym typeface="Montserrat"/>
              </a:rPr>
              <a:t>b</a:t>
            </a:r>
            <a:r>
              <a:rPr baseline="-25000" lang="es" sz="2300">
                <a:solidFill>
                  <a:srgbClr val="BF6B1B"/>
                </a:solidFill>
                <a:latin typeface="Montserrat"/>
                <a:ea typeface="Montserrat"/>
                <a:cs typeface="Montserrat"/>
                <a:sym typeface="Montserrat"/>
              </a:rPr>
              <a:t>2</a:t>
            </a:r>
            <a:r>
              <a:rPr lang="es" sz="2300">
                <a:solidFill>
                  <a:srgbClr val="BF6B1B"/>
                </a:solidFill>
                <a:latin typeface="Montserrat"/>
                <a:ea typeface="Montserrat"/>
                <a:cs typeface="Montserrat"/>
                <a:sym typeface="Montserrat"/>
              </a:rPr>
              <a:t> = 1</a:t>
            </a:r>
            <a:endParaRPr sz="2300">
              <a:solidFill>
                <a:srgbClr val="BF6B1B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11" name="Google Shape;811;p51"/>
          <p:cNvSpPr txBox="1"/>
          <p:nvPr/>
        </p:nvSpPr>
        <p:spPr>
          <a:xfrm>
            <a:off x="1117600" y="2895600"/>
            <a:ext cx="7239000" cy="46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2400">
                <a:solidFill>
                  <a:srgbClr val="1D4036"/>
                </a:solidFill>
                <a:latin typeface="Montserrat"/>
                <a:ea typeface="Montserrat"/>
                <a:cs typeface="Montserrat"/>
                <a:sym typeface="Montserrat"/>
              </a:rPr>
              <a:t>P</a:t>
            </a:r>
            <a:r>
              <a:rPr baseline="-25000" lang="es" sz="2400">
                <a:solidFill>
                  <a:srgbClr val="1D4036"/>
                </a:solidFill>
                <a:latin typeface="Montserrat"/>
                <a:ea typeface="Montserrat"/>
                <a:cs typeface="Montserrat"/>
                <a:sym typeface="Montserrat"/>
              </a:rPr>
              <a:t>2</a:t>
            </a:r>
            <a:r>
              <a:rPr lang="es" sz="2400">
                <a:solidFill>
                  <a:srgbClr val="1D4036"/>
                </a:solidFill>
                <a:latin typeface="Montserrat"/>
                <a:ea typeface="Montserrat"/>
                <a:cs typeface="Montserrat"/>
                <a:sym typeface="Montserrat"/>
              </a:rPr>
              <a:t>(x) = 1 + 3x + x(x − 2)</a:t>
            </a:r>
            <a:endParaRPr sz="2400">
              <a:solidFill>
                <a:srgbClr val="1D403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12" name="Google Shape;812;p51"/>
          <p:cNvSpPr txBox="1"/>
          <p:nvPr/>
        </p:nvSpPr>
        <p:spPr>
          <a:xfrm>
            <a:off x="419100" y="3517900"/>
            <a:ext cx="8255100" cy="33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600">
                <a:solidFill>
                  <a:srgbClr val="66716B"/>
                </a:solidFill>
                <a:latin typeface="Montserrat"/>
                <a:ea typeface="Montserrat"/>
                <a:cs typeface="Montserrat"/>
                <a:sym typeface="Montserrat"/>
              </a:rPr>
              <a:t>Un cuarto dato con otra entrada agrega un término:</a:t>
            </a:r>
            <a:endParaRPr sz="1600">
              <a:solidFill>
                <a:srgbClr val="66716B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13" name="Google Shape;813;p51"/>
          <p:cNvSpPr txBox="1"/>
          <p:nvPr/>
        </p:nvSpPr>
        <p:spPr>
          <a:xfrm>
            <a:off x="508000" y="3962400"/>
            <a:ext cx="8255100" cy="4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2400">
                <a:solidFill>
                  <a:srgbClr val="1D4036"/>
                </a:solidFill>
                <a:latin typeface="Montserrat"/>
                <a:ea typeface="Montserrat"/>
                <a:cs typeface="Montserrat"/>
                <a:sym typeface="Montserrat"/>
              </a:rPr>
              <a:t>P</a:t>
            </a:r>
            <a:r>
              <a:rPr baseline="-25000" lang="es" sz="2400">
                <a:solidFill>
                  <a:srgbClr val="1D4036"/>
                </a:solidFill>
                <a:latin typeface="Montserrat"/>
                <a:ea typeface="Montserrat"/>
                <a:cs typeface="Montserrat"/>
                <a:sym typeface="Montserrat"/>
              </a:rPr>
              <a:t>3</a:t>
            </a:r>
            <a:r>
              <a:rPr lang="es" sz="2400">
                <a:solidFill>
                  <a:srgbClr val="1D4036"/>
                </a:solidFill>
                <a:latin typeface="Montserrat"/>
                <a:ea typeface="Montserrat"/>
                <a:cs typeface="Montserrat"/>
                <a:sym typeface="Montserrat"/>
              </a:rPr>
              <a:t>(x) = P</a:t>
            </a:r>
            <a:r>
              <a:rPr baseline="-25000" lang="es" sz="2400">
                <a:solidFill>
                  <a:srgbClr val="1D4036"/>
                </a:solidFill>
                <a:latin typeface="Montserrat"/>
                <a:ea typeface="Montserrat"/>
                <a:cs typeface="Montserrat"/>
                <a:sym typeface="Montserrat"/>
              </a:rPr>
              <a:t>2</a:t>
            </a:r>
            <a:r>
              <a:rPr lang="es" sz="2400">
                <a:solidFill>
                  <a:srgbClr val="1D4036"/>
                </a:solidFill>
                <a:latin typeface="Montserrat"/>
                <a:ea typeface="Montserrat"/>
                <a:cs typeface="Montserrat"/>
                <a:sym typeface="Montserrat"/>
              </a:rPr>
              <a:t>(x) + b</a:t>
            </a:r>
            <a:r>
              <a:rPr baseline="-25000" lang="es" sz="2400">
                <a:solidFill>
                  <a:srgbClr val="1D4036"/>
                </a:solidFill>
                <a:latin typeface="Montserrat"/>
                <a:ea typeface="Montserrat"/>
                <a:cs typeface="Montserrat"/>
                <a:sym typeface="Montserrat"/>
              </a:rPr>
              <a:t>3</a:t>
            </a:r>
            <a:r>
              <a:rPr lang="es" sz="2400">
                <a:solidFill>
                  <a:srgbClr val="1D4036"/>
                </a:solidFill>
                <a:latin typeface="Montserrat"/>
                <a:ea typeface="Montserrat"/>
                <a:cs typeface="Montserrat"/>
                <a:sym typeface="Montserrat"/>
              </a:rPr>
              <a:t> x(x − 2)(x − 3)</a:t>
            </a:r>
            <a:endParaRPr sz="2400">
              <a:solidFill>
                <a:srgbClr val="1D403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7" name="Shape 8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8" name="Google Shape;818;p52"/>
          <p:cNvSpPr txBox="1"/>
          <p:nvPr>
            <p:ph type="title"/>
          </p:nvPr>
        </p:nvSpPr>
        <p:spPr>
          <a:xfrm>
            <a:off x="317500" y="393700"/>
            <a:ext cx="8508900" cy="4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2400">
                <a:solidFill>
                  <a:srgbClr val="252C29"/>
                </a:solidFill>
                <a:latin typeface="Montserrat"/>
                <a:ea typeface="Montserrat"/>
                <a:cs typeface="Montserrat"/>
                <a:sym typeface="Montserrat"/>
              </a:rPr>
              <a:t>Lagrange: un factor para cada dato</a:t>
            </a:r>
            <a:endParaRPr sz="2400">
              <a:solidFill>
                <a:srgbClr val="252C29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19" name="Google Shape;819;p52"/>
          <p:cNvSpPr txBox="1"/>
          <p:nvPr>
            <p:ph idx="1" type="body"/>
          </p:nvPr>
        </p:nvSpPr>
        <p:spPr>
          <a:xfrm>
            <a:off x="381000" y="1041400"/>
            <a:ext cx="8382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600">
                <a:solidFill>
                  <a:srgbClr val="66716B"/>
                </a:solidFill>
              </a:rPr>
              <a:t>Volvemos a (0, 1) y (2, 7). Cada base vale 1 en su punto y 0 en el otro.</a:t>
            </a:r>
            <a:endParaRPr sz="1600">
              <a:solidFill>
                <a:srgbClr val="66716B"/>
              </a:solidFill>
            </a:endParaRPr>
          </a:p>
        </p:txBody>
      </p:sp>
      <p:sp>
        <p:nvSpPr>
          <p:cNvPr id="820" name="Google Shape;820;p52"/>
          <p:cNvSpPr txBox="1"/>
          <p:nvPr>
            <p:ph idx="12" type="sldNum"/>
          </p:nvPr>
        </p:nvSpPr>
        <p:spPr>
          <a:xfrm>
            <a:off x="8520083" y="4734654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sp>
        <p:nvSpPr>
          <p:cNvPr id="821" name="Google Shape;821;p52"/>
          <p:cNvSpPr/>
          <p:nvPr/>
        </p:nvSpPr>
        <p:spPr>
          <a:xfrm>
            <a:off x="381000" y="4533900"/>
            <a:ext cx="8255100" cy="29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rgbClr val="66716B"/>
                </a:solidFill>
                <a:latin typeface="Montserrat"/>
                <a:ea typeface="Montserrat"/>
                <a:cs typeface="Montserrat"/>
                <a:sym typeface="Montserrat"/>
              </a:rPr>
              <a:t>El numerador produce el cero. El denominador ajusta el valor a uno.</a:t>
            </a:r>
            <a:endParaRPr sz="1200">
              <a:solidFill>
                <a:srgbClr val="66716B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822" name="Google Shape;822;p52"/>
          <p:cNvCxnSpPr/>
          <p:nvPr/>
        </p:nvCxnSpPr>
        <p:spPr>
          <a:xfrm>
            <a:off x="975691" y="2070100"/>
            <a:ext cx="0" cy="2019300"/>
          </a:xfrm>
          <a:prstGeom prst="straightConnector1">
            <a:avLst/>
          </a:prstGeom>
          <a:noFill/>
          <a:ln cap="flat" cmpd="sng" w="6350">
            <a:solidFill>
              <a:srgbClr val="D6D0C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23" name="Google Shape;823;p52"/>
          <p:cNvSpPr txBox="1"/>
          <p:nvPr/>
        </p:nvSpPr>
        <p:spPr>
          <a:xfrm>
            <a:off x="797891" y="4127500"/>
            <a:ext cx="355500" cy="24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solidFill>
                  <a:srgbClr val="66716B"/>
                </a:solidFill>
                <a:latin typeface="Montserrat"/>
                <a:ea typeface="Montserrat"/>
                <a:cs typeface="Montserrat"/>
                <a:sym typeface="Montserrat"/>
              </a:rPr>
              <a:t>0</a:t>
            </a:r>
            <a:endParaRPr sz="1100">
              <a:solidFill>
                <a:srgbClr val="66716B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824" name="Google Shape;824;p52"/>
          <p:cNvCxnSpPr/>
          <p:nvPr/>
        </p:nvCxnSpPr>
        <p:spPr>
          <a:xfrm>
            <a:off x="2604604" y="2070100"/>
            <a:ext cx="0" cy="2019300"/>
          </a:xfrm>
          <a:prstGeom prst="straightConnector1">
            <a:avLst/>
          </a:prstGeom>
          <a:noFill/>
          <a:ln cap="flat" cmpd="sng" w="6350">
            <a:solidFill>
              <a:srgbClr val="D6D0C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25" name="Google Shape;825;p52"/>
          <p:cNvSpPr txBox="1"/>
          <p:nvPr/>
        </p:nvSpPr>
        <p:spPr>
          <a:xfrm>
            <a:off x="2426804" y="4127500"/>
            <a:ext cx="355500" cy="24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solidFill>
                  <a:srgbClr val="66716B"/>
                </a:solidFill>
                <a:latin typeface="Montserrat"/>
                <a:ea typeface="Montserrat"/>
                <a:cs typeface="Montserrat"/>
                <a:sym typeface="Montserrat"/>
              </a:rPr>
              <a:t>1</a:t>
            </a:r>
            <a:endParaRPr sz="1100">
              <a:solidFill>
                <a:srgbClr val="66716B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826" name="Google Shape;826;p52"/>
          <p:cNvCxnSpPr/>
          <p:nvPr/>
        </p:nvCxnSpPr>
        <p:spPr>
          <a:xfrm>
            <a:off x="4233517" y="2070100"/>
            <a:ext cx="0" cy="2019300"/>
          </a:xfrm>
          <a:prstGeom prst="straightConnector1">
            <a:avLst/>
          </a:prstGeom>
          <a:noFill/>
          <a:ln cap="flat" cmpd="sng" w="6350">
            <a:solidFill>
              <a:srgbClr val="D6D0C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27" name="Google Shape;827;p52"/>
          <p:cNvSpPr txBox="1"/>
          <p:nvPr/>
        </p:nvSpPr>
        <p:spPr>
          <a:xfrm>
            <a:off x="4055717" y="4127500"/>
            <a:ext cx="355500" cy="24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solidFill>
                  <a:srgbClr val="66716B"/>
                </a:solidFill>
                <a:latin typeface="Montserrat"/>
                <a:ea typeface="Montserrat"/>
                <a:cs typeface="Montserrat"/>
                <a:sym typeface="Montserrat"/>
              </a:rPr>
              <a:t>2</a:t>
            </a:r>
            <a:endParaRPr sz="1100">
              <a:solidFill>
                <a:srgbClr val="66716B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828" name="Google Shape;828;p52"/>
          <p:cNvCxnSpPr/>
          <p:nvPr/>
        </p:nvCxnSpPr>
        <p:spPr>
          <a:xfrm>
            <a:off x="812800" y="3873046"/>
            <a:ext cx="3746400" cy="0"/>
          </a:xfrm>
          <a:prstGeom prst="straightConnector1">
            <a:avLst/>
          </a:prstGeom>
          <a:noFill/>
          <a:ln cap="flat" cmpd="sng" w="6350">
            <a:solidFill>
              <a:srgbClr val="D6D0C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29" name="Google Shape;829;p52"/>
          <p:cNvSpPr txBox="1"/>
          <p:nvPr/>
        </p:nvSpPr>
        <p:spPr>
          <a:xfrm>
            <a:off x="381000" y="3746046"/>
            <a:ext cx="3684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solidFill>
                  <a:srgbClr val="66716B"/>
                </a:solidFill>
                <a:latin typeface="Montserrat"/>
                <a:ea typeface="Montserrat"/>
                <a:cs typeface="Montserrat"/>
                <a:sym typeface="Montserrat"/>
              </a:rPr>
              <a:t>0</a:t>
            </a:r>
            <a:endParaRPr sz="1100">
              <a:solidFill>
                <a:srgbClr val="66716B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830" name="Google Shape;830;p52"/>
          <p:cNvCxnSpPr/>
          <p:nvPr/>
        </p:nvCxnSpPr>
        <p:spPr>
          <a:xfrm>
            <a:off x="812800" y="3151868"/>
            <a:ext cx="3746400" cy="0"/>
          </a:xfrm>
          <a:prstGeom prst="straightConnector1">
            <a:avLst/>
          </a:prstGeom>
          <a:noFill/>
          <a:ln cap="flat" cmpd="sng" w="6350">
            <a:solidFill>
              <a:srgbClr val="D6D0C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31" name="Google Shape;831;p52"/>
          <p:cNvSpPr txBox="1"/>
          <p:nvPr/>
        </p:nvSpPr>
        <p:spPr>
          <a:xfrm>
            <a:off x="152400" y="3012168"/>
            <a:ext cx="597000" cy="29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solidFill>
                  <a:srgbClr val="66716B"/>
                </a:solidFill>
                <a:latin typeface="Montserrat"/>
                <a:ea typeface="Montserrat"/>
                <a:cs typeface="Montserrat"/>
                <a:sym typeface="Montserrat"/>
              </a:rPr>
              <a:t>1/2</a:t>
            </a:r>
            <a:endParaRPr sz="1100">
              <a:solidFill>
                <a:srgbClr val="66716B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832" name="Google Shape;832;p52"/>
          <p:cNvCxnSpPr/>
          <p:nvPr/>
        </p:nvCxnSpPr>
        <p:spPr>
          <a:xfrm>
            <a:off x="812800" y="2430689"/>
            <a:ext cx="3746400" cy="0"/>
          </a:xfrm>
          <a:prstGeom prst="straightConnector1">
            <a:avLst/>
          </a:prstGeom>
          <a:noFill/>
          <a:ln cap="flat" cmpd="sng" w="6350">
            <a:solidFill>
              <a:srgbClr val="D6D0C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33" name="Google Shape;833;p52"/>
          <p:cNvSpPr txBox="1"/>
          <p:nvPr/>
        </p:nvSpPr>
        <p:spPr>
          <a:xfrm>
            <a:off x="381000" y="2303689"/>
            <a:ext cx="3684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solidFill>
                  <a:srgbClr val="66716B"/>
                </a:solidFill>
                <a:latin typeface="Montserrat"/>
                <a:ea typeface="Montserrat"/>
                <a:cs typeface="Montserrat"/>
                <a:sym typeface="Montserrat"/>
              </a:rPr>
              <a:t>1</a:t>
            </a:r>
            <a:endParaRPr sz="1100">
              <a:solidFill>
                <a:srgbClr val="66716B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834" name="Google Shape;834;p52"/>
          <p:cNvCxnSpPr/>
          <p:nvPr/>
        </p:nvCxnSpPr>
        <p:spPr>
          <a:xfrm>
            <a:off x="812800" y="2070100"/>
            <a:ext cx="0" cy="2019300"/>
          </a:xfrm>
          <a:prstGeom prst="straightConnector1">
            <a:avLst/>
          </a:prstGeom>
          <a:noFill/>
          <a:ln cap="flat" cmpd="sng" w="10150">
            <a:solidFill>
              <a:srgbClr val="66716B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35" name="Google Shape;835;p52"/>
          <p:cNvCxnSpPr/>
          <p:nvPr/>
        </p:nvCxnSpPr>
        <p:spPr>
          <a:xfrm>
            <a:off x="812800" y="4089400"/>
            <a:ext cx="3746400" cy="0"/>
          </a:xfrm>
          <a:prstGeom prst="straightConnector1">
            <a:avLst/>
          </a:prstGeom>
          <a:noFill/>
          <a:ln cap="flat" cmpd="sng" w="10150">
            <a:solidFill>
              <a:srgbClr val="66716B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36" name="Google Shape;836;p52"/>
          <p:cNvSpPr txBox="1"/>
          <p:nvPr/>
        </p:nvSpPr>
        <p:spPr>
          <a:xfrm>
            <a:off x="4572000" y="4064000"/>
            <a:ext cx="228600" cy="27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>
                <a:solidFill>
                  <a:srgbClr val="66716B"/>
                </a:solidFill>
                <a:latin typeface="Montserrat"/>
                <a:ea typeface="Montserrat"/>
                <a:cs typeface="Montserrat"/>
                <a:sym typeface="Montserrat"/>
              </a:rPr>
              <a:t>x</a:t>
            </a:r>
            <a:endParaRPr sz="1300">
              <a:solidFill>
                <a:srgbClr val="66716B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37" name="Google Shape;837;p52"/>
          <p:cNvSpPr txBox="1"/>
          <p:nvPr/>
        </p:nvSpPr>
        <p:spPr>
          <a:xfrm>
            <a:off x="508000" y="1739900"/>
            <a:ext cx="863700" cy="27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rgbClr val="66716B"/>
                </a:solidFill>
                <a:latin typeface="Montserrat"/>
                <a:ea typeface="Montserrat"/>
                <a:cs typeface="Montserrat"/>
                <a:sym typeface="Montserrat"/>
              </a:rPr>
              <a:t>Bases</a:t>
            </a:r>
            <a:endParaRPr sz="1200">
              <a:solidFill>
                <a:srgbClr val="66716B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838" name="Google Shape;838;p52"/>
          <p:cNvCxnSpPr/>
          <p:nvPr/>
        </p:nvCxnSpPr>
        <p:spPr>
          <a:xfrm>
            <a:off x="975691" y="2430689"/>
            <a:ext cx="3257700" cy="1442400"/>
          </a:xfrm>
          <a:prstGeom prst="straightConnector1">
            <a:avLst/>
          </a:prstGeom>
          <a:noFill/>
          <a:ln cap="flat" cmpd="sng" w="25400">
            <a:solidFill>
              <a:srgbClr val="1D403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39" name="Google Shape;839;p52"/>
          <p:cNvCxnSpPr/>
          <p:nvPr/>
        </p:nvCxnSpPr>
        <p:spPr>
          <a:xfrm flipH="1" rot="10800000">
            <a:off x="975691" y="2430646"/>
            <a:ext cx="3257700" cy="1442400"/>
          </a:xfrm>
          <a:prstGeom prst="straightConnector1">
            <a:avLst/>
          </a:prstGeom>
          <a:noFill/>
          <a:ln cap="flat" cmpd="sng" w="25400">
            <a:solidFill>
              <a:srgbClr val="3979BD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40" name="Google Shape;840;p52"/>
          <p:cNvSpPr/>
          <p:nvPr/>
        </p:nvSpPr>
        <p:spPr>
          <a:xfrm>
            <a:off x="931241" y="2386239"/>
            <a:ext cx="88800" cy="88800"/>
          </a:xfrm>
          <a:prstGeom prst="ellipse">
            <a:avLst/>
          </a:prstGeom>
          <a:solidFill>
            <a:srgbClr val="1D4036"/>
          </a:solidFill>
          <a:ln cap="flat" cmpd="sng" w="7625">
            <a:solidFill>
              <a:srgbClr val="EFE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41" name="Google Shape;841;p52"/>
          <p:cNvSpPr/>
          <p:nvPr/>
        </p:nvSpPr>
        <p:spPr>
          <a:xfrm>
            <a:off x="4189067" y="3828596"/>
            <a:ext cx="88800" cy="88800"/>
          </a:xfrm>
          <a:prstGeom prst="ellipse">
            <a:avLst/>
          </a:prstGeom>
          <a:solidFill>
            <a:srgbClr val="1D4036"/>
          </a:solidFill>
          <a:ln cap="flat" cmpd="sng" w="7625">
            <a:solidFill>
              <a:srgbClr val="EFE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42" name="Google Shape;842;p52"/>
          <p:cNvSpPr/>
          <p:nvPr/>
        </p:nvSpPr>
        <p:spPr>
          <a:xfrm>
            <a:off x="931241" y="3828596"/>
            <a:ext cx="88800" cy="88800"/>
          </a:xfrm>
          <a:prstGeom prst="ellipse">
            <a:avLst/>
          </a:prstGeom>
          <a:solidFill>
            <a:srgbClr val="3979BD"/>
          </a:solidFill>
          <a:ln cap="flat" cmpd="sng" w="7625">
            <a:solidFill>
              <a:srgbClr val="EFE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43" name="Google Shape;843;p52"/>
          <p:cNvSpPr/>
          <p:nvPr/>
        </p:nvSpPr>
        <p:spPr>
          <a:xfrm>
            <a:off x="4189067" y="2386239"/>
            <a:ext cx="88800" cy="88800"/>
          </a:xfrm>
          <a:prstGeom prst="ellipse">
            <a:avLst/>
          </a:prstGeom>
          <a:solidFill>
            <a:srgbClr val="3979BD"/>
          </a:solidFill>
          <a:ln cap="flat" cmpd="sng" w="7625">
            <a:solidFill>
              <a:srgbClr val="EFE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44" name="Google Shape;844;p52"/>
          <p:cNvSpPr/>
          <p:nvPr/>
        </p:nvSpPr>
        <p:spPr>
          <a:xfrm>
            <a:off x="2560154" y="3107418"/>
            <a:ext cx="88800" cy="88800"/>
          </a:xfrm>
          <a:prstGeom prst="ellipse">
            <a:avLst/>
          </a:prstGeom>
          <a:solidFill>
            <a:srgbClr val="BF6B1B"/>
          </a:solidFill>
          <a:ln cap="flat" cmpd="sng" w="7625">
            <a:solidFill>
              <a:srgbClr val="EFE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45" name="Google Shape;845;p52"/>
          <p:cNvSpPr txBox="1"/>
          <p:nvPr/>
        </p:nvSpPr>
        <p:spPr>
          <a:xfrm>
            <a:off x="2668104" y="2796268"/>
            <a:ext cx="8256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rgbClr val="BF6B1B"/>
                </a:solidFill>
                <a:latin typeface="Montserrat"/>
                <a:ea typeface="Montserrat"/>
                <a:cs typeface="Montserrat"/>
                <a:sym typeface="Montserrat"/>
              </a:rPr>
              <a:t>1/2</a:t>
            </a:r>
            <a:endParaRPr b="1" sz="1200">
              <a:solidFill>
                <a:srgbClr val="BF6B1B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46" name="Google Shape;846;p52"/>
          <p:cNvSpPr txBox="1"/>
          <p:nvPr/>
        </p:nvSpPr>
        <p:spPr>
          <a:xfrm>
            <a:off x="5346700" y="1866900"/>
            <a:ext cx="1460400" cy="58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2500">
                <a:solidFill>
                  <a:srgbClr val="1D4036"/>
                </a:solidFill>
                <a:latin typeface="Montserrat"/>
                <a:ea typeface="Montserrat"/>
                <a:cs typeface="Montserrat"/>
                <a:sym typeface="Montserrat"/>
              </a:rPr>
              <a:t>L</a:t>
            </a:r>
            <a:r>
              <a:rPr baseline="-25000" lang="es" sz="2500">
                <a:solidFill>
                  <a:srgbClr val="1D4036"/>
                </a:solidFill>
                <a:latin typeface="Montserrat"/>
                <a:ea typeface="Montserrat"/>
                <a:cs typeface="Montserrat"/>
                <a:sym typeface="Montserrat"/>
              </a:rPr>
              <a:t>0</a:t>
            </a:r>
            <a:r>
              <a:rPr lang="es" sz="2500">
                <a:solidFill>
                  <a:srgbClr val="1D4036"/>
                </a:solidFill>
                <a:latin typeface="Montserrat"/>
                <a:ea typeface="Montserrat"/>
                <a:cs typeface="Montserrat"/>
                <a:sym typeface="Montserrat"/>
              </a:rPr>
              <a:t>(x) =</a:t>
            </a:r>
            <a:endParaRPr sz="2500">
              <a:solidFill>
                <a:srgbClr val="1D403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47" name="Google Shape;847;p52"/>
          <p:cNvSpPr txBox="1"/>
          <p:nvPr/>
        </p:nvSpPr>
        <p:spPr>
          <a:xfrm>
            <a:off x="6908800" y="1714500"/>
            <a:ext cx="13971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2400">
                <a:solidFill>
                  <a:srgbClr val="1D4036"/>
                </a:solidFill>
                <a:latin typeface="Montserrat"/>
                <a:ea typeface="Montserrat"/>
                <a:cs typeface="Montserrat"/>
                <a:sym typeface="Montserrat"/>
              </a:rPr>
              <a:t>2 − x</a:t>
            </a:r>
            <a:endParaRPr sz="2400">
              <a:solidFill>
                <a:srgbClr val="1D403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848" name="Google Shape;848;p52"/>
          <p:cNvCxnSpPr/>
          <p:nvPr/>
        </p:nvCxnSpPr>
        <p:spPr>
          <a:xfrm>
            <a:off x="6972300" y="2146300"/>
            <a:ext cx="1269900" cy="0"/>
          </a:xfrm>
          <a:prstGeom prst="straightConnector1">
            <a:avLst/>
          </a:prstGeom>
          <a:noFill/>
          <a:ln cap="flat" cmpd="sng" w="12700">
            <a:solidFill>
              <a:srgbClr val="1D403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49" name="Google Shape;849;p52"/>
          <p:cNvSpPr txBox="1"/>
          <p:nvPr/>
        </p:nvSpPr>
        <p:spPr>
          <a:xfrm>
            <a:off x="6908800" y="2171700"/>
            <a:ext cx="1397100" cy="40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2400">
                <a:solidFill>
                  <a:srgbClr val="1D4036"/>
                </a:solidFill>
                <a:latin typeface="Montserrat"/>
                <a:ea typeface="Montserrat"/>
                <a:cs typeface="Montserrat"/>
                <a:sym typeface="Montserrat"/>
              </a:rPr>
              <a:t>2</a:t>
            </a:r>
            <a:endParaRPr sz="2400">
              <a:solidFill>
                <a:srgbClr val="1D403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50" name="Google Shape;850;p52"/>
          <p:cNvSpPr txBox="1"/>
          <p:nvPr/>
        </p:nvSpPr>
        <p:spPr>
          <a:xfrm>
            <a:off x="5168900" y="2692400"/>
            <a:ext cx="3645000" cy="35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700">
                <a:solidFill>
                  <a:srgbClr val="1D4036"/>
                </a:solidFill>
                <a:latin typeface="Montserrat"/>
                <a:ea typeface="Montserrat"/>
                <a:cs typeface="Montserrat"/>
                <a:sym typeface="Montserrat"/>
              </a:rPr>
              <a:t>L</a:t>
            </a:r>
            <a:r>
              <a:rPr baseline="-25000" lang="es" sz="1700">
                <a:solidFill>
                  <a:srgbClr val="1D4036"/>
                </a:solidFill>
                <a:latin typeface="Montserrat"/>
                <a:ea typeface="Montserrat"/>
                <a:cs typeface="Montserrat"/>
                <a:sym typeface="Montserrat"/>
              </a:rPr>
              <a:t>0</a:t>
            </a:r>
            <a:r>
              <a:rPr lang="es" sz="1700">
                <a:solidFill>
                  <a:srgbClr val="1D4036"/>
                </a:solidFill>
                <a:latin typeface="Montserrat"/>
                <a:ea typeface="Montserrat"/>
                <a:cs typeface="Montserrat"/>
                <a:sym typeface="Montserrat"/>
              </a:rPr>
              <a:t>(0) = 1     L</a:t>
            </a:r>
            <a:r>
              <a:rPr baseline="-25000" lang="es" sz="1700">
                <a:solidFill>
                  <a:srgbClr val="1D4036"/>
                </a:solidFill>
                <a:latin typeface="Montserrat"/>
                <a:ea typeface="Montserrat"/>
                <a:cs typeface="Montserrat"/>
                <a:sym typeface="Montserrat"/>
              </a:rPr>
              <a:t>0</a:t>
            </a:r>
            <a:r>
              <a:rPr lang="es" sz="1700">
                <a:solidFill>
                  <a:srgbClr val="1D4036"/>
                </a:solidFill>
                <a:latin typeface="Montserrat"/>
                <a:ea typeface="Montserrat"/>
                <a:cs typeface="Montserrat"/>
                <a:sym typeface="Montserrat"/>
              </a:rPr>
              <a:t>(2) = 0</a:t>
            </a:r>
            <a:endParaRPr sz="1700">
              <a:solidFill>
                <a:srgbClr val="1D403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51" name="Google Shape;851;p52"/>
          <p:cNvSpPr txBox="1"/>
          <p:nvPr/>
        </p:nvSpPr>
        <p:spPr>
          <a:xfrm>
            <a:off x="5346700" y="3289300"/>
            <a:ext cx="1460400" cy="58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2500">
                <a:solidFill>
                  <a:srgbClr val="3979BD"/>
                </a:solidFill>
                <a:latin typeface="Montserrat"/>
                <a:ea typeface="Montserrat"/>
                <a:cs typeface="Montserrat"/>
                <a:sym typeface="Montserrat"/>
              </a:rPr>
              <a:t>L</a:t>
            </a:r>
            <a:r>
              <a:rPr baseline="-25000" lang="es" sz="2500">
                <a:solidFill>
                  <a:srgbClr val="3979BD"/>
                </a:solidFill>
                <a:latin typeface="Montserrat"/>
                <a:ea typeface="Montserrat"/>
                <a:cs typeface="Montserrat"/>
                <a:sym typeface="Montserrat"/>
              </a:rPr>
              <a:t>1</a:t>
            </a:r>
            <a:r>
              <a:rPr lang="es" sz="2500">
                <a:solidFill>
                  <a:srgbClr val="3979BD"/>
                </a:solidFill>
                <a:latin typeface="Montserrat"/>
                <a:ea typeface="Montserrat"/>
                <a:cs typeface="Montserrat"/>
                <a:sym typeface="Montserrat"/>
              </a:rPr>
              <a:t>(x) =</a:t>
            </a:r>
            <a:endParaRPr sz="2500">
              <a:solidFill>
                <a:srgbClr val="3979BD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52" name="Google Shape;852;p52"/>
          <p:cNvSpPr txBox="1"/>
          <p:nvPr/>
        </p:nvSpPr>
        <p:spPr>
          <a:xfrm>
            <a:off x="6908800" y="3136900"/>
            <a:ext cx="13971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2400">
                <a:solidFill>
                  <a:srgbClr val="3979BD"/>
                </a:solidFill>
                <a:latin typeface="Montserrat"/>
                <a:ea typeface="Montserrat"/>
                <a:cs typeface="Montserrat"/>
                <a:sym typeface="Montserrat"/>
              </a:rPr>
              <a:t>0-x</a:t>
            </a:r>
            <a:endParaRPr sz="2400">
              <a:solidFill>
                <a:srgbClr val="3979BD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853" name="Google Shape;853;p52"/>
          <p:cNvCxnSpPr/>
          <p:nvPr/>
        </p:nvCxnSpPr>
        <p:spPr>
          <a:xfrm>
            <a:off x="6972300" y="3568700"/>
            <a:ext cx="1269900" cy="0"/>
          </a:xfrm>
          <a:prstGeom prst="straightConnector1">
            <a:avLst/>
          </a:prstGeom>
          <a:noFill/>
          <a:ln cap="flat" cmpd="sng" w="12700">
            <a:solidFill>
              <a:srgbClr val="3979BD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54" name="Google Shape;854;p52"/>
          <p:cNvSpPr txBox="1"/>
          <p:nvPr/>
        </p:nvSpPr>
        <p:spPr>
          <a:xfrm>
            <a:off x="6908800" y="3594100"/>
            <a:ext cx="1397100" cy="40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2400">
                <a:solidFill>
                  <a:srgbClr val="3979BD"/>
                </a:solidFill>
                <a:latin typeface="Montserrat"/>
                <a:ea typeface="Montserrat"/>
                <a:cs typeface="Montserrat"/>
                <a:sym typeface="Montserrat"/>
              </a:rPr>
              <a:t>2</a:t>
            </a:r>
            <a:endParaRPr sz="2400">
              <a:solidFill>
                <a:srgbClr val="3979BD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55" name="Google Shape;855;p52"/>
          <p:cNvSpPr txBox="1"/>
          <p:nvPr/>
        </p:nvSpPr>
        <p:spPr>
          <a:xfrm>
            <a:off x="5168900" y="4114800"/>
            <a:ext cx="3645000" cy="35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700">
                <a:solidFill>
                  <a:srgbClr val="3979BD"/>
                </a:solidFill>
                <a:latin typeface="Montserrat"/>
                <a:ea typeface="Montserrat"/>
                <a:cs typeface="Montserrat"/>
                <a:sym typeface="Montserrat"/>
              </a:rPr>
              <a:t>L</a:t>
            </a:r>
            <a:r>
              <a:rPr baseline="-25000" lang="es" sz="1700">
                <a:solidFill>
                  <a:srgbClr val="3979BD"/>
                </a:solidFill>
                <a:latin typeface="Montserrat"/>
                <a:ea typeface="Montserrat"/>
                <a:cs typeface="Montserrat"/>
                <a:sym typeface="Montserrat"/>
              </a:rPr>
              <a:t>1</a:t>
            </a:r>
            <a:r>
              <a:rPr lang="es" sz="1700">
                <a:solidFill>
                  <a:srgbClr val="3979BD"/>
                </a:solidFill>
                <a:latin typeface="Montserrat"/>
                <a:ea typeface="Montserrat"/>
                <a:cs typeface="Montserrat"/>
                <a:sym typeface="Montserrat"/>
              </a:rPr>
              <a:t>(0) = 0     L</a:t>
            </a:r>
            <a:r>
              <a:rPr baseline="-25000" lang="es" sz="1700">
                <a:solidFill>
                  <a:srgbClr val="3979BD"/>
                </a:solidFill>
                <a:latin typeface="Montserrat"/>
                <a:ea typeface="Montserrat"/>
                <a:cs typeface="Montserrat"/>
                <a:sym typeface="Montserrat"/>
              </a:rPr>
              <a:t>1</a:t>
            </a:r>
            <a:r>
              <a:rPr lang="es" sz="1700">
                <a:solidFill>
                  <a:srgbClr val="3979BD"/>
                </a:solidFill>
                <a:latin typeface="Montserrat"/>
                <a:ea typeface="Montserrat"/>
                <a:cs typeface="Montserrat"/>
                <a:sym typeface="Montserrat"/>
              </a:rPr>
              <a:t>(2) = 1</a:t>
            </a:r>
            <a:endParaRPr sz="1700">
              <a:solidFill>
                <a:srgbClr val="3979BD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9" name="Shape 8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" name="Google Shape;860;p53"/>
          <p:cNvSpPr txBox="1"/>
          <p:nvPr>
            <p:ph type="title"/>
          </p:nvPr>
        </p:nvSpPr>
        <p:spPr>
          <a:xfrm>
            <a:off x="317500" y="393700"/>
            <a:ext cx="8508900" cy="4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2400">
                <a:solidFill>
                  <a:srgbClr val="252C29"/>
                </a:solidFill>
                <a:latin typeface="Montserrat"/>
                <a:ea typeface="Montserrat"/>
                <a:cs typeface="Montserrat"/>
                <a:sym typeface="Montserrat"/>
              </a:rPr>
              <a:t>Lagrange lineal recupera la misma recta</a:t>
            </a:r>
            <a:endParaRPr sz="2400">
              <a:solidFill>
                <a:srgbClr val="252C29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61" name="Google Shape;861;p53"/>
          <p:cNvSpPr txBox="1"/>
          <p:nvPr>
            <p:ph idx="1" type="body"/>
          </p:nvPr>
        </p:nvSpPr>
        <p:spPr>
          <a:xfrm>
            <a:off x="381000" y="1041400"/>
            <a:ext cx="8382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600">
                <a:solidFill>
                  <a:srgbClr val="66716B"/>
                </a:solidFill>
              </a:rPr>
              <a:t>Multiplicamos cada base por su dato y sumamos.</a:t>
            </a:r>
            <a:endParaRPr sz="1600">
              <a:solidFill>
                <a:srgbClr val="66716B"/>
              </a:solidFill>
            </a:endParaRPr>
          </a:p>
        </p:txBody>
      </p:sp>
      <p:sp>
        <p:nvSpPr>
          <p:cNvPr id="862" name="Google Shape;862;p53"/>
          <p:cNvSpPr txBox="1"/>
          <p:nvPr>
            <p:ph idx="12" type="sldNum"/>
          </p:nvPr>
        </p:nvSpPr>
        <p:spPr>
          <a:xfrm>
            <a:off x="8520083" y="4734654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sp>
        <p:nvSpPr>
          <p:cNvPr id="863" name="Google Shape;863;p53"/>
          <p:cNvSpPr/>
          <p:nvPr/>
        </p:nvSpPr>
        <p:spPr>
          <a:xfrm>
            <a:off x="381000" y="4724400"/>
            <a:ext cx="7175400" cy="29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solidFill>
                  <a:srgbClr val="66716B"/>
                </a:solidFill>
                <a:latin typeface="Montserrat"/>
                <a:ea typeface="Montserrat"/>
                <a:cs typeface="Montserrat"/>
                <a:sym typeface="Montserrat"/>
              </a:rPr>
              <a:t>Comprobación: P</a:t>
            </a:r>
            <a:r>
              <a:rPr baseline="-25000" lang="es" sz="1100">
                <a:solidFill>
                  <a:srgbClr val="66716B"/>
                </a:solidFill>
                <a:latin typeface="Montserrat"/>
                <a:ea typeface="Montserrat"/>
                <a:cs typeface="Montserrat"/>
                <a:sym typeface="Montserrat"/>
              </a:rPr>
              <a:t>1</a:t>
            </a:r>
            <a:r>
              <a:rPr lang="es" sz="1100">
                <a:solidFill>
                  <a:srgbClr val="66716B"/>
                </a:solidFill>
                <a:latin typeface="Montserrat"/>
                <a:ea typeface="Montserrat"/>
                <a:cs typeface="Montserrat"/>
                <a:sym typeface="Montserrat"/>
              </a:rPr>
              <a:t>(0) = 1·1 + 7·0 = 1. P</a:t>
            </a:r>
            <a:r>
              <a:rPr baseline="-25000" lang="es" sz="1100">
                <a:solidFill>
                  <a:srgbClr val="66716B"/>
                </a:solidFill>
                <a:latin typeface="Montserrat"/>
                <a:ea typeface="Montserrat"/>
                <a:cs typeface="Montserrat"/>
                <a:sym typeface="Montserrat"/>
              </a:rPr>
              <a:t>1</a:t>
            </a:r>
            <a:r>
              <a:rPr lang="es" sz="1100">
                <a:solidFill>
                  <a:srgbClr val="66716B"/>
                </a:solidFill>
                <a:latin typeface="Montserrat"/>
                <a:ea typeface="Montserrat"/>
                <a:cs typeface="Montserrat"/>
                <a:sym typeface="Montserrat"/>
              </a:rPr>
              <a:t>(2) = 1·0 + 7·1 = 7.</a:t>
            </a:r>
            <a:endParaRPr sz="1100">
              <a:solidFill>
                <a:srgbClr val="66716B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64" name="Google Shape;864;p53"/>
          <p:cNvSpPr txBox="1"/>
          <p:nvPr/>
        </p:nvSpPr>
        <p:spPr>
          <a:xfrm>
            <a:off x="952500" y="1549400"/>
            <a:ext cx="72390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2800">
                <a:solidFill>
                  <a:srgbClr val="1D4036"/>
                </a:solidFill>
                <a:latin typeface="Montserrat"/>
                <a:ea typeface="Montserrat"/>
                <a:cs typeface="Montserrat"/>
                <a:sym typeface="Montserrat"/>
              </a:rPr>
              <a:t>P</a:t>
            </a:r>
            <a:r>
              <a:rPr baseline="-25000" lang="es" sz="2800">
                <a:solidFill>
                  <a:srgbClr val="1D4036"/>
                </a:solidFill>
                <a:latin typeface="Montserrat"/>
                <a:ea typeface="Montserrat"/>
                <a:cs typeface="Montserrat"/>
                <a:sym typeface="Montserrat"/>
              </a:rPr>
              <a:t>1</a:t>
            </a:r>
            <a:r>
              <a:rPr lang="es" sz="2800">
                <a:solidFill>
                  <a:srgbClr val="1D4036"/>
                </a:solidFill>
                <a:latin typeface="Montserrat"/>
                <a:ea typeface="Montserrat"/>
                <a:cs typeface="Montserrat"/>
                <a:sym typeface="Montserrat"/>
              </a:rPr>
              <a:t>(x) = 1 L</a:t>
            </a:r>
            <a:r>
              <a:rPr baseline="-25000" lang="es" sz="2800">
                <a:solidFill>
                  <a:srgbClr val="1D4036"/>
                </a:solidFill>
                <a:latin typeface="Montserrat"/>
                <a:ea typeface="Montserrat"/>
                <a:cs typeface="Montserrat"/>
                <a:sym typeface="Montserrat"/>
              </a:rPr>
              <a:t>0</a:t>
            </a:r>
            <a:r>
              <a:rPr lang="es" sz="2800">
                <a:solidFill>
                  <a:srgbClr val="1D4036"/>
                </a:solidFill>
                <a:latin typeface="Montserrat"/>
                <a:ea typeface="Montserrat"/>
                <a:cs typeface="Montserrat"/>
                <a:sym typeface="Montserrat"/>
              </a:rPr>
              <a:t>(x) + 7 L</a:t>
            </a:r>
            <a:r>
              <a:rPr baseline="-25000" lang="es" sz="2800">
                <a:solidFill>
                  <a:srgbClr val="1D4036"/>
                </a:solidFill>
                <a:latin typeface="Montserrat"/>
                <a:ea typeface="Montserrat"/>
                <a:cs typeface="Montserrat"/>
                <a:sym typeface="Montserrat"/>
              </a:rPr>
              <a:t>1</a:t>
            </a:r>
            <a:r>
              <a:rPr lang="es" sz="2800">
                <a:solidFill>
                  <a:srgbClr val="1D4036"/>
                </a:solidFill>
                <a:latin typeface="Montserrat"/>
                <a:ea typeface="Montserrat"/>
                <a:cs typeface="Montserrat"/>
                <a:sym typeface="Montserrat"/>
              </a:rPr>
              <a:t>(x)</a:t>
            </a:r>
            <a:endParaRPr sz="2800">
              <a:solidFill>
                <a:srgbClr val="1D403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65" name="Google Shape;865;p53"/>
          <p:cNvSpPr txBox="1"/>
          <p:nvPr/>
        </p:nvSpPr>
        <p:spPr>
          <a:xfrm>
            <a:off x="1320800" y="2413000"/>
            <a:ext cx="2159100" cy="54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2500">
                <a:solidFill>
                  <a:srgbClr val="1D4036"/>
                </a:solidFill>
                <a:latin typeface="Montserrat"/>
                <a:ea typeface="Montserrat"/>
                <a:cs typeface="Montserrat"/>
                <a:sym typeface="Montserrat"/>
              </a:rPr>
              <a:t>P</a:t>
            </a:r>
            <a:r>
              <a:rPr baseline="-25000" lang="es" sz="2500">
                <a:solidFill>
                  <a:srgbClr val="1D4036"/>
                </a:solidFill>
                <a:latin typeface="Montserrat"/>
                <a:ea typeface="Montserrat"/>
                <a:cs typeface="Montserrat"/>
                <a:sym typeface="Montserrat"/>
              </a:rPr>
              <a:t>1</a:t>
            </a:r>
            <a:r>
              <a:rPr lang="es" sz="2500">
                <a:solidFill>
                  <a:srgbClr val="1D4036"/>
                </a:solidFill>
                <a:latin typeface="Montserrat"/>
                <a:ea typeface="Montserrat"/>
                <a:cs typeface="Montserrat"/>
                <a:sym typeface="Montserrat"/>
              </a:rPr>
              <a:t>(x) = 1 ·</a:t>
            </a:r>
            <a:endParaRPr sz="2500">
              <a:solidFill>
                <a:srgbClr val="1D403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66" name="Google Shape;866;p53"/>
          <p:cNvSpPr txBox="1"/>
          <p:nvPr/>
        </p:nvSpPr>
        <p:spPr>
          <a:xfrm>
            <a:off x="3556000" y="2209800"/>
            <a:ext cx="14352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2400">
                <a:solidFill>
                  <a:srgbClr val="1D4036"/>
                </a:solidFill>
                <a:latin typeface="Montserrat"/>
                <a:ea typeface="Montserrat"/>
                <a:cs typeface="Montserrat"/>
                <a:sym typeface="Montserrat"/>
              </a:rPr>
              <a:t>2 − x</a:t>
            </a:r>
            <a:endParaRPr sz="2400">
              <a:solidFill>
                <a:srgbClr val="1D403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867" name="Google Shape;867;p53"/>
          <p:cNvCxnSpPr/>
          <p:nvPr/>
        </p:nvCxnSpPr>
        <p:spPr>
          <a:xfrm>
            <a:off x="3619500" y="2641600"/>
            <a:ext cx="1308000" cy="0"/>
          </a:xfrm>
          <a:prstGeom prst="straightConnector1">
            <a:avLst/>
          </a:prstGeom>
          <a:noFill/>
          <a:ln cap="flat" cmpd="sng" w="12700">
            <a:solidFill>
              <a:srgbClr val="1D403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68" name="Google Shape;868;p53"/>
          <p:cNvSpPr txBox="1"/>
          <p:nvPr/>
        </p:nvSpPr>
        <p:spPr>
          <a:xfrm>
            <a:off x="3556000" y="2667000"/>
            <a:ext cx="1435200" cy="40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2400">
                <a:solidFill>
                  <a:srgbClr val="1D4036"/>
                </a:solidFill>
                <a:latin typeface="Montserrat"/>
                <a:ea typeface="Montserrat"/>
                <a:cs typeface="Montserrat"/>
                <a:sym typeface="Montserrat"/>
              </a:rPr>
              <a:t>2</a:t>
            </a:r>
            <a:endParaRPr sz="2400">
              <a:solidFill>
                <a:srgbClr val="1D403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69" name="Google Shape;869;p53"/>
          <p:cNvSpPr txBox="1"/>
          <p:nvPr/>
        </p:nvSpPr>
        <p:spPr>
          <a:xfrm>
            <a:off x="5143500" y="2425700"/>
            <a:ext cx="11175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2500">
                <a:solidFill>
                  <a:srgbClr val="1D4036"/>
                </a:solidFill>
                <a:latin typeface="Montserrat"/>
                <a:ea typeface="Montserrat"/>
                <a:cs typeface="Montserrat"/>
                <a:sym typeface="Montserrat"/>
              </a:rPr>
              <a:t>+ 7 ·</a:t>
            </a:r>
            <a:endParaRPr sz="2500">
              <a:solidFill>
                <a:srgbClr val="1D403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70" name="Google Shape;870;p53"/>
          <p:cNvSpPr txBox="1"/>
          <p:nvPr/>
        </p:nvSpPr>
        <p:spPr>
          <a:xfrm>
            <a:off x="6451600" y="2209800"/>
            <a:ext cx="8889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2400">
                <a:solidFill>
                  <a:srgbClr val="3979BD"/>
                </a:solidFill>
                <a:latin typeface="Montserrat"/>
                <a:ea typeface="Montserrat"/>
                <a:cs typeface="Montserrat"/>
                <a:sym typeface="Montserrat"/>
              </a:rPr>
              <a:t>x</a:t>
            </a:r>
            <a:endParaRPr sz="2400">
              <a:solidFill>
                <a:srgbClr val="3979BD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871" name="Google Shape;871;p53"/>
          <p:cNvCxnSpPr/>
          <p:nvPr/>
        </p:nvCxnSpPr>
        <p:spPr>
          <a:xfrm>
            <a:off x="6515100" y="2641600"/>
            <a:ext cx="762000" cy="0"/>
          </a:xfrm>
          <a:prstGeom prst="straightConnector1">
            <a:avLst/>
          </a:prstGeom>
          <a:noFill/>
          <a:ln cap="flat" cmpd="sng" w="12700">
            <a:solidFill>
              <a:srgbClr val="3979BD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72" name="Google Shape;872;p53"/>
          <p:cNvSpPr txBox="1"/>
          <p:nvPr/>
        </p:nvSpPr>
        <p:spPr>
          <a:xfrm>
            <a:off x="6451600" y="2667000"/>
            <a:ext cx="888900" cy="40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2400">
                <a:solidFill>
                  <a:srgbClr val="3979BD"/>
                </a:solidFill>
                <a:latin typeface="Montserrat"/>
                <a:ea typeface="Montserrat"/>
                <a:cs typeface="Montserrat"/>
                <a:sym typeface="Montserrat"/>
              </a:rPr>
              <a:t>2</a:t>
            </a:r>
            <a:endParaRPr sz="2400">
              <a:solidFill>
                <a:srgbClr val="3979BD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73" name="Google Shape;873;p53"/>
          <p:cNvSpPr txBox="1"/>
          <p:nvPr/>
        </p:nvSpPr>
        <p:spPr>
          <a:xfrm>
            <a:off x="1028700" y="3263900"/>
            <a:ext cx="7239000" cy="35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700">
                <a:solidFill>
                  <a:srgbClr val="66716B"/>
                </a:solidFill>
                <a:latin typeface="Montserrat"/>
                <a:ea typeface="Montserrat"/>
                <a:cs typeface="Montserrat"/>
                <a:sym typeface="Montserrat"/>
              </a:rPr>
              <a:t>En x = 1, las dos bases valen 1/2</a:t>
            </a:r>
            <a:endParaRPr sz="1700">
              <a:solidFill>
                <a:srgbClr val="66716B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74" name="Google Shape;874;p53"/>
          <p:cNvSpPr txBox="1"/>
          <p:nvPr/>
        </p:nvSpPr>
        <p:spPr>
          <a:xfrm>
            <a:off x="609600" y="3733800"/>
            <a:ext cx="8255100" cy="4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2400">
                <a:solidFill>
                  <a:srgbClr val="BF6B1B"/>
                </a:solidFill>
                <a:latin typeface="Montserrat"/>
                <a:ea typeface="Montserrat"/>
                <a:cs typeface="Montserrat"/>
                <a:sym typeface="Montserrat"/>
              </a:rPr>
              <a:t>P</a:t>
            </a:r>
            <a:r>
              <a:rPr baseline="-25000" lang="es" sz="2400">
                <a:solidFill>
                  <a:srgbClr val="BF6B1B"/>
                </a:solidFill>
                <a:latin typeface="Montserrat"/>
                <a:ea typeface="Montserrat"/>
                <a:cs typeface="Montserrat"/>
                <a:sym typeface="Montserrat"/>
              </a:rPr>
              <a:t>1</a:t>
            </a:r>
            <a:r>
              <a:rPr lang="es" sz="2400">
                <a:solidFill>
                  <a:srgbClr val="BF6B1B"/>
                </a:solidFill>
                <a:latin typeface="Montserrat"/>
                <a:ea typeface="Montserrat"/>
                <a:cs typeface="Montserrat"/>
                <a:sym typeface="Montserrat"/>
              </a:rPr>
              <a:t>(1) = 1·(1/2) + 7·(1/2) = 4</a:t>
            </a:r>
            <a:endParaRPr sz="2400">
              <a:solidFill>
                <a:srgbClr val="BF6B1B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75" name="Google Shape;875;p53"/>
          <p:cNvSpPr txBox="1"/>
          <p:nvPr/>
        </p:nvSpPr>
        <p:spPr>
          <a:xfrm>
            <a:off x="685800" y="4267200"/>
            <a:ext cx="8001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2200">
                <a:solidFill>
                  <a:srgbClr val="1D4036"/>
                </a:solidFill>
                <a:latin typeface="Montserrat"/>
                <a:ea typeface="Montserrat"/>
                <a:cs typeface="Montserrat"/>
                <a:sym typeface="Montserrat"/>
              </a:rPr>
              <a:t>Al simplificar: P</a:t>
            </a:r>
            <a:r>
              <a:rPr baseline="-25000" lang="es" sz="2200">
                <a:solidFill>
                  <a:srgbClr val="1D4036"/>
                </a:solidFill>
                <a:latin typeface="Montserrat"/>
                <a:ea typeface="Montserrat"/>
                <a:cs typeface="Montserrat"/>
                <a:sym typeface="Montserrat"/>
              </a:rPr>
              <a:t>1</a:t>
            </a:r>
            <a:r>
              <a:rPr lang="es" sz="2200">
                <a:solidFill>
                  <a:srgbClr val="1D4036"/>
                </a:solidFill>
                <a:latin typeface="Montserrat"/>
                <a:ea typeface="Montserrat"/>
                <a:cs typeface="Montserrat"/>
                <a:sym typeface="Montserrat"/>
              </a:rPr>
              <a:t>(x) = 1 + 3x</a:t>
            </a:r>
            <a:endParaRPr sz="2200">
              <a:solidFill>
                <a:srgbClr val="1D403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9" name="Shape 8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" name="Google Shape;880;p54"/>
          <p:cNvSpPr txBox="1"/>
          <p:nvPr>
            <p:ph type="title"/>
          </p:nvPr>
        </p:nvSpPr>
        <p:spPr>
          <a:xfrm>
            <a:off x="317500" y="393700"/>
            <a:ext cx="8508900" cy="4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2400">
                <a:solidFill>
                  <a:srgbClr val="252C29"/>
                </a:solidFill>
                <a:latin typeface="Montserrat"/>
                <a:ea typeface="Montserrat"/>
                <a:cs typeface="Montserrat"/>
                <a:sym typeface="Montserrat"/>
              </a:rPr>
              <a:t>La primera base para tres datos (el nuevo (3,13))</a:t>
            </a:r>
            <a:endParaRPr sz="2400">
              <a:solidFill>
                <a:srgbClr val="252C29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81" name="Google Shape;881;p54"/>
          <p:cNvSpPr txBox="1"/>
          <p:nvPr>
            <p:ph idx="1" type="body"/>
          </p:nvPr>
        </p:nvSpPr>
        <p:spPr>
          <a:xfrm>
            <a:off x="381000" y="1041400"/>
            <a:ext cx="8382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600">
                <a:solidFill>
                  <a:srgbClr val="66716B"/>
                </a:solidFill>
              </a:rPr>
              <a:t>Para el dato de x = 0, necesitamos ceros en x = 2 y en x = 3.</a:t>
            </a:r>
            <a:endParaRPr sz="1600">
              <a:solidFill>
                <a:srgbClr val="66716B"/>
              </a:solidFill>
            </a:endParaRPr>
          </a:p>
        </p:txBody>
      </p:sp>
      <p:sp>
        <p:nvSpPr>
          <p:cNvPr id="882" name="Google Shape;882;p54"/>
          <p:cNvSpPr txBox="1"/>
          <p:nvPr>
            <p:ph idx="12" type="sldNum"/>
          </p:nvPr>
        </p:nvSpPr>
        <p:spPr>
          <a:xfrm>
            <a:off x="8520083" y="4734654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sp>
        <p:nvSpPr>
          <p:cNvPr id="883" name="Google Shape;883;p54"/>
          <p:cNvSpPr/>
          <p:nvPr/>
        </p:nvSpPr>
        <p:spPr>
          <a:xfrm>
            <a:off x="381000" y="4470400"/>
            <a:ext cx="8255100" cy="29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rgbClr val="66716B"/>
                </a:solidFill>
                <a:latin typeface="Montserrat"/>
                <a:ea typeface="Montserrat"/>
                <a:cs typeface="Montserrat"/>
                <a:sym typeface="Montserrat"/>
              </a:rPr>
              <a:t>Dividir por 6 hace que L</a:t>
            </a:r>
            <a:r>
              <a:rPr baseline="-25000" lang="es" sz="1200">
                <a:solidFill>
                  <a:srgbClr val="66716B"/>
                </a:solidFill>
                <a:latin typeface="Montserrat"/>
                <a:ea typeface="Montserrat"/>
                <a:cs typeface="Montserrat"/>
                <a:sym typeface="Montserrat"/>
              </a:rPr>
              <a:t>0</a:t>
            </a:r>
            <a:r>
              <a:rPr lang="es" sz="1200">
                <a:solidFill>
                  <a:srgbClr val="66716B"/>
                </a:solidFill>
                <a:latin typeface="Montserrat"/>
                <a:ea typeface="Montserrat"/>
                <a:cs typeface="Montserrat"/>
                <a:sym typeface="Montserrat"/>
              </a:rPr>
              <a:t>(0) = 1 y conserva los ceros de los otros dos puntos.</a:t>
            </a:r>
            <a:endParaRPr sz="1200">
              <a:solidFill>
                <a:srgbClr val="66716B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884" name="Google Shape;884;p54"/>
          <p:cNvCxnSpPr/>
          <p:nvPr/>
        </p:nvCxnSpPr>
        <p:spPr>
          <a:xfrm>
            <a:off x="934412" y="2171700"/>
            <a:ext cx="0" cy="1905000"/>
          </a:xfrm>
          <a:prstGeom prst="straightConnector1">
            <a:avLst/>
          </a:prstGeom>
          <a:noFill/>
          <a:ln cap="flat" cmpd="sng" w="6350">
            <a:solidFill>
              <a:srgbClr val="D6D0C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85" name="Google Shape;885;p54"/>
          <p:cNvSpPr txBox="1"/>
          <p:nvPr/>
        </p:nvSpPr>
        <p:spPr>
          <a:xfrm>
            <a:off x="756612" y="4114800"/>
            <a:ext cx="355500" cy="24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solidFill>
                  <a:srgbClr val="66716B"/>
                </a:solidFill>
                <a:latin typeface="Montserrat"/>
                <a:ea typeface="Montserrat"/>
                <a:cs typeface="Montserrat"/>
                <a:sym typeface="Montserrat"/>
              </a:rPr>
              <a:t>0</a:t>
            </a:r>
            <a:endParaRPr sz="1100">
              <a:solidFill>
                <a:srgbClr val="66716B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886" name="Google Shape;886;p54"/>
          <p:cNvCxnSpPr/>
          <p:nvPr/>
        </p:nvCxnSpPr>
        <p:spPr>
          <a:xfrm>
            <a:off x="2023533" y="2171700"/>
            <a:ext cx="0" cy="1905000"/>
          </a:xfrm>
          <a:prstGeom prst="straightConnector1">
            <a:avLst/>
          </a:prstGeom>
          <a:noFill/>
          <a:ln cap="flat" cmpd="sng" w="6350">
            <a:solidFill>
              <a:srgbClr val="D6D0C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87" name="Google Shape;887;p54"/>
          <p:cNvSpPr txBox="1"/>
          <p:nvPr/>
        </p:nvSpPr>
        <p:spPr>
          <a:xfrm>
            <a:off x="1845733" y="4114800"/>
            <a:ext cx="355500" cy="24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solidFill>
                  <a:srgbClr val="66716B"/>
                </a:solidFill>
                <a:latin typeface="Montserrat"/>
                <a:ea typeface="Montserrat"/>
                <a:cs typeface="Montserrat"/>
                <a:sym typeface="Montserrat"/>
              </a:rPr>
              <a:t>1</a:t>
            </a:r>
            <a:endParaRPr sz="1100">
              <a:solidFill>
                <a:srgbClr val="66716B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888" name="Google Shape;888;p54"/>
          <p:cNvCxnSpPr/>
          <p:nvPr/>
        </p:nvCxnSpPr>
        <p:spPr>
          <a:xfrm>
            <a:off x="3112655" y="2171700"/>
            <a:ext cx="0" cy="1905000"/>
          </a:xfrm>
          <a:prstGeom prst="straightConnector1">
            <a:avLst/>
          </a:prstGeom>
          <a:noFill/>
          <a:ln cap="flat" cmpd="sng" w="6350">
            <a:solidFill>
              <a:srgbClr val="D6D0C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89" name="Google Shape;889;p54"/>
          <p:cNvSpPr txBox="1"/>
          <p:nvPr/>
        </p:nvSpPr>
        <p:spPr>
          <a:xfrm>
            <a:off x="2934855" y="4114800"/>
            <a:ext cx="355500" cy="24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solidFill>
                  <a:srgbClr val="66716B"/>
                </a:solidFill>
                <a:latin typeface="Montserrat"/>
                <a:ea typeface="Montserrat"/>
                <a:cs typeface="Montserrat"/>
                <a:sym typeface="Montserrat"/>
              </a:rPr>
              <a:t>2</a:t>
            </a:r>
            <a:endParaRPr sz="1100">
              <a:solidFill>
                <a:srgbClr val="66716B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890" name="Google Shape;890;p54"/>
          <p:cNvCxnSpPr/>
          <p:nvPr/>
        </p:nvCxnSpPr>
        <p:spPr>
          <a:xfrm>
            <a:off x="4201776" y="2171700"/>
            <a:ext cx="0" cy="1905000"/>
          </a:xfrm>
          <a:prstGeom prst="straightConnector1">
            <a:avLst/>
          </a:prstGeom>
          <a:noFill/>
          <a:ln cap="flat" cmpd="sng" w="6350">
            <a:solidFill>
              <a:srgbClr val="D6D0C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91" name="Google Shape;891;p54"/>
          <p:cNvSpPr txBox="1"/>
          <p:nvPr/>
        </p:nvSpPr>
        <p:spPr>
          <a:xfrm>
            <a:off x="4023976" y="4114800"/>
            <a:ext cx="355500" cy="24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solidFill>
                  <a:srgbClr val="66716B"/>
                </a:solidFill>
                <a:latin typeface="Montserrat"/>
                <a:ea typeface="Montserrat"/>
                <a:cs typeface="Montserrat"/>
                <a:sym typeface="Montserrat"/>
              </a:rPr>
              <a:t>3</a:t>
            </a:r>
            <a:endParaRPr sz="1100">
              <a:solidFill>
                <a:srgbClr val="66716B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892" name="Google Shape;892;p54"/>
          <p:cNvCxnSpPr/>
          <p:nvPr/>
        </p:nvCxnSpPr>
        <p:spPr>
          <a:xfrm>
            <a:off x="825500" y="3836910"/>
            <a:ext cx="3594000" cy="0"/>
          </a:xfrm>
          <a:prstGeom prst="straightConnector1">
            <a:avLst/>
          </a:prstGeom>
          <a:noFill/>
          <a:ln cap="flat" cmpd="sng" w="6350">
            <a:solidFill>
              <a:srgbClr val="D6D0C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93" name="Google Shape;893;p54"/>
          <p:cNvSpPr txBox="1"/>
          <p:nvPr/>
        </p:nvSpPr>
        <p:spPr>
          <a:xfrm>
            <a:off x="393700" y="3709910"/>
            <a:ext cx="3684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solidFill>
                  <a:srgbClr val="66716B"/>
                </a:solidFill>
                <a:latin typeface="Montserrat"/>
                <a:ea typeface="Montserrat"/>
                <a:cs typeface="Montserrat"/>
                <a:sym typeface="Montserrat"/>
              </a:rPr>
              <a:t>0</a:t>
            </a:r>
            <a:endParaRPr sz="1100">
              <a:solidFill>
                <a:srgbClr val="66716B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894" name="Google Shape;894;p54"/>
          <p:cNvCxnSpPr/>
          <p:nvPr/>
        </p:nvCxnSpPr>
        <p:spPr>
          <a:xfrm>
            <a:off x="825500" y="2504742"/>
            <a:ext cx="3594000" cy="0"/>
          </a:xfrm>
          <a:prstGeom prst="straightConnector1">
            <a:avLst/>
          </a:prstGeom>
          <a:noFill/>
          <a:ln cap="flat" cmpd="sng" w="6350">
            <a:solidFill>
              <a:srgbClr val="D6D0C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95" name="Google Shape;895;p54"/>
          <p:cNvSpPr txBox="1"/>
          <p:nvPr/>
        </p:nvSpPr>
        <p:spPr>
          <a:xfrm>
            <a:off x="393700" y="2377742"/>
            <a:ext cx="3684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solidFill>
                  <a:srgbClr val="66716B"/>
                </a:solidFill>
                <a:latin typeface="Montserrat"/>
                <a:ea typeface="Montserrat"/>
                <a:cs typeface="Montserrat"/>
                <a:sym typeface="Montserrat"/>
              </a:rPr>
              <a:t>1</a:t>
            </a:r>
            <a:endParaRPr sz="1100">
              <a:solidFill>
                <a:srgbClr val="66716B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896" name="Google Shape;896;p54"/>
          <p:cNvCxnSpPr/>
          <p:nvPr/>
        </p:nvCxnSpPr>
        <p:spPr>
          <a:xfrm>
            <a:off x="825500" y="2171700"/>
            <a:ext cx="0" cy="1905000"/>
          </a:xfrm>
          <a:prstGeom prst="straightConnector1">
            <a:avLst/>
          </a:prstGeom>
          <a:noFill/>
          <a:ln cap="flat" cmpd="sng" w="10150">
            <a:solidFill>
              <a:srgbClr val="66716B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97" name="Google Shape;897;p54"/>
          <p:cNvCxnSpPr/>
          <p:nvPr/>
        </p:nvCxnSpPr>
        <p:spPr>
          <a:xfrm>
            <a:off x="825500" y="4076700"/>
            <a:ext cx="3594000" cy="0"/>
          </a:xfrm>
          <a:prstGeom prst="straightConnector1">
            <a:avLst/>
          </a:prstGeom>
          <a:noFill/>
          <a:ln cap="flat" cmpd="sng" w="10150">
            <a:solidFill>
              <a:srgbClr val="66716B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98" name="Google Shape;898;p54"/>
          <p:cNvSpPr txBox="1"/>
          <p:nvPr/>
        </p:nvSpPr>
        <p:spPr>
          <a:xfrm>
            <a:off x="4432300" y="4051300"/>
            <a:ext cx="228600" cy="27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>
                <a:solidFill>
                  <a:srgbClr val="66716B"/>
                </a:solidFill>
                <a:latin typeface="Montserrat"/>
                <a:ea typeface="Montserrat"/>
                <a:cs typeface="Montserrat"/>
                <a:sym typeface="Montserrat"/>
              </a:rPr>
              <a:t>x</a:t>
            </a:r>
            <a:endParaRPr sz="1300">
              <a:solidFill>
                <a:srgbClr val="66716B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99" name="Google Shape;899;p54"/>
          <p:cNvSpPr txBox="1"/>
          <p:nvPr/>
        </p:nvSpPr>
        <p:spPr>
          <a:xfrm>
            <a:off x="546100" y="1841500"/>
            <a:ext cx="6096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>
                <a:solidFill>
                  <a:srgbClr val="66716B"/>
                </a:solidFill>
                <a:latin typeface="Montserrat"/>
                <a:ea typeface="Montserrat"/>
                <a:cs typeface="Montserrat"/>
                <a:sym typeface="Montserrat"/>
              </a:rPr>
              <a:t>L</a:t>
            </a:r>
            <a:r>
              <a:rPr baseline="-25000" lang="es" sz="1300">
                <a:solidFill>
                  <a:srgbClr val="66716B"/>
                </a:solidFill>
                <a:latin typeface="Montserrat"/>
                <a:ea typeface="Montserrat"/>
                <a:cs typeface="Montserrat"/>
                <a:sym typeface="Montserrat"/>
              </a:rPr>
              <a:t>0</a:t>
            </a:r>
            <a:endParaRPr baseline="-25000" sz="1300">
              <a:solidFill>
                <a:srgbClr val="66716B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900" name="Google Shape;900;p54"/>
          <p:cNvCxnSpPr/>
          <p:nvPr/>
        </p:nvCxnSpPr>
        <p:spPr>
          <a:xfrm>
            <a:off x="934412" y="2504742"/>
            <a:ext cx="86100" cy="86400"/>
          </a:xfrm>
          <a:prstGeom prst="straightConnector1">
            <a:avLst/>
          </a:prstGeom>
          <a:noFill/>
          <a:ln cap="flat" cmpd="sng" w="25400">
            <a:solidFill>
              <a:srgbClr val="1D403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01" name="Google Shape;901;p54"/>
          <p:cNvCxnSpPr/>
          <p:nvPr/>
        </p:nvCxnSpPr>
        <p:spPr>
          <a:xfrm>
            <a:off x="1020395" y="2591001"/>
            <a:ext cx="86100" cy="83400"/>
          </a:xfrm>
          <a:prstGeom prst="straightConnector1">
            <a:avLst/>
          </a:prstGeom>
          <a:noFill/>
          <a:ln cap="flat" cmpd="sng" w="25400">
            <a:solidFill>
              <a:srgbClr val="1D403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02" name="Google Shape;902;p54"/>
          <p:cNvCxnSpPr/>
          <p:nvPr/>
        </p:nvCxnSpPr>
        <p:spPr>
          <a:xfrm>
            <a:off x="1106379" y="2674492"/>
            <a:ext cx="86100" cy="80700"/>
          </a:xfrm>
          <a:prstGeom prst="straightConnector1">
            <a:avLst/>
          </a:prstGeom>
          <a:noFill/>
          <a:ln cap="flat" cmpd="sng" w="25400">
            <a:solidFill>
              <a:srgbClr val="1D403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03" name="Google Shape;903;p54"/>
          <p:cNvCxnSpPr/>
          <p:nvPr/>
        </p:nvCxnSpPr>
        <p:spPr>
          <a:xfrm>
            <a:off x="1192362" y="2755215"/>
            <a:ext cx="86100" cy="78000"/>
          </a:xfrm>
          <a:prstGeom prst="straightConnector1">
            <a:avLst/>
          </a:prstGeom>
          <a:noFill/>
          <a:ln cap="flat" cmpd="sng" w="25400">
            <a:solidFill>
              <a:srgbClr val="1D403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04" name="Google Shape;904;p54"/>
          <p:cNvCxnSpPr/>
          <p:nvPr/>
        </p:nvCxnSpPr>
        <p:spPr>
          <a:xfrm>
            <a:off x="1278345" y="2833171"/>
            <a:ext cx="86100" cy="75300"/>
          </a:xfrm>
          <a:prstGeom prst="straightConnector1">
            <a:avLst/>
          </a:prstGeom>
          <a:noFill/>
          <a:ln cap="flat" cmpd="sng" w="25400">
            <a:solidFill>
              <a:srgbClr val="1D403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05" name="Google Shape;905;p54"/>
          <p:cNvCxnSpPr/>
          <p:nvPr/>
        </p:nvCxnSpPr>
        <p:spPr>
          <a:xfrm>
            <a:off x="1364328" y="2908359"/>
            <a:ext cx="86100" cy="72300"/>
          </a:xfrm>
          <a:prstGeom prst="straightConnector1">
            <a:avLst/>
          </a:prstGeom>
          <a:noFill/>
          <a:ln cap="flat" cmpd="sng" w="25400">
            <a:solidFill>
              <a:srgbClr val="1D403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06" name="Google Shape;906;p54"/>
          <p:cNvCxnSpPr/>
          <p:nvPr/>
        </p:nvCxnSpPr>
        <p:spPr>
          <a:xfrm>
            <a:off x="1450312" y="2980780"/>
            <a:ext cx="86100" cy="69600"/>
          </a:xfrm>
          <a:prstGeom prst="straightConnector1">
            <a:avLst/>
          </a:prstGeom>
          <a:noFill/>
          <a:ln cap="flat" cmpd="sng" w="25400">
            <a:solidFill>
              <a:srgbClr val="1D403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07" name="Google Shape;907;p54"/>
          <p:cNvCxnSpPr/>
          <p:nvPr/>
        </p:nvCxnSpPr>
        <p:spPr>
          <a:xfrm>
            <a:off x="1536295" y="3050433"/>
            <a:ext cx="86100" cy="66900"/>
          </a:xfrm>
          <a:prstGeom prst="straightConnector1">
            <a:avLst/>
          </a:prstGeom>
          <a:noFill/>
          <a:ln cap="flat" cmpd="sng" w="25400">
            <a:solidFill>
              <a:srgbClr val="1D403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08" name="Google Shape;908;p54"/>
          <p:cNvCxnSpPr/>
          <p:nvPr/>
        </p:nvCxnSpPr>
        <p:spPr>
          <a:xfrm>
            <a:off x="1622278" y="3117318"/>
            <a:ext cx="86100" cy="64200"/>
          </a:xfrm>
          <a:prstGeom prst="straightConnector1">
            <a:avLst/>
          </a:prstGeom>
          <a:noFill/>
          <a:ln cap="flat" cmpd="sng" w="25400">
            <a:solidFill>
              <a:srgbClr val="1D403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09" name="Google Shape;909;p54"/>
          <p:cNvCxnSpPr/>
          <p:nvPr/>
        </p:nvCxnSpPr>
        <p:spPr>
          <a:xfrm>
            <a:off x="1708261" y="3181435"/>
            <a:ext cx="86100" cy="61200"/>
          </a:xfrm>
          <a:prstGeom prst="straightConnector1">
            <a:avLst/>
          </a:prstGeom>
          <a:noFill/>
          <a:ln cap="flat" cmpd="sng" w="25400">
            <a:solidFill>
              <a:srgbClr val="1D403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10" name="Google Shape;910;p54"/>
          <p:cNvCxnSpPr/>
          <p:nvPr/>
        </p:nvCxnSpPr>
        <p:spPr>
          <a:xfrm>
            <a:off x="1794245" y="3242785"/>
            <a:ext cx="86100" cy="58500"/>
          </a:xfrm>
          <a:prstGeom prst="straightConnector1">
            <a:avLst/>
          </a:prstGeom>
          <a:noFill/>
          <a:ln cap="flat" cmpd="sng" w="25400">
            <a:solidFill>
              <a:srgbClr val="1D403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11" name="Google Shape;911;p54"/>
          <p:cNvCxnSpPr/>
          <p:nvPr/>
        </p:nvCxnSpPr>
        <p:spPr>
          <a:xfrm>
            <a:off x="1880228" y="3301367"/>
            <a:ext cx="86100" cy="55800"/>
          </a:xfrm>
          <a:prstGeom prst="straightConnector1">
            <a:avLst/>
          </a:prstGeom>
          <a:noFill/>
          <a:ln cap="flat" cmpd="sng" w="25400">
            <a:solidFill>
              <a:srgbClr val="1D403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12" name="Google Shape;912;p54"/>
          <p:cNvCxnSpPr/>
          <p:nvPr/>
        </p:nvCxnSpPr>
        <p:spPr>
          <a:xfrm>
            <a:off x="1966211" y="3357182"/>
            <a:ext cx="86100" cy="53100"/>
          </a:xfrm>
          <a:prstGeom prst="straightConnector1">
            <a:avLst/>
          </a:prstGeom>
          <a:noFill/>
          <a:ln cap="flat" cmpd="sng" w="25400">
            <a:solidFill>
              <a:srgbClr val="1D403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13" name="Google Shape;913;p54"/>
          <p:cNvCxnSpPr/>
          <p:nvPr/>
        </p:nvCxnSpPr>
        <p:spPr>
          <a:xfrm>
            <a:off x="2052194" y="3410229"/>
            <a:ext cx="86100" cy="50400"/>
          </a:xfrm>
          <a:prstGeom prst="straightConnector1">
            <a:avLst/>
          </a:prstGeom>
          <a:noFill/>
          <a:ln cap="flat" cmpd="sng" w="25400">
            <a:solidFill>
              <a:srgbClr val="1D403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14" name="Google Shape;914;p54"/>
          <p:cNvCxnSpPr/>
          <p:nvPr/>
        </p:nvCxnSpPr>
        <p:spPr>
          <a:xfrm>
            <a:off x="2138178" y="3460508"/>
            <a:ext cx="86100" cy="47400"/>
          </a:xfrm>
          <a:prstGeom prst="straightConnector1">
            <a:avLst/>
          </a:prstGeom>
          <a:noFill/>
          <a:ln cap="flat" cmpd="sng" w="25400">
            <a:solidFill>
              <a:srgbClr val="1D403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15" name="Google Shape;915;p54"/>
          <p:cNvCxnSpPr/>
          <p:nvPr/>
        </p:nvCxnSpPr>
        <p:spPr>
          <a:xfrm>
            <a:off x="2224161" y="3508019"/>
            <a:ext cx="86100" cy="44700"/>
          </a:xfrm>
          <a:prstGeom prst="straightConnector1">
            <a:avLst/>
          </a:prstGeom>
          <a:noFill/>
          <a:ln cap="flat" cmpd="sng" w="25400">
            <a:solidFill>
              <a:srgbClr val="1D403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16" name="Google Shape;916;p54"/>
          <p:cNvCxnSpPr/>
          <p:nvPr/>
        </p:nvCxnSpPr>
        <p:spPr>
          <a:xfrm>
            <a:off x="2310144" y="3552763"/>
            <a:ext cx="86100" cy="42000"/>
          </a:xfrm>
          <a:prstGeom prst="straightConnector1">
            <a:avLst/>
          </a:prstGeom>
          <a:noFill/>
          <a:ln cap="flat" cmpd="sng" w="25400">
            <a:solidFill>
              <a:srgbClr val="1D403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17" name="Google Shape;917;p54"/>
          <p:cNvCxnSpPr/>
          <p:nvPr/>
        </p:nvCxnSpPr>
        <p:spPr>
          <a:xfrm>
            <a:off x="2396127" y="3594739"/>
            <a:ext cx="86100" cy="39300"/>
          </a:xfrm>
          <a:prstGeom prst="straightConnector1">
            <a:avLst/>
          </a:prstGeom>
          <a:noFill/>
          <a:ln cap="flat" cmpd="sng" w="25400">
            <a:solidFill>
              <a:srgbClr val="1D403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18" name="Google Shape;918;p54"/>
          <p:cNvCxnSpPr/>
          <p:nvPr/>
        </p:nvCxnSpPr>
        <p:spPr>
          <a:xfrm>
            <a:off x="2482111" y="3633948"/>
            <a:ext cx="86100" cy="36300"/>
          </a:xfrm>
          <a:prstGeom prst="straightConnector1">
            <a:avLst/>
          </a:prstGeom>
          <a:noFill/>
          <a:ln cap="flat" cmpd="sng" w="25400">
            <a:solidFill>
              <a:srgbClr val="1D403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19" name="Google Shape;919;p54"/>
          <p:cNvCxnSpPr/>
          <p:nvPr/>
        </p:nvCxnSpPr>
        <p:spPr>
          <a:xfrm>
            <a:off x="2568094" y="3670389"/>
            <a:ext cx="86100" cy="33600"/>
          </a:xfrm>
          <a:prstGeom prst="straightConnector1">
            <a:avLst/>
          </a:prstGeom>
          <a:noFill/>
          <a:ln cap="flat" cmpd="sng" w="25400">
            <a:solidFill>
              <a:srgbClr val="1D403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20" name="Google Shape;920;p54"/>
          <p:cNvCxnSpPr/>
          <p:nvPr/>
        </p:nvCxnSpPr>
        <p:spPr>
          <a:xfrm>
            <a:off x="2654077" y="3704062"/>
            <a:ext cx="86100" cy="30900"/>
          </a:xfrm>
          <a:prstGeom prst="straightConnector1">
            <a:avLst/>
          </a:prstGeom>
          <a:noFill/>
          <a:ln cap="flat" cmpd="sng" w="25400">
            <a:solidFill>
              <a:srgbClr val="1D403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21" name="Google Shape;921;p54"/>
          <p:cNvCxnSpPr/>
          <p:nvPr/>
        </p:nvCxnSpPr>
        <p:spPr>
          <a:xfrm>
            <a:off x="2740060" y="3734968"/>
            <a:ext cx="86100" cy="28200"/>
          </a:xfrm>
          <a:prstGeom prst="straightConnector1">
            <a:avLst/>
          </a:prstGeom>
          <a:noFill/>
          <a:ln cap="flat" cmpd="sng" w="25400">
            <a:solidFill>
              <a:srgbClr val="1D403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22" name="Google Shape;922;p54"/>
          <p:cNvCxnSpPr/>
          <p:nvPr/>
        </p:nvCxnSpPr>
        <p:spPr>
          <a:xfrm>
            <a:off x="2826044" y="3763105"/>
            <a:ext cx="86100" cy="25500"/>
          </a:xfrm>
          <a:prstGeom prst="straightConnector1">
            <a:avLst/>
          </a:prstGeom>
          <a:noFill/>
          <a:ln cap="flat" cmpd="sng" w="25400">
            <a:solidFill>
              <a:srgbClr val="1D403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23" name="Google Shape;923;p54"/>
          <p:cNvCxnSpPr/>
          <p:nvPr/>
        </p:nvCxnSpPr>
        <p:spPr>
          <a:xfrm>
            <a:off x="2912027" y="3788476"/>
            <a:ext cx="86100" cy="22500"/>
          </a:xfrm>
          <a:prstGeom prst="straightConnector1">
            <a:avLst/>
          </a:prstGeom>
          <a:noFill/>
          <a:ln cap="flat" cmpd="sng" w="25400">
            <a:solidFill>
              <a:srgbClr val="1D403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24" name="Google Shape;924;p54"/>
          <p:cNvCxnSpPr/>
          <p:nvPr/>
        </p:nvCxnSpPr>
        <p:spPr>
          <a:xfrm>
            <a:off x="2998010" y="3811078"/>
            <a:ext cx="86100" cy="19800"/>
          </a:xfrm>
          <a:prstGeom prst="straightConnector1">
            <a:avLst/>
          </a:prstGeom>
          <a:noFill/>
          <a:ln cap="flat" cmpd="sng" w="25400">
            <a:solidFill>
              <a:srgbClr val="1D403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25" name="Google Shape;925;p54"/>
          <p:cNvCxnSpPr/>
          <p:nvPr/>
        </p:nvCxnSpPr>
        <p:spPr>
          <a:xfrm>
            <a:off x="3083993" y="3830913"/>
            <a:ext cx="86100" cy="17100"/>
          </a:xfrm>
          <a:prstGeom prst="straightConnector1">
            <a:avLst/>
          </a:prstGeom>
          <a:noFill/>
          <a:ln cap="flat" cmpd="sng" w="25400">
            <a:solidFill>
              <a:srgbClr val="1D403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26" name="Google Shape;926;p54"/>
          <p:cNvCxnSpPr/>
          <p:nvPr/>
        </p:nvCxnSpPr>
        <p:spPr>
          <a:xfrm>
            <a:off x="3169977" y="3847980"/>
            <a:ext cx="86100" cy="14400"/>
          </a:xfrm>
          <a:prstGeom prst="straightConnector1">
            <a:avLst/>
          </a:prstGeom>
          <a:noFill/>
          <a:ln cap="flat" cmpd="sng" w="25400">
            <a:solidFill>
              <a:srgbClr val="1D403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27" name="Google Shape;927;p54"/>
          <p:cNvCxnSpPr/>
          <p:nvPr/>
        </p:nvCxnSpPr>
        <p:spPr>
          <a:xfrm>
            <a:off x="3255960" y="3862280"/>
            <a:ext cx="86100" cy="11400"/>
          </a:xfrm>
          <a:prstGeom prst="straightConnector1">
            <a:avLst/>
          </a:prstGeom>
          <a:noFill/>
          <a:ln cap="flat" cmpd="sng" w="25400">
            <a:solidFill>
              <a:srgbClr val="1D403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28" name="Google Shape;928;p54"/>
          <p:cNvCxnSpPr/>
          <p:nvPr/>
        </p:nvCxnSpPr>
        <p:spPr>
          <a:xfrm>
            <a:off x="3341943" y="3873812"/>
            <a:ext cx="86100" cy="8700"/>
          </a:xfrm>
          <a:prstGeom prst="straightConnector1">
            <a:avLst/>
          </a:prstGeom>
          <a:noFill/>
          <a:ln cap="flat" cmpd="sng" w="25400">
            <a:solidFill>
              <a:srgbClr val="1D403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29" name="Google Shape;929;p54"/>
          <p:cNvCxnSpPr/>
          <p:nvPr/>
        </p:nvCxnSpPr>
        <p:spPr>
          <a:xfrm>
            <a:off x="3427926" y="3882576"/>
            <a:ext cx="86100" cy="6000"/>
          </a:xfrm>
          <a:prstGeom prst="straightConnector1">
            <a:avLst/>
          </a:prstGeom>
          <a:noFill/>
          <a:ln cap="flat" cmpd="sng" w="25400">
            <a:solidFill>
              <a:srgbClr val="1D403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30" name="Google Shape;930;p54"/>
          <p:cNvCxnSpPr/>
          <p:nvPr/>
        </p:nvCxnSpPr>
        <p:spPr>
          <a:xfrm>
            <a:off x="3513910" y="3888573"/>
            <a:ext cx="86100" cy="3300"/>
          </a:xfrm>
          <a:prstGeom prst="straightConnector1">
            <a:avLst/>
          </a:prstGeom>
          <a:noFill/>
          <a:ln cap="flat" cmpd="sng" w="25400">
            <a:solidFill>
              <a:srgbClr val="1D403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31" name="Google Shape;931;p54"/>
          <p:cNvCxnSpPr/>
          <p:nvPr/>
        </p:nvCxnSpPr>
        <p:spPr>
          <a:xfrm>
            <a:off x="3599893" y="3891802"/>
            <a:ext cx="86100" cy="600"/>
          </a:xfrm>
          <a:prstGeom prst="straightConnector1">
            <a:avLst/>
          </a:prstGeom>
          <a:noFill/>
          <a:ln cap="flat" cmpd="sng" w="25400">
            <a:solidFill>
              <a:srgbClr val="1D403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32" name="Google Shape;932;p54"/>
          <p:cNvCxnSpPr/>
          <p:nvPr/>
        </p:nvCxnSpPr>
        <p:spPr>
          <a:xfrm flipH="1" rot="10800000">
            <a:off x="3685876" y="3889863"/>
            <a:ext cx="86100" cy="2400"/>
          </a:xfrm>
          <a:prstGeom prst="straightConnector1">
            <a:avLst/>
          </a:prstGeom>
          <a:noFill/>
          <a:ln cap="flat" cmpd="sng" w="25400">
            <a:solidFill>
              <a:srgbClr val="1D403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33" name="Google Shape;933;p54"/>
          <p:cNvCxnSpPr/>
          <p:nvPr/>
        </p:nvCxnSpPr>
        <p:spPr>
          <a:xfrm flipH="1" rot="10800000">
            <a:off x="3771859" y="3884857"/>
            <a:ext cx="86100" cy="5100"/>
          </a:xfrm>
          <a:prstGeom prst="straightConnector1">
            <a:avLst/>
          </a:prstGeom>
          <a:noFill/>
          <a:ln cap="flat" cmpd="sng" w="25400">
            <a:solidFill>
              <a:srgbClr val="1D403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34" name="Google Shape;934;p54"/>
          <p:cNvCxnSpPr/>
          <p:nvPr/>
        </p:nvCxnSpPr>
        <p:spPr>
          <a:xfrm flipH="1" rot="10800000">
            <a:off x="3857843" y="3877083"/>
            <a:ext cx="86100" cy="7800"/>
          </a:xfrm>
          <a:prstGeom prst="straightConnector1">
            <a:avLst/>
          </a:prstGeom>
          <a:noFill/>
          <a:ln cap="flat" cmpd="sng" w="25400">
            <a:solidFill>
              <a:srgbClr val="1D403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35" name="Google Shape;935;p54"/>
          <p:cNvCxnSpPr/>
          <p:nvPr/>
        </p:nvCxnSpPr>
        <p:spPr>
          <a:xfrm flipH="1" rot="10800000">
            <a:off x="3943826" y="3866541"/>
            <a:ext cx="86100" cy="10500"/>
          </a:xfrm>
          <a:prstGeom prst="straightConnector1">
            <a:avLst/>
          </a:prstGeom>
          <a:noFill/>
          <a:ln cap="flat" cmpd="sng" w="25400">
            <a:solidFill>
              <a:srgbClr val="1D403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36" name="Google Shape;936;p54"/>
          <p:cNvCxnSpPr/>
          <p:nvPr/>
        </p:nvCxnSpPr>
        <p:spPr>
          <a:xfrm flipH="1" rot="10800000">
            <a:off x="4029809" y="3852932"/>
            <a:ext cx="86100" cy="13500"/>
          </a:xfrm>
          <a:prstGeom prst="straightConnector1">
            <a:avLst/>
          </a:prstGeom>
          <a:noFill/>
          <a:ln cap="flat" cmpd="sng" w="25400">
            <a:solidFill>
              <a:srgbClr val="1D403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37" name="Google Shape;937;p54"/>
          <p:cNvCxnSpPr/>
          <p:nvPr/>
        </p:nvCxnSpPr>
        <p:spPr>
          <a:xfrm flipH="1" rot="10800000">
            <a:off x="4115793" y="3836854"/>
            <a:ext cx="86100" cy="16200"/>
          </a:xfrm>
          <a:prstGeom prst="straightConnector1">
            <a:avLst/>
          </a:prstGeom>
          <a:noFill/>
          <a:ln cap="flat" cmpd="sng" w="25400">
            <a:solidFill>
              <a:srgbClr val="1D403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38" name="Google Shape;938;p54"/>
          <p:cNvSpPr/>
          <p:nvPr/>
        </p:nvSpPr>
        <p:spPr>
          <a:xfrm>
            <a:off x="889962" y="2460292"/>
            <a:ext cx="88800" cy="88800"/>
          </a:xfrm>
          <a:prstGeom prst="ellipse">
            <a:avLst/>
          </a:prstGeom>
          <a:solidFill>
            <a:srgbClr val="1D4036"/>
          </a:solidFill>
          <a:ln cap="flat" cmpd="sng" w="7625">
            <a:solidFill>
              <a:srgbClr val="EFE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39" name="Google Shape;939;p54"/>
          <p:cNvSpPr txBox="1"/>
          <p:nvPr/>
        </p:nvSpPr>
        <p:spPr>
          <a:xfrm>
            <a:off x="972512" y="2187242"/>
            <a:ext cx="3174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rgbClr val="1D4036"/>
                </a:solidFill>
                <a:latin typeface="Montserrat"/>
                <a:ea typeface="Montserrat"/>
                <a:cs typeface="Montserrat"/>
                <a:sym typeface="Montserrat"/>
              </a:rPr>
              <a:t>1</a:t>
            </a:r>
            <a:endParaRPr b="1" sz="1200">
              <a:solidFill>
                <a:srgbClr val="1D403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40" name="Google Shape;940;p54"/>
          <p:cNvSpPr/>
          <p:nvPr/>
        </p:nvSpPr>
        <p:spPr>
          <a:xfrm>
            <a:off x="3068205" y="3792460"/>
            <a:ext cx="88800" cy="88800"/>
          </a:xfrm>
          <a:prstGeom prst="ellipse">
            <a:avLst/>
          </a:prstGeom>
          <a:solidFill>
            <a:srgbClr val="1D4036"/>
          </a:solidFill>
          <a:ln cap="flat" cmpd="sng" w="7625">
            <a:solidFill>
              <a:srgbClr val="EFE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41" name="Google Shape;941;p54"/>
          <p:cNvSpPr txBox="1"/>
          <p:nvPr/>
        </p:nvSpPr>
        <p:spPr>
          <a:xfrm>
            <a:off x="3150755" y="3519410"/>
            <a:ext cx="3174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rgbClr val="1D4036"/>
                </a:solidFill>
                <a:latin typeface="Montserrat"/>
                <a:ea typeface="Montserrat"/>
                <a:cs typeface="Montserrat"/>
                <a:sym typeface="Montserrat"/>
              </a:rPr>
              <a:t>0</a:t>
            </a:r>
            <a:endParaRPr b="1" sz="1200">
              <a:solidFill>
                <a:srgbClr val="1D403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42" name="Google Shape;942;p54"/>
          <p:cNvSpPr/>
          <p:nvPr/>
        </p:nvSpPr>
        <p:spPr>
          <a:xfrm>
            <a:off x="4157326" y="3792460"/>
            <a:ext cx="88800" cy="88800"/>
          </a:xfrm>
          <a:prstGeom prst="ellipse">
            <a:avLst/>
          </a:prstGeom>
          <a:solidFill>
            <a:srgbClr val="1D4036"/>
          </a:solidFill>
          <a:ln cap="flat" cmpd="sng" w="7625">
            <a:solidFill>
              <a:srgbClr val="EFE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43" name="Google Shape;943;p54"/>
          <p:cNvSpPr txBox="1"/>
          <p:nvPr/>
        </p:nvSpPr>
        <p:spPr>
          <a:xfrm>
            <a:off x="4239876" y="3519410"/>
            <a:ext cx="3174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rgbClr val="1D4036"/>
                </a:solidFill>
                <a:latin typeface="Montserrat"/>
                <a:ea typeface="Montserrat"/>
                <a:cs typeface="Montserrat"/>
                <a:sym typeface="Montserrat"/>
              </a:rPr>
              <a:t>0</a:t>
            </a:r>
            <a:endParaRPr b="1" sz="1200">
              <a:solidFill>
                <a:srgbClr val="1D403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44" name="Google Shape;944;p54"/>
          <p:cNvSpPr txBox="1"/>
          <p:nvPr/>
        </p:nvSpPr>
        <p:spPr>
          <a:xfrm>
            <a:off x="5016500" y="1587500"/>
            <a:ext cx="3759300" cy="43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2000">
                <a:solidFill>
                  <a:srgbClr val="1D4036"/>
                </a:solidFill>
                <a:latin typeface="Montserrat"/>
                <a:ea typeface="Montserrat"/>
                <a:cs typeface="Montserrat"/>
                <a:sym typeface="Montserrat"/>
              </a:rPr>
              <a:t>Numerador: (x − 2)(x − 3)</a:t>
            </a:r>
            <a:endParaRPr sz="2000">
              <a:solidFill>
                <a:srgbClr val="1D403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45" name="Google Shape;945;p54"/>
          <p:cNvSpPr txBox="1"/>
          <p:nvPr/>
        </p:nvSpPr>
        <p:spPr>
          <a:xfrm>
            <a:off x="5016500" y="2197100"/>
            <a:ext cx="37845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700">
                <a:solidFill>
                  <a:srgbClr val="66716B"/>
                </a:solidFill>
                <a:latin typeface="Montserrat"/>
                <a:ea typeface="Montserrat"/>
                <a:cs typeface="Montserrat"/>
                <a:sym typeface="Montserrat"/>
              </a:rPr>
              <a:t>En su propio punto, x = 0:</a:t>
            </a:r>
            <a:endParaRPr sz="1700">
              <a:solidFill>
                <a:srgbClr val="66716B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46" name="Google Shape;946;p54"/>
          <p:cNvSpPr txBox="1"/>
          <p:nvPr/>
        </p:nvSpPr>
        <p:spPr>
          <a:xfrm>
            <a:off x="5080000" y="2654300"/>
            <a:ext cx="3670200" cy="44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2300">
                <a:solidFill>
                  <a:srgbClr val="BF6B1B"/>
                </a:solidFill>
                <a:latin typeface="Montserrat"/>
                <a:ea typeface="Montserrat"/>
                <a:cs typeface="Montserrat"/>
                <a:sym typeface="Montserrat"/>
              </a:rPr>
              <a:t>(0 − 2)(0 − 3) = 6</a:t>
            </a:r>
            <a:endParaRPr sz="2300">
              <a:solidFill>
                <a:srgbClr val="BF6B1B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47" name="Google Shape;947;p54"/>
          <p:cNvSpPr txBox="1"/>
          <p:nvPr/>
        </p:nvSpPr>
        <p:spPr>
          <a:xfrm>
            <a:off x="5016500" y="3530600"/>
            <a:ext cx="1435200" cy="54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2500">
                <a:solidFill>
                  <a:srgbClr val="1D4036"/>
                </a:solidFill>
                <a:latin typeface="Montserrat"/>
                <a:ea typeface="Montserrat"/>
                <a:cs typeface="Montserrat"/>
                <a:sym typeface="Montserrat"/>
              </a:rPr>
              <a:t>L</a:t>
            </a:r>
            <a:r>
              <a:rPr baseline="-25000" lang="es" sz="2500">
                <a:solidFill>
                  <a:srgbClr val="1D4036"/>
                </a:solidFill>
                <a:latin typeface="Montserrat"/>
                <a:ea typeface="Montserrat"/>
                <a:cs typeface="Montserrat"/>
                <a:sym typeface="Montserrat"/>
              </a:rPr>
              <a:t>0</a:t>
            </a:r>
            <a:r>
              <a:rPr lang="es" sz="2500">
                <a:solidFill>
                  <a:srgbClr val="1D4036"/>
                </a:solidFill>
                <a:latin typeface="Montserrat"/>
                <a:ea typeface="Montserrat"/>
                <a:cs typeface="Montserrat"/>
                <a:sym typeface="Montserrat"/>
              </a:rPr>
              <a:t>(x) =</a:t>
            </a:r>
            <a:endParaRPr sz="2500">
              <a:solidFill>
                <a:srgbClr val="1D403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48" name="Google Shape;948;p54"/>
          <p:cNvSpPr txBox="1"/>
          <p:nvPr/>
        </p:nvSpPr>
        <p:spPr>
          <a:xfrm>
            <a:off x="6502400" y="3302000"/>
            <a:ext cx="21591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2200">
                <a:solidFill>
                  <a:srgbClr val="1D4036"/>
                </a:solidFill>
                <a:latin typeface="Montserrat"/>
                <a:ea typeface="Montserrat"/>
                <a:cs typeface="Montserrat"/>
                <a:sym typeface="Montserrat"/>
              </a:rPr>
              <a:t>(x − 2)(x − 3)</a:t>
            </a:r>
            <a:endParaRPr sz="2200">
              <a:solidFill>
                <a:srgbClr val="1D403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949" name="Google Shape;949;p54"/>
          <p:cNvCxnSpPr/>
          <p:nvPr/>
        </p:nvCxnSpPr>
        <p:spPr>
          <a:xfrm>
            <a:off x="6565900" y="3708400"/>
            <a:ext cx="2031900" cy="0"/>
          </a:xfrm>
          <a:prstGeom prst="straightConnector1">
            <a:avLst/>
          </a:prstGeom>
          <a:noFill/>
          <a:ln cap="flat" cmpd="sng" w="12700">
            <a:solidFill>
              <a:srgbClr val="1D403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50" name="Google Shape;950;p54"/>
          <p:cNvSpPr txBox="1"/>
          <p:nvPr/>
        </p:nvSpPr>
        <p:spPr>
          <a:xfrm>
            <a:off x="6502400" y="3733800"/>
            <a:ext cx="21591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2200">
                <a:solidFill>
                  <a:srgbClr val="1D4036"/>
                </a:solidFill>
                <a:latin typeface="Montserrat"/>
                <a:ea typeface="Montserrat"/>
                <a:cs typeface="Montserrat"/>
                <a:sym typeface="Montserrat"/>
              </a:rPr>
              <a:t>6</a:t>
            </a:r>
            <a:endParaRPr sz="2200">
              <a:solidFill>
                <a:srgbClr val="1D403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4" name="Shape 9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5" name="Google Shape;955;p55"/>
          <p:cNvSpPr txBox="1"/>
          <p:nvPr>
            <p:ph type="title"/>
          </p:nvPr>
        </p:nvSpPr>
        <p:spPr>
          <a:xfrm>
            <a:off x="317500" y="393700"/>
            <a:ext cx="8508900" cy="4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2400">
                <a:solidFill>
                  <a:srgbClr val="252C29"/>
                </a:solidFill>
                <a:latin typeface="Montserrat"/>
                <a:ea typeface="Montserrat"/>
                <a:cs typeface="Montserrat"/>
                <a:sym typeface="Montserrat"/>
              </a:rPr>
              <a:t>Las otras bases siguen la misma regla</a:t>
            </a:r>
            <a:endParaRPr sz="2400">
              <a:solidFill>
                <a:srgbClr val="252C29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56" name="Google Shape;956;p55"/>
          <p:cNvSpPr txBox="1"/>
          <p:nvPr>
            <p:ph idx="1" type="body"/>
          </p:nvPr>
        </p:nvSpPr>
        <p:spPr>
          <a:xfrm>
            <a:off x="381000" y="1041400"/>
            <a:ext cx="8382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600">
                <a:solidFill>
                  <a:srgbClr val="66716B"/>
                </a:solidFill>
              </a:rPr>
              <a:t>Cada numerador se anula en los otros dos puntos.</a:t>
            </a:r>
            <a:endParaRPr sz="1600">
              <a:solidFill>
                <a:srgbClr val="66716B"/>
              </a:solidFill>
            </a:endParaRPr>
          </a:p>
        </p:txBody>
      </p:sp>
      <p:sp>
        <p:nvSpPr>
          <p:cNvPr id="957" name="Google Shape;957;p55"/>
          <p:cNvSpPr txBox="1"/>
          <p:nvPr>
            <p:ph idx="12" type="sldNum"/>
          </p:nvPr>
        </p:nvSpPr>
        <p:spPr>
          <a:xfrm>
            <a:off x="8520083" y="4734654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sp>
        <p:nvSpPr>
          <p:cNvPr id="958" name="Google Shape;958;p55"/>
          <p:cNvSpPr/>
          <p:nvPr/>
        </p:nvSpPr>
        <p:spPr>
          <a:xfrm>
            <a:off x="381000" y="4762500"/>
            <a:ext cx="7048500" cy="31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rgbClr val="66716B"/>
                </a:solidFill>
                <a:latin typeface="Montserrat"/>
                <a:ea typeface="Montserrat"/>
                <a:cs typeface="Montserrat"/>
                <a:sym typeface="Montserrat"/>
              </a:rPr>
              <a:t>Dividimos por el valor del numerador en el punto propio.</a:t>
            </a:r>
            <a:endParaRPr sz="1200">
              <a:solidFill>
                <a:srgbClr val="66716B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59" name="Google Shape;959;p55"/>
          <p:cNvSpPr txBox="1"/>
          <p:nvPr/>
        </p:nvSpPr>
        <p:spPr>
          <a:xfrm>
            <a:off x="482600" y="1727200"/>
            <a:ext cx="1397100" cy="54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2500">
                <a:solidFill>
                  <a:srgbClr val="3979BD"/>
                </a:solidFill>
                <a:latin typeface="Montserrat"/>
                <a:ea typeface="Montserrat"/>
                <a:cs typeface="Montserrat"/>
                <a:sym typeface="Montserrat"/>
              </a:rPr>
              <a:t>L</a:t>
            </a:r>
            <a:r>
              <a:rPr baseline="-25000" lang="es" sz="2500">
                <a:solidFill>
                  <a:srgbClr val="3979BD"/>
                </a:solidFill>
                <a:latin typeface="Montserrat"/>
                <a:ea typeface="Montserrat"/>
                <a:cs typeface="Montserrat"/>
                <a:sym typeface="Montserrat"/>
              </a:rPr>
              <a:t>1</a:t>
            </a:r>
            <a:r>
              <a:rPr lang="es" sz="2500">
                <a:solidFill>
                  <a:srgbClr val="3979BD"/>
                </a:solidFill>
                <a:latin typeface="Montserrat"/>
                <a:ea typeface="Montserrat"/>
                <a:cs typeface="Montserrat"/>
                <a:sym typeface="Montserrat"/>
              </a:rPr>
              <a:t>(x) =</a:t>
            </a:r>
            <a:endParaRPr sz="2500">
              <a:solidFill>
                <a:srgbClr val="3979BD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60" name="Google Shape;960;p55"/>
          <p:cNvSpPr txBox="1"/>
          <p:nvPr/>
        </p:nvSpPr>
        <p:spPr>
          <a:xfrm>
            <a:off x="1905000" y="1536700"/>
            <a:ext cx="20193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2400">
                <a:solidFill>
                  <a:srgbClr val="3979BD"/>
                </a:solidFill>
                <a:latin typeface="Montserrat"/>
                <a:ea typeface="Montserrat"/>
                <a:cs typeface="Montserrat"/>
                <a:sym typeface="Montserrat"/>
              </a:rPr>
              <a:t>x(x − 3)</a:t>
            </a:r>
            <a:endParaRPr sz="2400">
              <a:solidFill>
                <a:srgbClr val="3979BD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961" name="Google Shape;961;p55"/>
          <p:cNvCxnSpPr/>
          <p:nvPr/>
        </p:nvCxnSpPr>
        <p:spPr>
          <a:xfrm>
            <a:off x="1968500" y="1968500"/>
            <a:ext cx="1892400" cy="0"/>
          </a:xfrm>
          <a:prstGeom prst="straightConnector1">
            <a:avLst/>
          </a:prstGeom>
          <a:noFill/>
          <a:ln cap="flat" cmpd="sng" w="12700">
            <a:solidFill>
              <a:srgbClr val="3979BD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62" name="Google Shape;962;p55"/>
          <p:cNvSpPr txBox="1"/>
          <p:nvPr/>
        </p:nvSpPr>
        <p:spPr>
          <a:xfrm>
            <a:off x="1905000" y="1993900"/>
            <a:ext cx="2019300" cy="40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2400">
                <a:solidFill>
                  <a:srgbClr val="3979BD"/>
                </a:solidFill>
                <a:latin typeface="Montserrat"/>
                <a:ea typeface="Montserrat"/>
                <a:cs typeface="Montserrat"/>
                <a:sym typeface="Montserrat"/>
              </a:rPr>
              <a:t>−2</a:t>
            </a:r>
            <a:endParaRPr sz="2400">
              <a:solidFill>
                <a:srgbClr val="3979BD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63" name="Google Shape;963;p55"/>
          <p:cNvSpPr txBox="1"/>
          <p:nvPr/>
        </p:nvSpPr>
        <p:spPr>
          <a:xfrm>
            <a:off x="381000" y="2552700"/>
            <a:ext cx="4064100" cy="36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700">
                <a:solidFill>
                  <a:srgbClr val="3979BD"/>
                </a:solidFill>
                <a:latin typeface="Montserrat"/>
                <a:ea typeface="Montserrat"/>
                <a:cs typeface="Montserrat"/>
                <a:sym typeface="Montserrat"/>
              </a:rPr>
              <a:t>En x = 2: 2(2 − 3) = −2</a:t>
            </a:r>
            <a:endParaRPr sz="1700">
              <a:solidFill>
                <a:srgbClr val="3979BD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64" name="Google Shape;964;p55"/>
          <p:cNvSpPr txBox="1"/>
          <p:nvPr/>
        </p:nvSpPr>
        <p:spPr>
          <a:xfrm>
            <a:off x="4876800" y="1727200"/>
            <a:ext cx="1397100" cy="54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2500">
                <a:solidFill>
                  <a:srgbClr val="B94C43"/>
                </a:solidFill>
                <a:latin typeface="Montserrat"/>
                <a:ea typeface="Montserrat"/>
                <a:cs typeface="Montserrat"/>
                <a:sym typeface="Montserrat"/>
              </a:rPr>
              <a:t>L</a:t>
            </a:r>
            <a:r>
              <a:rPr baseline="-25000" lang="es" sz="2500">
                <a:solidFill>
                  <a:srgbClr val="B94C43"/>
                </a:solidFill>
                <a:latin typeface="Montserrat"/>
                <a:ea typeface="Montserrat"/>
                <a:cs typeface="Montserrat"/>
                <a:sym typeface="Montserrat"/>
              </a:rPr>
              <a:t>2</a:t>
            </a:r>
            <a:r>
              <a:rPr lang="es" sz="2500">
                <a:solidFill>
                  <a:srgbClr val="B94C43"/>
                </a:solidFill>
                <a:latin typeface="Montserrat"/>
                <a:ea typeface="Montserrat"/>
                <a:cs typeface="Montserrat"/>
                <a:sym typeface="Montserrat"/>
              </a:rPr>
              <a:t>(x) =</a:t>
            </a:r>
            <a:endParaRPr sz="2500">
              <a:solidFill>
                <a:srgbClr val="B94C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65" name="Google Shape;965;p55"/>
          <p:cNvSpPr txBox="1"/>
          <p:nvPr/>
        </p:nvSpPr>
        <p:spPr>
          <a:xfrm>
            <a:off x="6337300" y="1536700"/>
            <a:ext cx="20193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2400">
                <a:solidFill>
                  <a:srgbClr val="B94C43"/>
                </a:solidFill>
                <a:latin typeface="Montserrat"/>
                <a:ea typeface="Montserrat"/>
                <a:cs typeface="Montserrat"/>
                <a:sym typeface="Montserrat"/>
              </a:rPr>
              <a:t>x(x − 2)</a:t>
            </a:r>
            <a:endParaRPr sz="2400">
              <a:solidFill>
                <a:srgbClr val="B94C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966" name="Google Shape;966;p55"/>
          <p:cNvCxnSpPr/>
          <p:nvPr/>
        </p:nvCxnSpPr>
        <p:spPr>
          <a:xfrm>
            <a:off x="6400800" y="1968500"/>
            <a:ext cx="1892400" cy="0"/>
          </a:xfrm>
          <a:prstGeom prst="straightConnector1">
            <a:avLst/>
          </a:prstGeom>
          <a:noFill/>
          <a:ln cap="flat" cmpd="sng" w="12700">
            <a:solidFill>
              <a:srgbClr val="B94C43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67" name="Google Shape;967;p55"/>
          <p:cNvSpPr txBox="1"/>
          <p:nvPr/>
        </p:nvSpPr>
        <p:spPr>
          <a:xfrm>
            <a:off x="6337300" y="1993900"/>
            <a:ext cx="2019300" cy="40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2400">
                <a:solidFill>
                  <a:srgbClr val="B94C43"/>
                </a:solidFill>
                <a:latin typeface="Montserrat"/>
                <a:ea typeface="Montserrat"/>
                <a:cs typeface="Montserrat"/>
                <a:sym typeface="Montserrat"/>
              </a:rPr>
              <a:t>3</a:t>
            </a:r>
            <a:endParaRPr sz="2400">
              <a:solidFill>
                <a:srgbClr val="B94C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68" name="Google Shape;968;p55"/>
          <p:cNvSpPr txBox="1"/>
          <p:nvPr/>
        </p:nvSpPr>
        <p:spPr>
          <a:xfrm>
            <a:off x="4762500" y="2552700"/>
            <a:ext cx="4064100" cy="36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700">
                <a:solidFill>
                  <a:srgbClr val="B94C43"/>
                </a:solidFill>
                <a:latin typeface="Montserrat"/>
                <a:ea typeface="Montserrat"/>
                <a:cs typeface="Montserrat"/>
                <a:sym typeface="Montserrat"/>
              </a:rPr>
              <a:t>En x = 3: 3(3 − 2) = 3</a:t>
            </a:r>
            <a:endParaRPr sz="1700">
              <a:solidFill>
                <a:srgbClr val="B94C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aphicFrame>
        <p:nvGraphicFramePr>
          <p:cNvPr id="969" name="Google Shape;969;p55"/>
          <p:cNvGraphicFramePr/>
          <p:nvPr/>
        </p:nvGraphicFramePr>
        <p:xfrm>
          <a:off x="609600" y="29464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{61632F88-6779-4D04-9DE2-9CD45BEE2DD9}</a:tableStyleId>
              </a:tblPr>
              <a:tblGrid>
                <a:gridCol w="1333500"/>
                <a:gridCol w="952500"/>
                <a:gridCol w="952500"/>
                <a:gridCol w="952500"/>
              </a:tblGrid>
              <a:tr h="3429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600">
                          <a:solidFill>
                            <a:srgbClr val="1D4036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Entrada</a:t>
                      </a:r>
                      <a:endParaRPr b="1" sz="1600">
                        <a:solidFill>
                          <a:srgbClr val="1D4036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D6D0C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D6D0C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D6D0C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D6D0C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4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600">
                          <a:solidFill>
                            <a:srgbClr val="1D4036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L</a:t>
                      </a:r>
                      <a:r>
                        <a:rPr b="1" baseline="-25000" lang="es" sz="1600">
                          <a:solidFill>
                            <a:srgbClr val="1D4036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0</a:t>
                      </a:r>
                      <a:endParaRPr b="1" baseline="-25000" sz="1600">
                        <a:solidFill>
                          <a:srgbClr val="1D4036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D6D0C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D6D0C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D6D0C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D6D0C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4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600">
                          <a:solidFill>
                            <a:srgbClr val="1D4036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L</a:t>
                      </a:r>
                      <a:r>
                        <a:rPr b="1" baseline="-25000" lang="es" sz="1600">
                          <a:solidFill>
                            <a:srgbClr val="1D4036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</a:t>
                      </a:r>
                      <a:endParaRPr b="1" baseline="-25000" sz="1600">
                        <a:solidFill>
                          <a:srgbClr val="1D4036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D6D0C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D6D0C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D6D0C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D6D0C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4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600">
                          <a:solidFill>
                            <a:srgbClr val="1D4036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L</a:t>
                      </a:r>
                      <a:r>
                        <a:rPr b="1" baseline="-25000" lang="es" sz="1600">
                          <a:solidFill>
                            <a:srgbClr val="1D4036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</a:t>
                      </a:r>
                      <a:endParaRPr b="1" baseline="-25000" sz="1600">
                        <a:solidFill>
                          <a:srgbClr val="1D4036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D6D0C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D6D0C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D6D0C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D6D0C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4D8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600">
                          <a:solidFill>
                            <a:srgbClr val="252C29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x = 0</a:t>
                      </a:r>
                      <a:endParaRPr sz="1600">
                        <a:solidFill>
                          <a:srgbClr val="252C29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D6D0C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D6D0C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D6D0C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D6D0C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4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600">
                          <a:solidFill>
                            <a:srgbClr val="252C29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</a:t>
                      </a:r>
                      <a:endParaRPr sz="1600">
                        <a:solidFill>
                          <a:srgbClr val="252C29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D6D0C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D6D0C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D6D0C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D6D0C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4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600">
                          <a:solidFill>
                            <a:srgbClr val="252C29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0</a:t>
                      </a:r>
                      <a:endParaRPr sz="1600">
                        <a:solidFill>
                          <a:srgbClr val="252C29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D6D0C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D6D0C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D6D0C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D6D0C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4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600">
                          <a:solidFill>
                            <a:srgbClr val="252C29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0</a:t>
                      </a:r>
                      <a:endParaRPr sz="1600">
                        <a:solidFill>
                          <a:srgbClr val="252C29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D6D0C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D6D0C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D6D0C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D6D0C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4D8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600">
                          <a:solidFill>
                            <a:srgbClr val="252C29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x = 2</a:t>
                      </a:r>
                      <a:endParaRPr sz="1600">
                        <a:solidFill>
                          <a:srgbClr val="252C29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D6D0C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D6D0C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D6D0C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D6D0C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4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600">
                          <a:solidFill>
                            <a:srgbClr val="252C29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0</a:t>
                      </a:r>
                      <a:endParaRPr sz="1600">
                        <a:solidFill>
                          <a:srgbClr val="252C29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D6D0C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D6D0C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D6D0C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D6D0C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4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600">
                          <a:solidFill>
                            <a:srgbClr val="252C29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</a:t>
                      </a:r>
                      <a:endParaRPr sz="1600">
                        <a:solidFill>
                          <a:srgbClr val="252C29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D6D0C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D6D0C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D6D0C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D6D0C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4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600">
                          <a:solidFill>
                            <a:srgbClr val="252C29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0</a:t>
                      </a:r>
                      <a:endParaRPr sz="1600">
                        <a:solidFill>
                          <a:srgbClr val="252C29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D6D0C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D6D0C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D6D0C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D6D0C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4D8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600">
                          <a:solidFill>
                            <a:srgbClr val="252C29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x = 3</a:t>
                      </a:r>
                      <a:endParaRPr sz="1600">
                        <a:solidFill>
                          <a:srgbClr val="252C29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D6D0C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D6D0C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D6D0C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D6D0C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4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600">
                          <a:solidFill>
                            <a:srgbClr val="252C29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0</a:t>
                      </a:r>
                      <a:endParaRPr sz="1600">
                        <a:solidFill>
                          <a:srgbClr val="252C29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D6D0C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D6D0C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D6D0C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D6D0C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4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600">
                          <a:solidFill>
                            <a:srgbClr val="252C29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0</a:t>
                      </a:r>
                      <a:endParaRPr sz="1600">
                        <a:solidFill>
                          <a:srgbClr val="252C29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D6D0C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D6D0C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D6D0C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D6D0C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4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600">
                          <a:solidFill>
                            <a:srgbClr val="252C29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</a:t>
                      </a:r>
                      <a:endParaRPr sz="1600">
                        <a:solidFill>
                          <a:srgbClr val="252C29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D6D0C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D6D0C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D6D0C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D6D0C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4D8"/>
                    </a:solidFill>
                  </a:tcPr>
                </a:tc>
              </a:tr>
            </a:tbl>
          </a:graphicData>
        </a:graphic>
      </p:graphicFrame>
      <p:sp>
        <p:nvSpPr>
          <p:cNvPr id="970" name="Google Shape;970;p55"/>
          <p:cNvSpPr txBox="1"/>
          <p:nvPr/>
        </p:nvSpPr>
        <p:spPr>
          <a:xfrm>
            <a:off x="5257800" y="3289300"/>
            <a:ext cx="3530700" cy="109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>
                <a:solidFill>
                  <a:srgbClr val="1D4036"/>
                </a:solidFill>
                <a:latin typeface="Montserrat"/>
                <a:ea typeface="Montserrat"/>
                <a:cs typeface="Montserrat"/>
                <a:sym typeface="Montserrat"/>
              </a:rPr>
              <a:t>Cada base selecciona</a:t>
            </a:r>
            <a:endParaRPr sz="1900">
              <a:solidFill>
                <a:srgbClr val="1D4036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>
                <a:solidFill>
                  <a:srgbClr val="1D4036"/>
                </a:solidFill>
                <a:latin typeface="Montserrat"/>
                <a:ea typeface="Montserrat"/>
                <a:cs typeface="Montserrat"/>
                <a:sym typeface="Montserrat"/>
              </a:rPr>
              <a:t>su dato con un 1</a:t>
            </a:r>
            <a:endParaRPr sz="1900">
              <a:solidFill>
                <a:srgbClr val="1D4036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>
                <a:solidFill>
                  <a:srgbClr val="1D4036"/>
                </a:solidFill>
                <a:latin typeface="Montserrat"/>
                <a:ea typeface="Montserrat"/>
                <a:cs typeface="Montserrat"/>
                <a:sym typeface="Montserrat"/>
              </a:rPr>
              <a:t>y anula los otros con 0.</a:t>
            </a:r>
            <a:endParaRPr sz="1900">
              <a:solidFill>
                <a:srgbClr val="1D403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4" name="Shape 9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5" name="Google Shape;975;p56"/>
          <p:cNvSpPr txBox="1"/>
          <p:nvPr>
            <p:ph type="title"/>
          </p:nvPr>
        </p:nvSpPr>
        <p:spPr>
          <a:xfrm>
            <a:off x="317500" y="393700"/>
            <a:ext cx="8508900" cy="4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2400">
                <a:solidFill>
                  <a:srgbClr val="252C29"/>
                </a:solidFill>
                <a:latin typeface="Montserrat"/>
                <a:ea typeface="Montserrat"/>
                <a:cs typeface="Montserrat"/>
                <a:sym typeface="Montserrat"/>
              </a:rPr>
              <a:t>Lagrange cuadrático: calcular y sumar</a:t>
            </a:r>
            <a:endParaRPr sz="2400">
              <a:solidFill>
                <a:srgbClr val="252C29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76" name="Google Shape;976;p56"/>
          <p:cNvSpPr txBox="1"/>
          <p:nvPr>
            <p:ph idx="1" type="body"/>
          </p:nvPr>
        </p:nvSpPr>
        <p:spPr>
          <a:xfrm>
            <a:off x="381000" y="1041400"/>
            <a:ext cx="8382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600">
                <a:solidFill>
                  <a:srgbClr val="66716B"/>
                </a:solidFill>
              </a:rPr>
              <a:t>P</a:t>
            </a:r>
            <a:r>
              <a:rPr baseline="-25000" lang="es" sz="1600">
                <a:solidFill>
                  <a:srgbClr val="66716B"/>
                </a:solidFill>
              </a:rPr>
              <a:t>2</a:t>
            </a:r>
            <a:r>
              <a:rPr lang="es" sz="1600">
                <a:solidFill>
                  <a:srgbClr val="66716B"/>
                </a:solidFill>
              </a:rPr>
              <a:t>(x) = 1 L</a:t>
            </a:r>
            <a:r>
              <a:rPr baseline="-25000" lang="es" sz="1600">
                <a:solidFill>
                  <a:srgbClr val="66716B"/>
                </a:solidFill>
              </a:rPr>
              <a:t>0</a:t>
            </a:r>
            <a:r>
              <a:rPr lang="es" sz="1600">
                <a:solidFill>
                  <a:srgbClr val="66716B"/>
                </a:solidFill>
              </a:rPr>
              <a:t>(x) + 7 L</a:t>
            </a:r>
            <a:r>
              <a:rPr baseline="-25000" lang="es" sz="1600">
                <a:solidFill>
                  <a:srgbClr val="66716B"/>
                </a:solidFill>
              </a:rPr>
              <a:t>1</a:t>
            </a:r>
            <a:r>
              <a:rPr lang="es" sz="1600">
                <a:solidFill>
                  <a:srgbClr val="66716B"/>
                </a:solidFill>
              </a:rPr>
              <a:t>(x) + 13 L</a:t>
            </a:r>
            <a:r>
              <a:rPr baseline="-25000" lang="es" sz="1600">
                <a:solidFill>
                  <a:srgbClr val="66716B"/>
                </a:solidFill>
              </a:rPr>
              <a:t>2</a:t>
            </a:r>
            <a:r>
              <a:rPr lang="es" sz="1600">
                <a:solidFill>
                  <a:srgbClr val="66716B"/>
                </a:solidFill>
              </a:rPr>
              <a:t>(x)</a:t>
            </a:r>
            <a:endParaRPr sz="1600">
              <a:solidFill>
                <a:srgbClr val="66716B"/>
              </a:solidFill>
            </a:endParaRPr>
          </a:p>
        </p:txBody>
      </p:sp>
      <p:sp>
        <p:nvSpPr>
          <p:cNvPr id="977" name="Google Shape;977;p56"/>
          <p:cNvSpPr txBox="1"/>
          <p:nvPr>
            <p:ph idx="12" type="sldNum"/>
          </p:nvPr>
        </p:nvSpPr>
        <p:spPr>
          <a:xfrm>
            <a:off x="8520083" y="4734654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sp>
        <p:nvSpPr>
          <p:cNvPr id="978" name="Google Shape;978;p56"/>
          <p:cNvSpPr/>
          <p:nvPr/>
        </p:nvSpPr>
        <p:spPr>
          <a:xfrm>
            <a:off x="381000" y="4851400"/>
            <a:ext cx="6959700" cy="29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solidFill>
                  <a:srgbClr val="66716B"/>
                </a:solidFill>
                <a:latin typeface="Montserrat"/>
                <a:ea typeface="Montserrat"/>
                <a:cs typeface="Montserrat"/>
                <a:sym typeface="Montserrat"/>
              </a:rPr>
              <a:t>Los factores pueden ser negativos.</a:t>
            </a:r>
            <a:endParaRPr sz="1100">
              <a:solidFill>
                <a:srgbClr val="66716B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79" name="Google Shape;979;p56"/>
          <p:cNvSpPr txBox="1"/>
          <p:nvPr/>
        </p:nvSpPr>
        <p:spPr>
          <a:xfrm>
            <a:off x="381000" y="1765300"/>
            <a:ext cx="12699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2300">
                <a:solidFill>
                  <a:srgbClr val="1D4036"/>
                </a:solidFill>
                <a:latin typeface="Montserrat"/>
                <a:ea typeface="Montserrat"/>
                <a:cs typeface="Montserrat"/>
                <a:sym typeface="Montserrat"/>
              </a:rPr>
              <a:t>P</a:t>
            </a:r>
            <a:r>
              <a:rPr baseline="-25000" lang="es" sz="2300">
                <a:solidFill>
                  <a:srgbClr val="1D4036"/>
                </a:solidFill>
                <a:latin typeface="Montserrat"/>
                <a:ea typeface="Montserrat"/>
                <a:cs typeface="Montserrat"/>
                <a:sym typeface="Montserrat"/>
              </a:rPr>
              <a:t>2</a:t>
            </a:r>
            <a:r>
              <a:rPr lang="es" sz="2300">
                <a:solidFill>
                  <a:srgbClr val="1D4036"/>
                </a:solidFill>
                <a:latin typeface="Montserrat"/>
                <a:ea typeface="Montserrat"/>
                <a:cs typeface="Montserrat"/>
                <a:sym typeface="Montserrat"/>
              </a:rPr>
              <a:t>(x) =</a:t>
            </a:r>
            <a:endParaRPr sz="2300">
              <a:solidFill>
                <a:srgbClr val="1D403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80" name="Google Shape;980;p56"/>
          <p:cNvSpPr txBox="1"/>
          <p:nvPr/>
        </p:nvSpPr>
        <p:spPr>
          <a:xfrm>
            <a:off x="1676400" y="1574800"/>
            <a:ext cx="22224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2200">
                <a:solidFill>
                  <a:srgbClr val="1D4036"/>
                </a:solidFill>
                <a:latin typeface="Montserrat"/>
                <a:ea typeface="Montserrat"/>
                <a:cs typeface="Montserrat"/>
                <a:sym typeface="Montserrat"/>
              </a:rPr>
              <a:t>(x − 2)(x − 3)</a:t>
            </a:r>
            <a:endParaRPr sz="2200">
              <a:solidFill>
                <a:srgbClr val="1D403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981" name="Google Shape;981;p56"/>
          <p:cNvCxnSpPr/>
          <p:nvPr/>
        </p:nvCxnSpPr>
        <p:spPr>
          <a:xfrm>
            <a:off x="1739900" y="1981200"/>
            <a:ext cx="2095500" cy="0"/>
          </a:xfrm>
          <a:prstGeom prst="straightConnector1">
            <a:avLst/>
          </a:prstGeom>
          <a:noFill/>
          <a:ln cap="flat" cmpd="sng" w="12700">
            <a:solidFill>
              <a:srgbClr val="1D403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82" name="Google Shape;982;p56"/>
          <p:cNvSpPr txBox="1"/>
          <p:nvPr/>
        </p:nvSpPr>
        <p:spPr>
          <a:xfrm>
            <a:off x="1676400" y="2006600"/>
            <a:ext cx="22224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2200">
                <a:solidFill>
                  <a:srgbClr val="1D4036"/>
                </a:solidFill>
                <a:latin typeface="Montserrat"/>
                <a:ea typeface="Montserrat"/>
                <a:cs typeface="Montserrat"/>
                <a:sym typeface="Montserrat"/>
              </a:rPr>
              <a:t>6</a:t>
            </a:r>
            <a:endParaRPr sz="2200">
              <a:solidFill>
                <a:srgbClr val="1D403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83" name="Google Shape;983;p56"/>
          <p:cNvSpPr txBox="1"/>
          <p:nvPr/>
        </p:nvSpPr>
        <p:spPr>
          <a:xfrm>
            <a:off x="3937000" y="1778000"/>
            <a:ext cx="7875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2300">
                <a:solidFill>
                  <a:srgbClr val="1D4036"/>
                </a:solidFill>
                <a:latin typeface="Montserrat"/>
                <a:ea typeface="Montserrat"/>
                <a:cs typeface="Montserrat"/>
                <a:sym typeface="Montserrat"/>
              </a:rPr>
              <a:t>+ 7</a:t>
            </a:r>
            <a:endParaRPr sz="2300">
              <a:solidFill>
                <a:srgbClr val="1D403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84" name="Google Shape;984;p56"/>
          <p:cNvSpPr txBox="1"/>
          <p:nvPr/>
        </p:nvSpPr>
        <p:spPr>
          <a:xfrm>
            <a:off x="4699000" y="1574800"/>
            <a:ext cx="13971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2200">
                <a:solidFill>
                  <a:srgbClr val="3979BD"/>
                </a:solidFill>
                <a:latin typeface="Montserrat"/>
                <a:ea typeface="Montserrat"/>
                <a:cs typeface="Montserrat"/>
                <a:sym typeface="Montserrat"/>
              </a:rPr>
              <a:t>x(x − 3)</a:t>
            </a:r>
            <a:endParaRPr sz="2200">
              <a:solidFill>
                <a:srgbClr val="3979BD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985" name="Google Shape;985;p56"/>
          <p:cNvCxnSpPr/>
          <p:nvPr/>
        </p:nvCxnSpPr>
        <p:spPr>
          <a:xfrm>
            <a:off x="4762500" y="1981200"/>
            <a:ext cx="1269900" cy="0"/>
          </a:xfrm>
          <a:prstGeom prst="straightConnector1">
            <a:avLst/>
          </a:prstGeom>
          <a:noFill/>
          <a:ln cap="flat" cmpd="sng" w="12700">
            <a:solidFill>
              <a:srgbClr val="3979BD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86" name="Google Shape;986;p56"/>
          <p:cNvSpPr txBox="1"/>
          <p:nvPr/>
        </p:nvSpPr>
        <p:spPr>
          <a:xfrm>
            <a:off x="4699000" y="2006600"/>
            <a:ext cx="13971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2200">
                <a:solidFill>
                  <a:srgbClr val="3979BD"/>
                </a:solidFill>
                <a:latin typeface="Montserrat"/>
                <a:ea typeface="Montserrat"/>
                <a:cs typeface="Montserrat"/>
                <a:sym typeface="Montserrat"/>
              </a:rPr>
              <a:t>−2</a:t>
            </a:r>
            <a:endParaRPr sz="2200">
              <a:solidFill>
                <a:srgbClr val="3979BD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87" name="Google Shape;987;p56"/>
          <p:cNvSpPr txBox="1"/>
          <p:nvPr/>
        </p:nvSpPr>
        <p:spPr>
          <a:xfrm>
            <a:off x="6159500" y="1778000"/>
            <a:ext cx="10161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2300">
                <a:solidFill>
                  <a:srgbClr val="1D4036"/>
                </a:solidFill>
                <a:latin typeface="Montserrat"/>
                <a:ea typeface="Montserrat"/>
                <a:cs typeface="Montserrat"/>
                <a:sym typeface="Montserrat"/>
              </a:rPr>
              <a:t>+ 13</a:t>
            </a:r>
            <a:endParaRPr sz="2300">
              <a:solidFill>
                <a:srgbClr val="1D403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88" name="Google Shape;988;p56"/>
          <p:cNvSpPr txBox="1"/>
          <p:nvPr/>
        </p:nvSpPr>
        <p:spPr>
          <a:xfrm>
            <a:off x="7213600" y="1574800"/>
            <a:ext cx="13971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2200">
                <a:solidFill>
                  <a:srgbClr val="B94C43"/>
                </a:solidFill>
                <a:latin typeface="Montserrat"/>
                <a:ea typeface="Montserrat"/>
                <a:cs typeface="Montserrat"/>
                <a:sym typeface="Montserrat"/>
              </a:rPr>
              <a:t>x(x − 2)</a:t>
            </a:r>
            <a:endParaRPr sz="2200">
              <a:solidFill>
                <a:srgbClr val="B94C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989" name="Google Shape;989;p56"/>
          <p:cNvCxnSpPr/>
          <p:nvPr/>
        </p:nvCxnSpPr>
        <p:spPr>
          <a:xfrm>
            <a:off x="7277100" y="1981200"/>
            <a:ext cx="1269900" cy="0"/>
          </a:xfrm>
          <a:prstGeom prst="straightConnector1">
            <a:avLst/>
          </a:prstGeom>
          <a:noFill/>
          <a:ln cap="flat" cmpd="sng" w="12700">
            <a:solidFill>
              <a:srgbClr val="B94C43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90" name="Google Shape;990;p56"/>
          <p:cNvSpPr txBox="1"/>
          <p:nvPr/>
        </p:nvSpPr>
        <p:spPr>
          <a:xfrm>
            <a:off x="7213600" y="2006600"/>
            <a:ext cx="13971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2200">
                <a:solidFill>
                  <a:srgbClr val="B94C43"/>
                </a:solidFill>
                <a:latin typeface="Montserrat"/>
                <a:ea typeface="Montserrat"/>
                <a:cs typeface="Montserrat"/>
                <a:sym typeface="Montserrat"/>
              </a:rPr>
              <a:t>3</a:t>
            </a:r>
            <a:endParaRPr sz="2200">
              <a:solidFill>
                <a:srgbClr val="B94C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991" name="Google Shape;991;p56"/>
          <p:cNvCxnSpPr/>
          <p:nvPr/>
        </p:nvCxnSpPr>
        <p:spPr>
          <a:xfrm>
            <a:off x="5143500" y="3581400"/>
            <a:ext cx="3416400" cy="0"/>
          </a:xfrm>
          <a:prstGeom prst="straightConnector1">
            <a:avLst/>
          </a:prstGeom>
          <a:noFill/>
          <a:ln cap="flat" cmpd="sng" w="10150">
            <a:solidFill>
              <a:srgbClr val="66716B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92" name="Google Shape;992;p56"/>
          <p:cNvSpPr/>
          <p:nvPr/>
        </p:nvSpPr>
        <p:spPr>
          <a:xfrm>
            <a:off x="5346700" y="3547533"/>
            <a:ext cx="533400" cy="33900"/>
          </a:xfrm>
          <a:prstGeom prst="rect">
            <a:avLst/>
          </a:prstGeom>
          <a:solidFill>
            <a:srgbClr val="1D403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93" name="Google Shape;993;p56"/>
          <p:cNvSpPr txBox="1"/>
          <p:nvPr/>
        </p:nvSpPr>
        <p:spPr>
          <a:xfrm>
            <a:off x="5219700" y="3217333"/>
            <a:ext cx="8256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700">
                <a:solidFill>
                  <a:srgbClr val="1D4036"/>
                </a:solidFill>
                <a:latin typeface="Montserrat"/>
                <a:ea typeface="Montserrat"/>
                <a:cs typeface="Montserrat"/>
                <a:sym typeface="Montserrat"/>
              </a:rPr>
              <a:t>1/3</a:t>
            </a:r>
            <a:endParaRPr sz="1700">
              <a:solidFill>
                <a:srgbClr val="1D403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94" name="Google Shape;994;p56"/>
          <p:cNvSpPr txBox="1"/>
          <p:nvPr/>
        </p:nvSpPr>
        <p:spPr>
          <a:xfrm>
            <a:off x="5219700" y="4178300"/>
            <a:ext cx="8256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>
                <a:solidFill>
                  <a:srgbClr val="66716B"/>
                </a:solidFill>
                <a:latin typeface="Montserrat"/>
                <a:ea typeface="Montserrat"/>
                <a:cs typeface="Montserrat"/>
                <a:sym typeface="Montserrat"/>
              </a:rPr>
              <a:t>1L</a:t>
            </a:r>
            <a:r>
              <a:rPr baseline="-25000" lang="es" sz="1300">
                <a:solidFill>
                  <a:srgbClr val="66716B"/>
                </a:solidFill>
                <a:latin typeface="Montserrat"/>
                <a:ea typeface="Montserrat"/>
                <a:cs typeface="Montserrat"/>
                <a:sym typeface="Montserrat"/>
              </a:rPr>
              <a:t>0</a:t>
            </a:r>
            <a:endParaRPr baseline="-25000" sz="1300">
              <a:solidFill>
                <a:srgbClr val="66716B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95" name="Google Shape;995;p56"/>
          <p:cNvSpPr/>
          <p:nvPr/>
        </p:nvSpPr>
        <p:spPr>
          <a:xfrm>
            <a:off x="6502400" y="2870200"/>
            <a:ext cx="533400" cy="711300"/>
          </a:xfrm>
          <a:prstGeom prst="rect">
            <a:avLst/>
          </a:prstGeom>
          <a:solidFill>
            <a:srgbClr val="3979B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96" name="Google Shape;996;p56"/>
          <p:cNvSpPr txBox="1"/>
          <p:nvPr/>
        </p:nvSpPr>
        <p:spPr>
          <a:xfrm>
            <a:off x="6375400" y="2540000"/>
            <a:ext cx="8256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700">
                <a:solidFill>
                  <a:srgbClr val="3979BD"/>
                </a:solidFill>
                <a:latin typeface="Montserrat"/>
                <a:ea typeface="Montserrat"/>
                <a:cs typeface="Montserrat"/>
                <a:sym typeface="Montserrat"/>
              </a:rPr>
              <a:t>7</a:t>
            </a:r>
            <a:endParaRPr sz="1700">
              <a:solidFill>
                <a:srgbClr val="3979BD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97" name="Google Shape;997;p56"/>
          <p:cNvSpPr txBox="1"/>
          <p:nvPr/>
        </p:nvSpPr>
        <p:spPr>
          <a:xfrm>
            <a:off x="6375400" y="4178300"/>
            <a:ext cx="8256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>
                <a:solidFill>
                  <a:srgbClr val="66716B"/>
                </a:solidFill>
                <a:latin typeface="Montserrat"/>
                <a:ea typeface="Montserrat"/>
                <a:cs typeface="Montserrat"/>
                <a:sym typeface="Montserrat"/>
              </a:rPr>
              <a:t>7L</a:t>
            </a:r>
            <a:r>
              <a:rPr baseline="-25000" lang="es" sz="1300">
                <a:solidFill>
                  <a:srgbClr val="66716B"/>
                </a:solidFill>
                <a:latin typeface="Montserrat"/>
                <a:ea typeface="Montserrat"/>
                <a:cs typeface="Montserrat"/>
                <a:sym typeface="Montserrat"/>
              </a:rPr>
              <a:t>1</a:t>
            </a:r>
            <a:endParaRPr baseline="-25000" sz="1300">
              <a:solidFill>
                <a:srgbClr val="66716B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98" name="Google Shape;998;p56"/>
          <p:cNvSpPr/>
          <p:nvPr/>
        </p:nvSpPr>
        <p:spPr>
          <a:xfrm>
            <a:off x="7658100" y="3581400"/>
            <a:ext cx="533400" cy="440400"/>
          </a:xfrm>
          <a:prstGeom prst="rect">
            <a:avLst/>
          </a:prstGeom>
          <a:solidFill>
            <a:srgbClr val="B94C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99" name="Google Shape;999;p56"/>
          <p:cNvSpPr txBox="1"/>
          <p:nvPr/>
        </p:nvSpPr>
        <p:spPr>
          <a:xfrm>
            <a:off x="8229600" y="3695700"/>
            <a:ext cx="8889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solidFill>
                  <a:srgbClr val="B94C43"/>
                </a:solidFill>
                <a:latin typeface="Montserrat"/>
                <a:ea typeface="Montserrat"/>
                <a:cs typeface="Montserrat"/>
                <a:sym typeface="Montserrat"/>
              </a:rPr>
              <a:t>−13/3</a:t>
            </a:r>
            <a:endParaRPr sz="1500">
              <a:solidFill>
                <a:srgbClr val="B94C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00" name="Google Shape;1000;p56"/>
          <p:cNvSpPr txBox="1"/>
          <p:nvPr/>
        </p:nvSpPr>
        <p:spPr>
          <a:xfrm>
            <a:off x="7531100" y="4178300"/>
            <a:ext cx="8256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>
                <a:solidFill>
                  <a:srgbClr val="66716B"/>
                </a:solidFill>
                <a:latin typeface="Montserrat"/>
                <a:ea typeface="Montserrat"/>
                <a:cs typeface="Montserrat"/>
                <a:sym typeface="Montserrat"/>
              </a:rPr>
              <a:t>13L</a:t>
            </a:r>
            <a:r>
              <a:rPr baseline="-25000" lang="es" sz="1300">
                <a:solidFill>
                  <a:srgbClr val="66716B"/>
                </a:solidFill>
                <a:latin typeface="Montserrat"/>
                <a:ea typeface="Montserrat"/>
                <a:cs typeface="Montserrat"/>
                <a:sym typeface="Montserrat"/>
              </a:rPr>
              <a:t>2</a:t>
            </a:r>
            <a:endParaRPr baseline="-25000" sz="1300">
              <a:solidFill>
                <a:srgbClr val="66716B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01" name="Google Shape;1001;p56"/>
          <p:cNvSpPr txBox="1"/>
          <p:nvPr/>
        </p:nvSpPr>
        <p:spPr>
          <a:xfrm>
            <a:off x="444500" y="4457700"/>
            <a:ext cx="8102700" cy="43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2200">
                <a:solidFill>
                  <a:srgbClr val="BF6B1B"/>
                </a:solidFill>
                <a:latin typeface="Montserrat"/>
                <a:ea typeface="Montserrat"/>
                <a:cs typeface="Montserrat"/>
                <a:sym typeface="Montserrat"/>
              </a:rPr>
              <a:t>P</a:t>
            </a:r>
            <a:r>
              <a:rPr baseline="-25000" lang="es" sz="2200">
                <a:solidFill>
                  <a:srgbClr val="BF6B1B"/>
                </a:solidFill>
                <a:latin typeface="Montserrat"/>
                <a:ea typeface="Montserrat"/>
                <a:cs typeface="Montserrat"/>
                <a:sym typeface="Montserrat"/>
              </a:rPr>
              <a:t>2</a:t>
            </a:r>
            <a:r>
              <a:rPr lang="es" sz="2200">
                <a:solidFill>
                  <a:srgbClr val="BF6B1B"/>
                </a:solidFill>
                <a:latin typeface="Montserrat"/>
                <a:ea typeface="Montserrat"/>
                <a:cs typeface="Montserrat"/>
                <a:sym typeface="Montserrat"/>
              </a:rPr>
              <a:t>(1) = 1/3 + 7 − 13/3 = 3</a:t>
            </a:r>
            <a:endParaRPr sz="2200">
              <a:solidFill>
                <a:srgbClr val="BF6B1B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02" name="Google Shape;1002;p56"/>
          <p:cNvSpPr txBox="1"/>
          <p:nvPr/>
        </p:nvSpPr>
        <p:spPr>
          <a:xfrm>
            <a:off x="381000" y="2781300"/>
            <a:ext cx="4635600" cy="43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rgbClr val="1D4036"/>
                </a:solidFill>
                <a:latin typeface="Montserrat"/>
                <a:ea typeface="Montserrat"/>
                <a:cs typeface="Montserrat"/>
                <a:sym typeface="Montserrat"/>
              </a:rPr>
              <a:t>L</a:t>
            </a:r>
            <a:r>
              <a:rPr baseline="-25000" lang="es" sz="1800">
                <a:solidFill>
                  <a:srgbClr val="1D4036"/>
                </a:solidFill>
                <a:latin typeface="Montserrat"/>
                <a:ea typeface="Montserrat"/>
                <a:cs typeface="Montserrat"/>
                <a:sym typeface="Montserrat"/>
              </a:rPr>
              <a:t>0</a:t>
            </a:r>
            <a:r>
              <a:rPr lang="es" sz="1800">
                <a:solidFill>
                  <a:srgbClr val="1D4036"/>
                </a:solidFill>
                <a:latin typeface="Montserrat"/>
                <a:ea typeface="Montserrat"/>
                <a:cs typeface="Montserrat"/>
                <a:sym typeface="Montserrat"/>
              </a:rPr>
              <a:t>(1) = (−1)(−2)/6 = 1/3</a:t>
            </a:r>
            <a:endParaRPr sz="1800">
              <a:solidFill>
                <a:srgbClr val="1D403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03" name="Google Shape;1003;p56"/>
          <p:cNvSpPr txBox="1"/>
          <p:nvPr/>
        </p:nvSpPr>
        <p:spPr>
          <a:xfrm>
            <a:off x="381000" y="3302000"/>
            <a:ext cx="4635600" cy="43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rgbClr val="3979BD"/>
                </a:solidFill>
                <a:latin typeface="Montserrat"/>
                <a:ea typeface="Montserrat"/>
                <a:cs typeface="Montserrat"/>
                <a:sym typeface="Montserrat"/>
              </a:rPr>
              <a:t>L</a:t>
            </a:r>
            <a:r>
              <a:rPr baseline="-25000" lang="es" sz="1800">
                <a:solidFill>
                  <a:srgbClr val="3979BD"/>
                </a:solidFill>
                <a:latin typeface="Montserrat"/>
                <a:ea typeface="Montserrat"/>
                <a:cs typeface="Montserrat"/>
                <a:sym typeface="Montserrat"/>
              </a:rPr>
              <a:t>1</a:t>
            </a:r>
            <a:r>
              <a:rPr lang="es" sz="1800">
                <a:solidFill>
                  <a:srgbClr val="3979BD"/>
                </a:solidFill>
                <a:latin typeface="Montserrat"/>
                <a:ea typeface="Montserrat"/>
                <a:cs typeface="Montserrat"/>
                <a:sym typeface="Montserrat"/>
              </a:rPr>
              <a:t>(1) = 1(−2)/(−2) = 1</a:t>
            </a:r>
            <a:endParaRPr sz="1800">
              <a:solidFill>
                <a:srgbClr val="3979BD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04" name="Google Shape;1004;p56"/>
          <p:cNvSpPr txBox="1"/>
          <p:nvPr/>
        </p:nvSpPr>
        <p:spPr>
          <a:xfrm>
            <a:off x="381000" y="3822700"/>
            <a:ext cx="4635600" cy="43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rgbClr val="B94C43"/>
                </a:solidFill>
                <a:latin typeface="Montserrat"/>
                <a:ea typeface="Montserrat"/>
                <a:cs typeface="Montserrat"/>
                <a:sym typeface="Montserrat"/>
              </a:rPr>
              <a:t>L</a:t>
            </a:r>
            <a:r>
              <a:rPr baseline="-25000" lang="es" sz="1800">
                <a:solidFill>
                  <a:srgbClr val="B94C43"/>
                </a:solidFill>
                <a:latin typeface="Montserrat"/>
                <a:ea typeface="Montserrat"/>
                <a:cs typeface="Montserrat"/>
                <a:sym typeface="Montserrat"/>
              </a:rPr>
              <a:t>2</a:t>
            </a:r>
            <a:r>
              <a:rPr lang="es" sz="1800">
                <a:solidFill>
                  <a:srgbClr val="B94C43"/>
                </a:solidFill>
                <a:latin typeface="Montserrat"/>
                <a:ea typeface="Montserrat"/>
                <a:cs typeface="Montserrat"/>
                <a:sym typeface="Montserrat"/>
              </a:rPr>
              <a:t>(1) = 1(−1)/3 = −1/3</a:t>
            </a:r>
            <a:endParaRPr sz="1800">
              <a:solidFill>
                <a:srgbClr val="B94C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8" name="Shape 10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9" name="Google Shape;1009;p57"/>
          <p:cNvSpPr txBox="1"/>
          <p:nvPr>
            <p:ph type="title"/>
          </p:nvPr>
        </p:nvSpPr>
        <p:spPr>
          <a:xfrm>
            <a:off x="317500" y="393700"/>
            <a:ext cx="8508900" cy="4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2400">
                <a:solidFill>
                  <a:srgbClr val="252C29"/>
                </a:solidFill>
                <a:latin typeface="Montserrat"/>
                <a:ea typeface="Montserrat"/>
                <a:cs typeface="Montserrat"/>
                <a:sym typeface="Montserrat"/>
              </a:rPr>
              <a:t>Newton y Lagrange: el mismo polinomio</a:t>
            </a:r>
            <a:endParaRPr sz="2400">
              <a:solidFill>
                <a:srgbClr val="252C29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10" name="Google Shape;1010;p57"/>
          <p:cNvSpPr txBox="1"/>
          <p:nvPr>
            <p:ph idx="1" type="body"/>
          </p:nvPr>
        </p:nvSpPr>
        <p:spPr>
          <a:xfrm>
            <a:off x="381000" y="1041400"/>
            <a:ext cx="8382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600">
                <a:solidFill>
                  <a:srgbClr val="66716B"/>
                </a:solidFill>
              </a:rPr>
              <a:t>Newton agrega correcciones. Lagrange suma los aportes de los datos.</a:t>
            </a:r>
            <a:endParaRPr sz="1600">
              <a:solidFill>
                <a:srgbClr val="66716B"/>
              </a:solidFill>
            </a:endParaRPr>
          </a:p>
        </p:txBody>
      </p:sp>
      <p:sp>
        <p:nvSpPr>
          <p:cNvPr id="1011" name="Google Shape;1011;p57"/>
          <p:cNvSpPr txBox="1"/>
          <p:nvPr>
            <p:ph idx="12" type="sldNum"/>
          </p:nvPr>
        </p:nvSpPr>
        <p:spPr>
          <a:xfrm>
            <a:off x="8520083" y="4734654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sp>
        <p:nvSpPr>
          <p:cNvPr id="1012" name="Google Shape;1012;p57"/>
          <p:cNvSpPr/>
          <p:nvPr/>
        </p:nvSpPr>
        <p:spPr>
          <a:xfrm>
            <a:off x="381000" y="4762500"/>
            <a:ext cx="7112100" cy="29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solidFill>
                  <a:srgbClr val="66716B"/>
                </a:solidFill>
                <a:latin typeface="Montserrat"/>
                <a:ea typeface="Montserrat"/>
                <a:cs typeface="Montserrat"/>
                <a:sym typeface="Montserrat"/>
              </a:rPr>
              <a:t>Pasar por los datos no garantiza la exactitud entre mediciones.</a:t>
            </a:r>
            <a:endParaRPr sz="1100">
              <a:solidFill>
                <a:srgbClr val="66716B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1013" name="Google Shape;1013;p57"/>
          <p:cNvCxnSpPr/>
          <p:nvPr/>
        </p:nvCxnSpPr>
        <p:spPr>
          <a:xfrm>
            <a:off x="965010" y="1930400"/>
            <a:ext cx="0" cy="2159100"/>
          </a:xfrm>
          <a:prstGeom prst="straightConnector1">
            <a:avLst/>
          </a:prstGeom>
          <a:noFill/>
          <a:ln cap="flat" cmpd="sng" w="6350">
            <a:solidFill>
              <a:srgbClr val="D6D0C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14" name="Google Shape;1014;p57"/>
          <p:cNvSpPr txBox="1"/>
          <p:nvPr/>
        </p:nvSpPr>
        <p:spPr>
          <a:xfrm>
            <a:off x="787210" y="4127500"/>
            <a:ext cx="355500" cy="24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solidFill>
                  <a:srgbClr val="66716B"/>
                </a:solidFill>
                <a:latin typeface="Montserrat"/>
                <a:ea typeface="Montserrat"/>
                <a:cs typeface="Montserrat"/>
                <a:sym typeface="Montserrat"/>
              </a:rPr>
              <a:t>0</a:t>
            </a:r>
            <a:endParaRPr sz="1100">
              <a:solidFill>
                <a:srgbClr val="66716B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1015" name="Google Shape;1015;p57"/>
          <p:cNvCxnSpPr/>
          <p:nvPr/>
        </p:nvCxnSpPr>
        <p:spPr>
          <a:xfrm>
            <a:off x="2064413" y="1930400"/>
            <a:ext cx="0" cy="2159100"/>
          </a:xfrm>
          <a:prstGeom prst="straightConnector1">
            <a:avLst/>
          </a:prstGeom>
          <a:noFill/>
          <a:ln cap="flat" cmpd="sng" w="6350">
            <a:solidFill>
              <a:srgbClr val="D6D0C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16" name="Google Shape;1016;p57"/>
          <p:cNvSpPr txBox="1"/>
          <p:nvPr/>
        </p:nvSpPr>
        <p:spPr>
          <a:xfrm>
            <a:off x="1886613" y="4127500"/>
            <a:ext cx="355500" cy="24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solidFill>
                  <a:srgbClr val="66716B"/>
                </a:solidFill>
                <a:latin typeface="Montserrat"/>
                <a:ea typeface="Montserrat"/>
                <a:cs typeface="Montserrat"/>
                <a:sym typeface="Montserrat"/>
              </a:rPr>
              <a:t>1</a:t>
            </a:r>
            <a:endParaRPr sz="1100">
              <a:solidFill>
                <a:srgbClr val="66716B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1017" name="Google Shape;1017;p57"/>
          <p:cNvCxnSpPr/>
          <p:nvPr/>
        </p:nvCxnSpPr>
        <p:spPr>
          <a:xfrm>
            <a:off x="3163816" y="1930400"/>
            <a:ext cx="0" cy="2159100"/>
          </a:xfrm>
          <a:prstGeom prst="straightConnector1">
            <a:avLst/>
          </a:prstGeom>
          <a:noFill/>
          <a:ln cap="flat" cmpd="sng" w="6350">
            <a:solidFill>
              <a:srgbClr val="D6D0C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18" name="Google Shape;1018;p57"/>
          <p:cNvSpPr txBox="1"/>
          <p:nvPr/>
        </p:nvSpPr>
        <p:spPr>
          <a:xfrm>
            <a:off x="2986016" y="4127500"/>
            <a:ext cx="355500" cy="24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solidFill>
                  <a:srgbClr val="66716B"/>
                </a:solidFill>
                <a:latin typeface="Montserrat"/>
                <a:ea typeface="Montserrat"/>
                <a:cs typeface="Montserrat"/>
                <a:sym typeface="Montserrat"/>
              </a:rPr>
              <a:t>2</a:t>
            </a:r>
            <a:endParaRPr sz="1100">
              <a:solidFill>
                <a:srgbClr val="66716B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1019" name="Google Shape;1019;p57"/>
          <p:cNvCxnSpPr/>
          <p:nvPr/>
        </p:nvCxnSpPr>
        <p:spPr>
          <a:xfrm>
            <a:off x="4263219" y="1930400"/>
            <a:ext cx="0" cy="2159100"/>
          </a:xfrm>
          <a:prstGeom prst="straightConnector1">
            <a:avLst/>
          </a:prstGeom>
          <a:noFill/>
          <a:ln cap="flat" cmpd="sng" w="6350">
            <a:solidFill>
              <a:srgbClr val="D6D0C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20" name="Google Shape;1020;p57"/>
          <p:cNvSpPr txBox="1"/>
          <p:nvPr/>
        </p:nvSpPr>
        <p:spPr>
          <a:xfrm>
            <a:off x="4085419" y="4127500"/>
            <a:ext cx="355500" cy="24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solidFill>
                  <a:srgbClr val="66716B"/>
                </a:solidFill>
                <a:latin typeface="Montserrat"/>
                <a:ea typeface="Montserrat"/>
                <a:cs typeface="Montserrat"/>
                <a:sym typeface="Montserrat"/>
              </a:rPr>
              <a:t>3</a:t>
            </a:r>
            <a:endParaRPr sz="1100">
              <a:solidFill>
                <a:srgbClr val="66716B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1021" name="Google Shape;1021;p57"/>
          <p:cNvCxnSpPr/>
          <p:nvPr/>
        </p:nvCxnSpPr>
        <p:spPr>
          <a:xfrm>
            <a:off x="800100" y="3880465"/>
            <a:ext cx="3683100" cy="0"/>
          </a:xfrm>
          <a:prstGeom prst="straightConnector1">
            <a:avLst/>
          </a:prstGeom>
          <a:noFill/>
          <a:ln cap="flat" cmpd="sng" w="6350">
            <a:solidFill>
              <a:srgbClr val="D6D0C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22" name="Google Shape;1022;p57"/>
          <p:cNvSpPr txBox="1"/>
          <p:nvPr/>
        </p:nvSpPr>
        <p:spPr>
          <a:xfrm>
            <a:off x="368300" y="3753465"/>
            <a:ext cx="3684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solidFill>
                  <a:srgbClr val="66716B"/>
                </a:solidFill>
                <a:latin typeface="Montserrat"/>
                <a:ea typeface="Montserrat"/>
                <a:cs typeface="Montserrat"/>
                <a:sym typeface="Montserrat"/>
              </a:rPr>
              <a:t>1</a:t>
            </a:r>
            <a:endParaRPr sz="1100">
              <a:solidFill>
                <a:srgbClr val="66716B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1023" name="Google Shape;1023;p57"/>
          <p:cNvCxnSpPr/>
          <p:nvPr/>
        </p:nvCxnSpPr>
        <p:spPr>
          <a:xfrm>
            <a:off x="800100" y="3601884"/>
            <a:ext cx="3683100" cy="0"/>
          </a:xfrm>
          <a:prstGeom prst="straightConnector1">
            <a:avLst/>
          </a:prstGeom>
          <a:noFill/>
          <a:ln cap="flat" cmpd="sng" w="6350">
            <a:solidFill>
              <a:srgbClr val="D6D0C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24" name="Google Shape;1024;p57"/>
          <p:cNvSpPr txBox="1"/>
          <p:nvPr/>
        </p:nvSpPr>
        <p:spPr>
          <a:xfrm>
            <a:off x="368300" y="3474884"/>
            <a:ext cx="3684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solidFill>
                  <a:srgbClr val="66716B"/>
                </a:solidFill>
                <a:latin typeface="Montserrat"/>
                <a:ea typeface="Montserrat"/>
                <a:cs typeface="Montserrat"/>
                <a:sym typeface="Montserrat"/>
              </a:rPr>
              <a:t>3</a:t>
            </a:r>
            <a:endParaRPr sz="1100">
              <a:solidFill>
                <a:srgbClr val="66716B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1025" name="Google Shape;1025;p57"/>
          <p:cNvCxnSpPr/>
          <p:nvPr/>
        </p:nvCxnSpPr>
        <p:spPr>
          <a:xfrm>
            <a:off x="800100" y="3044723"/>
            <a:ext cx="3683100" cy="0"/>
          </a:xfrm>
          <a:prstGeom prst="straightConnector1">
            <a:avLst/>
          </a:prstGeom>
          <a:noFill/>
          <a:ln cap="flat" cmpd="sng" w="6350">
            <a:solidFill>
              <a:srgbClr val="D6D0C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26" name="Google Shape;1026;p57"/>
          <p:cNvSpPr txBox="1"/>
          <p:nvPr/>
        </p:nvSpPr>
        <p:spPr>
          <a:xfrm>
            <a:off x="368300" y="2917723"/>
            <a:ext cx="3684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solidFill>
                  <a:srgbClr val="66716B"/>
                </a:solidFill>
                <a:latin typeface="Montserrat"/>
                <a:ea typeface="Montserrat"/>
                <a:cs typeface="Montserrat"/>
                <a:sym typeface="Montserrat"/>
              </a:rPr>
              <a:t>7</a:t>
            </a:r>
            <a:endParaRPr sz="1100">
              <a:solidFill>
                <a:srgbClr val="66716B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1027" name="Google Shape;1027;p57"/>
          <p:cNvCxnSpPr/>
          <p:nvPr/>
        </p:nvCxnSpPr>
        <p:spPr>
          <a:xfrm>
            <a:off x="800100" y="2208981"/>
            <a:ext cx="3683100" cy="0"/>
          </a:xfrm>
          <a:prstGeom prst="straightConnector1">
            <a:avLst/>
          </a:prstGeom>
          <a:noFill/>
          <a:ln cap="flat" cmpd="sng" w="6350">
            <a:solidFill>
              <a:srgbClr val="D6D0C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28" name="Google Shape;1028;p57"/>
          <p:cNvSpPr txBox="1"/>
          <p:nvPr/>
        </p:nvSpPr>
        <p:spPr>
          <a:xfrm>
            <a:off x="368300" y="2081981"/>
            <a:ext cx="3684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solidFill>
                  <a:srgbClr val="66716B"/>
                </a:solidFill>
                <a:latin typeface="Montserrat"/>
                <a:ea typeface="Montserrat"/>
                <a:cs typeface="Montserrat"/>
                <a:sym typeface="Montserrat"/>
              </a:rPr>
              <a:t>13</a:t>
            </a:r>
            <a:endParaRPr sz="1100">
              <a:solidFill>
                <a:srgbClr val="66716B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1029" name="Google Shape;1029;p57"/>
          <p:cNvCxnSpPr/>
          <p:nvPr/>
        </p:nvCxnSpPr>
        <p:spPr>
          <a:xfrm>
            <a:off x="800100" y="1930400"/>
            <a:ext cx="0" cy="2159100"/>
          </a:xfrm>
          <a:prstGeom prst="straightConnector1">
            <a:avLst/>
          </a:prstGeom>
          <a:noFill/>
          <a:ln cap="flat" cmpd="sng" w="10150">
            <a:solidFill>
              <a:srgbClr val="66716B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30" name="Google Shape;1030;p57"/>
          <p:cNvCxnSpPr/>
          <p:nvPr/>
        </p:nvCxnSpPr>
        <p:spPr>
          <a:xfrm>
            <a:off x="800100" y="4089400"/>
            <a:ext cx="3683100" cy="0"/>
          </a:xfrm>
          <a:prstGeom prst="straightConnector1">
            <a:avLst/>
          </a:prstGeom>
          <a:noFill/>
          <a:ln cap="flat" cmpd="sng" w="10150">
            <a:solidFill>
              <a:srgbClr val="66716B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31" name="Google Shape;1031;p57"/>
          <p:cNvSpPr txBox="1"/>
          <p:nvPr/>
        </p:nvSpPr>
        <p:spPr>
          <a:xfrm>
            <a:off x="4495800" y="4064000"/>
            <a:ext cx="228600" cy="27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>
                <a:solidFill>
                  <a:srgbClr val="66716B"/>
                </a:solidFill>
                <a:latin typeface="Montserrat"/>
                <a:ea typeface="Montserrat"/>
                <a:cs typeface="Montserrat"/>
                <a:sym typeface="Montserrat"/>
              </a:rPr>
              <a:t>x</a:t>
            </a:r>
            <a:endParaRPr sz="1300">
              <a:solidFill>
                <a:srgbClr val="66716B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32" name="Google Shape;1032;p57"/>
          <p:cNvSpPr txBox="1"/>
          <p:nvPr/>
        </p:nvSpPr>
        <p:spPr>
          <a:xfrm>
            <a:off x="546100" y="1651000"/>
            <a:ext cx="2286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>
                <a:solidFill>
                  <a:srgbClr val="66716B"/>
                </a:solidFill>
                <a:latin typeface="Montserrat"/>
                <a:ea typeface="Montserrat"/>
                <a:cs typeface="Montserrat"/>
                <a:sym typeface="Montserrat"/>
              </a:rPr>
              <a:t>y</a:t>
            </a:r>
            <a:endParaRPr sz="1300">
              <a:solidFill>
                <a:srgbClr val="66716B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1033" name="Google Shape;1033;p57"/>
          <p:cNvCxnSpPr/>
          <p:nvPr/>
        </p:nvCxnSpPr>
        <p:spPr>
          <a:xfrm flipH="1" rot="10800000">
            <a:off x="965010" y="3870265"/>
            <a:ext cx="75000" cy="10200"/>
          </a:xfrm>
          <a:prstGeom prst="straightConnector1">
            <a:avLst/>
          </a:prstGeom>
          <a:noFill/>
          <a:ln cap="flat" cmpd="sng" w="38100">
            <a:solidFill>
              <a:srgbClr val="1D403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34" name="Google Shape;1034;p57"/>
          <p:cNvCxnSpPr/>
          <p:nvPr/>
        </p:nvCxnSpPr>
        <p:spPr>
          <a:xfrm flipH="1" rot="10800000">
            <a:off x="1039970" y="3858920"/>
            <a:ext cx="75000" cy="11400"/>
          </a:xfrm>
          <a:prstGeom prst="straightConnector1">
            <a:avLst/>
          </a:prstGeom>
          <a:noFill/>
          <a:ln cap="flat" cmpd="sng" w="38100">
            <a:solidFill>
              <a:srgbClr val="1D403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35" name="Google Shape;1035;p57"/>
          <p:cNvCxnSpPr/>
          <p:nvPr/>
        </p:nvCxnSpPr>
        <p:spPr>
          <a:xfrm flipH="1" rot="10800000">
            <a:off x="1114929" y="3846280"/>
            <a:ext cx="75000" cy="12600"/>
          </a:xfrm>
          <a:prstGeom prst="straightConnector1">
            <a:avLst/>
          </a:prstGeom>
          <a:noFill/>
          <a:ln cap="flat" cmpd="sng" w="38100">
            <a:solidFill>
              <a:srgbClr val="1D403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36" name="Google Shape;1036;p57"/>
          <p:cNvCxnSpPr/>
          <p:nvPr/>
        </p:nvCxnSpPr>
        <p:spPr>
          <a:xfrm flipH="1" rot="10800000">
            <a:off x="1189888" y="3832046"/>
            <a:ext cx="75000" cy="14100"/>
          </a:xfrm>
          <a:prstGeom prst="straightConnector1">
            <a:avLst/>
          </a:prstGeom>
          <a:noFill/>
          <a:ln cap="flat" cmpd="sng" w="38100">
            <a:solidFill>
              <a:srgbClr val="1D403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37" name="Google Shape;1037;p57"/>
          <p:cNvCxnSpPr/>
          <p:nvPr/>
        </p:nvCxnSpPr>
        <p:spPr>
          <a:xfrm flipH="1" rot="10800000">
            <a:off x="1264848" y="3816816"/>
            <a:ext cx="75000" cy="15300"/>
          </a:xfrm>
          <a:prstGeom prst="straightConnector1">
            <a:avLst/>
          </a:prstGeom>
          <a:noFill/>
          <a:ln cap="flat" cmpd="sng" w="38100">
            <a:solidFill>
              <a:srgbClr val="1D403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38" name="Google Shape;1038;p57"/>
          <p:cNvCxnSpPr/>
          <p:nvPr/>
        </p:nvCxnSpPr>
        <p:spPr>
          <a:xfrm flipH="1" rot="10800000">
            <a:off x="1339807" y="3800291"/>
            <a:ext cx="75000" cy="16500"/>
          </a:xfrm>
          <a:prstGeom prst="straightConnector1">
            <a:avLst/>
          </a:prstGeom>
          <a:noFill/>
          <a:ln cap="flat" cmpd="sng" w="38100">
            <a:solidFill>
              <a:srgbClr val="1D403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39" name="Google Shape;1039;p57"/>
          <p:cNvCxnSpPr/>
          <p:nvPr/>
        </p:nvCxnSpPr>
        <p:spPr>
          <a:xfrm flipH="1" rot="10800000">
            <a:off x="1414766" y="3782171"/>
            <a:ext cx="75000" cy="18000"/>
          </a:xfrm>
          <a:prstGeom prst="straightConnector1">
            <a:avLst/>
          </a:prstGeom>
          <a:noFill/>
          <a:ln cap="flat" cmpd="sng" w="38100">
            <a:solidFill>
              <a:srgbClr val="1D403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40" name="Google Shape;1040;p57"/>
          <p:cNvCxnSpPr/>
          <p:nvPr/>
        </p:nvCxnSpPr>
        <p:spPr>
          <a:xfrm flipH="1" rot="10800000">
            <a:off x="1489726" y="3763056"/>
            <a:ext cx="75000" cy="19200"/>
          </a:xfrm>
          <a:prstGeom prst="straightConnector1">
            <a:avLst/>
          </a:prstGeom>
          <a:noFill/>
          <a:ln cap="flat" cmpd="sng" w="38100">
            <a:solidFill>
              <a:srgbClr val="1D403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41" name="Google Shape;1041;p57"/>
          <p:cNvCxnSpPr/>
          <p:nvPr/>
        </p:nvCxnSpPr>
        <p:spPr>
          <a:xfrm flipH="1" rot="10800000">
            <a:off x="1564685" y="3742646"/>
            <a:ext cx="75000" cy="20400"/>
          </a:xfrm>
          <a:prstGeom prst="straightConnector1">
            <a:avLst/>
          </a:prstGeom>
          <a:noFill/>
          <a:ln cap="flat" cmpd="sng" w="38100">
            <a:solidFill>
              <a:srgbClr val="1D403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42" name="Google Shape;1042;p57"/>
          <p:cNvCxnSpPr/>
          <p:nvPr/>
        </p:nvCxnSpPr>
        <p:spPr>
          <a:xfrm flipH="1" rot="10800000">
            <a:off x="1639644" y="3720641"/>
            <a:ext cx="75000" cy="21900"/>
          </a:xfrm>
          <a:prstGeom prst="straightConnector1">
            <a:avLst/>
          </a:prstGeom>
          <a:noFill/>
          <a:ln cap="flat" cmpd="sng" w="38100">
            <a:solidFill>
              <a:srgbClr val="1D403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43" name="Google Shape;1043;p57"/>
          <p:cNvCxnSpPr/>
          <p:nvPr/>
        </p:nvCxnSpPr>
        <p:spPr>
          <a:xfrm flipH="1" rot="10800000">
            <a:off x="1714603" y="3697641"/>
            <a:ext cx="75000" cy="23100"/>
          </a:xfrm>
          <a:prstGeom prst="straightConnector1">
            <a:avLst/>
          </a:prstGeom>
          <a:noFill/>
          <a:ln cap="flat" cmpd="sng" w="38100">
            <a:solidFill>
              <a:srgbClr val="1D403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44" name="Google Shape;1044;p57"/>
          <p:cNvCxnSpPr/>
          <p:nvPr/>
        </p:nvCxnSpPr>
        <p:spPr>
          <a:xfrm flipH="1" rot="10800000">
            <a:off x="1789563" y="3673346"/>
            <a:ext cx="75000" cy="24300"/>
          </a:xfrm>
          <a:prstGeom prst="straightConnector1">
            <a:avLst/>
          </a:prstGeom>
          <a:noFill/>
          <a:ln cap="flat" cmpd="sng" w="38100">
            <a:solidFill>
              <a:srgbClr val="1D403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45" name="Google Shape;1045;p57"/>
          <p:cNvCxnSpPr/>
          <p:nvPr/>
        </p:nvCxnSpPr>
        <p:spPr>
          <a:xfrm flipH="1" rot="10800000">
            <a:off x="1864522" y="3647456"/>
            <a:ext cx="75000" cy="25800"/>
          </a:xfrm>
          <a:prstGeom prst="straightConnector1">
            <a:avLst/>
          </a:prstGeom>
          <a:noFill/>
          <a:ln cap="flat" cmpd="sng" w="38100">
            <a:solidFill>
              <a:srgbClr val="1D403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46" name="Google Shape;1046;p57"/>
          <p:cNvCxnSpPr/>
          <p:nvPr/>
        </p:nvCxnSpPr>
        <p:spPr>
          <a:xfrm flipH="1" rot="10800000">
            <a:off x="1939481" y="3620571"/>
            <a:ext cx="75000" cy="27000"/>
          </a:xfrm>
          <a:prstGeom prst="straightConnector1">
            <a:avLst/>
          </a:prstGeom>
          <a:noFill/>
          <a:ln cap="flat" cmpd="sng" w="38100">
            <a:solidFill>
              <a:srgbClr val="1D403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47" name="Google Shape;1047;p57"/>
          <p:cNvCxnSpPr/>
          <p:nvPr/>
        </p:nvCxnSpPr>
        <p:spPr>
          <a:xfrm flipH="1" rot="10800000">
            <a:off x="2014441" y="3592390"/>
            <a:ext cx="75000" cy="28200"/>
          </a:xfrm>
          <a:prstGeom prst="straightConnector1">
            <a:avLst/>
          </a:prstGeom>
          <a:noFill/>
          <a:ln cap="flat" cmpd="sng" w="38100">
            <a:solidFill>
              <a:srgbClr val="1D403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48" name="Google Shape;1048;p57"/>
          <p:cNvCxnSpPr/>
          <p:nvPr/>
        </p:nvCxnSpPr>
        <p:spPr>
          <a:xfrm flipH="1" rot="10800000">
            <a:off x="2089400" y="3562615"/>
            <a:ext cx="75000" cy="29700"/>
          </a:xfrm>
          <a:prstGeom prst="straightConnector1">
            <a:avLst/>
          </a:prstGeom>
          <a:noFill/>
          <a:ln cap="flat" cmpd="sng" w="38100">
            <a:solidFill>
              <a:srgbClr val="1D403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49" name="Google Shape;1049;p57"/>
          <p:cNvCxnSpPr/>
          <p:nvPr/>
        </p:nvCxnSpPr>
        <p:spPr>
          <a:xfrm flipH="1" rot="10800000">
            <a:off x="2164359" y="3531844"/>
            <a:ext cx="75000" cy="30900"/>
          </a:xfrm>
          <a:prstGeom prst="straightConnector1">
            <a:avLst/>
          </a:prstGeom>
          <a:noFill/>
          <a:ln cap="flat" cmpd="sng" w="38100">
            <a:solidFill>
              <a:srgbClr val="1D403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50" name="Google Shape;1050;p57"/>
          <p:cNvCxnSpPr/>
          <p:nvPr/>
        </p:nvCxnSpPr>
        <p:spPr>
          <a:xfrm flipH="1" rot="10800000">
            <a:off x="2239318" y="3499779"/>
            <a:ext cx="75000" cy="32100"/>
          </a:xfrm>
          <a:prstGeom prst="straightConnector1">
            <a:avLst/>
          </a:prstGeom>
          <a:noFill/>
          <a:ln cap="flat" cmpd="sng" w="38100">
            <a:solidFill>
              <a:srgbClr val="1D403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51" name="Google Shape;1051;p57"/>
          <p:cNvCxnSpPr/>
          <p:nvPr/>
        </p:nvCxnSpPr>
        <p:spPr>
          <a:xfrm flipH="1" rot="10800000">
            <a:off x="2314278" y="3466118"/>
            <a:ext cx="75000" cy="33600"/>
          </a:xfrm>
          <a:prstGeom prst="straightConnector1">
            <a:avLst/>
          </a:prstGeom>
          <a:noFill/>
          <a:ln cap="flat" cmpd="sng" w="38100">
            <a:solidFill>
              <a:srgbClr val="1D403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52" name="Google Shape;1052;p57"/>
          <p:cNvCxnSpPr/>
          <p:nvPr/>
        </p:nvCxnSpPr>
        <p:spPr>
          <a:xfrm flipH="1" rot="10800000">
            <a:off x="2389237" y="3431463"/>
            <a:ext cx="75000" cy="34800"/>
          </a:xfrm>
          <a:prstGeom prst="straightConnector1">
            <a:avLst/>
          </a:prstGeom>
          <a:noFill/>
          <a:ln cap="flat" cmpd="sng" w="38100">
            <a:solidFill>
              <a:srgbClr val="1D403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53" name="Google Shape;1053;p57"/>
          <p:cNvCxnSpPr/>
          <p:nvPr/>
        </p:nvCxnSpPr>
        <p:spPr>
          <a:xfrm flipH="1" rot="10800000">
            <a:off x="2464196" y="3395512"/>
            <a:ext cx="75000" cy="36000"/>
          </a:xfrm>
          <a:prstGeom prst="straightConnector1">
            <a:avLst/>
          </a:prstGeom>
          <a:noFill/>
          <a:ln cap="flat" cmpd="sng" w="38100">
            <a:solidFill>
              <a:srgbClr val="1D403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54" name="Google Shape;1054;p57"/>
          <p:cNvCxnSpPr/>
          <p:nvPr/>
        </p:nvCxnSpPr>
        <p:spPr>
          <a:xfrm flipH="1" rot="10800000">
            <a:off x="2539156" y="3358267"/>
            <a:ext cx="75000" cy="37200"/>
          </a:xfrm>
          <a:prstGeom prst="straightConnector1">
            <a:avLst/>
          </a:prstGeom>
          <a:noFill/>
          <a:ln cap="flat" cmpd="sng" w="38100">
            <a:solidFill>
              <a:srgbClr val="1D403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55" name="Google Shape;1055;p57"/>
          <p:cNvCxnSpPr/>
          <p:nvPr/>
        </p:nvCxnSpPr>
        <p:spPr>
          <a:xfrm flipH="1" rot="10800000">
            <a:off x="2614115" y="3319426"/>
            <a:ext cx="75000" cy="38700"/>
          </a:xfrm>
          <a:prstGeom prst="straightConnector1">
            <a:avLst/>
          </a:prstGeom>
          <a:noFill/>
          <a:ln cap="flat" cmpd="sng" w="38100">
            <a:solidFill>
              <a:srgbClr val="1D403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56" name="Google Shape;1056;p57"/>
          <p:cNvCxnSpPr/>
          <p:nvPr/>
        </p:nvCxnSpPr>
        <p:spPr>
          <a:xfrm flipH="1" rot="10800000">
            <a:off x="2689074" y="3279590"/>
            <a:ext cx="75000" cy="39900"/>
          </a:xfrm>
          <a:prstGeom prst="straightConnector1">
            <a:avLst/>
          </a:prstGeom>
          <a:noFill/>
          <a:ln cap="flat" cmpd="sng" w="38100">
            <a:solidFill>
              <a:srgbClr val="1D403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57" name="Google Shape;1057;p57"/>
          <p:cNvCxnSpPr/>
          <p:nvPr/>
        </p:nvCxnSpPr>
        <p:spPr>
          <a:xfrm flipH="1" rot="10800000">
            <a:off x="2764034" y="3238459"/>
            <a:ext cx="75000" cy="41100"/>
          </a:xfrm>
          <a:prstGeom prst="straightConnector1">
            <a:avLst/>
          </a:prstGeom>
          <a:noFill/>
          <a:ln cap="flat" cmpd="sng" w="38100">
            <a:solidFill>
              <a:srgbClr val="1D403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58" name="Google Shape;1058;p57"/>
          <p:cNvCxnSpPr/>
          <p:nvPr/>
        </p:nvCxnSpPr>
        <p:spPr>
          <a:xfrm flipH="1" rot="10800000">
            <a:off x="2838993" y="3195733"/>
            <a:ext cx="75000" cy="42600"/>
          </a:xfrm>
          <a:prstGeom prst="straightConnector1">
            <a:avLst/>
          </a:prstGeom>
          <a:noFill/>
          <a:ln cap="flat" cmpd="sng" w="38100">
            <a:solidFill>
              <a:srgbClr val="1D403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59" name="Google Shape;1059;p57"/>
          <p:cNvCxnSpPr/>
          <p:nvPr/>
        </p:nvCxnSpPr>
        <p:spPr>
          <a:xfrm flipH="1" rot="10800000">
            <a:off x="2913952" y="3152012"/>
            <a:ext cx="75000" cy="43800"/>
          </a:xfrm>
          <a:prstGeom prst="straightConnector1">
            <a:avLst/>
          </a:prstGeom>
          <a:noFill/>
          <a:ln cap="flat" cmpd="sng" w="38100">
            <a:solidFill>
              <a:srgbClr val="1D403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60" name="Google Shape;1060;p57"/>
          <p:cNvCxnSpPr/>
          <p:nvPr/>
        </p:nvCxnSpPr>
        <p:spPr>
          <a:xfrm flipH="1" rot="10800000">
            <a:off x="2988911" y="3106996"/>
            <a:ext cx="75000" cy="45000"/>
          </a:xfrm>
          <a:prstGeom prst="straightConnector1">
            <a:avLst/>
          </a:prstGeom>
          <a:noFill/>
          <a:ln cap="flat" cmpd="sng" w="38100">
            <a:solidFill>
              <a:srgbClr val="1D403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61" name="Google Shape;1061;p57"/>
          <p:cNvCxnSpPr/>
          <p:nvPr/>
        </p:nvCxnSpPr>
        <p:spPr>
          <a:xfrm flipH="1" rot="10800000">
            <a:off x="3063871" y="3060385"/>
            <a:ext cx="75000" cy="46500"/>
          </a:xfrm>
          <a:prstGeom prst="straightConnector1">
            <a:avLst/>
          </a:prstGeom>
          <a:noFill/>
          <a:ln cap="flat" cmpd="sng" w="38100">
            <a:solidFill>
              <a:srgbClr val="1D403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62" name="Google Shape;1062;p57"/>
          <p:cNvCxnSpPr/>
          <p:nvPr/>
        </p:nvCxnSpPr>
        <p:spPr>
          <a:xfrm flipH="1" rot="10800000">
            <a:off x="3138830" y="3012779"/>
            <a:ext cx="75000" cy="47700"/>
          </a:xfrm>
          <a:prstGeom prst="straightConnector1">
            <a:avLst/>
          </a:prstGeom>
          <a:noFill/>
          <a:ln cap="flat" cmpd="sng" w="38100">
            <a:solidFill>
              <a:srgbClr val="1D403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63" name="Google Shape;1063;p57"/>
          <p:cNvCxnSpPr/>
          <p:nvPr/>
        </p:nvCxnSpPr>
        <p:spPr>
          <a:xfrm flipH="1" rot="10800000">
            <a:off x="3213789" y="2963878"/>
            <a:ext cx="75000" cy="48900"/>
          </a:xfrm>
          <a:prstGeom prst="straightConnector1">
            <a:avLst/>
          </a:prstGeom>
          <a:noFill/>
          <a:ln cap="flat" cmpd="sng" w="38100">
            <a:solidFill>
              <a:srgbClr val="1D403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64" name="Google Shape;1064;p57"/>
          <p:cNvCxnSpPr/>
          <p:nvPr/>
        </p:nvCxnSpPr>
        <p:spPr>
          <a:xfrm flipH="1" rot="10800000">
            <a:off x="3288749" y="2913382"/>
            <a:ext cx="75000" cy="50400"/>
          </a:xfrm>
          <a:prstGeom prst="straightConnector1">
            <a:avLst/>
          </a:prstGeom>
          <a:noFill/>
          <a:ln cap="flat" cmpd="sng" w="38100">
            <a:solidFill>
              <a:srgbClr val="1D403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65" name="Google Shape;1065;p57"/>
          <p:cNvCxnSpPr/>
          <p:nvPr/>
        </p:nvCxnSpPr>
        <p:spPr>
          <a:xfrm flipH="1" rot="10800000">
            <a:off x="3363708" y="2861890"/>
            <a:ext cx="75000" cy="51600"/>
          </a:xfrm>
          <a:prstGeom prst="straightConnector1">
            <a:avLst/>
          </a:prstGeom>
          <a:noFill/>
          <a:ln cap="flat" cmpd="sng" w="38100">
            <a:solidFill>
              <a:srgbClr val="1D403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66" name="Google Shape;1066;p57"/>
          <p:cNvCxnSpPr/>
          <p:nvPr/>
        </p:nvCxnSpPr>
        <p:spPr>
          <a:xfrm flipH="1" rot="10800000">
            <a:off x="3438667" y="2809104"/>
            <a:ext cx="75000" cy="52800"/>
          </a:xfrm>
          <a:prstGeom prst="straightConnector1">
            <a:avLst/>
          </a:prstGeom>
          <a:noFill/>
          <a:ln cap="flat" cmpd="sng" w="38100">
            <a:solidFill>
              <a:srgbClr val="1D403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67" name="Google Shape;1067;p57"/>
          <p:cNvCxnSpPr/>
          <p:nvPr/>
        </p:nvCxnSpPr>
        <p:spPr>
          <a:xfrm flipH="1" rot="10800000">
            <a:off x="3513626" y="2754723"/>
            <a:ext cx="75000" cy="54300"/>
          </a:xfrm>
          <a:prstGeom prst="straightConnector1">
            <a:avLst/>
          </a:prstGeom>
          <a:noFill/>
          <a:ln cap="flat" cmpd="sng" w="38100">
            <a:solidFill>
              <a:srgbClr val="1D403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68" name="Google Shape;1068;p57"/>
          <p:cNvCxnSpPr/>
          <p:nvPr/>
        </p:nvCxnSpPr>
        <p:spPr>
          <a:xfrm flipH="1" rot="10800000">
            <a:off x="3588586" y="2699346"/>
            <a:ext cx="75000" cy="55500"/>
          </a:xfrm>
          <a:prstGeom prst="straightConnector1">
            <a:avLst/>
          </a:prstGeom>
          <a:noFill/>
          <a:ln cap="flat" cmpd="sng" w="38100">
            <a:solidFill>
              <a:srgbClr val="1D403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69" name="Google Shape;1069;p57"/>
          <p:cNvCxnSpPr/>
          <p:nvPr/>
        </p:nvCxnSpPr>
        <p:spPr>
          <a:xfrm flipH="1" rot="10800000">
            <a:off x="3663545" y="2642675"/>
            <a:ext cx="75000" cy="56700"/>
          </a:xfrm>
          <a:prstGeom prst="straightConnector1">
            <a:avLst/>
          </a:prstGeom>
          <a:noFill/>
          <a:ln cap="flat" cmpd="sng" w="38100">
            <a:solidFill>
              <a:srgbClr val="1D403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70" name="Google Shape;1070;p57"/>
          <p:cNvCxnSpPr/>
          <p:nvPr/>
        </p:nvCxnSpPr>
        <p:spPr>
          <a:xfrm flipH="1" rot="10800000">
            <a:off x="3738504" y="2584408"/>
            <a:ext cx="75000" cy="58200"/>
          </a:xfrm>
          <a:prstGeom prst="straightConnector1">
            <a:avLst/>
          </a:prstGeom>
          <a:noFill/>
          <a:ln cap="flat" cmpd="sng" w="38100">
            <a:solidFill>
              <a:srgbClr val="1D403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71" name="Google Shape;1071;p57"/>
          <p:cNvCxnSpPr/>
          <p:nvPr/>
        </p:nvCxnSpPr>
        <p:spPr>
          <a:xfrm flipH="1" rot="10800000">
            <a:off x="3813464" y="2525146"/>
            <a:ext cx="75000" cy="59400"/>
          </a:xfrm>
          <a:prstGeom prst="straightConnector1">
            <a:avLst/>
          </a:prstGeom>
          <a:noFill/>
          <a:ln cap="flat" cmpd="sng" w="38100">
            <a:solidFill>
              <a:srgbClr val="1D403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72" name="Google Shape;1072;p57"/>
          <p:cNvCxnSpPr/>
          <p:nvPr/>
        </p:nvCxnSpPr>
        <p:spPr>
          <a:xfrm flipH="1" rot="10800000">
            <a:off x="3888423" y="2464590"/>
            <a:ext cx="75000" cy="60600"/>
          </a:xfrm>
          <a:prstGeom prst="straightConnector1">
            <a:avLst/>
          </a:prstGeom>
          <a:noFill/>
          <a:ln cap="flat" cmpd="sng" w="38100">
            <a:solidFill>
              <a:srgbClr val="1D403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73" name="Google Shape;1073;p57"/>
          <p:cNvCxnSpPr/>
          <p:nvPr/>
        </p:nvCxnSpPr>
        <p:spPr>
          <a:xfrm flipH="1" rot="10800000">
            <a:off x="3963382" y="2402738"/>
            <a:ext cx="75000" cy="61800"/>
          </a:xfrm>
          <a:prstGeom prst="straightConnector1">
            <a:avLst/>
          </a:prstGeom>
          <a:noFill/>
          <a:ln cap="flat" cmpd="sng" w="38100">
            <a:solidFill>
              <a:srgbClr val="1D403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74" name="Google Shape;1074;p57"/>
          <p:cNvCxnSpPr/>
          <p:nvPr/>
        </p:nvCxnSpPr>
        <p:spPr>
          <a:xfrm flipH="1" rot="10800000">
            <a:off x="4038342" y="2339291"/>
            <a:ext cx="75000" cy="63300"/>
          </a:xfrm>
          <a:prstGeom prst="straightConnector1">
            <a:avLst/>
          </a:prstGeom>
          <a:noFill/>
          <a:ln cap="flat" cmpd="sng" w="38100">
            <a:solidFill>
              <a:srgbClr val="1D403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75" name="Google Shape;1075;p57"/>
          <p:cNvCxnSpPr/>
          <p:nvPr/>
        </p:nvCxnSpPr>
        <p:spPr>
          <a:xfrm flipH="1" rot="10800000">
            <a:off x="4113301" y="2274849"/>
            <a:ext cx="75000" cy="64500"/>
          </a:xfrm>
          <a:prstGeom prst="straightConnector1">
            <a:avLst/>
          </a:prstGeom>
          <a:noFill/>
          <a:ln cap="flat" cmpd="sng" w="38100">
            <a:solidFill>
              <a:srgbClr val="1D403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76" name="Google Shape;1076;p57"/>
          <p:cNvCxnSpPr/>
          <p:nvPr/>
        </p:nvCxnSpPr>
        <p:spPr>
          <a:xfrm flipH="1" rot="10800000">
            <a:off x="4188260" y="2209113"/>
            <a:ext cx="75000" cy="65700"/>
          </a:xfrm>
          <a:prstGeom prst="straightConnector1">
            <a:avLst/>
          </a:prstGeom>
          <a:noFill/>
          <a:ln cap="flat" cmpd="sng" w="38100">
            <a:solidFill>
              <a:srgbClr val="1D403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77" name="Google Shape;1077;p57"/>
          <p:cNvCxnSpPr/>
          <p:nvPr/>
        </p:nvCxnSpPr>
        <p:spPr>
          <a:xfrm flipH="1" rot="10800000">
            <a:off x="965010" y="3865765"/>
            <a:ext cx="105000" cy="14700"/>
          </a:xfrm>
          <a:prstGeom prst="straightConnector1">
            <a:avLst/>
          </a:prstGeom>
          <a:noFill/>
          <a:ln cap="flat" cmpd="sng" w="22850">
            <a:solidFill>
              <a:srgbClr val="BF6B1B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78" name="Google Shape;1078;p57"/>
          <p:cNvCxnSpPr/>
          <p:nvPr/>
        </p:nvCxnSpPr>
        <p:spPr>
          <a:xfrm flipH="1" rot="10800000">
            <a:off x="1189888" y="3826046"/>
            <a:ext cx="105000" cy="20100"/>
          </a:xfrm>
          <a:prstGeom prst="straightConnector1">
            <a:avLst/>
          </a:prstGeom>
          <a:noFill/>
          <a:ln cap="flat" cmpd="sng" w="22850">
            <a:solidFill>
              <a:srgbClr val="BF6B1B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79" name="Google Shape;1079;p57"/>
          <p:cNvCxnSpPr/>
          <p:nvPr/>
        </p:nvCxnSpPr>
        <p:spPr>
          <a:xfrm flipH="1" rot="10800000">
            <a:off x="1414766" y="3774671"/>
            <a:ext cx="105000" cy="25500"/>
          </a:xfrm>
          <a:prstGeom prst="straightConnector1">
            <a:avLst/>
          </a:prstGeom>
          <a:noFill/>
          <a:ln cap="flat" cmpd="sng" w="22850">
            <a:solidFill>
              <a:srgbClr val="BF6B1B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80" name="Google Shape;1080;p57"/>
          <p:cNvCxnSpPr/>
          <p:nvPr/>
        </p:nvCxnSpPr>
        <p:spPr>
          <a:xfrm flipH="1" rot="10800000">
            <a:off x="1639644" y="3711641"/>
            <a:ext cx="105000" cy="30900"/>
          </a:xfrm>
          <a:prstGeom prst="straightConnector1">
            <a:avLst/>
          </a:prstGeom>
          <a:noFill/>
          <a:ln cap="flat" cmpd="sng" w="22850">
            <a:solidFill>
              <a:srgbClr val="BF6B1B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81" name="Google Shape;1081;p57"/>
          <p:cNvCxnSpPr/>
          <p:nvPr/>
        </p:nvCxnSpPr>
        <p:spPr>
          <a:xfrm flipH="1" rot="10800000">
            <a:off x="1864522" y="3636956"/>
            <a:ext cx="105000" cy="36300"/>
          </a:xfrm>
          <a:prstGeom prst="straightConnector1">
            <a:avLst/>
          </a:prstGeom>
          <a:noFill/>
          <a:ln cap="flat" cmpd="sng" w="22850">
            <a:solidFill>
              <a:srgbClr val="BF6B1B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82" name="Google Shape;1082;p57"/>
          <p:cNvCxnSpPr/>
          <p:nvPr/>
        </p:nvCxnSpPr>
        <p:spPr>
          <a:xfrm flipH="1" rot="10800000">
            <a:off x="2089400" y="3550615"/>
            <a:ext cx="105000" cy="41700"/>
          </a:xfrm>
          <a:prstGeom prst="straightConnector1">
            <a:avLst/>
          </a:prstGeom>
          <a:noFill/>
          <a:ln cap="flat" cmpd="sng" w="22850">
            <a:solidFill>
              <a:srgbClr val="BF6B1B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83" name="Google Shape;1083;p57"/>
          <p:cNvCxnSpPr/>
          <p:nvPr/>
        </p:nvCxnSpPr>
        <p:spPr>
          <a:xfrm flipH="1" rot="10800000">
            <a:off x="2314278" y="3452618"/>
            <a:ext cx="105000" cy="47100"/>
          </a:xfrm>
          <a:prstGeom prst="straightConnector1">
            <a:avLst/>
          </a:prstGeom>
          <a:noFill/>
          <a:ln cap="flat" cmpd="sng" w="22850">
            <a:solidFill>
              <a:srgbClr val="BF6B1B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84" name="Google Shape;1084;p57"/>
          <p:cNvCxnSpPr/>
          <p:nvPr/>
        </p:nvCxnSpPr>
        <p:spPr>
          <a:xfrm flipH="1" rot="10800000">
            <a:off x="2539156" y="3342967"/>
            <a:ext cx="105000" cy="52500"/>
          </a:xfrm>
          <a:prstGeom prst="straightConnector1">
            <a:avLst/>
          </a:prstGeom>
          <a:noFill/>
          <a:ln cap="flat" cmpd="sng" w="22850">
            <a:solidFill>
              <a:srgbClr val="BF6B1B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85" name="Google Shape;1085;p57"/>
          <p:cNvCxnSpPr/>
          <p:nvPr/>
        </p:nvCxnSpPr>
        <p:spPr>
          <a:xfrm flipH="1" rot="10800000">
            <a:off x="2764034" y="3221359"/>
            <a:ext cx="105000" cy="58200"/>
          </a:xfrm>
          <a:prstGeom prst="straightConnector1">
            <a:avLst/>
          </a:prstGeom>
          <a:noFill/>
          <a:ln cap="flat" cmpd="sng" w="22850">
            <a:solidFill>
              <a:srgbClr val="BF6B1B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86" name="Google Shape;1086;p57"/>
          <p:cNvCxnSpPr/>
          <p:nvPr/>
        </p:nvCxnSpPr>
        <p:spPr>
          <a:xfrm flipH="1" rot="10800000">
            <a:off x="2988911" y="3088396"/>
            <a:ext cx="105000" cy="63600"/>
          </a:xfrm>
          <a:prstGeom prst="straightConnector1">
            <a:avLst/>
          </a:prstGeom>
          <a:noFill/>
          <a:ln cap="flat" cmpd="sng" w="22850">
            <a:solidFill>
              <a:srgbClr val="BF6B1B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87" name="Google Shape;1087;p57"/>
          <p:cNvCxnSpPr/>
          <p:nvPr/>
        </p:nvCxnSpPr>
        <p:spPr>
          <a:xfrm flipH="1" rot="10800000">
            <a:off x="3213789" y="2943778"/>
            <a:ext cx="105000" cy="69000"/>
          </a:xfrm>
          <a:prstGeom prst="straightConnector1">
            <a:avLst/>
          </a:prstGeom>
          <a:noFill/>
          <a:ln cap="flat" cmpd="sng" w="22850">
            <a:solidFill>
              <a:srgbClr val="BF6B1B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88" name="Google Shape;1088;p57"/>
          <p:cNvCxnSpPr/>
          <p:nvPr/>
        </p:nvCxnSpPr>
        <p:spPr>
          <a:xfrm flipH="1" rot="10800000">
            <a:off x="3438667" y="2787504"/>
            <a:ext cx="105000" cy="74400"/>
          </a:xfrm>
          <a:prstGeom prst="straightConnector1">
            <a:avLst/>
          </a:prstGeom>
          <a:noFill/>
          <a:ln cap="flat" cmpd="sng" w="22850">
            <a:solidFill>
              <a:srgbClr val="BF6B1B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89" name="Google Shape;1089;p57"/>
          <p:cNvCxnSpPr/>
          <p:nvPr/>
        </p:nvCxnSpPr>
        <p:spPr>
          <a:xfrm flipH="1" rot="10800000">
            <a:off x="3663545" y="2619575"/>
            <a:ext cx="105000" cy="79800"/>
          </a:xfrm>
          <a:prstGeom prst="straightConnector1">
            <a:avLst/>
          </a:prstGeom>
          <a:noFill/>
          <a:ln cap="flat" cmpd="sng" w="22850">
            <a:solidFill>
              <a:srgbClr val="BF6B1B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90" name="Google Shape;1090;p57"/>
          <p:cNvCxnSpPr/>
          <p:nvPr/>
        </p:nvCxnSpPr>
        <p:spPr>
          <a:xfrm flipH="1" rot="10800000">
            <a:off x="3888423" y="2439990"/>
            <a:ext cx="105000" cy="85200"/>
          </a:xfrm>
          <a:prstGeom prst="straightConnector1">
            <a:avLst/>
          </a:prstGeom>
          <a:noFill/>
          <a:ln cap="flat" cmpd="sng" w="22850">
            <a:solidFill>
              <a:srgbClr val="BF6B1B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91" name="Google Shape;1091;p57"/>
          <p:cNvCxnSpPr/>
          <p:nvPr/>
        </p:nvCxnSpPr>
        <p:spPr>
          <a:xfrm flipH="1" rot="10800000">
            <a:off x="4113301" y="2248749"/>
            <a:ext cx="105000" cy="90600"/>
          </a:xfrm>
          <a:prstGeom prst="straightConnector1">
            <a:avLst/>
          </a:prstGeom>
          <a:noFill/>
          <a:ln cap="flat" cmpd="sng" w="22850">
            <a:solidFill>
              <a:srgbClr val="BF6B1B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92" name="Google Shape;1092;p57"/>
          <p:cNvSpPr/>
          <p:nvPr/>
        </p:nvSpPr>
        <p:spPr>
          <a:xfrm>
            <a:off x="920560" y="3836015"/>
            <a:ext cx="88800" cy="88800"/>
          </a:xfrm>
          <a:prstGeom prst="ellipse">
            <a:avLst/>
          </a:prstGeom>
          <a:solidFill>
            <a:srgbClr val="1D4036"/>
          </a:solidFill>
          <a:ln cap="flat" cmpd="sng" w="7625">
            <a:solidFill>
              <a:srgbClr val="EFE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93" name="Google Shape;1093;p57"/>
          <p:cNvSpPr/>
          <p:nvPr/>
        </p:nvSpPr>
        <p:spPr>
          <a:xfrm>
            <a:off x="3119366" y="3000273"/>
            <a:ext cx="88800" cy="88800"/>
          </a:xfrm>
          <a:prstGeom prst="ellipse">
            <a:avLst/>
          </a:prstGeom>
          <a:solidFill>
            <a:srgbClr val="1D4036"/>
          </a:solidFill>
          <a:ln cap="flat" cmpd="sng" w="7625">
            <a:solidFill>
              <a:srgbClr val="EFE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94" name="Google Shape;1094;p57"/>
          <p:cNvSpPr/>
          <p:nvPr/>
        </p:nvSpPr>
        <p:spPr>
          <a:xfrm>
            <a:off x="4218769" y="2164531"/>
            <a:ext cx="88800" cy="88800"/>
          </a:xfrm>
          <a:prstGeom prst="ellipse">
            <a:avLst/>
          </a:prstGeom>
          <a:solidFill>
            <a:srgbClr val="1D4036"/>
          </a:solidFill>
          <a:ln cap="flat" cmpd="sng" w="7625">
            <a:solidFill>
              <a:srgbClr val="EFE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95" name="Google Shape;1095;p57"/>
          <p:cNvSpPr/>
          <p:nvPr/>
        </p:nvSpPr>
        <p:spPr>
          <a:xfrm>
            <a:off x="2019963" y="3557434"/>
            <a:ext cx="88800" cy="88800"/>
          </a:xfrm>
          <a:prstGeom prst="ellipse">
            <a:avLst/>
          </a:prstGeom>
          <a:solidFill>
            <a:srgbClr val="BF6B1B"/>
          </a:solidFill>
          <a:ln cap="flat" cmpd="sng" w="7625">
            <a:solidFill>
              <a:srgbClr val="EFE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96" name="Google Shape;1096;p57"/>
          <p:cNvSpPr txBox="1"/>
          <p:nvPr/>
        </p:nvSpPr>
        <p:spPr>
          <a:xfrm>
            <a:off x="2153313" y="3424084"/>
            <a:ext cx="8127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rgbClr val="BF6B1B"/>
                </a:solidFill>
                <a:latin typeface="Montserrat"/>
                <a:ea typeface="Montserrat"/>
                <a:cs typeface="Montserrat"/>
                <a:sym typeface="Montserrat"/>
              </a:rPr>
              <a:t>(1, 3)</a:t>
            </a:r>
            <a:endParaRPr b="1" sz="1200">
              <a:solidFill>
                <a:srgbClr val="BF6B1B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1097" name="Google Shape;1097;p57"/>
          <p:cNvCxnSpPr/>
          <p:nvPr/>
        </p:nvCxnSpPr>
        <p:spPr>
          <a:xfrm>
            <a:off x="876300" y="1676400"/>
            <a:ext cx="266700" cy="0"/>
          </a:xfrm>
          <a:prstGeom prst="straightConnector1">
            <a:avLst/>
          </a:prstGeom>
          <a:noFill/>
          <a:ln cap="flat" cmpd="sng" w="38100">
            <a:solidFill>
              <a:srgbClr val="1D403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98" name="Google Shape;1098;p57"/>
          <p:cNvSpPr txBox="1"/>
          <p:nvPr/>
        </p:nvSpPr>
        <p:spPr>
          <a:xfrm>
            <a:off x="1219200" y="1524000"/>
            <a:ext cx="12066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>
                <a:solidFill>
                  <a:srgbClr val="1D4036"/>
                </a:solidFill>
                <a:latin typeface="Montserrat"/>
                <a:ea typeface="Montserrat"/>
                <a:cs typeface="Montserrat"/>
                <a:sym typeface="Montserrat"/>
              </a:rPr>
              <a:t>Newton</a:t>
            </a:r>
            <a:endParaRPr sz="1300">
              <a:solidFill>
                <a:srgbClr val="1D403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1099" name="Google Shape;1099;p57"/>
          <p:cNvCxnSpPr/>
          <p:nvPr/>
        </p:nvCxnSpPr>
        <p:spPr>
          <a:xfrm>
            <a:off x="2514600" y="1676400"/>
            <a:ext cx="279300" cy="0"/>
          </a:xfrm>
          <a:prstGeom prst="straightConnector1">
            <a:avLst/>
          </a:prstGeom>
          <a:noFill/>
          <a:ln cap="flat" cmpd="sng" w="25400">
            <a:solidFill>
              <a:srgbClr val="BF6B1B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1100" name="Google Shape;1100;p57"/>
          <p:cNvSpPr txBox="1"/>
          <p:nvPr/>
        </p:nvSpPr>
        <p:spPr>
          <a:xfrm>
            <a:off x="2882900" y="1524000"/>
            <a:ext cx="13971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>
                <a:solidFill>
                  <a:srgbClr val="BF6B1B"/>
                </a:solidFill>
                <a:latin typeface="Montserrat"/>
                <a:ea typeface="Montserrat"/>
                <a:cs typeface="Montserrat"/>
                <a:sym typeface="Montserrat"/>
              </a:rPr>
              <a:t>Lagrange</a:t>
            </a:r>
            <a:endParaRPr sz="1300">
              <a:solidFill>
                <a:srgbClr val="BF6B1B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01" name="Google Shape;1101;p57"/>
          <p:cNvSpPr txBox="1"/>
          <p:nvPr/>
        </p:nvSpPr>
        <p:spPr>
          <a:xfrm>
            <a:off x="5003800" y="1638300"/>
            <a:ext cx="37083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2500">
                <a:solidFill>
                  <a:srgbClr val="1D4036"/>
                </a:solidFill>
                <a:latin typeface="Montserrat"/>
                <a:ea typeface="Montserrat"/>
                <a:cs typeface="Montserrat"/>
                <a:sym typeface="Montserrat"/>
              </a:rPr>
              <a:t>P</a:t>
            </a:r>
            <a:r>
              <a:rPr baseline="-25000" lang="es" sz="2500">
                <a:solidFill>
                  <a:srgbClr val="1D4036"/>
                </a:solidFill>
                <a:latin typeface="Montserrat"/>
                <a:ea typeface="Montserrat"/>
                <a:cs typeface="Montserrat"/>
                <a:sym typeface="Montserrat"/>
              </a:rPr>
              <a:t>2</a:t>
            </a:r>
            <a:r>
              <a:rPr lang="es" sz="2500">
                <a:solidFill>
                  <a:srgbClr val="1D4036"/>
                </a:solidFill>
                <a:latin typeface="Montserrat"/>
                <a:ea typeface="Montserrat"/>
                <a:cs typeface="Montserrat"/>
                <a:sym typeface="Montserrat"/>
              </a:rPr>
              <a:t>(x) = 1 + x + x</a:t>
            </a:r>
            <a:r>
              <a:rPr baseline="30000" lang="es" sz="2500">
                <a:solidFill>
                  <a:srgbClr val="1D4036"/>
                </a:solidFill>
                <a:latin typeface="Montserrat"/>
                <a:ea typeface="Montserrat"/>
                <a:cs typeface="Montserrat"/>
                <a:sym typeface="Montserrat"/>
              </a:rPr>
              <a:t>2</a:t>
            </a:r>
            <a:endParaRPr baseline="30000" sz="2500">
              <a:solidFill>
                <a:srgbClr val="1D403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02" name="Google Shape;1102;p57"/>
          <p:cNvSpPr txBox="1"/>
          <p:nvPr/>
        </p:nvSpPr>
        <p:spPr>
          <a:xfrm>
            <a:off x="5003800" y="2387600"/>
            <a:ext cx="3771900" cy="33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600">
                <a:solidFill>
                  <a:srgbClr val="66716B"/>
                </a:solidFill>
                <a:latin typeface="Montserrat"/>
                <a:ea typeface="Montserrat"/>
                <a:cs typeface="Montserrat"/>
                <a:sym typeface="Montserrat"/>
              </a:rPr>
              <a:t>Comprobación de los datos</a:t>
            </a:r>
            <a:endParaRPr sz="1600">
              <a:solidFill>
                <a:srgbClr val="66716B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03" name="Google Shape;1103;p57"/>
          <p:cNvSpPr txBox="1"/>
          <p:nvPr/>
        </p:nvSpPr>
        <p:spPr>
          <a:xfrm>
            <a:off x="5143500" y="2794000"/>
            <a:ext cx="3429000" cy="110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2100">
                <a:solidFill>
                  <a:srgbClr val="1D4036"/>
                </a:solidFill>
                <a:latin typeface="Montserrat"/>
                <a:ea typeface="Montserrat"/>
                <a:cs typeface="Montserrat"/>
                <a:sym typeface="Montserrat"/>
              </a:rPr>
              <a:t>P</a:t>
            </a:r>
            <a:r>
              <a:rPr baseline="-25000" lang="es" sz="2100">
                <a:solidFill>
                  <a:srgbClr val="1D4036"/>
                </a:solidFill>
                <a:latin typeface="Montserrat"/>
                <a:ea typeface="Montserrat"/>
                <a:cs typeface="Montserrat"/>
                <a:sym typeface="Montserrat"/>
              </a:rPr>
              <a:t>2</a:t>
            </a:r>
            <a:r>
              <a:rPr lang="es" sz="2100">
                <a:solidFill>
                  <a:srgbClr val="1D4036"/>
                </a:solidFill>
                <a:latin typeface="Montserrat"/>
                <a:ea typeface="Montserrat"/>
                <a:cs typeface="Montserrat"/>
                <a:sym typeface="Montserrat"/>
              </a:rPr>
              <a:t>(0) = 1</a:t>
            </a:r>
            <a:endParaRPr sz="2100">
              <a:solidFill>
                <a:srgbClr val="1D4036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2100">
                <a:solidFill>
                  <a:srgbClr val="1D4036"/>
                </a:solidFill>
                <a:latin typeface="Montserrat"/>
                <a:ea typeface="Montserrat"/>
                <a:cs typeface="Montserrat"/>
                <a:sym typeface="Montserrat"/>
              </a:rPr>
              <a:t>P</a:t>
            </a:r>
            <a:r>
              <a:rPr baseline="-25000" lang="es" sz="2100">
                <a:solidFill>
                  <a:srgbClr val="1D4036"/>
                </a:solidFill>
                <a:latin typeface="Montserrat"/>
                <a:ea typeface="Montserrat"/>
                <a:cs typeface="Montserrat"/>
                <a:sym typeface="Montserrat"/>
              </a:rPr>
              <a:t>2</a:t>
            </a:r>
            <a:r>
              <a:rPr lang="es" sz="2100">
                <a:solidFill>
                  <a:srgbClr val="1D4036"/>
                </a:solidFill>
                <a:latin typeface="Montserrat"/>
                <a:ea typeface="Montserrat"/>
                <a:cs typeface="Montserrat"/>
                <a:sym typeface="Montserrat"/>
              </a:rPr>
              <a:t>(2) = 7</a:t>
            </a:r>
            <a:endParaRPr sz="2100">
              <a:solidFill>
                <a:srgbClr val="1D4036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2100">
                <a:solidFill>
                  <a:srgbClr val="1D4036"/>
                </a:solidFill>
                <a:latin typeface="Montserrat"/>
                <a:ea typeface="Montserrat"/>
                <a:cs typeface="Montserrat"/>
                <a:sym typeface="Montserrat"/>
              </a:rPr>
              <a:t>P</a:t>
            </a:r>
            <a:r>
              <a:rPr baseline="-25000" lang="es" sz="2100">
                <a:solidFill>
                  <a:srgbClr val="1D4036"/>
                </a:solidFill>
                <a:latin typeface="Montserrat"/>
                <a:ea typeface="Montserrat"/>
                <a:cs typeface="Montserrat"/>
                <a:sym typeface="Montserrat"/>
              </a:rPr>
              <a:t>2</a:t>
            </a:r>
            <a:r>
              <a:rPr lang="es" sz="2100">
                <a:solidFill>
                  <a:srgbClr val="1D4036"/>
                </a:solidFill>
                <a:latin typeface="Montserrat"/>
                <a:ea typeface="Montserrat"/>
                <a:cs typeface="Montserrat"/>
                <a:sym typeface="Montserrat"/>
              </a:rPr>
              <a:t>(3) = 13</a:t>
            </a:r>
            <a:endParaRPr sz="2100">
              <a:solidFill>
                <a:srgbClr val="1D403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04" name="Google Shape;1104;p57"/>
          <p:cNvSpPr txBox="1"/>
          <p:nvPr/>
        </p:nvSpPr>
        <p:spPr>
          <a:xfrm>
            <a:off x="4851400" y="3937000"/>
            <a:ext cx="40005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rgbClr val="BF6B1B"/>
                </a:solidFill>
                <a:latin typeface="Montserrat"/>
                <a:ea typeface="Montserrat"/>
                <a:cs typeface="Montserrat"/>
                <a:sym typeface="Montserrat"/>
              </a:rPr>
              <a:t>En x = 1: dos datos dan 4; tres datos dan 3.</a:t>
            </a:r>
            <a:endParaRPr>
              <a:solidFill>
                <a:srgbClr val="BF6B1B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05" name="Google Shape;1105;p57"/>
          <p:cNvSpPr txBox="1"/>
          <p:nvPr/>
        </p:nvSpPr>
        <p:spPr>
          <a:xfrm>
            <a:off x="381000" y="4394200"/>
            <a:ext cx="8343900" cy="36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solidFill>
                  <a:srgbClr val="1D4036"/>
                </a:solidFill>
                <a:latin typeface="Montserrat"/>
                <a:ea typeface="Montserrat"/>
                <a:cs typeface="Montserrat"/>
                <a:sym typeface="Montserrat"/>
              </a:rPr>
              <a:t>N entradas distintas: polinomio único de grado a lo sumo N − 1.</a:t>
            </a:r>
            <a:endParaRPr sz="1500">
              <a:solidFill>
                <a:srgbClr val="1D403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9" name="Shape 1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0" name="Google Shape;1110;p58"/>
          <p:cNvSpPr txBox="1"/>
          <p:nvPr>
            <p:ph type="title"/>
          </p:nvPr>
        </p:nvSpPr>
        <p:spPr>
          <a:xfrm>
            <a:off x="317500" y="393700"/>
            <a:ext cx="8496300" cy="69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2400"/>
              <a:t>Lo comprobamos con Chapra: estimar ln(2)</a:t>
            </a:r>
            <a:endParaRPr sz="2400"/>
          </a:p>
        </p:txBody>
      </p:sp>
      <p:sp>
        <p:nvSpPr>
          <p:cNvPr id="1111" name="Google Shape;1111;p58"/>
          <p:cNvSpPr txBox="1"/>
          <p:nvPr>
            <p:ph idx="1" type="body"/>
          </p:nvPr>
        </p:nvSpPr>
        <p:spPr>
          <a:xfrm>
            <a:off x="381000" y="1066800"/>
            <a:ext cx="8318400" cy="55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600">
                <a:solidFill>
                  <a:srgbClr val="626262"/>
                </a:solidFill>
              </a:rPr>
              <a:t>Conocemos ln(1)=0 y ln(4)≈1.386294.</a:t>
            </a:r>
            <a:endParaRPr sz="1600">
              <a:solidFill>
                <a:srgbClr val="626262"/>
              </a:solidFill>
            </a:endParaRPr>
          </a:p>
        </p:txBody>
      </p:sp>
      <p:sp>
        <p:nvSpPr>
          <p:cNvPr id="1112" name="Google Shape;1112;p58"/>
          <p:cNvSpPr txBox="1"/>
          <p:nvPr>
            <p:ph idx="12" type="sldNum"/>
          </p:nvPr>
        </p:nvSpPr>
        <p:spPr>
          <a:xfrm>
            <a:off x="8520083" y="4734654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sp>
        <p:nvSpPr>
          <p:cNvPr id="1113" name="Google Shape;1113;p58"/>
          <p:cNvSpPr/>
          <p:nvPr/>
        </p:nvSpPr>
        <p:spPr>
          <a:xfrm>
            <a:off x="381000" y="4508500"/>
            <a:ext cx="74931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rgbClr val="626262"/>
                </a:solidFill>
                <a:latin typeface="Montserrat"/>
                <a:ea typeface="Montserrat"/>
                <a:cs typeface="Montserrat"/>
                <a:sym typeface="Montserrat"/>
              </a:rPr>
              <a:t>Chapra, ej. 18.1 y fig. 18.3 · valores recalculados con log(double)</a:t>
            </a:r>
            <a:endParaRPr sz="900">
              <a:solidFill>
                <a:srgbClr val="62626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114" name="Google Shape;1114;p5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1000" y="1651000"/>
            <a:ext cx="8382000" cy="2743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8" name="Shape 1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9" name="Google Shape;1119;p59"/>
          <p:cNvSpPr txBox="1"/>
          <p:nvPr>
            <p:ph type="title"/>
          </p:nvPr>
        </p:nvSpPr>
        <p:spPr>
          <a:xfrm>
            <a:off x="317500" y="393700"/>
            <a:ext cx="8496300" cy="69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2400"/>
              <a:t>Sumamos el dato de x = 6</a:t>
            </a:r>
            <a:endParaRPr sz="2400"/>
          </a:p>
        </p:txBody>
      </p:sp>
      <p:sp>
        <p:nvSpPr>
          <p:cNvPr id="1120" name="Google Shape;1120;p59"/>
          <p:cNvSpPr txBox="1"/>
          <p:nvPr>
            <p:ph idx="1" type="body"/>
          </p:nvPr>
        </p:nvSpPr>
        <p:spPr>
          <a:xfrm>
            <a:off x="381000" y="1066800"/>
            <a:ext cx="8318400" cy="55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600">
                <a:solidFill>
                  <a:srgbClr val="626262"/>
                </a:solidFill>
              </a:rPr>
              <a:t>ln(6)≈1.791759: el nuevo término introduce curvatura.</a:t>
            </a:r>
            <a:endParaRPr sz="1600">
              <a:solidFill>
                <a:srgbClr val="626262"/>
              </a:solidFill>
            </a:endParaRPr>
          </a:p>
        </p:txBody>
      </p:sp>
      <p:sp>
        <p:nvSpPr>
          <p:cNvPr id="1121" name="Google Shape;1121;p59"/>
          <p:cNvSpPr txBox="1"/>
          <p:nvPr>
            <p:ph idx="12" type="sldNum"/>
          </p:nvPr>
        </p:nvSpPr>
        <p:spPr>
          <a:xfrm>
            <a:off x="8520083" y="4734654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sp>
        <p:nvSpPr>
          <p:cNvPr id="1122" name="Google Shape;1122;p59"/>
          <p:cNvSpPr/>
          <p:nvPr/>
        </p:nvSpPr>
        <p:spPr>
          <a:xfrm>
            <a:off x="381000" y="4508500"/>
            <a:ext cx="74931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rgbClr val="626262"/>
                </a:solidFill>
                <a:latin typeface="Montserrat"/>
                <a:ea typeface="Montserrat"/>
                <a:cs typeface="Montserrat"/>
                <a:sym typeface="Montserrat"/>
              </a:rPr>
              <a:t>Chapra, ej. 18.2 y fig. 18.4 · adaptación gráfica</a:t>
            </a:r>
            <a:endParaRPr sz="900">
              <a:solidFill>
                <a:srgbClr val="62626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123" name="Google Shape;1123;p5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1000" y="1651000"/>
            <a:ext cx="8382000" cy="2743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7" name="Shape 1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8" name="Google Shape;1128;p60"/>
          <p:cNvSpPr txBox="1"/>
          <p:nvPr>
            <p:ph type="title"/>
          </p:nvPr>
        </p:nvSpPr>
        <p:spPr>
          <a:xfrm>
            <a:off x="317500" y="393700"/>
            <a:ext cx="8496300" cy="69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2400"/>
              <a:t>Un cuarto punto permite llegar al grado tres</a:t>
            </a:r>
            <a:endParaRPr sz="2400"/>
          </a:p>
        </p:txBody>
      </p:sp>
      <p:sp>
        <p:nvSpPr>
          <p:cNvPr id="1129" name="Google Shape;1129;p60"/>
          <p:cNvSpPr txBox="1"/>
          <p:nvPr>
            <p:ph idx="1" type="body"/>
          </p:nvPr>
        </p:nvSpPr>
        <p:spPr>
          <a:xfrm>
            <a:off x="381000" y="1066800"/>
            <a:ext cx="8318400" cy="55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600">
                <a:solidFill>
                  <a:srgbClr val="626262"/>
                </a:solidFill>
              </a:rPr>
              <a:t>Agregamos x = 5, ln(5)≈1.609438. No hace falta ordenar los nodos.</a:t>
            </a:r>
            <a:endParaRPr sz="1600">
              <a:solidFill>
                <a:srgbClr val="626262"/>
              </a:solidFill>
            </a:endParaRPr>
          </a:p>
        </p:txBody>
      </p:sp>
      <p:sp>
        <p:nvSpPr>
          <p:cNvPr id="1130" name="Google Shape;1130;p60"/>
          <p:cNvSpPr txBox="1"/>
          <p:nvPr>
            <p:ph idx="12" type="sldNum"/>
          </p:nvPr>
        </p:nvSpPr>
        <p:spPr>
          <a:xfrm>
            <a:off x="8520083" y="4734654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sp>
        <p:nvSpPr>
          <p:cNvPr id="1131" name="Google Shape;1131;p60"/>
          <p:cNvSpPr/>
          <p:nvPr/>
        </p:nvSpPr>
        <p:spPr>
          <a:xfrm>
            <a:off x="381000" y="4508500"/>
            <a:ext cx="74931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rgbClr val="626262"/>
                </a:solidFill>
                <a:latin typeface="Montserrat"/>
                <a:ea typeface="Montserrat"/>
                <a:cs typeface="Montserrat"/>
                <a:sym typeface="Montserrat"/>
              </a:rPr>
              <a:t>Chapra, ej. 18.3 y fig. 18.6 · adaptación gráfica</a:t>
            </a:r>
            <a:endParaRPr sz="900">
              <a:solidFill>
                <a:srgbClr val="62626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132" name="Google Shape;1132;p6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1000" y="1651000"/>
            <a:ext cx="8382000" cy="2743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6" name="Shape 1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7" name="Google Shape;1137;p61"/>
          <p:cNvSpPr txBox="1"/>
          <p:nvPr>
            <p:ph type="title"/>
          </p:nvPr>
        </p:nvSpPr>
        <p:spPr>
          <a:xfrm>
            <a:off x="317500" y="393700"/>
            <a:ext cx="8496300" cy="69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2400"/>
              <a:t>El término nuevo orienta una estimación</a:t>
            </a:r>
            <a:endParaRPr sz="2400"/>
          </a:p>
        </p:txBody>
      </p:sp>
      <p:sp>
        <p:nvSpPr>
          <p:cNvPr id="1138" name="Google Shape;1138;p61"/>
          <p:cNvSpPr txBox="1"/>
          <p:nvPr>
            <p:ph idx="1" type="body"/>
          </p:nvPr>
        </p:nvSpPr>
        <p:spPr>
          <a:xfrm>
            <a:off x="381000" y="1066800"/>
            <a:ext cx="8318400" cy="55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600">
                <a:solidFill>
                  <a:srgbClr val="626262"/>
                </a:solidFill>
              </a:rPr>
              <a:t>La diferencia entre grados no es automáticamente el error verdadero.</a:t>
            </a:r>
            <a:endParaRPr sz="1600">
              <a:solidFill>
                <a:srgbClr val="626262"/>
              </a:solidFill>
            </a:endParaRPr>
          </a:p>
        </p:txBody>
      </p:sp>
      <p:sp>
        <p:nvSpPr>
          <p:cNvPr id="1139" name="Google Shape;1139;p61"/>
          <p:cNvSpPr txBox="1"/>
          <p:nvPr>
            <p:ph idx="12" type="sldNum"/>
          </p:nvPr>
        </p:nvSpPr>
        <p:spPr>
          <a:xfrm>
            <a:off x="8520083" y="4734654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sp>
        <p:nvSpPr>
          <p:cNvPr id="1140" name="Google Shape;1140;p61"/>
          <p:cNvSpPr/>
          <p:nvPr/>
        </p:nvSpPr>
        <p:spPr>
          <a:xfrm>
            <a:off x="381000" y="4508500"/>
            <a:ext cx="74931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rgbClr val="626262"/>
                </a:solidFill>
                <a:latin typeface="Montserrat"/>
                <a:ea typeface="Montserrat"/>
                <a:cs typeface="Montserrat"/>
                <a:sym typeface="Montserrat"/>
              </a:rPr>
              <a:t>Chapra §18.1.4, ej. 18.4 · f suficientemente suave para la fórmula del resto</a:t>
            </a:r>
            <a:endParaRPr sz="900">
              <a:solidFill>
                <a:srgbClr val="62626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141" name="Google Shape;1141;p6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1000" y="1651000"/>
            <a:ext cx="8382000" cy="2743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5" name="Shape 1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" name="Google Shape;1146;p62"/>
          <p:cNvSpPr txBox="1"/>
          <p:nvPr>
            <p:ph type="title"/>
          </p:nvPr>
        </p:nvSpPr>
        <p:spPr>
          <a:xfrm>
            <a:off x="317500" y="393700"/>
            <a:ext cx="8496300" cy="69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2400"/>
              <a:t>Más puntos no siempre significan más precisión</a:t>
            </a:r>
            <a:endParaRPr sz="2400"/>
          </a:p>
        </p:txBody>
      </p:sp>
      <p:sp>
        <p:nvSpPr>
          <p:cNvPr id="1147" name="Google Shape;1147;p62"/>
          <p:cNvSpPr txBox="1"/>
          <p:nvPr>
            <p:ph idx="1" type="body"/>
          </p:nvPr>
        </p:nvSpPr>
        <p:spPr>
          <a:xfrm>
            <a:off x="381000" y="1066800"/>
            <a:ext cx="8318400" cy="55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600">
                <a:solidFill>
                  <a:srgbClr val="626262"/>
                </a:solidFill>
              </a:rPr>
              <a:t>Interpolar obliga a pasar por los datos, incluido su ruido.</a:t>
            </a:r>
            <a:endParaRPr sz="1600">
              <a:solidFill>
                <a:srgbClr val="626262"/>
              </a:solidFill>
            </a:endParaRPr>
          </a:p>
        </p:txBody>
      </p:sp>
      <p:sp>
        <p:nvSpPr>
          <p:cNvPr id="1148" name="Google Shape;1148;p62"/>
          <p:cNvSpPr txBox="1"/>
          <p:nvPr>
            <p:ph idx="12" type="sldNum"/>
          </p:nvPr>
        </p:nvSpPr>
        <p:spPr>
          <a:xfrm>
            <a:off x="8520083" y="4734654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sp>
        <p:nvSpPr>
          <p:cNvPr id="1149" name="Google Shape;1149;p62"/>
          <p:cNvSpPr/>
          <p:nvPr/>
        </p:nvSpPr>
        <p:spPr>
          <a:xfrm>
            <a:off x="381000" y="4508500"/>
            <a:ext cx="74931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rgbClr val="626262"/>
                </a:solidFill>
                <a:latin typeface="Montserrat"/>
                <a:ea typeface="Montserrat"/>
                <a:cs typeface="Montserrat"/>
                <a:sym typeface="Montserrat"/>
              </a:rPr>
              <a:t>Chapra §18.1.4–18.1.5 y §18.5 · límites de la interpolación</a:t>
            </a:r>
            <a:endParaRPr sz="900">
              <a:solidFill>
                <a:srgbClr val="62626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150" name="Google Shape;1150;p6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1000" y="1651000"/>
            <a:ext cx="8382000" cy="2743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4" name="Shape 1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5" name="Google Shape;1155;p63"/>
          <p:cNvSpPr txBox="1"/>
          <p:nvPr>
            <p:ph type="title"/>
          </p:nvPr>
        </p:nvSpPr>
        <p:spPr>
          <a:xfrm>
            <a:off x="317500" y="393700"/>
            <a:ext cx="8496300" cy="69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2400"/>
              <a:t>Dos tareas: construir y evaluar</a:t>
            </a:r>
            <a:endParaRPr sz="2400"/>
          </a:p>
        </p:txBody>
      </p:sp>
      <p:sp>
        <p:nvSpPr>
          <p:cNvPr id="1156" name="Google Shape;1156;p63"/>
          <p:cNvSpPr txBox="1"/>
          <p:nvPr>
            <p:ph idx="1" type="body"/>
          </p:nvPr>
        </p:nvSpPr>
        <p:spPr>
          <a:xfrm>
            <a:off x="381000" y="1066800"/>
            <a:ext cx="8318400" cy="55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600">
                <a:solidFill>
                  <a:srgbClr val="626262"/>
                </a:solidFill>
              </a:rPr>
              <a:t>La tabla se calcula una vez; luego puede usarse para distintas consultas.</a:t>
            </a:r>
            <a:endParaRPr sz="1600">
              <a:solidFill>
                <a:srgbClr val="626262"/>
              </a:solidFill>
            </a:endParaRPr>
          </a:p>
        </p:txBody>
      </p:sp>
      <p:sp>
        <p:nvSpPr>
          <p:cNvPr id="1157" name="Google Shape;1157;p63"/>
          <p:cNvSpPr txBox="1"/>
          <p:nvPr>
            <p:ph idx="12" type="sldNum"/>
          </p:nvPr>
        </p:nvSpPr>
        <p:spPr>
          <a:xfrm>
            <a:off x="8520083" y="4734654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sp>
        <p:nvSpPr>
          <p:cNvPr id="1158" name="Google Shape;1158;p63"/>
          <p:cNvSpPr/>
          <p:nvPr/>
        </p:nvSpPr>
        <p:spPr>
          <a:xfrm>
            <a:off x="381000" y="4508500"/>
            <a:ext cx="74931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rgbClr val="626262"/>
                </a:solidFill>
                <a:latin typeface="Montserrat"/>
                <a:ea typeface="Montserrat"/>
                <a:cs typeface="Montserrat"/>
                <a:sym typeface="Montserrat"/>
              </a:rPr>
              <a:t>Chapra, fig. 18.7 · C++ con N puntos y grado máximo N−1</a:t>
            </a:r>
            <a:endParaRPr sz="900">
              <a:solidFill>
                <a:srgbClr val="62626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159" name="Google Shape;1159;p6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1000" y="1651000"/>
            <a:ext cx="8382000" cy="2743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3" name="Shape 1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4" name="Google Shape;1164;p64"/>
          <p:cNvSpPr txBox="1"/>
          <p:nvPr>
            <p:ph type="title"/>
          </p:nvPr>
        </p:nvSpPr>
        <p:spPr>
          <a:xfrm>
            <a:off x="317500" y="393700"/>
            <a:ext cx="8496300" cy="69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2400"/>
              <a:t>Del triángulo de diferencias a los ciclos</a:t>
            </a:r>
            <a:endParaRPr sz="2400"/>
          </a:p>
        </p:txBody>
      </p:sp>
      <p:sp>
        <p:nvSpPr>
          <p:cNvPr id="1165" name="Google Shape;1165;p64"/>
          <p:cNvSpPr txBox="1"/>
          <p:nvPr>
            <p:ph idx="12" type="sldNum"/>
          </p:nvPr>
        </p:nvSpPr>
        <p:spPr>
          <a:xfrm>
            <a:off x="8520083" y="4734654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sp>
        <p:nvSpPr>
          <p:cNvPr id="1166" name="Google Shape;1166;p64"/>
          <p:cNvSpPr/>
          <p:nvPr/>
        </p:nvSpPr>
        <p:spPr>
          <a:xfrm>
            <a:off x="381000" y="4508500"/>
            <a:ext cx="74931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rgbClr val="626262"/>
                </a:solidFill>
                <a:latin typeface="Montserrat"/>
                <a:ea typeface="Montserrat"/>
                <a:cs typeface="Montserrat"/>
                <a:sym typeface="Montserrat"/>
              </a:rPr>
              <a:t>Chapra, fig. 18.7 · codigo/newton.cpp</a:t>
            </a:r>
            <a:endParaRPr sz="900">
              <a:solidFill>
                <a:srgbClr val="62626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67" name="Google Shape;1167;p64"/>
          <p:cNvSpPr/>
          <p:nvPr/>
        </p:nvSpPr>
        <p:spPr>
          <a:xfrm>
            <a:off x="381000" y="1638300"/>
            <a:ext cx="8382000" cy="2628900"/>
          </a:xfrm>
          <a:prstGeom prst="roundRect">
            <a:avLst>
              <a:gd fmla="val 16667" name="adj"/>
            </a:avLst>
          </a:prstGeom>
          <a:solidFill>
            <a:srgbClr val="FAFA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68" name="Google Shape;1168;p64"/>
          <p:cNvSpPr/>
          <p:nvPr/>
        </p:nvSpPr>
        <p:spPr>
          <a:xfrm>
            <a:off x="381000" y="1638300"/>
            <a:ext cx="8382000" cy="304800"/>
          </a:xfrm>
          <a:prstGeom prst="roundRect">
            <a:avLst>
              <a:gd fmla="val 16667" name="adj"/>
            </a:avLst>
          </a:prstGeom>
          <a:solidFill>
            <a:srgbClr val="41414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69" name="Google Shape;1169;p64"/>
          <p:cNvSpPr/>
          <p:nvPr/>
        </p:nvSpPr>
        <p:spPr>
          <a:xfrm>
            <a:off x="508000" y="1739900"/>
            <a:ext cx="101700" cy="101700"/>
          </a:xfrm>
          <a:prstGeom prst="ellipse">
            <a:avLst/>
          </a:prstGeom>
          <a:solidFill>
            <a:srgbClr val="FF60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70" name="Google Shape;1170;p64"/>
          <p:cNvSpPr/>
          <p:nvPr/>
        </p:nvSpPr>
        <p:spPr>
          <a:xfrm>
            <a:off x="698500" y="1739900"/>
            <a:ext cx="101700" cy="101700"/>
          </a:xfrm>
          <a:prstGeom prst="ellipse">
            <a:avLst/>
          </a:prstGeom>
          <a:solidFill>
            <a:srgbClr val="FFBD4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71" name="Google Shape;1171;p64"/>
          <p:cNvSpPr/>
          <p:nvPr/>
        </p:nvSpPr>
        <p:spPr>
          <a:xfrm>
            <a:off x="889000" y="1739900"/>
            <a:ext cx="101700" cy="101700"/>
          </a:xfrm>
          <a:prstGeom prst="ellipse">
            <a:avLst/>
          </a:prstGeom>
          <a:solidFill>
            <a:srgbClr val="00CA4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72" name="Google Shape;1172;p64"/>
          <p:cNvSpPr txBox="1"/>
          <p:nvPr>
            <p:ph idx="1" type="body"/>
          </p:nvPr>
        </p:nvSpPr>
        <p:spPr>
          <a:xfrm>
            <a:off x="520700" y="2006600"/>
            <a:ext cx="8102700" cy="218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solidFill>
                  <a:srgbClr val="4285F4"/>
                </a:solidFill>
                <a:latin typeface="Roboto Mono"/>
                <a:ea typeface="Roboto Mono"/>
                <a:cs typeface="Roboto Mono"/>
                <a:sym typeface="Roboto Mono"/>
              </a:rPr>
              <a:t>for</a:t>
            </a:r>
            <a:r>
              <a:rPr lang="es" sz="1500">
                <a:solidFill>
                  <a:srgbClr val="222222"/>
                </a:solidFill>
                <a:latin typeface="Roboto Mono"/>
                <a:ea typeface="Roboto Mono"/>
                <a:cs typeface="Roboto Mono"/>
                <a:sym typeface="Roboto Mono"/>
              </a:rPr>
              <a:t> (</a:t>
            </a:r>
            <a:r>
              <a:rPr lang="es" sz="1500">
                <a:solidFill>
                  <a:srgbClr val="4285F4"/>
                </a:solidFill>
                <a:latin typeface="Roboto Mono"/>
                <a:ea typeface="Roboto Mono"/>
                <a:cs typeface="Roboto Mono"/>
                <a:sym typeface="Roboto Mono"/>
              </a:rPr>
              <a:t>int</a:t>
            </a:r>
            <a:r>
              <a:rPr lang="es" sz="1500">
                <a:solidFill>
                  <a:srgbClr val="222222"/>
                </a:solidFill>
                <a:latin typeface="Roboto Mono"/>
                <a:ea typeface="Roboto Mono"/>
                <a:cs typeface="Roboto Mono"/>
                <a:sym typeface="Roboto Mono"/>
              </a:rPr>
              <a:t> i = 0; i &lt; N; i++)</a:t>
            </a:r>
            <a:endParaRPr sz="1500">
              <a:solidFill>
                <a:srgbClr val="222222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solidFill>
                  <a:srgbClr val="222222"/>
                </a:solidFill>
                <a:latin typeface="Roboto Mono"/>
                <a:ea typeface="Roboto Mono"/>
                <a:cs typeface="Roboto Mono"/>
                <a:sym typeface="Roboto Mono"/>
              </a:rPr>
              <a:t>    fdd[i][0] = y[i];</a:t>
            </a:r>
            <a:endParaRPr sz="1500">
              <a:solidFill>
                <a:srgbClr val="222222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solidFill>
                  <a:srgbClr val="4285F4"/>
                </a:solidFill>
                <a:latin typeface="Roboto Mono"/>
                <a:ea typeface="Roboto Mono"/>
                <a:cs typeface="Roboto Mono"/>
                <a:sym typeface="Roboto Mono"/>
              </a:rPr>
              <a:t>for</a:t>
            </a:r>
            <a:r>
              <a:rPr lang="es" sz="1500">
                <a:solidFill>
                  <a:srgbClr val="222222"/>
                </a:solidFill>
                <a:latin typeface="Roboto Mono"/>
                <a:ea typeface="Roboto Mono"/>
                <a:cs typeface="Roboto Mono"/>
                <a:sym typeface="Roboto Mono"/>
              </a:rPr>
              <a:t> (</a:t>
            </a:r>
            <a:r>
              <a:rPr lang="es" sz="1500">
                <a:solidFill>
                  <a:srgbClr val="4285F4"/>
                </a:solidFill>
                <a:latin typeface="Roboto Mono"/>
                <a:ea typeface="Roboto Mono"/>
                <a:cs typeface="Roboto Mono"/>
                <a:sym typeface="Roboto Mono"/>
              </a:rPr>
              <a:t>int</a:t>
            </a:r>
            <a:r>
              <a:rPr lang="es" sz="1500">
                <a:solidFill>
                  <a:srgbClr val="222222"/>
                </a:solidFill>
                <a:latin typeface="Roboto Mono"/>
                <a:ea typeface="Roboto Mono"/>
                <a:cs typeface="Roboto Mono"/>
                <a:sym typeface="Roboto Mono"/>
              </a:rPr>
              <a:t> j = 1; j &lt; N; j++)</a:t>
            </a:r>
            <a:endParaRPr sz="1500">
              <a:solidFill>
                <a:srgbClr val="222222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solidFill>
                  <a:srgbClr val="222222"/>
                </a:solidFill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r>
              <a:rPr lang="es" sz="1500">
                <a:solidFill>
                  <a:srgbClr val="4285F4"/>
                </a:solidFill>
                <a:latin typeface="Roboto Mono"/>
                <a:ea typeface="Roboto Mono"/>
                <a:cs typeface="Roboto Mono"/>
                <a:sym typeface="Roboto Mono"/>
              </a:rPr>
              <a:t>for</a:t>
            </a:r>
            <a:r>
              <a:rPr lang="es" sz="1500">
                <a:solidFill>
                  <a:srgbClr val="222222"/>
                </a:solidFill>
                <a:latin typeface="Roboto Mono"/>
                <a:ea typeface="Roboto Mono"/>
                <a:cs typeface="Roboto Mono"/>
                <a:sym typeface="Roboto Mono"/>
              </a:rPr>
              <a:t> (</a:t>
            </a:r>
            <a:r>
              <a:rPr lang="es" sz="1500">
                <a:solidFill>
                  <a:srgbClr val="4285F4"/>
                </a:solidFill>
                <a:latin typeface="Roboto Mono"/>
                <a:ea typeface="Roboto Mono"/>
                <a:cs typeface="Roboto Mono"/>
                <a:sym typeface="Roboto Mono"/>
              </a:rPr>
              <a:t>int</a:t>
            </a:r>
            <a:r>
              <a:rPr lang="es" sz="1500">
                <a:solidFill>
                  <a:srgbClr val="222222"/>
                </a:solidFill>
                <a:latin typeface="Roboto Mono"/>
                <a:ea typeface="Roboto Mono"/>
                <a:cs typeface="Roboto Mono"/>
                <a:sym typeface="Roboto Mono"/>
              </a:rPr>
              <a:t> i = 0; i &lt; N-j; i++)</a:t>
            </a:r>
            <a:endParaRPr sz="1500">
              <a:solidFill>
                <a:srgbClr val="222222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solidFill>
                  <a:srgbClr val="222222"/>
                </a:solidFill>
                <a:latin typeface="Roboto Mono"/>
                <a:ea typeface="Roboto Mono"/>
                <a:cs typeface="Roboto Mono"/>
                <a:sym typeface="Roboto Mono"/>
              </a:rPr>
              <a:t>        fdd[i][j] = (fdd[i+1][j-1] - fdd[i][j-1])</a:t>
            </a:r>
            <a:endParaRPr sz="1500">
              <a:solidFill>
                <a:srgbClr val="222222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solidFill>
                  <a:srgbClr val="222222"/>
                </a:solidFill>
                <a:latin typeface="Roboto Mono"/>
                <a:ea typeface="Roboto Mono"/>
                <a:cs typeface="Roboto Mono"/>
                <a:sym typeface="Roboto Mono"/>
              </a:rPr>
              <a:t>                    / (x[i+j] - x[i]);</a:t>
            </a:r>
            <a:endParaRPr sz="1500">
              <a:solidFill>
                <a:srgbClr val="222222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1173" name="Google Shape;1173;p64"/>
          <p:cNvSpPr txBox="1"/>
          <p:nvPr>
            <p:ph idx="1" type="body"/>
          </p:nvPr>
        </p:nvSpPr>
        <p:spPr>
          <a:xfrm>
            <a:off x="381000" y="1066800"/>
            <a:ext cx="8318400" cy="50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600">
                <a:solidFill>
                  <a:srgbClr val="626262"/>
                </a:solidFill>
              </a:rPr>
              <a:t>N es cantidad de puntos; los índices van de 0 a N−1.</a:t>
            </a:r>
            <a:endParaRPr sz="1600">
              <a:solidFill>
                <a:srgbClr val="626262"/>
              </a:solidFill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7" name="Shape 1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8" name="Google Shape;1178;p65"/>
          <p:cNvSpPr txBox="1"/>
          <p:nvPr>
            <p:ph type="title"/>
          </p:nvPr>
        </p:nvSpPr>
        <p:spPr>
          <a:xfrm>
            <a:off x="317500" y="393700"/>
            <a:ext cx="8496300" cy="69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2400"/>
              <a:t>Evaluar sin expandir todos los productos</a:t>
            </a:r>
            <a:endParaRPr sz="2400"/>
          </a:p>
        </p:txBody>
      </p:sp>
      <p:sp>
        <p:nvSpPr>
          <p:cNvPr id="1179" name="Google Shape;1179;p65"/>
          <p:cNvSpPr txBox="1"/>
          <p:nvPr>
            <p:ph idx="12" type="sldNum"/>
          </p:nvPr>
        </p:nvSpPr>
        <p:spPr>
          <a:xfrm>
            <a:off x="8520083" y="4734654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sp>
        <p:nvSpPr>
          <p:cNvPr id="1180" name="Google Shape;1180;p65"/>
          <p:cNvSpPr/>
          <p:nvPr/>
        </p:nvSpPr>
        <p:spPr>
          <a:xfrm>
            <a:off x="381000" y="4508500"/>
            <a:ext cx="74931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rgbClr val="626262"/>
                </a:solidFill>
                <a:latin typeface="Montserrat"/>
                <a:ea typeface="Montserrat"/>
                <a:cs typeface="Montserrat"/>
                <a:sym typeface="Montserrat"/>
              </a:rPr>
              <a:t>Chapra, fig. 18.7 · codigo/newton.cpp</a:t>
            </a:r>
            <a:endParaRPr sz="900">
              <a:solidFill>
                <a:srgbClr val="62626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81" name="Google Shape;1181;p65"/>
          <p:cNvSpPr/>
          <p:nvPr/>
        </p:nvSpPr>
        <p:spPr>
          <a:xfrm>
            <a:off x="381000" y="1638300"/>
            <a:ext cx="8382000" cy="2628900"/>
          </a:xfrm>
          <a:prstGeom prst="roundRect">
            <a:avLst>
              <a:gd fmla="val 16667" name="adj"/>
            </a:avLst>
          </a:prstGeom>
          <a:solidFill>
            <a:srgbClr val="FAFA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82" name="Google Shape;1182;p65"/>
          <p:cNvSpPr/>
          <p:nvPr/>
        </p:nvSpPr>
        <p:spPr>
          <a:xfrm>
            <a:off x="381000" y="1638300"/>
            <a:ext cx="8382000" cy="304800"/>
          </a:xfrm>
          <a:prstGeom prst="roundRect">
            <a:avLst>
              <a:gd fmla="val 16667" name="adj"/>
            </a:avLst>
          </a:prstGeom>
          <a:solidFill>
            <a:srgbClr val="41414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83" name="Google Shape;1183;p65"/>
          <p:cNvSpPr/>
          <p:nvPr/>
        </p:nvSpPr>
        <p:spPr>
          <a:xfrm>
            <a:off x="508000" y="1739900"/>
            <a:ext cx="101700" cy="101700"/>
          </a:xfrm>
          <a:prstGeom prst="ellipse">
            <a:avLst/>
          </a:prstGeom>
          <a:solidFill>
            <a:srgbClr val="FF60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84" name="Google Shape;1184;p65"/>
          <p:cNvSpPr/>
          <p:nvPr/>
        </p:nvSpPr>
        <p:spPr>
          <a:xfrm>
            <a:off x="698500" y="1739900"/>
            <a:ext cx="101700" cy="101700"/>
          </a:xfrm>
          <a:prstGeom prst="ellipse">
            <a:avLst/>
          </a:prstGeom>
          <a:solidFill>
            <a:srgbClr val="FFBD4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85" name="Google Shape;1185;p65"/>
          <p:cNvSpPr/>
          <p:nvPr/>
        </p:nvSpPr>
        <p:spPr>
          <a:xfrm>
            <a:off x="889000" y="1739900"/>
            <a:ext cx="101700" cy="101700"/>
          </a:xfrm>
          <a:prstGeom prst="ellipse">
            <a:avLst/>
          </a:prstGeom>
          <a:solidFill>
            <a:srgbClr val="00CA4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86" name="Google Shape;1186;p65"/>
          <p:cNvSpPr txBox="1"/>
          <p:nvPr>
            <p:ph idx="1" type="body"/>
          </p:nvPr>
        </p:nvSpPr>
        <p:spPr>
          <a:xfrm>
            <a:off x="520700" y="2006600"/>
            <a:ext cx="8102700" cy="218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400">
                <a:solidFill>
                  <a:srgbClr val="4285F4"/>
                </a:solidFill>
                <a:latin typeface="Roboto Mono"/>
                <a:ea typeface="Roboto Mono"/>
                <a:cs typeface="Roboto Mono"/>
                <a:sym typeface="Roboto Mono"/>
              </a:rPr>
              <a:t>double</a:t>
            </a:r>
            <a:r>
              <a:rPr lang="es" sz="1400">
                <a:solidFill>
                  <a:srgbClr val="222222"/>
                </a:solidFill>
                <a:latin typeface="Roboto Mono"/>
                <a:ea typeface="Roboto Mono"/>
                <a:cs typeface="Roboto Mono"/>
                <a:sym typeface="Roboto Mono"/>
              </a:rPr>
              <a:t> producto = 1.0;</a:t>
            </a:r>
            <a:endParaRPr sz="1400">
              <a:solidFill>
                <a:srgbClr val="222222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400">
                <a:solidFill>
                  <a:srgbClr val="222222"/>
                </a:solidFill>
                <a:latin typeface="Roboto Mono"/>
                <a:ea typeface="Roboto Mono"/>
                <a:cs typeface="Roboto Mono"/>
                <a:sym typeface="Roboto Mono"/>
              </a:rPr>
              <a:t>aproximacion[0] = fdd[0][0];</a:t>
            </a:r>
            <a:endParaRPr sz="1400">
              <a:solidFill>
                <a:srgbClr val="222222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400">
                <a:solidFill>
                  <a:srgbClr val="4285F4"/>
                </a:solidFill>
                <a:latin typeface="Roboto Mono"/>
                <a:ea typeface="Roboto Mono"/>
                <a:cs typeface="Roboto Mono"/>
                <a:sym typeface="Roboto Mono"/>
              </a:rPr>
              <a:t>for</a:t>
            </a:r>
            <a:r>
              <a:rPr lang="es" sz="1400">
                <a:solidFill>
                  <a:srgbClr val="222222"/>
                </a:solidFill>
                <a:latin typeface="Roboto Mono"/>
                <a:ea typeface="Roboto Mono"/>
                <a:cs typeface="Roboto Mono"/>
                <a:sym typeface="Roboto Mono"/>
              </a:rPr>
              <a:t> (</a:t>
            </a:r>
            <a:r>
              <a:rPr lang="es" sz="1400">
                <a:solidFill>
                  <a:srgbClr val="4285F4"/>
                </a:solidFill>
                <a:latin typeface="Roboto Mono"/>
                <a:ea typeface="Roboto Mono"/>
                <a:cs typeface="Roboto Mono"/>
                <a:sym typeface="Roboto Mono"/>
              </a:rPr>
              <a:t>int</a:t>
            </a:r>
            <a:r>
              <a:rPr lang="es" sz="1400">
                <a:solidFill>
                  <a:srgbClr val="222222"/>
                </a:solidFill>
                <a:latin typeface="Roboto Mono"/>
                <a:ea typeface="Roboto Mono"/>
                <a:cs typeface="Roboto Mono"/>
                <a:sym typeface="Roboto Mono"/>
              </a:rPr>
              <a:t> grado = 1; grado &lt; N; grado++) {</a:t>
            </a:r>
            <a:endParaRPr sz="1400">
              <a:solidFill>
                <a:srgbClr val="222222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400">
                <a:solidFill>
                  <a:srgbClr val="222222"/>
                </a:solidFill>
                <a:latin typeface="Roboto Mono"/>
                <a:ea typeface="Roboto Mono"/>
                <a:cs typeface="Roboto Mono"/>
                <a:sym typeface="Roboto Mono"/>
              </a:rPr>
              <a:t>    producto *= consulta - x[grado - 1];</a:t>
            </a:r>
            <a:endParaRPr sz="1400">
              <a:solidFill>
                <a:srgbClr val="222222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400">
                <a:solidFill>
                  <a:srgbClr val="222222"/>
                </a:solidFill>
                <a:latin typeface="Roboto Mono"/>
                <a:ea typeface="Roboto Mono"/>
                <a:cs typeface="Roboto Mono"/>
                <a:sym typeface="Roboto Mono"/>
              </a:rPr>
              <a:t>    incremento[grado - 1] = fdd[0][grado] * producto;</a:t>
            </a:r>
            <a:endParaRPr sz="1400">
              <a:solidFill>
                <a:srgbClr val="222222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400">
                <a:solidFill>
                  <a:srgbClr val="222222"/>
                </a:solidFill>
                <a:latin typeface="Roboto Mono"/>
                <a:ea typeface="Roboto Mono"/>
                <a:cs typeface="Roboto Mono"/>
                <a:sym typeface="Roboto Mono"/>
              </a:rPr>
              <a:t>    aproximacion[grado] = aproximacion[grado - 1]</a:t>
            </a:r>
            <a:endParaRPr sz="1400">
              <a:solidFill>
                <a:srgbClr val="222222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400">
                <a:solidFill>
                  <a:srgbClr val="222222"/>
                </a:solidFill>
                <a:latin typeface="Roboto Mono"/>
                <a:ea typeface="Roboto Mono"/>
                <a:cs typeface="Roboto Mono"/>
                <a:sym typeface="Roboto Mono"/>
              </a:rPr>
              <a:t>                         + incremento[grado - 1];</a:t>
            </a:r>
            <a:endParaRPr sz="1400">
              <a:solidFill>
                <a:srgbClr val="222222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400">
                <a:solidFill>
                  <a:srgbClr val="222222"/>
                </a:solidFill>
                <a:latin typeface="Roboto Mono"/>
                <a:ea typeface="Roboto Mono"/>
                <a:cs typeface="Roboto Mono"/>
                <a:sym typeface="Roboto Mono"/>
              </a:rPr>
              <a:t>}</a:t>
            </a:r>
            <a:endParaRPr sz="1400">
              <a:solidFill>
                <a:srgbClr val="222222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1187" name="Google Shape;1187;p65"/>
          <p:cNvSpPr txBox="1"/>
          <p:nvPr>
            <p:ph idx="1" type="body"/>
          </p:nvPr>
        </p:nvSpPr>
        <p:spPr>
          <a:xfrm>
            <a:off x="381000" y="1066800"/>
            <a:ext cx="8318400" cy="50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600">
                <a:solidFill>
                  <a:srgbClr val="626262"/>
                </a:solidFill>
              </a:rPr>
              <a:t>El producto acumulado incorpora un factor en cada grado.</a:t>
            </a:r>
            <a:endParaRPr sz="1600">
              <a:solidFill>
                <a:srgbClr val="626262"/>
              </a:solidFill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1" name="Shape 1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2" name="Google Shape;1192;p66"/>
          <p:cNvSpPr txBox="1"/>
          <p:nvPr>
            <p:ph type="title"/>
          </p:nvPr>
        </p:nvSpPr>
        <p:spPr>
          <a:xfrm>
            <a:off x="317500" y="393700"/>
            <a:ext cx="8508900" cy="4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2400">
                <a:solidFill>
                  <a:srgbClr val="252C29"/>
                </a:solidFill>
                <a:latin typeface="Montserrat"/>
                <a:ea typeface="Montserrat"/>
                <a:cs typeface="Montserrat"/>
                <a:sym typeface="Montserrat"/>
              </a:rPr>
              <a:t>Errores en los métodos numéricos</a:t>
            </a:r>
            <a:endParaRPr sz="2400">
              <a:solidFill>
                <a:srgbClr val="252C29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93" name="Google Shape;1193;p66"/>
          <p:cNvSpPr txBox="1"/>
          <p:nvPr>
            <p:ph idx="1" type="body"/>
          </p:nvPr>
        </p:nvSpPr>
        <p:spPr>
          <a:xfrm>
            <a:off x="381000" y="4368800"/>
            <a:ext cx="83184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250">
                <a:solidFill>
                  <a:srgbClr val="66716B"/>
                </a:solidFill>
              </a:rPr>
              <a:t>En raíces, Chapra no usa aquí la etiqueta «truncamiento».</a:t>
            </a:r>
            <a:endParaRPr sz="1250">
              <a:solidFill>
                <a:srgbClr val="66716B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250">
                <a:solidFill>
                  <a:srgbClr val="66716B"/>
                </a:solidFill>
              </a:rPr>
              <a:t>Qué error predomina depende del problema y de la precisión.</a:t>
            </a:r>
            <a:endParaRPr sz="1250">
              <a:solidFill>
                <a:srgbClr val="66716B"/>
              </a:solidFill>
            </a:endParaRPr>
          </a:p>
        </p:txBody>
      </p:sp>
      <p:sp>
        <p:nvSpPr>
          <p:cNvPr id="1194" name="Google Shape;1194;p66"/>
          <p:cNvSpPr txBox="1"/>
          <p:nvPr>
            <p:ph idx="12" type="sldNum"/>
          </p:nvPr>
        </p:nvSpPr>
        <p:spPr>
          <a:xfrm>
            <a:off x="8520083" y="4734654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sp>
        <p:nvSpPr>
          <p:cNvPr id="1195" name="Google Shape;1195;p66"/>
          <p:cNvSpPr/>
          <p:nvPr/>
        </p:nvSpPr>
        <p:spPr>
          <a:xfrm>
            <a:off x="381000" y="4813300"/>
            <a:ext cx="65787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rgbClr val="66716B"/>
                </a:solidFill>
                <a:latin typeface="Montserrat"/>
                <a:ea typeface="Montserrat"/>
                <a:cs typeface="Montserrat"/>
                <a:sym typeface="Montserrat"/>
              </a:rPr>
              <a:t>Fuente: Chapra y Canale, Métodos numéricos para ingenieros, 5.ª ed. Páginas impresas.</a:t>
            </a:r>
            <a:endParaRPr sz="900">
              <a:solidFill>
                <a:srgbClr val="66716B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aphicFrame>
        <p:nvGraphicFramePr>
          <p:cNvPr id="1196" name="Google Shape;1196;p66"/>
          <p:cNvGraphicFramePr/>
          <p:nvPr/>
        </p:nvGraphicFramePr>
        <p:xfrm>
          <a:off x="381000" y="10287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{61632F88-6779-4D04-9DE2-9CD45BEE2DD9}</a:tableStyleId>
              </a:tblPr>
              <a:tblGrid>
                <a:gridCol w="1422400"/>
                <a:gridCol w="2286000"/>
                <a:gridCol w="4673600"/>
              </a:tblGrid>
              <a:tr h="3175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>
                          <a:solidFill>
                            <a:srgbClr val="1D4036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Método</a:t>
                      </a:r>
                      <a:endParaRPr b="1">
                        <a:solidFill>
                          <a:srgbClr val="1D4036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D6D0C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D6D0C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D6D0C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D6D0C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4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>
                          <a:solidFill>
                            <a:srgbClr val="1D4036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Tipo de error</a:t>
                      </a:r>
                      <a:endParaRPr b="1">
                        <a:solidFill>
                          <a:srgbClr val="1D4036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D6D0C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D6D0C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D6D0C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D6D0C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4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>
                          <a:solidFill>
                            <a:srgbClr val="1D4036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Fundamento en Chapra</a:t>
                      </a:r>
                      <a:endParaRPr b="1">
                        <a:solidFill>
                          <a:srgbClr val="1D4036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D6D0C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D6D0C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D6D0C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D6D0C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4D8"/>
                    </a:solidFill>
                  </a:tcPr>
                </a:tc>
              </a:tr>
              <a:tr h="5588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300">
                          <a:solidFill>
                            <a:srgbClr val="252C29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Bisección</a:t>
                      </a:r>
                      <a:endParaRPr b="1" sz="1300">
                        <a:solidFill>
                          <a:srgbClr val="252C29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D6D0C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D6D0C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D6D0C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D6D0C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4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300">
                          <a:solidFill>
                            <a:srgbClr val="252C29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Aproximación iterativa</a:t>
                      </a:r>
                      <a:endParaRPr sz="1300">
                        <a:solidFill>
                          <a:srgbClr val="252C29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300">
                          <a:solidFill>
                            <a:srgbClr val="252C29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+ posible redondeo</a:t>
                      </a:r>
                      <a:endParaRPr sz="1300">
                        <a:solidFill>
                          <a:srgbClr val="252C29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D6D0C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D6D0C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D6D0C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D6D0C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4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300">
                          <a:solidFill>
                            <a:srgbClr val="252C29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El error se controla con el intervalo y el criterio de paro. §5.2.1, pp. 126–127.</a:t>
                      </a:r>
                      <a:endParaRPr sz="1300">
                        <a:solidFill>
                          <a:srgbClr val="252C29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D6D0C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D6D0C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D6D0C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D6D0C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4D8"/>
                    </a:solidFill>
                  </a:tcPr>
                </a:tc>
              </a:tr>
              <a:tr h="5588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300">
                          <a:solidFill>
                            <a:srgbClr val="252C29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Falsa posición</a:t>
                      </a:r>
                      <a:endParaRPr b="1" sz="1300">
                        <a:solidFill>
                          <a:srgbClr val="252C29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D6D0C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D6D0C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D6D0C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D6D0C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4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300">
                          <a:solidFill>
                            <a:srgbClr val="252C29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Aproximación iterativa</a:t>
                      </a:r>
                      <a:endParaRPr sz="1300">
                        <a:solidFill>
                          <a:srgbClr val="252C29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300">
                          <a:solidFill>
                            <a:srgbClr val="252C29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+ posible redondeo</a:t>
                      </a:r>
                      <a:endParaRPr sz="1300">
                        <a:solidFill>
                          <a:srgbClr val="252C29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D6D0C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D6D0C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D6D0C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D6D0C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4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300">
                          <a:solidFill>
                            <a:srgbClr val="252C29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La recta aproxima la raíz. El proceso puede converger lentamente. §5.3, pp. 132–136.</a:t>
                      </a:r>
                      <a:endParaRPr sz="1300">
                        <a:solidFill>
                          <a:srgbClr val="252C29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D6D0C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D6D0C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D6D0C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D6D0C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4D8"/>
                    </a:solidFill>
                  </a:tcPr>
                </a:tc>
              </a:tr>
              <a:tr h="5588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300">
                          <a:solidFill>
                            <a:srgbClr val="252C29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Gauss simple</a:t>
                      </a:r>
                      <a:endParaRPr b="1" sz="1300">
                        <a:solidFill>
                          <a:srgbClr val="252C29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D6D0C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D6D0C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D6D0C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D6D0C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4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300">
                          <a:solidFill>
                            <a:srgbClr val="252C29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Redondeo</a:t>
                      </a:r>
                      <a:endParaRPr sz="1300">
                        <a:solidFill>
                          <a:srgbClr val="252C29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D6D0C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D6D0C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D6D0C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D6D0C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4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300">
                          <a:solidFill>
                            <a:srgbClr val="252C29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Sin redondeo y con pivotes válidos, la solución es exacta. §9.3.2, p. 262.</a:t>
                      </a:r>
                      <a:endParaRPr sz="1300">
                        <a:solidFill>
                          <a:srgbClr val="252C29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D6D0C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D6D0C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D6D0C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D6D0C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4D8"/>
                    </a:solidFill>
                  </a:tcPr>
                </a:tc>
              </a:tr>
              <a:tr h="5588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300">
                          <a:solidFill>
                            <a:srgbClr val="252C29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Interpolación</a:t>
                      </a:r>
                      <a:endParaRPr b="1" sz="1300">
                        <a:solidFill>
                          <a:srgbClr val="252C29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300">
                          <a:solidFill>
                            <a:srgbClr val="252C29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de Newton</a:t>
                      </a:r>
                      <a:endParaRPr b="1" sz="1300">
                        <a:solidFill>
                          <a:srgbClr val="252C29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D6D0C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D6D0C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D6D0C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D6D0C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4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300">
                          <a:solidFill>
                            <a:srgbClr val="252C29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Truncamiento</a:t>
                      </a:r>
                      <a:endParaRPr sz="1300">
                        <a:solidFill>
                          <a:srgbClr val="252C29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300">
                          <a:solidFill>
                            <a:srgbClr val="252C29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y redondeo</a:t>
                      </a:r>
                      <a:endParaRPr sz="1300">
                        <a:solidFill>
                          <a:srgbClr val="252C29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D6D0C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D6D0C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D6D0C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D6D0C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4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300">
                          <a:solidFill>
                            <a:srgbClr val="252C29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El polinomio aproxima la función. Chapra llama truncamiento a su resto. §18.1.4, p. 511.</a:t>
                      </a:r>
                      <a:endParaRPr sz="1300">
                        <a:solidFill>
                          <a:srgbClr val="252C29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D6D0C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D6D0C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D6D0C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D6D0C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4D8"/>
                    </a:solidFill>
                  </a:tcPr>
                </a:tc>
              </a:tr>
              <a:tr h="5588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300">
                          <a:solidFill>
                            <a:srgbClr val="252C29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Interpolación</a:t>
                      </a:r>
                      <a:endParaRPr b="1" sz="1300">
                        <a:solidFill>
                          <a:srgbClr val="252C29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300">
                          <a:solidFill>
                            <a:srgbClr val="252C29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de Lagrange</a:t>
                      </a:r>
                      <a:endParaRPr b="1" sz="1300">
                        <a:solidFill>
                          <a:srgbClr val="252C29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D6D0C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D6D0C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D6D0C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D6D0C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4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300">
                          <a:solidFill>
                            <a:srgbClr val="252C29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Truncamiento</a:t>
                      </a:r>
                      <a:endParaRPr sz="1300">
                        <a:solidFill>
                          <a:srgbClr val="252C29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300">
                          <a:solidFill>
                            <a:srgbClr val="252C29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y redondeo</a:t>
                      </a:r>
                      <a:endParaRPr sz="1300">
                        <a:solidFill>
                          <a:srgbClr val="252C29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D6D0C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D6D0C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D6D0C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D6D0C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4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300">
                          <a:solidFill>
                            <a:srgbClr val="252C29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Es el mismo polinomio de Newton y comparte su error teórico. §18.2, pp. 516 y 519.</a:t>
                      </a:r>
                      <a:endParaRPr sz="1300">
                        <a:solidFill>
                          <a:srgbClr val="252C29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D6D0C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D6D0C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D6D0C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D6D0C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4D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Claro FCEFYN">
  <a:themeElements>
    <a:clrScheme name="Simple Light">
      <a:dk1>
        <a:srgbClr val="1D1D1D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D88E77"/>
      </a:accent3>
      <a:accent4>
        <a:srgbClr val="D38129"/>
      </a:accent4>
      <a:accent5>
        <a:srgbClr val="1D4036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