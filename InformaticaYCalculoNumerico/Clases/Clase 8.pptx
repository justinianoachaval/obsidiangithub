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Lst>
  <p:sldSz cy="5143500" cx="9144000"/>
  <p:notesSz cx="6858000" cy="9144000"/>
  <p:embeddedFontLst>
    <p:embeddedFont>
      <p:font typeface="Montserrat SemiBold"/>
      <p:regular r:id="rId98"/>
      <p:bold r:id="rId99"/>
      <p:italic r:id="rId100"/>
      <p:boldItalic r:id="rId101"/>
    </p:embeddedFont>
    <p:embeddedFont>
      <p:font typeface="Montserrat"/>
      <p:regular r:id="rId102"/>
      <p:bold r:id="rId103"/>
      <p:italic r:id="rId104"/>
      <p:boldItalic r:id="rId105"/>
    </p:embeddedFont>
    <p:embeddedFont>
      <p:font typeface="Montserrat Medium"/>
      <p:regular r:id="rId106"/>
      <p:bold r:id="rId107"/>
      <p:italic r:id="rId108"/>
      <p:boldItalic r:id="rId109"/>
    </p:embeddedFont>
    <p:embeddedFont>
      <p:font typeface="Montserrat Light"/>
      <p:regular r:id="rId110"/>
      <p:bold r:id="rId111"/>
      <p:italic r:id="rId112"/>
      <p:boldItalic r:id="rId113"/>
    </p:embeddedFont>
    <p:embeddedFont>
      <p:font typeface="Ubuntu Mono"/>
      <p:regular r:id="rId114"/>
      <p:bold r:id="rId115"/>
      <p:italic r:id="rId116"/>
      <p:boldItalic r:id="rId1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A41064-E7F3-4B78-9519-E1898FC49DE2}">
  <a:tblStyle styleId="{24A41064-E7F3-4B78-9519-E1898FC49DE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CF786E22-CB09-45D2-B7E3-19844F05C29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MontserratMedium-bold.fntdata"/><Relationship Id="rId106" Type="http://schemas.openxmlformats.org/officeDocument/2006/relationships/font" Target="fonts/MontserratMedium-regular.fntdata"/><Relationship Id="rId105" Type="http://schemas.openxmlformats.org/officeDocument/2006/relationships/font" Target="fonts/Montserrat-boldItalic.fntdata"/><Relationship Id="rId104" Type="http://schemas.openxmlformats.org/officeDocument/2006/relationships/font" Target="fonts/Montserrat-italic.fntdata"/><Relationship Id="rId109" Type="http://schemas.openxmlformats.org/officeDocument/2006/relationships/font" Target="fonts/MontserratMedium-boldItalic.fntdata"/><Relationship Id="rId108" Type="http://schemas.openxmlformats.org/officeDocument/2006/relationships/font" Target="fonts/MontserratMedium-italic.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Montserrat-bold.fntdata"/><Relationship Id="rId102" Type="http://schemas.openxmlformats.org/officeDocument/2006/relationships/font" Target="fonts/Montserrat-regular.fntdata"/><Relationship Id="rId101" Type="http://schemas.openxmlformats.org/officeDocument/2006/relationships/font" Target="fonts/MontserratSemiBold-boldItalic.fntdata"/><Relationship Id="rId100" Type="http://schemas.openxmlformats.org/officeDocument/2006/relationships/font" Target="fonts/MontserratSemi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font" Target="fonts/MontserratSemiBold-bold.fntdata"/><Relationship Id="rId10" Type="http://schemas.openxmlformats.org/officeDocument/2006/relationships/slide" Target="slides/slide4.xml"/><Relationship Id="rId98" Type="http://schemas.openxmlformats.org/officeDocument/2006/relationships/font" Target="fonts/MontserratSemiBold-regular.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7" Type="http://schemas.openxmlformats.org/officeDocument/2006/relationships/font" Target="fonts/UbuntuMono-boldItalic.fntdata"/><Relationship Id="rId116" Type="http://schemas.openxmlformats.org/officeDocument/2006/relationships/font" Target="fonts/UbuntuMono-italic.fntdata"/><Relationship Id="rId115" Type="http://schemas.openxmlformats.org/officeDocument/2006/relationships/font" Target="fonts/UbuntuMono-bold.fntdata"/><Relationship Id="rId15" Type="http://schemas.openxmlformats.org/officeDocument/2006/relationships/slide" Target="slides/slide9.xml"/><Relationship Id="rId110" Type="http://schemas.openxmlformats.org/officeDocument/2006/relationships/font" Target="fonts/MontserratLight-regular.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UbuntuMono-regular.fntdata"/><Relationship Id="rId18" Type="http://schemas.openxmlformats.org/officeDocument/2006/relationships/slide" Target="slides/slide12.xml"/><Relationship Id="rId113" Type="http://schemas.openxmlformats.org/officeDocument/2006/relationships/font" Target="fonts/MontserratLight-boldItalic.fntdata"/><Relationship Id="rId112" Type="http://schemas.openxmlformats.org/officeDocument/2006/relationships/font" Target="fonts/MontserratLight-italic.fntdata"/><Relationship Id="rId111" Type="http://schemas.openxmlformats.org/officeDocument/2006/relationships/font" Target="fonts/MontserratLight-bold.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852541e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3f852541e8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852541e8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3f852541e8a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852541e8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f852541e8a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852541e8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3f852541e8a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852541e8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3f852541e8a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852541e8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3f852541e8a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852541e8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3f852541e8a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852541e8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f852541e8a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852541e8a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f852541e8a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852541e8a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f852541e8a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852541e8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f852541e8a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852541e8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f852541e8a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852541e8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3f852541e8a_0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852541e8a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f852541e8a_0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852541e8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3f852541e8a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852541e8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f852541e8a_0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f852541e8a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3f852541e8a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852541e8a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3f852541e8a_0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852541e8a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3f852541e8a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852541e8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f852541e8a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852541e8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3f852541e8a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852541e8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3f852541e8a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852541e8a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g3f852541e8a_0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8b80494cf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f8b80494cf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f8b80494cf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3f8b80494cf_1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8b80494cf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3f8b80494cf_1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8b80494cf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g3f8b80494cf_1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f8b80494cf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g3f8b80494cf_1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f8b80494cf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3f8b80494cf_1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f8b80494cf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g3f8b80494cf_1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8b80494cf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g3f8b80494cf_1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f8b80494cf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g3f8b80494cf_1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f8b80494cf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g3f8b80494cf_1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f8b80494cf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g3f8b80494cf_1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f8b80494cf_1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5" name="Google Shape;425;g3f8b80494cf_1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f8b80494cf_1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g3f8b80494cf_1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f8b80494cf_1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g3f8b80494cf_1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f8b80494cf_1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g3f8b80494cf_1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f8b80494cf_1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g3f8b80494cf_1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f8b80494cf_1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g3f8b80494cf_1_7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f8b80494cf_1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g3f8b80494cf_1_2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8b80494cf_1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f8b80494cf_1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f8b80494cf_1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f8b80494cf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8b80494cf_1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f8b80494cf_1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f8b80494cf_1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f8b80494cf_1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f8b80494cf_1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f8b80494cf_1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f8b80494cf_1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f8b80494cf_1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f8b80494cf_1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f8b80494cf_1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f8b80494cf_1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f8b80494cf_1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f8b80494cf_1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8" name="Google Shape;708;g3f8b80494cf_1_3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f8b80494cf_1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4" name="Google Shape;714;g3f8b80494cf_1_4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f8b80494cf_1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5" name="Google Shape;725;g3f8b80494cf_1_4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f8b80494cf_1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2" name="Google Shape;742;g3f8b80494cf_1_4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f8b80494cf_1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6" name="Google Shape;756;g3f8b80494cf_1_4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f8b80494cf_1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7" name="Google Shape;767;g3f8b80494cf_1_4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f8b80494cf_1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3" name="Google Shape;773;g3f8b80494cf_1_4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f8b80494cf_1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9" name="Google Shape;779;g3f8b80494cf_1_4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f8b80494cf_1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6" name="Google Shape;786;g3f8b80494cf_1_4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f8b80494cf_1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3" name="Google Shape;793;g3f8b80494cf_1_4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f8b80494cf_1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6" name="Google Shape;806;g3f8b80494cf_1_4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f8b80494cf_1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f8b80494cf_1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f8b80494cf_1_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3f8b80494cf_1_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f8b80494cf_1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3f8b80494cf_1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f8b80494cf_1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3f8b80494cf_1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f8b80494cf_1_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f8b80494cf_1_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f8b80494cf_1_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3f8b80494cf_1_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f8b80494cf_1_9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3f8b80494cf_1_9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f8b80494cf_1_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3f8b80494cf_1_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f8b80494cf_1_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f8b80494cf_1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f9fdd6b2d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3f9fdd6b2d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f9fdd6b2d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f9fdd6b2d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f8b80494cf_1_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3f8b80494cf_1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9fdd6b2d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3f9fdd6b2d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f8b80494cf_1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3f8b80494cf_1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f8b80494cf_1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8" name="Google Shape;1078;g3f8b80494cf_1_4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f8b80494cf_1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4" name="Google Shape;1084;g3f8b80494cf_1_5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f8b80494cf_1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0" name="Google Shape;1090;g3f8b80494cf_1_5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f8b80494cf_1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6" name="Google Shape;1096;g3f8b80494cf_1_5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f8b80494cf_1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7" name="Google Shape;1107;g3f8b80494cf_1_5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3f8b80494cf_1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8" name="Google Shape;1118;g3f8b80494cf_1_5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f8b80494cf_1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9" name="Google Shape;1129;g3f8b80494cf_1_5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f8b80494cf_1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0" name="Google Shape;1140;g3f8b80494cf_1_5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8b80494cf_1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1" name="Google Shape;1151;g3f8b80494cf_1_5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3f8b80494cf_1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2" name="Google Shape;1162;g3f8b80494cf_1_5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3f8b80494cf_1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3" name="Google Shape;1173;g3f8b80494cf_1_5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f8b80494cf_1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4" name="Google Shape;1184;g3f8b80494cf_1_5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f8b80494cf_1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5" name="Google Shape;1195;g3f8b80494cf_1_6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8b80494cf_1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6" name="Google Shape;1206;g3f8b80494cf_1_6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3f8b80494cf_1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7" name="Google Shape;1217;g3f8b80494cf_1_6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3f8b80494cf_1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8" name="Google Shape;1228;g3f8b80494cf_1_6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title="Elementos ornamentales-03.png"/>
          <p:cNvPicPr preferRelativeResize="0"/>
          <p:nvPr/>
        </p:nvPicPr>
        <p:blipFill>
          <a:blip r:embed="rId2">
            <a:alphaModFix/>
          </a:blip>
          <a:stretch>
            <a:fillRect/>
          </a:stretch>
        </p:blipFill>
        <p:spPr>
          <a:xfrm>
            <a:off x="4502903" y="-423203"/>
            <a:ext cx="5098294" cy="5143501"/>
          </a:xfrm>
          <a:prstGeom prst="rect">
            <a:avLst/>
          </a:prstGeom>
          <a:noFill/>
          <a:ln>
            <a:noFill/>
          </a:ln>
        </p:spPr>
      </p:pic>
      <p:sp>
        <p:nvSpPr>
          <p:cNvPr id="11" name="Google Shape;11;p2"/>
          <p:cNvSpPr txBox="1"/>
          <p:nvPr>
            <p:ph type="ctrTitle"/>
          </p:nvPr>
        </p:nvSpPr>
        <p:spPr>
          <a:xfrm>
            <a:off x="311701" y="1506575"/>
            <a:ext cx="70668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1pPr>
            <a:lvl2pPr lvl="1"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2pPr>
            <a:lvl3pPr lvl="2"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3pPr>
            <a:lvl4pPr lvl="3"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4pPr>
            <a:lvl5pPr lvl="4"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5pPr>
            <a:lvl6pPr lvl="5"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6pPr>
            <a:lvl7pPr lvl="6"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7pPr>
            <a:lvl8pPr lvl="7"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8pPr>
            <a:lvl9pPr lvl="8"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9pPr>
          </a:lstStyle>
          <a:p/>
        </p:txBody>
      </p:sp>
      <p:sp>
        <p:nvSpPr>
          <p:cNvPr id="12" name="Google Shape;12;p2"/>
          <p:cNvSpPr txBox="1"/>
          <p:nvPr>
            <p:ph idx="1" type="subTitle"/>
          </p:nvPr>
        </p:nvSpPr>
        <p:spPr>
          <a:xfrm>
            <a:off x="311700" y="3596125"/>
            <a:ext cx="70668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1pPr>
            <a:lvl2pPr lvl="1"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2pPr>
            <a:lvl3pPr lvl="2"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3pPr>
            <a:lvl4pPr lvl="3"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4pPr>
            <a:lvl5pPr lvl="4"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5pPr>
            <a:lvl6pPr lvl="5"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6pPr>
            <a:lvl7pPr lvl="6"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7pPr>
            <a:lvl8pPr lvl="7"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8pPr>
            <a:lvl9pPr lvl="8"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14" name="Google Shape;14;p2" title="1_Isologotipo FCEFyN y UNC- original_Sin fondo.png"/>
          <p:cNvPicPr preferRelativeResize="0"/>
          <p:nvPr/>
        </p:nvPicPr>
        <p:blipFill>
          <a:blip r:embed="rId3">
            <a:alphaModFix/>
          </a:blip>
          <a:stretch>
            <a:fillRect/>
          </a:stretch>
        </p:blipFill>
        <p:spPr>
          <a:xfrm>
            <a:off x="78159" y="-76200"/>
            <a:ext cx="4239831" cy="11676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19" name="Google Shape;19;p3"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pic>
        <p:nvPicPr>
          <p:cNvPr id="20" name="Google Shape;20;p3" title="Elementos ornamentales-05.png"/>
          <p:cNvPicPr preferRelativeResize="0"/>
          <p:nvPr/>
        </p:nvPicPr>
        <p:blipFill>
          <a:blip r:embed="rId3">
            <a:alphaModFix/>
          </a:blip>
          <a:stretch>
            <a:fillRect/>
          </a:stretch>
        </p:blipFill>
        <p:spPr>
          <a:xfrm>
            <a:off x="0" y="-1431561"/>
            <a:ext cx="9144003" cy="19913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 name="Google Shape;23;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26" name="Google Shape;26;p4"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 name="Google Shape;29;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5"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6"/>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38" name="Google Shape;38;p6"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 name="Google Shape;4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44" name="Google Shape;44;p7"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sp>
        <p:nvSpPr>
          <p:cNvPr id="46" name="Google Shape;46;p8"/>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 name="Google Shape;47;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8" name="Google Shape;48;p8"/>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49" name="Google Shape;49;p8"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9"/>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 name="Google Shape;56;p9"/>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57" name="Google Shape;57;p9"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 name="Shape 58"/>
        <p:cNvGrpSpPr/>
        <p:nvPr/>
      </p:nvGrpSpPr>
      <p:grpSpPr>
        <a:xfrm>
          <a:off x="0" y="0"/>
          <a:ext cx="0" cy="0"/>
          <a:chOff x="0" y="0"/>
          <a:chExt cx="0" cy="0"/>
        </a:xfrm>
      </p:grpSpPr>
      <p:sp>
        <p:nvSpPr>
          <p:cNvPr id="59" name="Google Shape;59;p10"/>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1" name="Google Shape;61;p10"/>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62" name="Google Shape;62;p10"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3" name="Shape 63"/>
        <p:cNvGrpSpPr/>
        <p:nvPr/>
      </p:nvGrpSpPr>
      <p:grpSpPr>
        <a:xfrm>
          <a:off x="0" y="0"/>
          <a:ext cx="0" cy="0"/>
          <a:chOff x="0" y="0"/>
          <a:chExt cx="0" cy="0"/>
        </a:xfrm>
      </p:grpSpPr>
      <p:sp>
        <p:nvSpPr>
          <p:cNvPr id="64" name="Google Shape;64;p11"/>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6" name="Google Shape;6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7" name="Google Shape;67;p11"/>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68" name="Google Shape;68;p11"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12"/>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2"/>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72" name="Google Shape;72;p12"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FE4D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1pPr>
            <a:lvl2pPr lvl="1">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2pPr>
            <a:lvl3pPr lvl="2">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3pPr>
            <a:lvl4pPr lvl="3">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4pPr>
            <a:lvl5pPr lvl="4">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5pPr>
            <a:lvl6pPr lvl="5">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6pPr>
            <a:lvl7pPr lvl="6">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7pPr>
            <a:lvl8pPr lvl="7">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8pPr>
            <a:lvl9pPr lvl="8">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Montserrat"/>
                <a:ea typeface="Montserrat"/>
                <a:cs typeface="Montserrat"/>
                <a:sym typeface="Montserrat"/>
              </a:defRPr>
            </a:lvl1pPr>
            <a:lvl2pPr lvl="1" algn="r">
              <a:buNone/>
              <a:defRPr sz="1000">
                <a:solidFill>
                  <a:schemeClr val="dk2"/>
                </a:solidFill>
                <a:latin typeface="Montserrat"/>
                <a:ea typeface="Montserrat"/>
                <a:cs typeface="Montserrat"/>
                <a:sym typeface="Montserrat"/>
              </a:defRPr>
            </a:lvl2pPr>
            <a:lvl3pPr lvl="2" algn="r">
              <a:buNone/>
              <a:defRPr sz="1000">
                <a:solidFill>
                  <a:schemeClr val="dk2"/>
                </a:solidFill>
                <a:latin typeface="Montserrat"/>
                <a:ea typeface="Montserrat"/>
                <a:cs typeface="Montserrat"/>
                <a:sym typeface="Montserrat"/>
              </a:defRPr>
            </a:lvl3pPr>
            <a:lvl4pPr lvl="3" algn="r">
              <a:buNone/>
              <a:defRPr sz="1000">
                <a:solidFill>
                  <a:schemeClr val="dk2"/>
                </a:solidFill>
                <a:latin typeface="Montserrat"/>
                <a:ea typeface="Montserrat"/>
                <a:cs typeface="Montserrat"/>
                <a:sym typeface="Montserrat"/>
              </a:defRPr>
            </a:lvl4pPr>
            <a:lvl5pPr lvl="4" algn="r">
              <a:buNone/>
              <a:defRPr sz="1000">
                <a:solidFill>
                  <a:schemeClr val="dk2"/>
                </a:solidFill>
                <a:latin typeface="Montserrat"/>
                <a:ea typeface="Montserrat"/>
                <a:cs typeface="Montserrat"/>
                <a:sym typeface="Montserrat"/>
              </a:defRPr>
            </a:lvl5pPr>
            <a:lvl6pPr lvl="5" algn="r">
              <a:buNone/>
              <a:defRPr sz="1000">
                <a:solidFill>
                  <a:schemeClr val="dk2"/>
                </a:solidFill>
                <a:latin typeface="Montserrat"/>
                <a:ea typeface="Montserrat"/>
                <a:cs typeface="Montserrat"/>
                <a:sym typeface="Montserrat"/>
              </a:defRPr>
            </a:lvl6pPr>
            <a:lvl7pPr lvl="6" algn="r">
              <a:buNone/>
              <a:defRPr sz="1000">
                <a:solidFill>
                  <a:schemeClr val="dk2"/>
                </a:solidFill>
                <a:latin typeface="Montserrat"/>
                <a:ea typeface="Montserrat"/>
                <a:cs typeface="Montserrat"/>
                <a:sym typeface="Montserrat"/>
              </a:defRPr>
            </a:lvl7pPr>
            <a:lvl8pPr lvl="7" algn="r">
              <a:buNone/>
              <a:defRPr sz="1000">
                <a:solidFill>
                  <a:schemeClr val="dk2"/>
                </a:solidFill>
                <a:latin typeface="Montserrat"/>
                <a:ea typeface="Montserrat"/>
                <a:cs typeface="Montserrat"/>
                <a:sym typeface="Montserrat"/>
              </a:defRPr>
            </a:lvl8pPr>
            <a:lvl9pPr lvl="8" algn="r">
              <a:buNone/>
              <a:defRPr sz="1000">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1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3"/>
          <p:cNvSpPr txBox="1"/>
          <p:nvPr>
            <p:ph type="ctrTitle"/>
          </p:nvPr>
        </p:nvSpPr>
        <p:spPr>
          <a:xfrm>
            <a:off x="311701" y="1506575"/>
            <a:ext cx="70668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Inform</a:t>
            </a:r>
            <a:r>
              <a:rPr lang="es"/>
              <a:t>ática y Cálculo Numérico</a:t>
            </a:r>
            <a:endParaRPr/>
          </a:p>
        </p:txBody>
      </p:sp>
      <p:sp>
        <p:nvSpPr>
          <p:cNvPr id="78" name="Google Shape;78;p13"/>
          <p:cNvSpPr txBox="1"/>
          <p:nvPr>
            <p:ph idx="1" type="subTitle"/>
          </p:nvPr>
        </p:nvSpPr>
        <p:spPr>
          <a:xfrm>
            <a:off x="311700" y="3596125"/>
            <a:ext cx="70668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Comisi</a:t>
            </a:r>
            <a:r>
              <a:rPr lang="es"/>
              <a:t>ón 5 - 2026 - Segundo Semestre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Variables en la Memoria</a:t>
            </a:r>
            <a:endParaRPr/>
          </a:p>
        </p:txBody>
      </p:sp>
      <p:graphicFrame>
        <p:nvGraphicFramePr>
          <p:cNvPr id="84" name="Google Shape;84;p14"/>
          <p:cNvGraphicFramePr/>
          <p:nvPr/>
        </p:nvGraphicFramePr>
        <p:xfrm>
          <a:off x="3605200" y="1395850"/>
          <a:ext cx="3000000" cy="3000000"/>
        </p:xfrm>
        <a:graphic>
          <a:graphicData uri="http://schemas.openxmlformats.org/drawingml/2006/table">
            <a:tbl>
              <a:tblPr>
                <a:noFill/>
                <a:tableStyleId>{24A41064-E7F3-4B78-9519-E1898FC49DE2}</a:tableStyleId>
              </a:tblPr>
              <a:tblGrid>
                <a:gridCol w="848475"/>
                <a:gridCol w="3675925"/>
              </a:tblGrid>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1000</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1001</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601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1002</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1003</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1004</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1005</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1006</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tc>
              </a:tr>
            </a:tbl>
          </a:graphicData>
        </a:graphic>
      </p:graphicFrame>
      <p:sp>
        <p:nvSpPr>
          <p:cNvPr id="85" name="Google Shape;85;p14"/>
          <p:cNvSpPr/>
          <p:nvPr/>
        </p:nvSpPr>
        <p:spPr>
          <a:xfrm rot="10800000">
            <a:off x="726211" y="3530900"/>
            <a:ext cx="1457700" cy="10128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86" name="Google Shape;86;p14"/>
          <p:cNvSpPr/>
          <p:nvPr/>
        </p:nvSpPr>
        <p:spPr>
          <a:xfrm rot="10800000">
            <a:off x="726218" y="3240776"/>
            <a:ext cx="14577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7" name="Google Shape;87;p14"/>
          <p:cNvSpPr/>
          <p:nvPr/>
        </p:nvSpPr>
        <p:spPr>
          <a:xfrm>
            <a:off x="874745" y="33133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8" name="Google Shape;88;p14"/>
          <p:cNvSpPr/>
          <p:nvPr/>
        </p:nvSpPr>
        <p:spPr>
          <a:xfrm>
            <a:off x="1156606" y="33133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9" name="Google Shape;89;p14"/>
          <p:cNvSpPr/>
          <p:nvPr/>
        </p:nvSpPr>
        <p:spPr>
          <a:xfrm>
            <a:off x="1438466" y="33133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0" name="Google Shape;90;p14"/>
          <p:cNvSpPr txBox="1"/>
          <p:nvPr/>
        </p:nvSpPr>
        <p:spPr>
          <a:xfrm>
            <a:off x="726190" y="3544656"/>
            <a:ext cx="1457700" cy="9384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int x</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p:txBody>
      </p:sp>
      <p:sp>
        <p:nvSpPr>
          <p:cNvPr id="91" name="Google Shape;91;p14"/>
          <p:cNvSpPr/>
          <p:nvPr/>
        </p:nvSpPr>
        <p:spPr>
          <a:xfrm>
            <a:off x="2072200" y="1704700"/>
            <a:ext cx="813300" cy="392100"/>
          </a:xfrm>
          <a:prstGeom prst="roundRect">
            <a:avLst>
              <a:gd fmla="val 16667" name="adj"/>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X</a:t>
            </a:r>
            <a:endParaRPr b="0" i="0" sz="1400" u="none" cap="none" strike="noStrike">
              <a:solidFill>
                <a:schemeClr val="dk2"/>
              </a:solidFill>
              <a:latin typeface="Arial"/>
              <a:ea typeface="Arial"/>
              <a:cs typeface="Arial"/>
              <a:sym typeface="Arial"/>
            </a:endParaRPr>
          </a:p>
        </p:txBody>
      </p:sp>
      <p:cxnSp>
        <p:nvCxnSpPr>
          <p:cNvPr id="92" name="Google Shape;92;p14"/>
          <p:cNvCxnSpPr>
            <a:stCxn id="91" idx="3"/>
          </p:cNvCxnSpPr>
          <p:nvPr/>
        </p:nvCxnSpPr>
        <p:spPr>
          <a:xfrm>
            <a:off x="2885500" y="1900750"/>
            <a:ext cx="579300" cy="0"/>
          </a:xfrm>
          <a:prstGeom prst="straightConnector1">
            <a:avLst/>
          </a:prstGeom>
          <a:noFill/>
          <a:ln cap="flat" cmpd="sng" w="38100">
            <a:solidFill>
              <a:srgbClr val="00CA4E"/>
            </a:solidFill>
            <a:prstDash val="solid"/>
            <a:round/>
            <a:headEnd len="sm" w="sm"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Variables en la Memoria</a:t>
            </a:r>
            <a:endParaRPr/>
          </a:p>
        </p:txBody>
      </p:sp>
      <p:graphicFrame>
        <p:nvGraphicFramePr>
          <p:cNvPr id="98" name="Google Shape;98;p15"/>
          <p:cNvGraphicFramePr/>
          <p:nvPr/>
        </p:nvGraphicFramePr>
        <p:xfrm>
          <a:off x="3605200" y="1395850"/>
          <a:ext cx="3000000" cy="3000000"/>
        </p:xfrm>
        <a:graphic>
          <a:graphicData uri="http://schemas.openxmlformats.org/drawingml/2006/table">
            <a:tbl>
              <a:tblPr>
                <a:noFill/>
                <a:tableStyleId>{24A41064-E7F3-4B78-9519-E1898FC49DE2}</a:tableStyleId>
              </a:tblPr>
              <a:tblGrid>
                <a:gridCol w="848475"/>
                <a:gridCol w="3675925"/>
              </a:tblGrid>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1000</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2</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1001</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601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1002</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1003</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1004</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1005</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1006</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tc>
              </a:tr>
            </a:tbl>
          </a:graphicData>
        </a:graphic>
      </p:graphicFrame>
      <p:sp>
        <p:nvSpPr>
          <p:cNvPr id="99" name="Google Shape;99;p15"/>
          <p:cNvSpPr/>
          <p:nvPr/>
        </p:nvSpPr>
        <p:spPr>
          <a:xfrm rot="10800000">
            <a:off x="726200" y="3530925"/>
            <a:ext cx="1457700" cy="12450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00" name="Google Shape;100;p15"/>
          <p:cNvSpPr/>
          <p:nvPr/>
        </p:nvSpPr>
        <p:spPr>
          <a:xfrm rot="10800000">
            <a:off x="726218" y="3240776"/>
            <a:ext cx="14577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1" name="Google Shape;101;p15"/>
          <p:cNvSpPr/>
          <p:nvPr/>
        </p:nvSpPr>
        <p:spPr>
          <a:xfrm>
            <a:off x="874745" y="33133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2" name="Google Shape;102;p15"/>
          <p:cNvSpPr/>
          <p:nvPr/>
        </p:nvSpPr>
        <p:spPr>
          <a:xfrm>
            <a:off x="1156606" y="33133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3" name="Google Shape;103;p15"/>
          <p:cNvSpPr/>
          <p:nvPr/>
        </p:nvSpPr>
        <p:spPr>
          <a:xfrm>
            <a:off x="1438466" y="33133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4" name="Google Shape;104;p15"/>
          <p:cNvSpPr txBox="1"/>
          <p:nvPr/>
        </p:nvSpPr>
        <p:spPr>
          <a:xfrm>
            <a:off x="726200" y="3547813"/>
            <a:ext cx="1457700" cy="1153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int x;</a:t>
            </a:r>
            <a:endParaRPr b="0" i="0" sz="1600" u="none" cap="none" strike="noStrike">
              <a:solidFill>
                <a:srgbClr val="E06C7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E06C75"/>
                </a:solidFill>
                <a:latin typeface="Arial"/>
                <a:ea typeface="Arial"/>
                <a:cs typeface="Arial"/>
                <a:sym typeface="Arial"/>
              </a:rPr>
              <a:t>  x=2</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p:txBody>
      </p:sp>
      <p:sp>
        <p:nvSpPr>
          <p:cNvPr id="105" name="Google Shape;105;p15"/>
          <p:cNvSpPr/>
          <p:nvPr/>
        </p:nvSpPr>
        <p:spPr>
          <a:xfrm>
            <a:off x="2072200" y="1704700"/>
            <a:ext cx="813300" cy="392100"/>
          </a:xfrm>
          <a:prstGeom prst="roundRect">
            <a:avLst>
              <a:gd fmla="val 16667" name="adj"/>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X</a:t>
            </a:r>
            <a:endParaRPr b="0" i="0" sz="1400" u="none" cap="none" strike="noStrike">
              <a:solidFill>
                <a:schemeClr val="dk2"/>
              </a:solidFill>
              <a:latin typeface="Arial"/>
              <a:ea typeface="Arial"/>
              <a:cs typeface="Arial"/>
              <a:sym typeface="Arial"/>
            </a:endParaRPr>
          </a:p>
        </p:txBody>
      </p:sp>
      <p:cxnSp>
        <p:nvCxnSpPr>
          <p:cNvPr id="106" name="Google Shape;106;p15"/>
          <p:cNvCxnSpPr>
            <a:stCxn id="105" idx="3"/>
          </p:cNvCxnSpPr>
          <p:nvPr/>
        </p:nvCxnSpPr>
        <p:spPr>
          <a:xfrm>
            <a:off x="2885500" y="1900750"/>
            <a:ext cx="579300" cy="0"/>
          </a:xfrm>
          <a:prstGeom prst="straightConnector1">
            <a:avLst/>
          </a:prstGeom>
          <a:noFill/>
          <a:ln cap="flat" cmpd="sng" w="38100">
            <a:solidFill>
              <a:srgbClr val="00CA4E"/>
            </a:solidFill>
            <a:prstDash val="solid"/>
            <a:round/>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Cadenas de Caracteres</a:t>
            </a:r>
            <a:endParaRPr sz="7000">
              <a:solidFill>
                <a:schemeClr val="accent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117" name="Google Shape;117;p17"/>
          <p:cNvSpPr txBox="1"/>
          <p:nvPr>
            <p:ph idx="1" type="body"/>
          </p:nvPr>
        </p:nvSpPr>
        <p:spPr>
          <a:xfrm>
            <a:off x="311700" y="1152475"/>
            <a:ext cx="8520600" cy="537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solidFill>
                  <a:schemeClr val="accent4"/>
                </a:solidFill>
              </a:rPr>
              <a:t>Cadenas</a:t>
            </a:r>
            <a:r>
              <a:rPr lang="es"/>
              <a:t>, Son una secuencia de caracteres en memoria.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123" name="Google Shape;123;p18"/>
          <p:cNvSpPr txBox="1"/>
          <p:nvPr>
            <p:ph idx="1" type="body"/>
          </p:nvPr>
        </p:nvSpPr>
        <p:spPr>
          <a:xfrm>
            <a:off x="311700" y="1152475"/>
            <a:ext cx="8520600" cy="537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solidFill>
                  <a:schemeClr val="accent4"/>
                </a:solidFill>
              </a:rPr>
              <a:t>Cadenas</a:t>
            </a:r>
            <a:r>
              <a:rPr lang="es"/>
              <a:t>, Son una secuencia de caracteres en memoria.</a:t>
            </a:r>
            <a:endParaRPr/>
          </a:p>
        </p:txBody>
      </p:sp>
      <p:sp>
        <p:nvSpPr>
          <p:cNvPr id="124" name="Google Shape;124;p18"/>
          <p:cNvSpPr/>
          <p:nvPr/>
        </p:nvSpPr>
        <p:spPr>
          <a:xfrm rot="10800000">
            <a:off x="726026" y="2997500"/>
            <a:ext cx="2445000" cy="10128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25" name="Google Shape;125;p18"/>
          <p:cNvSpPr/>
          <p:nvPr/>
        </p:nvSpPr>
        <p:spPr>
          <a:xfrm rot="10800000">
            <a:off x="726038" y="2707382"/>
            <a:ext cx="24450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6" name="Google Shape;126;p18"/>
          <p:cNvSpPr/>
          <p:nvPr/>
        </p:nvSpPr>
        <p:spPr>
          <a:xfrm>
            <a:off x="874745" y="27799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7" name="Google Shape;127;p18"/>
          <p:cNvSpPr/>
          <p:nvPr/>
        </p:nvSpPr>
        <p:spPr>
          <a:xfrm>
            <a:off x="1156606" y="27799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8" name="Google Shape;128;p18"/>
          <p:cNvSpPr/>
          <p:nvPr/>
        </p:nvSpPr>
        <p:spPr>
          <a:xfrm>
            <a:off x="1438466" y="27799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9" name="Google Shape;129;p18"/>
          <p:cNvSpPr txBox="1"/>
          <p:nvPr/>
        </p:nvSpPr>
        <p:spPr>
          <a:xfrm>
            <a:off x="726219" y="3011263"/>
            <a:ext cx="2445000" cy="9384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lang="es" sz="1600">
                <a:solidFill>
                  <a:srgbClr val="E06C75"/>
                </a:solidFill>
              </a:rPr>
              <a:t>string msj=</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"HOLA"</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135" name="Google Shape;135;p19"/>
          <p:cNvSpPr txBox="1"/>
          <p:nvPr>
            <p:ph idx="1" type="body"/>
          </p:nvPr>
        </p:nvSpPr>
        <p:spPr>
          <a:xfrm>
            <a:off x="311700" y="1152475"/>
            <a:ext cx="8520600" cy="537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solidFill>
                  <a:schemeClr val="accent4"/>
                </a:solidFill>
              </a:rPr>
              <a:t>Cadenas</a:t>
            </a:r>
            <a:r>
              <a:rPr lang="es"/>
              <a:t>, Son una secuencia de caracteres en memoria.</a:t>
            </a:r>
            <a:endParaRPr/>
          </a:p>
        </p:txBody>
      </p:sp>
      <p:graphicFrame>
        <p:nvGraphicFramePr>
          <p:cNvPr id="136" name="Google Shape;136;p19"/>
          <p:cNvGraphicFramePr/>
          <p:nvPr/>
        </p:nvGraphicFramePr>
        <p:xfrm>
          <a:off x="3605200" y="1776850"/>
          <a:ext cx="3000000" cy="3000000"/>
        </p:xfrm>
        <a:graphic>
          <a:graphicData uri="http://schemas.openxmlformats.org/drawingml/2006/table">
            <a:tbl>
              <a:tblPr>
                <a:noFill/>
                <a:tableStyleId>{24A41064-E7F3-4B78-9519-E1898FC49DE2}</a:tableStyleId>
              </a:tblPr>
              <a:tblGrid>
                <a:gridCol w="848475"/>
                <a:gridCol w="3675925"/>
              </a:tblGrid>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1000</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‘H’</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1001</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‘O’</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601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1002</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‘L’</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1003</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1004</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‘\0’</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1005</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1006</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tc>
              </a:tr>
            </a:tbl>
          </a:graphicData>
        </a:graphic>
      </p:graphicFrame>
      <p:sp>
        <p:nvSpPr>
          <p:cNvPr id="137" name="Google Shape;137;p19"/>
          <p:cNvSpPr/>
          <p:nvPr/>
        </p:nvSpPr>
        <p:spPr>
          <a:xfrm rot="10800000">
            <a:off x="726026" y="2997500"/>
            <a:ext cx="2445000" cy="10128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38" name="Google Shape;138;p19"/>
          <p:cNvSpPr/>
          <p:nvPr/>
        </p:nvSpPr>
        <p:spPr>
          <a:xfrm rot="10800000">
            <a:off x="726038" y="2707382"/>
            <a:ext cx="24450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9" name="Google Shape;139;p19"/>
          <p:cNvSpPr/>
          <p:nvPr/>
        </p:nvSpPr>
        <p:spPr>
          <a:xfrm>
            <a:off x="874745" y="27799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40" name="Google Shape;140;p19"/>
          <p:cNvSpPr/>
          <p:nvPr/>
        </p:nvSpPr>
        <p:spPr>
          <a:xfrm>
            <a:off x="1156606" y="27799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41" name="Google Shape;141;p19"/>
          <p:cNvSpPr/>
          <p:nvPr/>
        </p:nvSpPr>
        <p:spPr>
          <a:xfrm>
            <a:off x="1438466" y="27799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42" name="Google Shape;142;p19"/>
          <p:cNvSpPr txBox="1"/>
          <p:nvPr/>
        </p:nvSpPr>
        <p:spPr>
          <a:xfrm>
            <a:off x="726219" y="3011263"/>
            <a:ext cx="2445000" cy="9384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lang="es" sz="1600">
                <a:solidFill>
                  <a:srgbClr val="E06C75"/>
                </a:solidFill>
              </a:rPr>
              <a:t>string msj=</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"HOLA"</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Arreglos</a:t>
            </a:r>
            <a:endParaRPr sz="7000">
              <a:solidFill>
                <a:schemeClr val="accent4"/>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153" name="Google Shape;153;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a:t>
            </a:r>
            <a:r>
              <a:rPr lang="es">
                <a:solidFill>
                  <a:srgbClr val="6D9EEB"/>
                </a:solidFill>
              </a:rPr>
              <a:t>tipo</a:t>
            </a:r>
            <a:r>
              <a:rPr lang="es"/>
              <a:t> en memoria.</a:t>
            </a:r>
            <a:endParaRPr/>
          </a:p>
          <a:p>
            <a:pPr indent="0" lvl="0" marL="0" rtl="0" algn="l">
              <a:lnSpc>
                <a:spcPct val="115000"/>
              </a:lnSpc>
              <a:spcBef>
                <a:spcPts val="1200"/>
              </a:spcBef>
              <a:spcAft>
                <a:spcPts val="0"/>
              </a:spcAft>
              <a:buSzPts val="1800"/>
              <a:buNone/>
            </a:pPr>
            <a:r>
              <a:rPr lang="es"/>
              <a:t>Declaración:</a:t>
            </a:r>
            <a:endParaRPr/>
          </a:p>
          <a:p>
            <a:pPr indent="0" lvl="0" marL="0" rtl="0" algn="ctr">
              <a:lnSpc>
                <a:spcPct val="115000"/>
              </a:lnSpc>
              <a:spcBef>
                <a:spcPts val="1200"/>
              </a:spcBef>
              <a:spcAft>
                <a:spcPts val="1200"/>
              </a:spcAft>
              <a:buSzPts val="1800"/>
              <a:buNone/>
            </a:pPr>
            <a:r>
              <a:rPr lang="es">
                <a:solidFill>
                  <a:srgbClr val="6D9EEB"/>
                </a:solidFill>
              </a:rPr>
              <a:t>tipo </a:t>
            </a:r>
            <a:r>
              <a:rPr lang="es">
                <a:solidFill>
                  <a:schemeClr val="accent4"/>
                </a:solidFill>
              </a:rPr>
              <a:t>nombre</a:t>
            </a:r>
            <a:r>
              <a:rPr lang="es"/>
              <a:t>[</a:t>
            </a:r>
            <a:r>
              <a:rPr lang="es">
                <a:solidFill>
                  <a:schemeClr val="accent1"/>
                </a:solidFill>
              </a:rPr>
              <a:t>tamaño</a:t>
            </a:r>
            <a:r>
              <a:rPr lang="es"/>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159" name="Google Shape;159;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Declaración e inicialización:</a:t>
            </a:r>
            <a:endParaRPr/>
          </a:p>
          <a:p>
            <a:pPr indent="0" lvl="0" marL="0" rtl="0" algn="ctr">
              <a:lnSpc>
                <a:spcPct val="115000"/>
              </a:lnSpc>
              <a:spcBef>
                <a:spcPts val="1200"/>
              </a:spcBef>
              <a:spcAft>
                <a:spcPts val="1200"/>
              </a:spcAft>
              <a:buSzPts val="1800"/>
              <a:buNone/>
            </a:pPr>
            <a:r>
              <a:rPr lang="es">
                <a:solidFill>
                  <a:srgbClr val="6D9EEB"/>
                </a:solidFill>
              </a:rPr>
              <a:t>tipo </a:t>
            </a:r>
            <a:r>
              <a:rPr lang="es">
                <a:solidFill>
                  <a:schemeClr val="accent4"/>
                </a:solidFill>
              </a:rPr>
              <a:t>nombre</a:t>
            </a:r>
            <a:r>
              <a:rPr lang="es"/>
              <a:t>[</a:t>
            </a:r>
            <a:r>
              <a:rPr lang="es">
                <a:solidFill>
                  <a:schemeClr val="accent1"/>
                </a:solidFill>
              </a:rPr>
              <a:t>tamaño</a:t>
            </a:r>
            <a:r>
              <a:rPr lang="es"/>
              <a:t>] =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165" name="Google Shape;165;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Declaración e inicialización:</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a:t>
            </a:r>
            <a:r>
              <a:rPr lang="es">
                <a:solidFill>
                  <a:schemeClr val="accent1"/>
                </a:solidFill>
              </a:rPr>
              <a:t>5</a:t>
            </a:r>
            <a:r>
              <a:rPr lang="es"/>
              <a:t>] = {3, 6, 15, 90, -1};</a:t>
            </a:r>
            <a:endParaRPr/>
          </a:p>
        </p:txBody>
      </p:sp>
      <p:graphicFrame>
        <p:nvGraphicFramePr>
          <p:cNvPr id="166" name="Google Shape;166;p23"/>
          <p:cNvGraphicFramePr/>
          <p:nvPr/>
        </p:nvGraphicFramePr>
        <p:xfrm>
          <a:off x="2243475" y="2571750"/>
          <a:ext cx="3000000" cy="3000000"/>
        </p:xfrm>
        <a:graphic>
          <a:graphicData uri="http://schemas.openxmlformats.org/drawingml/2006/table">
            <a:tbl>
              <a:tblPr>
                <a:noFill/>
                <a:tableStyleId>{24A41064-E7F3-4B78-9519-E1898FC49DE2}</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167" name="Google Shape;167;p23"/>
          <p:cNvSpPr/>
          <p:nvPr/>
        </p:nvSpPr>
        <p:spPr>
          <a:xfrm>
            <a:off x="703875" y="2763825"/>
            <a:ext cx="813300" cy="392100"/>
          </a:xfrm>
          <a:prstGeom prst="roundRect">
            <a:avLst>
              <a:gd fmla="val 16667" name="adj"/>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EEEEEE"/>
                </a:solidFill>
                <a:latin typeface="Arial"/>
                <a:ea typeface="Arial"/>
                <a:cs typeface="Arial"/>
                <a:sym typeface="Arial"/>
              </a:rPr>
              <a:t>a</a:t>
            </a:r>
            <a:endParaRPr b="0" i="0" sz="1400" u="none" cap="none" strike="noStrike">
              <a:solidFill>
                <a:srgbClr val="EEEEEE"/>
              </a:solidFill>
              <a:latin typeface="Arial"/>
              <a:ea typeface="Arial"/>
              <a:cs typeface="Arial"/>
              <a:sym typeface="Arial"/>
            </a:endParaRPr>
          </a:p>
        </p:txBody>
      </p:sp>
      <p:cxnSp>
        <p:nvCxnSpPr>
          <p:cNvPr id="168" name="Google Shape;168;p23"/>
          <p:cNvCxnSpPr>
            <a:stCxn id="167" idx="3"/>
          </p:cNvCxnSpPr>
          <p:nvPr/>
        </p:nvCxnSpPr>
        <p:spPr>
          <a:xfrm>
            <a:off x="1517175" y="2959875"/>
            <a:ext cx="579300" cy="0"/>
          </a:xfrm>
          <a:prstGeom prst="straightConnector1">
            <a:avLst/>
          </a:prstGeom>
          <a:noFill/>
          <a:ln cap="flat" cmpd="sng" w="38100">
            <a:solidFill>
              <a:srgbClr val="00CA4E"/>
            </a:solidFill>
            <a:prstDash val="solid"/>
            <a:round/>
            <a:headEnd len="sm" w="sm"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174" name="Google Shape;174;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Declaración e inicialización:</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175" name="Google Shape;175;p24"/>
          <p:cNvGraphicFramePr/>
          <p:nvPr/>
        </p:nvGraphicFramePr>
        <p:xfrm>
          <a:off x="2243475" y="2571750"/>
          <a:ext cx="3000000" cy="3000000"/>
        </p:xfrm>
        <a:graphic>
          <a:graphicData uri="http://schemas.openxmlformats.org/drawingml/2006/table">
            <a:tbl>
              <a:tblPr>
                <a:noFill/>
                <a:tableStyleId>{24A41064-E7F3-4B78-9519-E1898FC49DE2}</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176" name="Google Shape;176;p24"/>
          <p:cNvSpPr/>
          <p:nvPr/>
        </p:nvSpPr>
        <p:spPr>
          <a:xfrm>
            <a:off x="703875" y="2763825"/>
            <a:ext cx="813300" cy="392100"/>
          </a:xfrm>
          <a:prstGeom prst="roundRect">
            <a:avLst>
              <a:gd fmla="val 16667" name="adj"/>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EEEEEE"/>
                </a:solidFill>
                <a:latin typeface="Arial"/>
                <a:ea typeface="Arial"/>
                <a:cs typeface="Arial"/>
                <a:sym typeface="Arial"/>
              </a:rPr>
              <a:t>a</a:t>
            </a:r>
            <a:endParaRPr b="0" i="0" sz="1400" u="none" cap="none" strike="noStrike">
              <a:solidFill>
                <a:srgbClr val="EEEEEE"/>
              </a:solidFill>
              <a:latin typeface="Arial"/>
              <a:ea typeface="Arial"/>
              <a:cs typeface="Arial"/>
              <a:sym typeface="Arial"/>
            </a:endParaRPr>
          </a:p>
        </p:txBody>
      </p:sp>
      <p:cxnSp>
        <p:nvCxnSpPr>
          <p:cNvPr id="177" name="Google Shape;177;p24"/>
          <p:cNvCxnSpPr>
            <a:stCxn id="176" idx="3"/>
          </p:cNvCxnSpPr>
          <p:nvPr/>
        </p:nvCxnSpPr>
        <p:spPr>
          <a:xfrm>
            <a:off x="1517175" y="2959875"/>
            <a:ext cx="579300" cy="0"/>
          </a:xfrm>
          <a:prstGeom prst="straightConnector1">
            <a:avLst/>
          </a:prstGeom>
          <a:noFill/>
          <a:ln cap="flat" cmpd="sng" w="38100">
            <a:solidFill>
              <a:srgbClr val="00CA4E"/>
            </a:solidFill>
            <a:prstDash val="solid"/>
            <a:round/>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183" name="Google Shape;183;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Cómo accedemos a los valores?.</a:t>
            </a:r>
            <a:endParaRPr/>
          </a:p>
          <a:p>
            <a:pPr indent="-342900" lvl="0" marL="457200" rtl="0" algn="l">
              <a:lnSpc>
                <a:spcPct val="115000"/>
              </a:lnSpc>
              <a:spcBef>
                <a:spcPts val="1200"/>
              </a:spcBef>
              <a:spcAft>
                <a:spcPts val="0"/>
              </a:spcAft>
              <a:buSzPts val="1800"/>
              <a:buChar char="●"/>
            </a:pPr>
            <a:r>
              <a:rPr lang="es"/>
              <a:t>Cada valor de un arreglo se denomina componente.</a:t>
            </a:r>
            <a:endParaRPr/>
          </a:p>
          <a:p>
            <a:pPr indent="-342900" lvl="0" marL="457200" rtl="0" algn="l">
              <a:lnSpc>
                <a:spcPct val="115000"/>
              </a:lnSpc>
              <a:spcBef>
                <a:spcPts val="0"/>
              </a:spcBef>
              <a:spcAft>
                <a:spcPts val="0"/>
              </a:spcAft>
              <a:buSzPts val="1800"/>
              <a:buChar char="●"/>
            </a:pPr>
            <a:r>
              <a:rPr lang="es"/>
              <a:t>Cada componente está determinado por su índice.</a:t>
            </a:r>
            <a:endParaRPr/>
          </a:p>
          <a:p>
            <a:pPr indent="0" lvl="0" marL="0" rtl="0" algn="ctr">
              <a:lnSpc>
                <a:spcPct val="115000"/>
              </a:lnSpc>
              <a:spcBef>
                <a:spcPts val="1200"/>
              </a:spcBef>
              <a:spcAft>
                <a:spcPts val="1200"/>
              </a:spcAft>
              <a:buSzPts val="1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189" name="Google Shape;189;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Cómo accedemos a los valores?.</a:t>
            </a:r>
            <a:endParaRPr/>
          </a:p>
          <a:p>
            <a:pPr indent="-342900" lvl="0" marL="457200" rtl="0" algn="l">
              <a:lnSpc>
                <a:spcPct val="115000"/>
              </a:lnSpc>
              <a:spcBef>
                <a:spcPts val="1200"/>
              </a:spcBef>
              <a:spcAft>
                <a:spcPts val="0"/>
              </a:spcAft>
              <a:buSzPts val="1800"/>
              <a:buChar char="●"/>
            </a:pPr>
            <a:r>
              <a:rPr lang="es"/>
              <a:t>Cada valor de un arreglo se denomina componente.</a:t>
            </a:r>
            <a:endParaRPr/>
          </a:p>
          <a:p>
            <a:pPr indent="-342900" lvl="0" marL="457200" rtl="0" algn="l">
              <a:lnSpc>
                <a:spcPct val="115000"/>
              </a:lnSpc>
              <a:spcBef>
                <a:spcPts val="0"/>
              </a:spcBef>
              <a:spcAft>
                <a:spcPts val="0"/>
              </a:spcAft>
              <a:buSzPts val="1800"/>
              <a:buChar char="●"/>
            </a:pPr>
            <a:r>
              <a:rPr lang="es"/>
              <a:t>Cada componente está determinado por su índice.</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chemeClr val="accent4"/>
                </a:solidFill>
              </a:rPr>
              <a:t>nombre</a:t>
            </a:r>
            <a:r>
              <a:rPr lang="es"/>
              <a:t>[</a:t>
            </a:r>
            <a:r>
              <a:rPr lang="es">
                <a:solidFill>
                  <a:srgbClr val="E06666"/>
                </a:solidFill>
              </a:rPr>
              <a:t>indice</a:t>
            </a:r>
            <a:r>
              <a:rPr lang="es"/>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195" name="Google Shape;195;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Cómo accedemos a los valores?.</a:t>
            </a:r>
            <a:endParaRPr/>
          </a:p>
          <a:p>
            <a:pPr indent="-342900" lvl="0" marL="457200" rtl="0" algn="l">
              <a:lnSpc>
                <a:spcPct val="115000"/>
              </a:lnSpc>
              <a:spcBef>
                <a:spcPts val="1200"/>
              </a:spcBef>
              <a:spcAft>
                <a:spcPts val="0"/>
              </a:spcAft>
              <a:buSzPts val="1800"/>
              <a:buChar char="●"/>
            </a:pPr>
            <a:r>
              <a:rPr lang="es"/>
              <a:t>Cada valor de un arreglo se denomina componente.</a:t>
            </a:r>
            <a:endParaRPr/>
          </a:p>
          <a:p>
            <a:pPr indent="-342900" lvl="0" marL="457200" rtl="0" algn="l">
              <a:lnSpc>
                <a:spcPct val="115000"/>
              </a:lnSpc>
              <a:spcBef>
                <a:spcPts val="0"/>
              </a:spcBef>
              <a:spcAft>
                <a:spcPts val="0"/>
              </a:spcAft>
              <a:buSzPts val="1800"/>
              <a:buChar char="●"/>
            </a:pPr>
            <a:r>
              <a:rPr lang="es"/>
              <a:t>Cada componente está determinado por su índice.</a:t>
            </a:r>
            <a:endParaRPr/>
          </a:p>
          <a:p>
            <a:pPr indent="0" lvl="0" marL="0" rtl="0" algn="l">
              <a:lnSpc>
                <a:spcPct val="115000"/>
              </a:lnSpc>
              <a:spcBef>
                <a:spcPts val="1200"/>
              </a:spcBef>
              <a:spcAft>
                <a:spcPts val="0"/>
              </a:spcAft>
              <a:buSzPts val="1800"/>
              <a:buNone/>
            </a:pPr>
            <a:r>
              <a:rPr lang="es"/>
              <a:t>Acceso:</a:t>
            </a:r>
            <a:endParaRPr/>
          </a:p>
          <a:p>
            <a:pPr indent="-342900" lvl="0" marL="457200" rtl="0" algn="l">
              <a:lnSpc>
                <a:spcPct val="115000"/>
              </a:lnSpc>
              <a:spcBef>
                <a:spcPts val="1200"/>
              </a:spcBef>
              <a:spcAft>
                <a:spcPts val="0"/>
              </a:spcAft>
              <a:buSzPts val="1800"/>
              <a:buChar char="●"/>
            </a:pPr>
            <a:r>
              <a:rPr lang="es"/>
              <a:t>El primer índice es 0</a:t>
            </a:r>
            <a:endParaRPr/>
          </a:p>
          <a:p>
            <a:pPr indent="-342900" lvl="0" marL="457200" rtl="0" algn="l">
              <a:lnSpc>
                <a:spcPct val="115000"/>
              </a:lnSpc>
              <a:spcBef>
                <a:spcPts val="0"/>
              </a:spcBef>
              <a:spcAft>
                <a:spcPts val="0"/>
              </a:spcAft>
              <a:buSzPts val="1800"/>
              <a:buChar char="●"/>
            </a:pPr>
            <a:r>
              <a:rPr lang="es"/>
              <a:t>El último índice es (tamaño - 1)</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201" name="Google Shape;201;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202" name="Google Shape;202;p28"/>
          <p:cNvGraphicFramePr/>
          <p:nvPr/>
        </p:nvGraphicFramePr>
        <p:xfrm>
          <a:off x="2243475" y="2571750"/>
          <a:ext cx="3000000" cy="3000000"/>
        </p:xfrm>
        <a:graphic>
          <a:graphicData uri="http://schemas.openxmlformats.org/drawingml/2006/table">
            <a:tbl>
              <a:tblPr>
                <a:noFill/>
                <a:tableStyleId>{24A41064-E7F3-4B78-9519-E1898FC49DE2}</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203" name="Google Shape;203;p28"/>
          <p:cNvSpPr/>
          <p:nvPr/>
        </p:nvSpPr>
        <p:spPr>
          <a:xfrm>
            <a:off x="703875" y="2763825"/>
            <a:ext cx="813300" cy="392100"/>
          </a:xfrm>
          <a:prstGeom prst="roundRect">
            <a:avLst>
              <a:gd fmla="val 16667" name="adj"/>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a</a:t>
            </a:r>
            <a:endParaRPr b="0" i="0" sz="1400" u="none" cap="none" strike="noStrike">
              <a:solidFill>
                <a:schemeClr val="dk2"/>
              </a:solidFill>
              <a:latin typeface="Arial"/>
              <a:ea typeface="Arial"/>
              <a:cs typeface="Arial"/>
              <a:sym typeface="Arial"/>
            </a:endParaRPr>
          </a:p>
        </p:txBody>
      </p:sp>
      <p:cxnSp>
        <p:nvCxnSpPr>
          <p:cNvPr id="204" name="Google Shape;204;p28"/>
          <p:cNvCxnSpPr>
            <a:stCxn id="203" idx="3"/>
          </p:cNvCxnSpPr>
          <p:nvPr/>
        </p:nvCxnSpPr>
        <p:spPr>
          <a:xfrm>
            <a:off x="1517175" y="2959875"/>
            <a:ext cx="579300" cy="0"/>
          </a:xfrm>
          <a:prstGeom prst="straightConnector1">
            <a:avLst/>
          </a:prstGeom>
          <a:noFill/>
          <a:ln cap="flat" cmpd="sng" w="38100">
            <a:solidFill>
              <a:srgbClr val="00CA4E"/>
            </a:solidFill>
            <a:prstDash val="solid"/>
            <a:round/>
            <a:headEnd len="sm" w="sm" type="none"/>
            <a:tailEnd len="med" w="med" type="triangle"/>
          </a:ln>
        </p:spPr>
      </p:cxnSp>
      <p:sp>
        <p:nvSpPr>
          <p:cNvPr id="205" name="Google Shape;205;p28"/>
          <p:cNvSpPr/>
          <p:nvPr/>
        </p:nvSpPr>
        <p:spPr>
          <a:xfrm>
            <a:off x="703875" y="3487450"/>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lt2"/>
                </a:solidFill>
                <a:latin typeface="Arial"/>
                <a:ea typeface="Arial"/>
                <a:cs typeface="Arial"/>
                <a:sym typeface="Arial"/>
              </a:rPr>
              <a:t>[</a:t>
            </a:r>
            <a:r>
              <a:rPr b="0" i="0" lang="es" sz="1600" u="none" cap="none" strike="noStrike">
                <a:solidFill>
                  <a:srgbClr val="E06666"/>
                </a:solidFill>
                <a:latin typeface="Arial"/>
                <a:ea typeface="Arial"/>
                <a:cs typeface="Arial"/>
                <a:sym typeface="Arial"/>
              </a:rPr>
              <a:t>3</a:t>
            </a:r>
            <a:r>
              <a:rPr b="0" i="0" lang="es" sz="1600" u="none" cap="none" strike="noStrike">
                <a:solidFill>
                  <a:schemeClr val="lt2"/>
                </a:solidFill>
                <a:latin typeface="Arial"/>
                <a:ea typeface="Arial"/>
                <a:cs typeface="Arial"/>
                <a:sym typeface="Arial"/>
              </a:rPr>
              <a:t>]</a:t>
            </a:r>
            <a:endParaRPr b="0" i="0" sz="1200" u="none" cap="none" strike="noStrike">
              <a:solidFill>
                <a:srgbClr val="EEEEEE"/>
              </a:solidFill>
              <a:latin typeface="Arial"/>
              <a:ea typeface="Arial"/>
              <a:cs typeface="Arial"/>
              <a:sym typeface="Arial"/>
            </a:endParaRPr>
          </a:p>
        </p:txBody>
      </p:sp>
      <p:cxnSp>
        <p:nvCxnSpPr>
          <p:cNvPr id="206" name="Google Shape;206;p28"/>
          <p:cNvCxnSpPr>
            <a:stCxn id="205" idx="3"/>
          </p:cNvCxnSpPr>
          <p:nvPr/>
        </p:nvCxnSpPr>
        <p:spPr>
          <a:xfrm>
            <a:off x="1517175" y="3683500"/>
            <a:ext cx="579300" cy="0"/>
          </a:xfrm>
          <a:prstGeom prst="straightConnector1">
            <a:avLst/>
          </a:prstGeom>
          <a:noFill/>
          <a:ln cap="flat" cmpd="sng" w="19050">
            <a:solidFill>
              <a:srgbClr val="EA9999"/>
            </a:solidFill>
            <a:prstDash val="dot"/>
            <a:round/>
            <a:headEnd len="sm" w="sm"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9"/>
          <p:cNvPicPr preferRelativeResize="0"/>
          <p:nvPr/>
        </p:nvPicPr>
        <p:blipFill rotWithShape="1">
          <a:blip r:embed="rId3">
            <a:alphaModFix amt="20000"/>
          </a:blip>
          <a:srcRect b="0" l="0" r="0" t="0"/>
          <a:stretch/>
        </p:blipFill>
        <p:spPr>
          <a:xfrm>
            <a:off x="4164775" y="133350"/>
            <a:ext cx="4876800" cy="4876800"/>
          </a:xfrm>
          <a:prstGeom prst="rect">
            <a:avLst/>
          </a:prstGeom>
          <a:noFill/>
          <a:ln>
            <a:noFill/>
          </a:ln>
        </p:spPr>
      </p:pic>
      <p:sp>
        <p:nvSpPr>
          <p:cNvPr id="212" name="Google Shape;212;p2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Recorriendo un Arreglo</a:t>
            </a:r>
            <a:endParaRPr sz="7000">
              <a:solidFill>
                <a:schemeClr val="accent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218" name="Google Shape;218;p30"/>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219" name="Google Shape;219;p30"/>
          <p:cNvGraphicFramePr/>
          <p:nvPr/>
        </p:nvGraphicFramePr>
        <p:xfrm>
          <a:off x="2243475" y="2571750"/>
          <a:ext cx="3000000" cy="3000000"/>
        </p:xfrm>
        <a:graphic>
          <a:graphicData uri="http://schemas.openxmlformats.org/drawingml/2006/table">
            <a:tbl>
              <a:tblPr>
                <a:noFill/>
                <a:tableStyleId>{24A41064-E7F3-4B78-9519-E1898FC49DE2}</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220" name="Google Shape;220;p30"/>
          <p:cNvSpPr/>
          <p:nvPr/>
        </p:nvSpPr>
        <p:spPr>
          <a:xfrm>
            <a:off x="703875" y="2779200"/>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dk2"/>
                </a:solidFill>
                <a:latin typeface="Arial"/>
                <a:ea typeface="Arial"/>
                <a:cs typeface="Arial"/>
                <a:sym typeface="Arial"/>
              </a:rPr>
              <a:t>[</a:t>
            </a:r>
            <a:r>
              <a:rPr b="0" i="0" lang="es" sz="1600" u="none" cap="none" strike="noStrike">
                <a:solidFill>
                  <a:srgbClr val="E06666"/>
                </a:solidFill>
                <a:latin typeface="Arial"/>
                <a:ea typeface="Arial"/>
                <a:cs typeface="Arial"/>
                <a:sym typeface="Arial"/>
              </a:rPr>
              <a:t>0</a:t>
            </a:r>
            <a:r>
              <a:rPr b="0" i="0" lang="es" sz="1600" u="none" cap="none" strike="noStrike">
                <a:solidFill>
                  <a:schemeClr val="dk2"/>
                </a:solidFill>
                <a:latin typeface="Arial"/>
                <a:ea typeface="Arial"/>
                <a:cs typeface="Arial"/>
                <a:sym typeface="Arial"/>
              </a:rPr>
              <a:t>]</a:t>
            </a:r>
            <a:endParaRPr b="0" i="0" sz="1200" u="none" cap="none" strike="noStrike">
              <a:solidFill>
                <a:schemeClr val="dk2"/>
              </a:solidFill>
              <a:latin typeface="Arial"/>
              <a:ea typeface="Arial"/>
              <a:cs typeface="Arial"/>
              <a:sym typeface="Arial"/>
            </a:endParaRPr>
          </a:p>
        </p:txBody>
      </p:sp>
      <p:cxnSp>
        <p:nvCxnSpPr>
          <p:cNvPr id="221" name="Google Shape;221;p30"/>
          <p:cNvCxnSpPr>
            <a:stCxn id="220" idx="3"/>
          </p:cNvCxnSpPr>
          <p:nvPr/>
        </p:nvCxnSpPr>
        <p:spPr>
          <a:xfrm>
            <a:off x="1517175" y="2975250"/>
            <a:ext cx="579300" cy="0"/>
          </a:xfrm>
          <a:prstGeom prst="straightConnector1">
            <a:avLst/>
          </a:prstGeom>
          <a:noFill/>
          <a:ln cap="flat" cmpd="sng" w="19050">
            <a:solidFill>
              <a:srgbClr val="EA9999"/>
            </a:solidFill>
            <a:prstDash val="dot"/>
            <a:round/>
            <a:headEnd len="sm" w="sm"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227" name="Google Shape;227;p31"/>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228" name="Google Shape;228;p31"/>
          <p:cNvGraphicFramePr/>
          <p:nvPr/>
        </p:nvGraphicFramePr>
        <p:xfrm>
          <a:off x="2243475" y="2571750"/>
          <a:ext cx="3000000" cy="3000000"/>
        </p:xfrm>
        <a:graphic>
          <a:graphicData uri="http://schemas.openxmlformats.org/drawingml/2006/table">
            <a:tbl>
              <a:tblPr>
                <a:noFill/>
                <a:tableStyleId>{24A41064-E7F3-4B78-9519-E1898FC49DE2}</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cxnSp>
        <p:nvCxnSpPr>
          <p:cNvPr id="229" name="Google Shape;229;p31"/>
          <p:cNvCxnSpPr>
            <a:stCxn id="230" idx="3"/>
          </p:cNvCxnSpPr>
          <p:nvPr/>
        </p:nvCxnSpPr>
        <p:spPr>
          <a:xfrm>
            <a:off x="1517175" y="3209975"/>
            <a:ext cx="579300" cy="0"/>
          </a:xfrm>
          <a:prstGeom prst="straightConnector1">
            <a:avLst/>
          </a:prstGeom>
          <a:noFill/>
          <a:ln cap="flat" cmpd="sng" w="19050">
            <a:solidFill>
              <a:srgbClr val="EA9999"/>
            </a:solidFill>
            <a:prstDash val="dot"/>
            <a:round/>
            <a:headEnd len="sm" w="sm" type="none"/>
            <a:tailEnd len="med" w="med" type="triangle"/>
          </a:ln>
        </p:spPr>
      </p:cxnSp>
      <p:sp>
        <p:nvSpPr>
          <p:cNvPr id="231" name="Google Shape;231;p31"/>
          <p:cNvSpPr/>
          <p:nvPr/>
        </p:nvSpPr>
        <p:spPr>
          <a:xfrm>
            <a:off x="703875" y="3007800"/>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dk2"/>
                </a:solidFill>
                <a:latin typeface="Arial"/>
                <a:ea typeface="Arial"/>
                <a:cs typeface="Arial"/>
                <a:sym typeface="Arial"/>
              </a:rPr>
              <a:t>[</a:t>
            </a:r>
            <a:r>
              <a:rPr lang="es" sz="1600">
                <a:solidFill>
                  <a:srgbClr val="E06666"/>
                </a:solidFill>
              </a:rPr>
              <a:t>1</a:t>
            </a:r>
            <a:r>
              <a:rPr b="0" i="0" lang="es" sz="1600" u="none" cap="none" strike="noStrike">
                <a:solidFill>
                  <a:schemeClr val="dk2"/>
                </a:solidFill>
                <a:latin typeface="Arial"/>
                <a:ea typeface="Arial"/>
                <a:cs typeface="Arial"/>
                <a:sym typeface="Arial"/>
              </a:rPr>
              <a:t>]</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237" name="Google Shape;237;p32"/>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238" name="Google Shape;238;p32"/>
          <p:cNvGraphicFramePr/>
          <p:nvPr/>
        </p:nvGraphicFramePr>
        <p:xfrm>
          <a:off x="2243475" y="2571750"/>
          <a:ext cx="3000000" cy="3000000"/>
        </p:xfrm>
        <a:graphic>
          <a:graphicData uri="http://schemas.openxmlformats.org/drawingml/2006/table">
            <a:tbl>
              <a:tblPr>
                <a:noFill/>
                <a:tableStyleId>{24A41064-E7F3-4B78-9519-E1898FC49DE2}</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cxnSp>
        <p:nvCxnSpPr>
          <p:cNvPr id="239" name="Google Shape;239;p32"/>
          <p:cNvCxnSpPr>
            <a:stCxn id="240" idx="3"/>
          </p:cNvCxnSpPr>
          <p:nvPr/>
        </p:nvCxnSpPr>
        <p:spPr>
          <a:xfrm>
            <a:off x="1517175" y="3437625"/>
            <a:ext cx="579300" cy="0"/>
          </a:xfrm>
          <a:prstGeom prst="straightConnector1">
            <a:avLst/>
          </a:prstGeom>
          <a:noFill/>
          <a:ln cap="flat" cmpd="sng" w="19050">
            <a:solidFill>
              <a:srgbClr val="EA9999"/>
            </a:solidFill>
            <a:prstDash val="dot"/>
            <a:round/>
            <a:headEnd len="sm" w="sm" type="none"/>
            <a:tailEnd len="med" w="med" type="triangle"/>
          </a:ln>
        </p:spPr>
      </p:cxnSp>
      <p:sp>
        <p:nvSpPr>
          <p:cNvPr id="241" name="Google Shape;241;p32"/>
          <p:cNvSpPr/>
          <p:nvPr/>
        </p:nvSpPr>
        <p:spPr>
          <a:xfrm>
            <a:off x="703875" y="3236400"/>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dk2"/>
                </a:solidFill>
                <a:latin typeface="Arial"/>
                <a:ea typeface="Arial"/>
                <a:cs typeface="Arial"/>
                <a:sym typeface="Arial"/>
              </a:rPr>
              <a:t>[</a:t>
            </a:r>
            <a:r>
              <a:rPr lang="es" sz="1600">
                <a:solidFill>
                  <a:srgbClr val="E06666"/>
                </a:solidFill>
              </a:rPr>
              <a:t>2</a:t>
            </a:r>
            <a:r>
              <a:rPr b="0" i="0" lang="es" sz="1600" u="none" cap="none" strike="noStrike">
                <a:solidFill>
                  <a:schemeClr val="dk2"/>
                </a:solidFill>
                <a:latin typeface="Arial"/>
                <a:ea typeface="Arial"/>
                <a:cs typeface="Arial"/>
                <a:sym typeface="Arial"/>
              </a:rPr>
              <a:t>]</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247" name="Google Shape;247;p33"/>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248" name="Google Shape;248;p33"/>
          <p:cNvGraphicFramePr/>
          <p:nvPr/>
        </p:nvGraphicFramePr>
        <p:xfrm>
          <a:off x="2243475" y="2571750"/>
          <a:ext cx="3000000" cy="3000000"/>
        </p:xfrm>
        <a:graphic>
          <a:graphicData uri="http://schemas.openxmlformats.org/drawingml/2006/table">
            <a:tbl>
              <a:tblPr>
                <a:noFill/>
                <a:tableStyleId>{24A41064-E7F3-4B78-9519-E1898FC49DE2}</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cxnSp>
        <p:nvCxnSpPr>
          <p:cNvPr id="249" name="Google Shape;249;p33"/>
          <p:cNvCxnSpPr>
            <a:stCxn id="250" idx="3"/>
          </p:cNvCxnSpPr>
          <p:nvPr/>
        </p:nvCxnSpPr>
        <p:spPr>
          <a:xfrm>
            <a:off x="1517175" y="3665275"/>
            <a:ext cx="579300" cy="0"/>
          </a:xfrm>
          <a:prstGeom prst="straightConnector1">
            <a:avLst/>
          </a:prstGeom>
          <a:noFill/>
          <a:ln cap="flat" cmpd="sng" w="19050">
            <a:solidFill>
              <a:srgbClr val="EA9999"/>
            </a:solidFill>
            <a:prstDash val="dot"/>
            <a:round/>
            <a:headEnd len="sm" w="sm" type="none"/>
            <a:tailEnd len="med" w="med" type="triangle"/>
          </a:ln>
        </p:spPr>
      </p:cxnSp>
      <p:sp>
        <p:nvSpPr>
          <p:cNvPr id="251" name="Google Shape;251;p33"/>
          <p:cNvSpPr/>
          <p:nvPr/>
        </p:nvSpPr>
        <p:spPr>
          <a:xfrm>
            <a:off x="703875" y="3465000"/>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dk2"/>
                </a:solidFill>
                <a:latin typeface="Arial"/>
                <a:ea typeface="Arial"/>
                <a:cs typeface="Arial"/>
                <a:sym typeface="Arial"/>
              </a:rPr>
              <a:t>[</a:t>
            </a:r>
            <a:r>
              <a:rPr lang="es" sz="1600">
                <a:solidFill>
                  <a:srgbClr val="E06666"/>
                </a:solidFill>
              </a:rPr>
              <a:t>3</a:t>
            </a:r>
            <a:r>
              <a:rPr b="0" i="0" lang="es" sz="1600" u="none" cap="none" strike="noStrike">
                <a:solidFill>
                  <a:schemeClr val="dk2"/>
                </a:solidFill>
                <a:latin typeface="Arial"/>
                <a:ea typeface="Arial"/>
                <a:cs typeface="Arial"/>
                <a:sym typeface="Arial"/>
              </a:rPr>
              <a:t>]</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257" name="Google Shape;257;p34"/>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258" name="Google Shape;258;p34"/>
          <p:cNvGraphicFramePr/>
          <p:nvPr/>
        </p:nvGraphicFramePr>
        <p:xfrm>
          <a:off x="2243475" y="2571750"/>
          <a:ext cx="3000000" cy="3000000"/>
        </p:xfrm>
        <a:graphic>
          <a:graphicData uri="http://schemas.openxmlformats.org/drawingml/2006/table">
            <a:tbl>
              <a:tblPr>
                <a:noFill/>
                <a:tableStyleId>{24A41064-E7F3-4B78-9519-E1898FC49DE2}</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cxnSp>
        <p:nvCxnSpPr>
          <p:cNvPr id="259" name="Google Shape;259;p34"/>
          <p:cNvCxnSpPr>
            <a:stCxn id="260" idx="3"/>
          </p:cNvCxnSpPr>
          <p:nvPr/>
        </p:nvCxnSpPr>
        <p:spPr>
          <a:xfrm>
            <a:off x="1517175" y="3873950"/>
            <a:ext cx="579300" cy="0"/>
          </a:xfrm>
          <a:prstGeom prst="straightConnector1">
            <a:avLst/>
          </a:prstGeom>
          <a:noFill/>
          <a:ln cap="flat" cmpd="sng" w="19050">
            <a:solidFill>
              <a:srgbClr val="EA9999"/>
            </a:solidFill>
            <a:prstDash val="dot"/>
            <a:round/>
            <a:headEnd len="sm" w="sm" type="none"/>
            <a:tailEnd len="med" w="med" type="triangle"/>
          </a:ln>
        </p:spPr>
      </p:cxnSp>
      <p:sp>
        <p:nvSpPr>
          <p:cNvPr id="261" name="Google Shape;261;p34"/>
          <p:cNvSpPr/>
          <p:nvPr/>
        </p:nvSpPr>
        <p:spPr>
          <a:xfrm>
            <a:off x="703875" y="3693600"/>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dk2"/>
                </a:solidFill>
                <a:latin typeface="Arial"/>
                <a:ea typeface="Arial"/>
                <a:cs typeface="Arial"/>
                <a:sym typeface="Arial"/>
              </a:rPr>
              <a:t>[</a:t>
            </a:r>
            <a:r>
              <a:rPr lang="es" sz="1600">
                <a:solidFill>
                  <a:srgbClr val="E06666"/>
                </a:solidFill>
              </a:rPr>
              <a:t>4</a:t>
            </a:r>
            <a:r>
              <a:rPr b="0" i="0" lang="es" sz="1600" u="none" cap="none" strike="noStrike">
                <a:solidFill>
                  <a:schemeClr val="dk2"/>
                </a:solidFill>
                <a:latin typeface="Arial"/>
                <a:ea typeface="Arial"/>
                <a:cs typeface="Arial"/>
                <a:sym typeface="Arial"/>
              </a:rPr>
              <a:t>]</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267" name="Google Shape;267;p35"/>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268" name="Google Shape;268;p35"/>
          <p:cNvGraphicFramePr/>
          <p:nvPr/>
        </p:nvGraphicFramePr>
        <p:xfrm>
          <a:off x="2243475" y="2571750"/>
          <a:ext cx="3000000" cy="3000000"/>
        </p:xfrm>
        <a:graphic>
          <a:graphicData uri="http://schemas.openxmlformats.org/drawingml/2006/table">
            <a:tbl>
              <a:tblPr>
                <a:noFill/>
                <a:tableStyleId>{24A41064-E7F3-4B78-9519-E1898FC49DE2}</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cxnSp>
        <p:nvCxnSpPr>
          <p:cNvPr id="269" name="Google Shape;269;p35"/>
          <p:cNvCxnSpPr>
            <a:stCxn id="270" idx="3"/>
          </p:cNvCxnSpPr>
          <p:nvPr/>
        </p:nvCxnSpPr>
        <p:spPr>
          <a:xfrm>
            <a:off x="1517175" y="4139525"/>
            <a:ext cx="579300" cy="0"/>
          </a:xfrm>
          <a:prstGeom prst="straightConnector1">
            <a:avLst/>
          </a:prstGeom>
          <a:noFill/>
          <a:ln cap="flat" cmpd="sng" w="19050">
            <a:solidFill>
              <a:srgbClr val="EA9999"/>
            </a:solidFill>
            <a:prstDash val="dot"/>
            <a:round/>
            <a:headEnd len="sm" w="sm" type="none"/>
            <a:tailEnd len="med" w="med" type="triangle"/>
          </a:ln>
        </p:spPr>
      </p:cxnSp>
      <p:sp>
        <p:nvSpPr>
          <p:cNvPr id="271" name="Google Shape;271;p35"/>
          <p:cNvSpPr/>
          <p:nvPr/>
        </p:nvSpPr>
        <p:spPr>
          <a:xfrm>
            <a:off x="703875" y="3922200"/>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dk2"/>
                </a:solidFill>
                <a:latin typeface="Arial"/>
                <a:ea typeface="Arial"/>
                <a:cs typeface="Arial"/>
                <a:sym typeface="Arial"/>
              </a:rPr>
              <a:t>[</a:t>
            </a:r>
            <a:r>
              <a:rPr lang="es" sz="1600">
                <a:solidFill>
                  <a:srgbClr val="E06666"/>
                </a:solidFill>
              </a:rPr>
              <a:t>5</a:t>
            </a:r>
            <a:r>
              <a:rPr b="0" i="0" lang="es" sz="1600" u="none" cap="none" strike="noStrike">
                <a:solidFill>
                  <a:schemeClr val="dk2"/>
                </a:solidFill>
                <a:latin typeface="Arial"/>
                <a:ea typeface="Arial"/>
                <a:cs typeface="Arial"/>
                <a:sym typeface="Arial"/>
              </a:rPr>
              <a:t>]</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277" name="Google Shape;277;p36"/>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278" name="Google Shape;278;p36"/>
          <p:cNvGraphicFramePr/>
          <p:nvPr/>
        </p:nvGraphicFramePr>
        <p:xfrm>
          <a:off x="2243475" y="2571750"/>
          <a:ext cx="3000000" cy="3000000"/>
        </p:xfrm>
        <a:graphic>
          <a:graphicData uri="http://schemas.openxmlformats.org/drawingml/2006/table">
            <a:tbl>
              <a:tblPr>
                <a:noFill/>
                <a:tableStyleId>{24A41064-E7F3-4B78-9519-E1898FC49DE2}</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cxnSp>
        <p:nvCxnSpPr>
          <p:cNvPr id="279" name="Google Shape;279;p36"/>
          <p:cNvCxnSpPr>
            <a:stCxn id="280" idx="3"/>
          </p:cNvCxnSpPr>
          <p:nvPr/>
        </p:nvCxnSpPr>
        <p:spPr>
          <a:xfrm>
            <a:off x="1517175" y="4139525"/>
            <a:ext cx="579300" cy="0"/>
          </a:xfrm>
          <a:prstGeom prst="straightConnector1">
            <a:avLst/>
          </a:prstGeom>
          <a:noFill/>
          <a:ln cap="flat" cmpd="sng" w="19050">
            <a:solidFill>
              <a:srgbClr val="EA9999"/>
            </a:solidFill>
            <a:prstDash val="dot"/>
            <a:round/>
            <a:headEnd len="sm" w="sm" type="none"/>
            <a:tailEnd len="med" w="med" type="triangle"/>
          </a:ln>
        </p:spPr>
      </p:cxnSp>
      <p:sp>
        <p:nvSpPr>
          <p:cNvPr id="281" name="Google Shape;281;p36"/>
          <p:cNvSpPr/>
          <p:nvPr/>
        </p:nvSpPr>
        <p:spPr>
          <a:xfrm>
            <a:off x="847350" y="2998175"/>
            <a:ext cx="2282700" cy="2282700"/>
          </a:xfrm>
          <a:prstGeom prst="mathMultiply">
            <a:avLst>
              <a:gd fmla="val 10770" name="adj1"/>
            </a:avLst>
          </a:prstGeom>
          <a:solidFill>
            <a:srgbClr val="CC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36"/>
          <p:cNvSpPr/>
          <p:nvPr/>
        </p:nvSpPr>
        <p:spPr>
          <a:xfrm>
            <a:off x="703875" y="3922200"/>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dk2"/>
                </a:solidFill>
                <a:latin typeface="Arial"/>
                <a:ea typeface="Arial"/>
                <a:cs typeface="Arial"/>
                <a:sym typeface="Arial"/>
              </a:rPr>
              <a:t>[</a:t>
            </a:r>
            <a:r>
              <a:rPr lang="es" sz="1600">
                <a:solidFill>
                  <a:srgbClr val="E06666"/>
                </a:solidFill>
              </a:rPr>
              <a:t>5</a:t>
            </a:r>
            <a:r>
              <a:rPr b="0" i="0" lang="es" sz="1600" u="none" cap="none" strike="noStrike">
                <a:solidFill>
                  <a:schemeClr val="dk2"/>
                </a:solidFill>
                <a:latin typeface="Arial"/>
                <a:ea typeface="Arial"/>
                <a:cs typeface="Arial"/>
                <a:sym typeface="Arial"/>
              </a:rPr>
              <a:t>]</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288" name="Google Shape;288;p37"/>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89" name="Google Shape;289;p37"/>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290" name="Google Shape;290;p37"/>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91" name="Google Shape;291;p37"/>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92" name="Google Shape;292;p37"/>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93" name="Google Shape;293;p37"/>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94" name="Google Shape;294;p37"/>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const int MAX = 100;</a:t>
            </a:r>
            <a:endParaRPr sz="900">
              <a:solidFill>
                <a:srgbClr val="383A42"/>
              </a:solidFill>
            </a:endParaRPr>
          </a:p>
          <a:p>
            <a:pPr indent="0" lvl="0" marL="0" marR="0" rtl="0" algn="l">
              <a:lnSpc>
                <a:spcPct val="100000"/>
              </a:lnSpc>
              <a:spcBef>
                <a:spcPts val="0"/>
              </a:spcBef>
              <a:spcAft>
                <a:spcPts val="0"/>
              </a:spcAft>
              <a:buNone/>
            </a:pPr>
            <a:r>
              <a:rPr lang="es" sz="900">
                <a:solidFill>
                  <a:srgbClr val="383A42"/>
                </a:solidFill>
              </a:rPr>
              <a:t>    int cantidad;</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int dia[MAX];</a:t>
            </a:r>
            <a:endParaRPr sz="900">
              <a:solidFill>
                <a:srgbClr val="383A42"/>
              </a:solidFill>
            </a:endParaRPr>
          </a:p>
          <a:p>
            <a:pPr indent="0" lvl="0" marL="0" marR="0" rtl="0" algn="l">
              <a:lnSpc>
                <a:spcPct val="100000"/>
              </a:lnSpc>
              <a:spcBef>
                <a:spcPts val="0"/>
              </a:spcBef>
              <a:spcAft>
                <a:spcPts val="0"/>
              </a:spcAft>
              <a:buNone/>
            </a:pPr>
            <a:r>
              <a:rPr lang="es" sz="900">
                <a:solidFill>
                  <a:srgbClr val="383A42"/>
                </a:solidFill>
              </a:rPr>
              <a:t>    float temperatura[MAX];</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"Ingrese la cantidad de mediciones: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cin &gt;&gt; cantidad;</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while (cantidad &lt; 1 || cantidad &gt; MAX)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"La cantidad debe estar entre 1 y " &lt;&lt; MAX &lt;&lt; "." &lt;&lt; endl;</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"Ingrese nuevamente la cantidad: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cin &gt;&gt; cantidad;</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for (int i = 0; i &lt; cantidad; i++)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endl;</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"Medicion " &lt;&lt; i + 1 &lt;&lt; endl;</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"Ingrese el dia del mes: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cin &gt;&gt; dia[i];</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"Ingrese la temperatura: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cin &gt;&gt; temperatura[i];</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a:t>
            </a:r>
            <a:endParaRPr b="0" i="0" sz="900" u="none" cap="none" strike="noStrike">
              <a:solidFill>
                <a:srgbClr val="383A42"/>
              </a:solidFill>
              <a:latin typeface="Arial"/>
              <a:ea typeface="Arial"/>
              <a:cs typeface="Arial"/>
              <a:sym typeface="Arial"/>
            </a:endParaRPr>
          </a:p>
        </p:txBody>
      </p:sp>
      <p:sp>
        <p:nvSpPr>
          <p:cNvPr id="295" name="Google Shape;295;p37"/>
          <p:cNvSpPr txBox="1"/>
          <p:nvPr>
            <p:ph idx="1" type="body"/>
          </p:nvPr>
        </p:nvSpPr>
        <p:spPr>
          <a:xfrm>
            <a:off x="311700" y="1152475"/>
            <a:ext cx="3643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Escriba un programa que solicite al usuario el ingreso por teclado de valores flotantes que corresponden con las mediciones de un sensor de temperatura. Para esto, el programa debe solicitar primero la cantidad de puntos a cargar, luego para cada punto hay </a:t>
            </a:r>
            <a:r>
              <a:rPr lang="es"/>
              <a:t>además</a:t>
            </a:r>
            <a:r>
              <a:rPr lang="es"/>
              <a:t> un registro del </a:t>
            </a:r>
            <a:r>
              <a:rPr lang="es"/>
              <a:t>día</a:t>
            </a:r>
            <a:r>
              <a:rPr lang="es"/>
              <a:t> del mes (entero) en el que se </a:t>
            </a:r>
            <a:r>
              <a:rPr lang="es"/>
              <a:t>tomó</a:t>
            </a:r>
            <a:r>
              <a:rPr lang="es"/>
              <a:t> esa medici</a:t>
            </a:r>
            <a:r>
              <a:rPr lang="es"/>
              <a:t>ón.</a:t>
            </a:r>
            <a:r>
              <a:rPr lang="es"/>
              <a:t> Utilice 2 arreglos, cada uno del tipo de dato correspondiente.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p38"/>
          <p:cNvPicPr preferRelativeResize="0"/>
          <p:nvPr/>
        </p:nvPicPr>
        <p:blipFill rotWithShape="1">
          <a:blip r:embed="rId3">
            <a:alphaModFix amt="20000"/>
          </a:blip>
          <a:srcRect b="0" l="0" r="0" t="0"/>
          <a:stretch/>
        </p:blipFill>
        <p:spPr>
          <a:xfrm>
            <a:off x="4211050" y="133350"/>
            <a:ext cx="4876800" cy="4876800"/>
          </a:xfrm>
          <a:prstGeom prst="rect">
            <a:avLst/>
          </a:prstGeom>
          <a:noFill/>
          <a:ln>
            <a:noFill/>
          </a:ln>
        </p:spPr>
      </p:pic>
      <p:sp>
        <p:nvSpPr>
          <p:cNvPr id="301" name="Google Shape;301;p3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Pasaje por referencia</a:t>
            </a:r>
            <a:endParaRPr sz="7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 importante entender la memoria…</a:t>
            </a:r>
            <a:endParaRPr/>
          </a:p>
        </p:txBody>
      </p:sp>
      <p:sp>
        <p:nvSpPr>
          <p:cNvPr id="307" name="Google Shape;307;p39"/>
          <p:cNvSpPr/>
          <p:nvPr/>
        </p:nvSpPr>
        <p:spPr>
          <a:xfrm rot="10800000">
            <a:off x="616675" y="1676150"/>
            <a:ext cx="3678600" cy="25818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08" name="Google Shape;308;p39"/>
          <p:cNvSpPr/>
          <p:nvPr/>
        </p:nvSpPr>
        <p:spPr>
          <a:xfrm rot="10800000">
            <a:off x="616675" y="1495150"/>
            <a:ext cx="36786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09" name="Google Shape;309;p39"/>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10" name="Google Shape;310;p39"/>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11" name="Google Shape;311;p39"/>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12" name="Google Shape;312;p39"/>
          <p:cNvSpPr txBox="1"/>
          <p:nvPr/>
        </p:nvSpPr>
        <p:spPr>
          <a:xfrm>
            <a:off x="616500" y="1711524"/>
            <a:ext cx="3678600" cy="2391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1</a:t>
            </a:r>
            <a:r>
              <a:rPr b="0" i="0" lang="es" sz="1150" u="none" cap="none" strike="noStrike">
                <a:solidFill>
                  <a:srgbClr val="383A42"/>
                </a:solidFill>
                <a:latin typeface="Arial"/>
                <a:ea typeface="Arial"/>
                <a:cs typeface="Arial"/>
                <a:sym typeface="Arial"/>
              </a:rPr>
              <a:t>  #include &lt;iostream&gt;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3</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void</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4</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"Dentro: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6</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7</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8</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main</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9</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10</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11</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"Fuera: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12</a:t>
            </a:r>
            <a:r>
              <a:rPr b="0" i="0" lang="es" sz="1150" u="none" cap="none" strike="noStrike">
                <a:solidFill>
                  <a:srgbClr val="383A42"/>
                </a:solidFill>
                <a:latin typeface="Arial"/>
                <a:ea typeface="Arial"/>
                <a:cs typeface="Arial"/>
                <a:sym typeface="Arial"/>
              </a:rPr>
              <a:t>      </a:t>
            </a:r>
            <a:r>
              <a:rPr b="0" i="0" lang="es" sz="1150" u="none" cap="none" strike="noStrike">
                <a:solidFill>
                  <a:srgbClr val="A626A4"/>
                </a:solidFill>
                <a:latin typeface="Arial"/>
                <a:ea typeface="Arial"/>
                <a:cs typeface="Arial"/>
                <a:sym typeface="Arial"/>
              </a:rPr>
              <a:t>return</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0</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13</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 importante entender la memoria…</a:t>
            </a:r>
            <a:endParaRPr/>
          </a:p>
        </p:txBody>
      </p:sp>
      <p:sp>
        <p:nvSpPr>
          <p:cNvPr id="318" name="Google Shape;318;p40"/>
          <p:cNvSpPr txBox="1"/>
          <p:nvPr>
            <p:ph idx="1" type="body"/>
          </p:nvPr>
        </p:nvSpPr>
        <p:spPr>
          <a:xfrm>
            <a:off x="5344100" y="12819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a:t>
            </a:r>
            <a:endParaRPr/>
          </a:p>
        </p:txBody>
      </p:sp>
      <p:sp>
        <p:nvSpPr>
          <p:cNvPr id="319" name="Google Shape;319;p40"/>
          <p:cNvSpPr/>
          <p:nvPr/>
        </p:nvSpPr>
        <p:spPr>
          <a:xfrm rot="10800000">
            <a:off x="616675" y="1676150"/>
            <a:ext cx="3678600" cy="25818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20" name="Google Shape;320;p40"/>
          <p:cNvSpPr/>
          <p:nvPr/>
        </p:nvSpPr>
        <p:spPr>
          <a:xfrm rot="10800000">
            <a:off x="616675" y="1495150"/>
            <a:ext cx="36786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21" name="Google Shape;321;p40"/>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22" name="Google Shape;322;p40"/>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23" name="Google Shape;323;p40"/>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24" name="Google Shape;324;p40"/>
          <p:cNvSpPr txBox="1"/>
          <p:nvPr/>
        </p:nvSpPr>
        <p:spPr>
          <a:xfrm>
            <a:off x="616500" y="1711524"/>
            <a:ext cx="3678600" cy="2391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1</a:t>
            </a:r>
            <a:r>
              <a:rPr b="0" i="0" lang="es" sz="1150" u="none" cap="none" strike="noStrike">
                <a:solidFill>
                  <a:srgbClr val="383A42"/>
                </a:solidFill>
                <a:latin typeface="Arial"/>
                <a:ea typeface="Arial"/>
                <a:cs typeface="Arial"/>
                <a:sym typeface="Arial"/>
              </a:rPr>
              <a:t>  #include &lt;iostream&gt;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3</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void</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4</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"Dentro: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6</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7</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8</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main</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9</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10</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11</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"Fuera: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12</a:t>
            </a:r>
            <a:r>
              <a:rPr b="0" i="0" lang="es" sz="1150" u="none" cap="none" strike="noStrike">
                <a:solidFill>
                  <a:srgbClr val="383A42"/>
                </a:solidFill>
                <a:latin typeface="Arial"/>
                <a:ea typeface="Arial"/>
                <a:cs typeface="Arial"/>
                <a:sym typeface="Arial"/>
              </a:rPr>
              <a:t>      </a:t>
            </a:r>
            <a:r>
              <a:rPr b="0" i="0" lang="es" sz="1150" u="none" cap="none" strike="noStrike">
                <a:solidFill>
                  <a:srgbClr val="A626A4"/>
                </a:solidFill>
                <a:latin typeface="Arial"/>
                <a:ea typeface="Arial"/>
                <a:cs typeface="Arial"/>
                <a:sym typeface="Arial"/>
              </a:rPr>
              <a:t>return</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0</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13</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p:txBody>
      </p:sp>
      <p:sp>
        <p:nvSpPr>
          <p:cNvPr id="325" name="Google Shape;325;p40"/>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 importante entender la memoria…</a:t>
            </a:r>
            <a:endParaRPr/>
          </a:p>
        </p:txBody>
      </p:sp>
      <p:sp>
        <p:nvSpPr>
          <p:cNvPr id="331" name="Google Shape;331;p41"/>
          <p:cNvSpPr txBox="1"/>
          <p:nvPr>
            <p:ph idx="1" type="body"/>
          </p:nvPr>
        </p:nvSpPr>
        <p:spPr>
          <a:xfrm>
            <a:off x="5344100" y="12819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a:t>
            </a:r>
            <a:endParaRPr/>
          </a:p>
        </p:txBody>
      </p:sp>
      <p:sp>
        <p:nvSpPr>
          <p:cNvPr id="332" name="Google Shape;332;p41"/>
          <p:cNvSpPr/>
          <p:nvPr/>
        </p:nvSpPr>
        <p:spPr>
          <a:xfrm rot="10800000">
            <a:off x="616675" y="1676150"/>
            <a:ext cx="3678600" cy="25818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33" name="Google Shape;333;p41"/>
          <p:cNvSpPr/>
          <p:nvPr/>
        </p:nvSpPr>
        <p:spPr>
          <a:xfrm rot="10800000">
            <a:off x="616675" y="1495150"/>
            <a:ext cx="36786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34" name="Google Shape;334;p41"/>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35" name="Google Shape;335;p41"/>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36" name="Google Shape;336;p41"/>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37" name="Google Shape;337;p41"/>
          <p:cNvSpPr txBox="1"/>
          <p:nvPr/>
        </p:nvSpPr>
        <p:spPr>
          <a:xfrm>
            <a:off x="616500" y="1711524"/>
            <a:ext cx="3678600" cy="2391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1</a:t>
            </a:r>
            <a:r>
              <a:rPr b="0" i="0" lang="es" sz="1150" u="none" cap="none" strike="noStrike">
                <a:solidFill>
                  <a:srgbClr val="383A42"/>
                </a:solidFill>
                <a:latin typeface="Arial"/>
                <a:ea typeface="Arial"/>
                <a:cs typeface="Arial"/>
                <a:sym typeface="Arial"/>
              </a:rPr>
              <a:t>  #include &lt;iostream&gt;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3</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void</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4</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"Dentro: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6</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7</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8</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main</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9</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10</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11</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"Fuera: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12</a:t>
            </a:r>
            <a:r>
              <a:rPr b="0" i="0" lang="es" sz="1150" u="none" cap="none" strike="noStrike">
                <a:solidFill>
                  <a:srgbClr val="383A42"/>
                </a:solidFill>
                <a:latin typeface="Arial"/>
                <a:ea typeface="Arial"/>
                <a:cs typeface="Arial"/>
                <a:sym typeface="Arial"/>
              </a:rPr>
              <a:t>      </a:t>
            </a:r>
            <a:r>
              <a:rPr b="0" i="0" lang="es" sz="1150" u="none" cap="none" strike="noStrike">
                <a:solidFill>
                  <a:srgbClr val="A626A4"/>
                </a:solidFill>
                <a:latin typeface="Arial"/>
                <a:ea typeface="Arial"/>
                <a:cs typeface="Arial"/>
                <a:sym typeface="Arial"/>
              </a:rPr>
              <a:t>return</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0</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13</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p:txBody>
      </p:sp>
      <p:sp>
        <p:nvSpPr>
          <p:cNvPr id="338" name="Google Shape;338;p41"/>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 importante entender la memoria…</a:t>
            </a:r>
            <a:endParaRPr/>
          </a:p>
        </p:txBody>
      </p:sp>
      <p:sp>
        <p:nvSpPr>
          <p:cNvPr id="344" name="Google Shape;344;p42"/>
          <p:cNvSpPr txBox="1"/>
          <p:nvPr>
            <p:ph idx="1" type="body"/>
          </p:nvPr>
        </p:nvSpPr>
        <p:spPr>
          <a:xfrm>
            <a:off x="5344100" y="12819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a:t>
            </a:r>
            <a:endParaRPr/>
          </a:p>
        </p:txBody>
      </p:sp>
      <p:sp>
        <p:nvSpPr>
          <p:cNvPr id="345" name="Google Shape;345;p42"/>
          <p:cNvSpPr/>
          <p:nvPr/>
        </p:nvSpPr>
        <p:spPr>
          <a:xfrm rot="10800000">
            <a:off x="616675" y="1676150"/>
            <a:ext cx="3678600" cy="25818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46" name="Google Shape;346;p42"/>
          <p:cNvSpPr/>
          <p:nvPr/>
        </p:nvSpPr>
        <p:spPr>
          <a:xfrm rot="10800000">
            <a:off x="616675" y="1495150"/>
            <a:ext cx="36786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7" name="Google Shape;347;p42"/>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8" name="Google Shape;348;p42"/>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9" name="Google Shape;349;p42"/>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50" name="Google Shape;350;p42"/>
          <p:cNvSpPr txBox="1"/>
          <p:nvPr/>
        </p:nvSpPr>
        <p:spPr>
          <a:xfrm>
            <a:off x="616500" y="1711524"/>
            <a:ext cx="3678600" cy="2391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1</a:t>
            </a:r>
            <a:r>
              <a:rPr b="0" i="0" lang="es" sz="1150" u="none" cap="none" strike="noStrike">
                <a:solidFill>
                  <a:srgbClr val="383A42"/>
                </a:solidFill>
                <a:latin typeface="Arial"/>
                <a:ea typeface="Arial"/>
                <a:cs typeface="Arial"/>
                <a:sym typeface="Arial"/>
              </a:rPr>
              <a:t>  #include &lt;iostream&gt;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3</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void</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4</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"Dentro: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6</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7</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8</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main</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9</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10</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11</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"Fuera: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12</a:t>
            </a:r>
            <a:r>
              <a:rPr b="0" i="0" lang="es" sz="1150" u="none" cap="none" strike="noStrike">
                <a:solidFill>
                  <a:srgbClr val="383A42"/>
                </a:solidFill>
                <a:latin typeface="Arial"/>
                <a:ea typeface="Arial"/>
                <a:cs typeface="Arial"/>
                <a:sym typeface="Arial"/>
              </a:rPr>
              <a:t>      </a:t>
            </a:r>
            <a:r>
              <a:rPr b="0" i="0" lang="es" sz="1150" u="none" cap="none" strike="noStrike">
                <a:solidFill>
                  <a:srgbClr val="A626A4"/>
                </a:solidFill>
                <a:latin typeface="Arial"/>
                <a:ea typeface="Arial"/>
                <a:cs typeface="Arial"/>
                <a:sym typeface="Arial"/>
              </a:rPr>
              <a:t>return</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0</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13</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p:txBody>
      </p:sp>
      <p:sp>
        <p:nvSpPr>
          <p:cNvPr id="351" name="Google Shape;351;p42"/>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352" name="Google Shape;352;p42"/>
          <p:cNvSpPr/>
          <p:nvPr/>
        </p:nvSpPr>
        <p:spPr>
          <a:xfrm>
            <a:off x="6101000" y="34140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42"/>
          <p:cNvSpPr txBox="1"/>
          <p:nvPr>
            <p:ph idx="1" type="body"/>
          </p:nvPr>
        </p:nvSpPr>
        <p:spPr>
          <a:xfrm>
            <a:off x="5344100" y="3009100"/>
            <a:ext cx="2125500" cy="369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SzPts val="1800"/>
              <a:buNone/>
            </a:pPr>
            <a:r>
              <a:rPr lang="es"/>
              <a:t>x</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 importante entender la memoria…</a:t>
            </a:r>
            <a:endParaRPr/>
          </a:p>
        </p:txBody>
      </p:sp>
      <p:sp>
        <p:nvSpPr>
          <p:cNvPr id="359" name="Google Shape;359;p43"/>
          <p:cNvSpPr txBox="1"/>
          <p:nvPr>
            <p:ph idx="1" type="body"/>
          </p:nvPr>
        </p:nvSpPr>
        <p:spPr>
          <a:xfrm>
            <a:off x="5344100" y="12819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a:t>
            </a:r>
            <a:endParaRPr/>
          </a:p>
        </p:txBody>
      </p:sp>
      <p:sp>
        <p:nvSpPr>
          <p:cNvPr id="360" name="Google Shape;360;p43"/>
          <p:cNvSpPr/>
          <p:nvPr/>
        </p:nvSpPr>
        <p:spPr>
          <a:xfrm rot="10800000">
            <a:off x="616675" y="1676150"/>
            <a:ext cx="3678600" cy="25818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61" name="Google Shape;361;p43"/>
          <p:cNvSpPr/>
          <p:nvPr/>
        </p:nvSpPr>
        <p:spPr>
          <a:xfrm rot="10800000">
            <a:off x="616675" y="1495150"/>
            <a:ext cx="36786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2" name="Google Shape;362;p43"/>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3" name="Google Shape;363;p43"/>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4" name="Google Shape;364;p43"/>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5" name="Google Shape;365;p43"/>
          <p:cNvSpPr txBox="1"/>
          <p:nvPr/>
        </p:nvSpPr>
        <p:spPr>
          <a:xfrm>
            <a:off x="616500" y="1711524"/>
            <a:ext cx="3678600" cy="2391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1</a:t>
            </a:r>
            <a:r>
              <a:rPr b="0" i="0" lang="es" sz="1150" u="none" cap="none" strike="noStrike">
                <a:solidFill>
                  <a:srgbClr val="383A42"/>
                </a:solidFill>
                <a:latin typeface="Arial"/>
                <a:ea typeface="Arial"/>
                <a:cs typeface="Arial"/>
                <a:sym typeface="Arial"/>
              </a:rPr>
              <a:t>  #include &lt;iostream&gt;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3</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void</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4</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"Dentro: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6</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7</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8</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main</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9</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10</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11</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"Fuera: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12</a:t>
            </a:r>
            <a:r>
              <a:rPr b="0" i="0" lang="es" sz="1150" u="none" cap="none" strike="noStrike">
                <a:solidFill>
                  <a:srgbClr val="383A42"/>
                </a:solidFill>
                <a:latin typeface="Arial"/>
                <a:ea typeface="Arial"/>
                <a:cs typeface="Arial"/>
                <a:sym typeface="Arial"/>
              </a:rPr>
              <a:t>      </a:t>
            </a:r>
            <a:r>
              <a:rPr b="0" i="0" lang="es" sz="1150" u="none" cap="none" strike="noStrike">
                <a:solidFill>
                  <a:srgbClr val="A626A4"/>
                </a:solidFill>
                <a:latin typeface="Arial"/>
                <a:ea typeface="Arial"/>
                <a:cs typeface="Arial"/>
                <a:sym typeface="Arial"/>
              </a:rPr>
              <a:t>return</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0</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13</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p:txBody>
      </p:sp>
      <p:sp>
        <p:nvSpPr>
          <p:cNvPr id="366" name="Google Shape;366;p43"/>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367" name="Google Shape;367;p43"/>
          <p:cNvSpPr/>
          <p:nvPr/>
        </p:nvSpPr>
        <p:spPr>
          <a:xfrm>
            <a:off x="6101000" y="34140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368" name="Google Shape;368;p43"/>
          <p:cNvSpPr txBox="1"/>
          <p:nvPr>
            <p:ph idx="1" type="body"/>
          </p:nvPr>
        </p:nvSpPr>
        <p:spPr>
          <a:xfrm>
            <a:off x="5344100" y="3009100"/>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x</a:t>
            </a:r>
            <a:endParaRPr/>
          </a:p>
        </p:txBody>
      </p:sp>
      <p:sp>
        <p:nvSpPr>
          <p:cNvPr id="369" name="Google Shape;369;p43"/>
          <p:cNvSpPr/>
          <p:nvPr/>
        </p:nvSpPr>
        <p:spPr>
          <a:xfrm>
            <a:off x="6998375" y="1985200"/>
            <a:ext cx="787200" cy="1960200"/>
          </a:xfrm>
          <a:prstGeom prst="curvedLeftArrow">
            <a:avLst>
              <a:gd fmla="val 38322" name="adj1"/>
              <a:gd fmla="val 41664"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43"/>
          <p:cNvSpPr txBox="1"/>
          <p:nvPr>
            <p:ph idx="1" type="body"/>
          </p:nvPr>
        </p:nvSpPr>
        <p:spPr>
          <a:xfrm rot="-5400000">
            <a:off x="7255500" y="2451238"/>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Copia valor de numero a x</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 importante entender la memoria…</a:t>
            </a:r>
            <a:endParaRPr/>
          </a:p>
        </p:txBody>
      </p:sp>
      <p:sp>
        <p:nvSpPr>
          <p:cNvPr id="376" name="Google Shape;376;p44"/>
          <p:cNvSpPr txBox="1"/>
          <p:nvPr>
            <p:ph idx="1" type="body"/>
          </p:nvPr>
        </p:nvSpPr>
        <p:spPr>
          <a:xfrm>
            <a:off x="5344100" y="12819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a:t>
            </a:r>
            <a:endParaRPr/>
          </a:p>
        </p:txBody>
      </p:sp>
      <p:sp>
        <p:nvSpPr>
          <p:cNvPr id="377" name="Google Shape;377;p44"/>
          <p:cNvSpPr/>
          <p:nvPr/>
        </p:nvSpPr>
        <p:spPr>
          <a:xfrm rot="10800000">
            <a:off x="616675" y="1676150"/>
            <a:ext cx="3678600" cy="25818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78" name="Google Shape;378;p44"/>
          <p:cNvSpPr/>
          <p:nvPr/>
        </p:nvSpPr>
        <p:spPr>
          <a:xfrm rot="10800000">
            <a:off x="616675" y="1495150"/>
            <a:ext cx="36786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79" name="Google Shape;379;p44"/>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80" name="Google Shape;380;p44"/>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81" name="Google Shape;381;p44"/>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82" name="Google Shape;382;p44"/>
          <p:cNvSpPr txBox="1"/>
          <p:nvPr/>
        </p:nvSpPr>
        <p:spPr>
          <a:xfrm>
            <a:off x="616500" y="1711524"/>
            <a:ext cx="3678600" cy="2391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1</a:t>
            </a:r>
            <a:r>
              <a:rPr b="0" i="0" lang="es" sz="1150" u="none" cap="none" strike="noStrike">
                <a:solidFill>
                  <a:srgbClr val="383A42"/>
                </a:solidFill>
                <a:latin typeface="Arial"/>
                <a:ea typeface="Arial"/>
                <a:cs typeface="Arial"/>
                <a:sym typeface="Arial"/>
              </a:rPr>
              <a:t>  #include &lt;iostream&gt;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3</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void</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4</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"Dentro: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6</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7</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8</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main</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9</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10</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11</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"Fuera: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12</a:t>
            </a:r>
            <a:r>
              <a:rPr b="0" i="0" lang="es" sz="1150" u="none" cap="none" strike="noStrike">
                <a:solidFill>
                  <a:srgbClr val="383A42"/>
                </a:solidFill>
                <a:latin typeface="Arial"/>
                <a:ea typeface="Arial"/>
                <a:cs typeface="Arial"/>
                <a:sym typeface="Arial"/>
              </a:rPr>
              <a:t>      </a:t>
            </a:r>
            <a:r>
              <a:rPr b="0" i="0" lang="es" sz="1150" u="none" cap="none" strike="noStrike">
                <a:solidFill>
                  <a:srgbClr val="A626A4"/>
                </a:solidFill>
                <a:latin typeface="Arial"/>
                <a:ea typeface="Arial"/>
                <a:cs typeface="Arial"/>
                <a:sym typeface="Arial"/>
              </a:rPr>
              <a:t>return</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0</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13</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p:txBody>
      </p:sp>
      <p:sp>
        <p:nvSpPr>
          <p:cNvPr id="383" name="Google Shape;383;p44"/>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384" name="Google Shape;384;p44"/>
          <p:cNvSpPr/>
          <p:nvPr/>
        </p:nvSpPr>
        <p:spPr>
          <a:xfrm>
            <a:off x="6101000" y="34140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385" name="Google Shape;385;p44"/>
          <p:cNvSpPr txBox="1"/>
          <p:nvPr>
            <p:ph idx="1" type="body"/>
          </p:nvPr>
        </p:nvSpPr>
        <p:spPr>
          <a:xfrm>
            <a:off x="5344100" y="3009100"/>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x</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Ahora hagámoslo por referencia!</a:t>
            </a:r>
            <a:endParaRPr/>
          </a:p>
        </p:txBody>
      </p:sp>
      <p:sp>
        <p:nvSpPr>
          <p:cNvPr id="391" name="Google Shape;391;p45"/>
          <p:cNvSpPr/>
          <p:nvPr/>
        </p:nvSpPr>
        <p:spPr>
          <a:xfrm rot="10800000">
            <a:off x="616675" y="1676150"/>
            <a:ext cx="3678600" cy="25818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92" name="Google Shape;392;p45"/>
          <p:cNvSpPr/>
          <p:nvPr/>
        </p:nvSpPr>
        <p:spPr>
          <a:xfrm rot="10800000">
            <a:off x="616675" y="1495150"/>
            <a:ext cx="36786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93" name="Google Shape;393;p45"/>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94" name="Google Shape;394;p45"/>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95" name="Google Shape;395;p45"/>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96" name="Google Shape;396;p45"/>
          <p:cNvSpPr txBox="1"/>
          <p:nvPr/>
        </p:nvSpPr>
        <p:spPr>
          <a:xfrm>
            <a:off x="616500" y="1711524"/>
            <a:ext cx="3678600" cy="2391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1</a:t>
            </a:r>
            <a:r>
              <a:rPr b="0" i="0" lang="es" sz="1150" u="none" cap="none" strike="noStrike">
                <a:solidFill>
                  <a:srgbClr val="383A42"/>
                </a:solidFill>
                <a:latin typeface="Arial"/>
                <a:ea typeface="Arial"/>
                <a:cs typeface="Arial"/>
                <a:sym typeface="Arial"/>
              </a:rPr>
              <a:t>  #include &lt;iostream&gt;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3</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void</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&amp;</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4</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"Dentro: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6</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7</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8</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main</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9</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10</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11</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"Fuera: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12</a:t>
            </a:r>
            <a:r>
              <a:rPr b="0" i="0" lang="es" sz="1150" u="none" cap="none" strike="noStrike">
                <a:solidFill>
                  <a:srgbClr val="383A42"/>
                </a:solidFill>
                <a:latin typeface="Arial"/>
                <a:ea typeface="Arial"/>
                <a:cs typeface="Arial"/>
                <a:sym typeface="Arial"/>
              </a:rPr>
              <a:t>      </a:t>
            </a:r>
            <a:r>
              <a:rPr b="0" i="0" lang="es" sz="1150" u="none" cap="none" strike="noStrike">
                <a:solidFill>
                  <a:srgbClr val="A626A4"/>
                </a:solidFill>
                <a:latin typeface="Arial"/>
                <a:ea typeface="Arial"/>
                <a:cs typeface="Arial"/>
                <a:sym typeface="Arial"/>
              </a:rPr>
              <a:t>return</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0</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13</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6"/>
          <p:cNvSpPr txBox="1"/>
          <p:nvPr>
            <p:ph idx="1" type="body"/>
          </p:nvPr>
        </p:nvSpPr>
        <p:spPr>
          <a:xfrm>
            <a:off x="5344100" y="12819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a:t>
            </a:r>
            <a:endParaRPr/>
          </a:p>
        </p:txBody>
      </p:sp>
      <p:sp>
        <p:nvSpPr>
          <p:cNvPr id="402" name="Google Shape;402;p46"/>
          <p:cNvSpPr/>
          <p:nvPr/>
        </p:nvSpPr>
        <p:spPr>
          <a:xfrm rot="10800000">
            <a:off x="616675" y="1676150"/>
            <a:ext cx="3678600" cy="25818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03" name="Google Shape;403;p46"/>
          <p:cNvSpPr/>
          <p:nvPr/>
        </p:nvSpPr>
        <p:spPr>
          <a:xfrm rot="10800000">
            <a:off x="616675" y="1495150"/>
            <a:ext cx="36786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04" name="Google Shape;404;p46"/>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05" name="Google Shape;405;p46"/>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06" name="Google Shape;406;p46"/>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07" name="Google Shape;407;p46"/>
          <p:cNvSpPr txBox="1"/>
          <p:nvPr/>
        </p:nvSpPr>
        <p:spPr>
          <a:xfrm>
            <a:off x="616500" y="1711524"/>
            <a:ext cx="3678600" cy="2391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1</a:t>
            </a:r>
            <a:r>
              <a:rPr b="0" i="0" lang="es" sz="1150" u="none" cap="none" strike="noStrike">
                <a:solidFill>
                  <a:srgbClr val="383A42"/>
                </a:solidFill>
                <a:latin typeface="Arial"/>
                <a:ea typeface="Arial"/>
                <a:cs typeface="Arial"/>
                <a:sym typeface="Arial"/>
              </a:rPr>
              <a:t>  #include &lt;iostream&gt;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3</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void</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&amp;</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4</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"Dentro: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6</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7</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8</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main</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9</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10</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11</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"Fuera: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12</a:t>
            </a:r>
            <a:r>
              <a:rPr b="0" i="0" lang="es" sz="1150" u="none" cap="none" strike="noStrike">
                <a:solidFill>
                  <a:srgbClr val="383A42"/>
                </a:solidFill>
                <a:latin typeface="Arial"/>
                <a:ea typeface="Arial"/>
                <a:cs typeface="Arial"/>
                <a:sym typeface="Arial"/>
              </a:rPr>
              <a:t>      </a:t>
            </a:r>
            <a:r>
              <a:rPr b="0" i="0" lang="es" sz="1150" u="none" cap="none" strike="noStrike">
                <a:solidFill>
                  <a:srgbClr val="A626A4"/>
                </a:solidFill>
                <a:latin typeface="Arial"/>
                <a:ea typeface="Arial"/>
                <a:cs typeface="Arial"/>
                <a:sym typeface="Arial"/>
              </a:rPr>
              <a:t>return</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0</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13</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p:txBody>
      </p:sp>
      <p:sp>
        <p:nvSpPr>
          <p:cNvPr id="408" name="Google Shape;408;p46"/>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Ahora hagámoslo por referencia!</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7"/>
          <p:cNvSpPr txBox="1"/>
          <p:nvPr>
            <p:ph idx="1" type="body"/>
          </p:nvPr>
        </p:nvSpPr>
        <p:spPr>
          <a:xfrm>
            <a:off x="5344100" y="12819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a:t>
            </a:r>
            <a:endParaRPr/>
          </a:p>
        </p:txBody>
      </p:sp>
      <p:sp>
        <p:nvSpPr>
          <p:cNvPr id="415" name="Google Shape;415;p47"/>
          <p:cNvSpPr/>
          <p:nvPr/>
        </p:nvSpPr>
        <p:spPr>
          <a:xfrm rot="10800000">
            <a:off x="616675" y="1676150"/>
            <a:ext cx="3678600" cy="25818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16" name="Google Shape;416;p47"/>
          <p:cNvSpPr/>
          <p:nvPr/>
        </p:nvSpPr>
        <p:spPr>
          <a:xfrm rot="10800000">
            <a:off x="616675" y="1495150"/>
            <a:ext cx="36786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17" name="Google Shape;417;p47"/>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18" name="Google Shape;418;p47"/>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19" name="Google Shape;419;p47"/>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20" name="Google Shape;420;p47"/>
          <p:cNvSpPr txBox="1"/>
          <p:nvPr/>
        </p:nvSpPr>
        <p:spPr>
          <a:xfrm>
            <a:off x="616500" y="1711524"/>
            <a:ext cx="3678600" cy="2391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1</a:t>
            </a:r>
            <a:r>
              <a:rPr b="0" i="0" lang="es" sz="1150" u="none" cap="none" strike="noStrike">
                <a:solidFill>
                  <a:srgbClr val="383A42"/>
                </a:solidFill>
                <a:latin typeface="Arial"/>
                <a:ea typeface="Arial"/>
                <a:cs typeface="Arial"/>
                <a:sym typeface="Arial"/>
              </a:rPr>
              <a:t>  #include &lt;iostream&gt;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3</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void</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&amp;</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4</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"Dentro: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6</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7</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8</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main</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9</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10</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11</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"Fuera: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12</a:t>
            </a:r>
            <a:r>
              <a:rPr b="0" i="0" lang="es" sz="1150" u="none" cap="none" strike="noStrike">
                <a:solidFill>
                  <a:srgbClr val="383A42"/>
                </a:solidFill>
                <a:latin typeface="Arial"/>
                <a:ea typeface="Arial"/>
                <a:cs typeface="Arial"/>
                <a:sym typeface="Arial"/>
              </a:rPr>
              <a:t>      </a:t>
            </a:r>
            <a:r>
              <a:rPr b="0" i="0" lang="es" sz="1150" u="none" cap="none" strike="noStrike">
                <a:solidFill>
                  <a:srgbClr val="A626A4"/>
                </a:solidFill>
                <a:latin typeface="Arial"/>
                <a:ea typeface="Arial"/>
                <a:cs typeface="Arial"/>
                <a:sym typeface="Arial"/>
              </a:rPr>
              <a:t>return</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0</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13</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p:txBody>
      </p:sp>
      <p:sp>
        <p:nvSpPr>
          <p:cNvPr id="421" name="Google Shape;421;p47"/>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422" name="Google Shape;422;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Ahora hagámoslo por referencia!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8"/>
          <p:cNvSpPr txBox="1"/>
          <p:nvPr>
            <p:ph idx="1" type="body"/>
          </p:nvPr>
        </p:nvSpPr>
        <p:spPr>
          <a:xfrm>
            <a:off x="5344100" y="12819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a:t>
            </a:r>
            <a:endParaRPr/>
          </a:p>
        </p:txBody>
      </p:sp>
      <p:sp>
        <p:nvSpPr>
          <p:cNvPr id="428" name="Google Shape;428;p48"/>
          <p:cNvSpPr/>
          <p:nvPr/>
        </p:nvSpPr>
        <p:spPr>
          <a:xfrm rot="10800000">
            <a:off x="616675" y="1676150"/>
            <a:ext cx="3678600" cy="25818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29" name="Google Shape;429;p48"/>
          <p:cNvSpPr/>
          <p:nvPr/>
        </p:nvSpPr>
        <p:spPr>
          <a:xfrm rot="10800000">
            <a:off x="616675" y="1495150"/>
            <a:ext cx="36786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30" name="Google Shape;430;p48"/>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31" name="Google Shape;431;p48"/>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32" name="Google Shape;432;p48"/>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33" name="Google Shape;433;p48"/>
          <p:cNvSpPr txBox="1"/>
          <p:nvPr/>
        </p:nvSpPr>
        <p:spPr>
          <a:xfrm>
            <a:off x="616500" y="1711524"/>
            <a:ext cx="3678600" cy="2391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1</a:t>
            </a:r>
            <a:r>
              <a:rPr b="0" i="0" lang="es" sz="1150" u="none" cap="none" strike="noStrike">
                <a:solidFill>
                  <a:srgbClr val="383A42"/>
                </a:solidFill>
                <a:latin typeface="Arial"/>
                <a:ea typeface="Arial"/>
                <a:cs typeface="Arial"/>
                <a:sym typeface="Arial"/>
              </a:rPr>
              <a:t>  #include &lt;iostream&gt;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3</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void</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&amp;</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4</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"Dentro: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6</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7</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8</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main</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9</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10</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11</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"Fuera: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12</a:t>
            </a:r>
            <a:r>
              <a:rPr b="0" i="0" lang="es" sz="1150" u="none" cap="none" strike="noStrike">
                <a:solidFill>
                  <a:srgbClr val="383A42"/>
                </a:solidFill>
                <a:latin typeface="Arial"/>
                <a:ea typeface="Arial"/>
                <a:cs typeface="Arial"/>
                <a:sym typeface="Arial"/>
              </a:rPr>
              <a:t>      </a:t>
            </a:r>
            <a:r>
              <a:rPr b="0" i="0" lang="es" sz="1150" u="none" cap="none" strike="noStrike">
                <a:solidFill>
                  <a:srgbClr val="A626A4"/>
                </a:solidFill>
                <a:latin typeface="Arial"/>
                <a:ea typeface="Arial"/>
                <a:cs typeface="Arial"/>
                <a:sym typeface="Arial"/>
              </a:rPr>
              <a:t>return</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0</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13</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p:txBody>
      </p:sp>
      <p:sp>
        <p:nvSpPr>
          <p:cNvPr id="434" name="Google Shape;434;p48"/>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435" name="Google Shape;435;p48"/>
          <p:cNvSpPr/>
          <p:nvPr/>
        </p:nvSpPr>
        <p:spPr>
          <a:xfrm>
            <a:off x="6101000" y="2468925"/>
            <a:ext cx="611700" cy="1634400"/>
          </a:xfrm>
          <a:prstGeom prst="upArrowCallout">
            <a:avLst>
              <a:gd fmla="val 22961" name="adj1"/>
              <a:gd fmla="val 25000" name="adj2"/>
              <a:gd fmla="val 25000" name="adj3"/>
              <a:gd fmla="val 29295" name="adj4"/>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ph idx="1" type="body"/>
          </p:nvPr>
        </p:nvSpPr>
        <p:spPr>
          <a:xfrm>
            <a:off x="5344100" y="3994675"/>
            <a:ext cx="2125500" cy="369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SzPts val="1800"/>
              <a:buNone/>
            </a:pPr>
            <a:r>
              <a:rPr lang="es"/>
              <a:t>x</a:t>
            </a:r>
            <a:endParaRPr/>
          </a:p>
        </p:txBody>
      </p:sp>
      <p:sp>
        <p:nvSpPr>
          <p:cNvPr id="437" name="Google Shape;437;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Ahora hagámoslo por referencia!</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9"/>
          <p:cNvSpPr txBox="1"/>
          <p:nvPr>
            <p:ph idx="1" type="body"/>
          </p:nvPr>
        </p:nvSpPr>
        <p:spPr>
          <a:xfrm>
            <a:off x="5344100" y="12819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a:t>
            </a:r>
            <a:endParaRPr/>
          </a:p>
        </p:txBody>
      </p:sp>
      <p:sp>
        <p:nvSpPr>
          <p:cNvPr id="443" name="Google Shape;443;p49"/>
          <p:cNvSpPr/>
          <p:nvPr/>
        </p:nvSpPr>
        <p:spPr>
          <a:xfrm rot="10800000">
            <a:off x="616675" y="1676150"/>
            <a:ext cx="3678600" cy="25818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44" name="Google Shape;444;p49"/>
          <p:cNvSpPr/>
          <p:nvPr/>
        </p:nvSpPr>
        <p:spPr>
          <a:xfrm rot="10800000">
            <a:off x="616675" y="1495150"/>
            <a:ext cx="36786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45" name="Google Shape;445;p49"/>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46" name="Google Shape;446;p49"/>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47" name="Google Shape;447;p49"/>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48" name="Google Shape;448;p49"/>
          <p:cNvSpPr txBox="1"/>
          <p:nvPr/>
        </p:nvSpPr>
        <p:spPr>
          <a:xfrm>
            <a:off x="616500" y="1711524"/>
            <a:ext cx="3678600" cy="2391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1</a:t>
            </a:r>
            <a:r>
              <a:rPr b="0" i="0" lang="es" sz="1150" u="none" cap="none" strike="noStrike">
                <a:solidFill>
                  <a:srgbClr val="383A42"/>
                </a:solidFill>
                <a:latin typeface="Arial"/>
                <a:ea typeface="Arial"/>
                <a:cs typeface="Arial"/>
                <a:sym typeface="Arial"/>
              </a:rPr>
              <a:t>  #include &lt;iostream&gt;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3</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void</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&amp;</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4</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"Dentro: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6</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7</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8</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main</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9</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10</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11</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"Fuera: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12</a:t>
            </a:r>
            <a:r>
              <a:rPr b="0" i="0" lang="es" sz="1150" u="none" cap="none" strike="noStrike">
                <a:solidFill>
                  <a:srgbClr val="383A42"/>
                </a:solidFill>
                <a:latin typeface="Arial"/>
                <a:ea typeface="Arial"/>
                <a:cs typeface="Arial"/>
                <a:sym typeface="Arial"/>
              </a:rPr>
              <a:t>      </a:t>
            </a:r>
            <a:r>
              <a:rPr b="0" i="0" lang="es" sz="1150" u="none" cap="none" strike="noStrike">
                <a:solidFill>
                  <a:srgbClr val="A626A4"/>
                </a:solidFill>
                <a:latin typeface="Arial"/>
                <a:ea typeface="Arial"/>
                <a:cs typeface="Arial"/>
                <a:sym typeface="Arial"/>
              </a:rPr>
              <a:t>return</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0</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13</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p:txBody>
      </p:sp>
      <p:sp>
        <p:nvSpPr>
          <p:cNvPr id="449" name="Google Shape;449;p49"/>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450" name="Google Shape;450;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Ahora hagámoslo por referencia!</a:t>
            </a:r>
            <a:endParaRPr/>
          </a:p>
        </p:txBody>
      </p:sp>
      <p:sp>
        <p:nvSpPr>
          <p:cNvPr id="451" name="Google Shape;451;p49"/>
          <p:cNvSpPr/>
          <p:nvPr/>
        </p:nvSpPr>
        <p:spPr>
          <a:xfrm>
            <a:off x="6101000" y="2468925"/>
            <a:ext cx="611700" cy="1634400"/>
          </a:xfrm>
          <a:prstGeom prst="upArrowCallout">
            <a:avLst>
              <a:gd fmla="val 22961" name="adj1"/>
              <a:gd fmla="val 25000" name="adj2"/>
              <a:gd fmla="val 25000" name="adj3"/>
              <a:gd fmla="val 29295" name="adj4"/>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49"/>
          <p:cNvSpPr txBox="1"/>
          <p:nvPr>
            <p:ph idx="1" type="body"/>
          </p:nvPr>
        </p:nvSpPr>
        <p:spPr>
          <a:xfrm>
            <a:off x="5344100" y="3994675"/>
            <a:ext cx="2125500" cy="369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SzPts val="1800"/>
              <a:buNone/>
            </a:pPr>
            <a:r>
              <a:rPr lang="es"/>
              <a:t>x</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0"/>
          <p:cNvSpPr txBox="1"/>
          <p:nvPr>
            <p:ph idx="1" type="body"/>
          </p:nvPr>
        </p:nvSpPr>
        <p:spPr>
          <a:xfrm>
            <a:off x="5344100" y="12819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a:t>
            </a:r>
            <a:endParaRPr/>
          </a:p>
        </p:txBody>
      </p:sp>
      <p:sp>
        <p:nvSpPr>
          <p:cNvPr id="458" name="Google Shape;458;p50"/>
          <p:cNvSpPr/>
          <p:nvPr/>
        </p:nvSpPr>
        <p:spPr>
          <a:xfrm rot="10800000">
            <a:off x="616675" y="1676150"/>
            <a:ext cx="3678600" cy="25818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59" name="Google Shape;459;p50"/>
          <p:cNvSpPr/>
          <p:nvPr/>
        </p:nvSpPr>
        <p:spPr>
          <a:xfrm rot="10800000">
            <a:off x="616675" y="1495150"/>
            <a:ext cx="36786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60" name="Google Shape;460;p50"/>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61" name="Google Shape;461;p50"/>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62" name="Google Shape;462;p50"/>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63" name="Google Shape;463;p50"/>
          <p:cNvSpPr txBox="1"/>
          <p:nvPr/>
        </p:nvSpPr>
        <p:spPr>
          <a:xfrm>
            <a:off x="616500" y="1711524"/>
            <a:ext cx="3678600" cy="2391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1</a:t>
            </a:r>
            <a:r>
              <a:rPr b="0" i="0" lang="es" sz="1150" u="none" cap="none" strike="noStrike">
                <a:solidFill>
                  <a:srgbClr val="383A42"/>
                </a:solidFill>
                <a:latin typeface="Arial"/>
                <a:ea typeface="Arial"/>
                <a:cs typeface="Arial"/>
                <a:sym typeface="Arial"/>
              </a:rPr>
              <a:t>  #include &lt;iostream&gt;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3</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void</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&amp;</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4</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2</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"Dentro: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x</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6</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7</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8</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4078F2"/>
                </a:solidFill>
                <a:latin typeface="Arial"/>
                <a:ea typeface="Arial"/>
                <a:cs typeface="Arial"/>
                <a:sym typeface="Arial"/>
              </a:rPr>
              <a:t>main</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383A42"/>
                </a:solidFill>
                <a:latin typeface="Arial"/>
                <a:ea typeface="Arial"/>
                <a:cs typeface="Arial"/>
                <a:sym typeface="Arial"/>
              </a:rPr>
              <a:t>  </a:t>
            </a:r>
            <a:r>
              <a:rPr b="0" i="0" lang="es" sz="1150" u="none" cap="none" strike="noStrike">
                <a:solidFill>
                  <a:srgbClr val="929292"/>
                </a:solidFill>
                <a:latin typeface="Arial"/>
                <a:ea typeface="Arial"/>
                <a:cs typeface="Arial"/>
                <a:sym typeface="Arial"/>
              </a:rPr>
              <a:t>9</a:t>
            </a:r>
            <a:r>
              <a:rPr b="0" i="0" lang="es" sz="1150" u="none" cap="none" strike="noStrike">
                <a:solidFill>
                  <a:srgbClr val="383A42"/>
                </a:solidFill>
                <a:latin typeface="Arial"/>
                <a:ea typeface="Arial"/>
                <a:cs typeface="Arial"/>
                <a:sym typeface="Arial"/>
              </a:rPr>
              <a:t>      </a:t>
            </a:r>
            <a:r>
              <a:rPr b="0" i="0" lang="es" sz="1150" u="none" cap="none" strike="noStrike">
                <a:solidFill>
                  <a:srgbClr val="27292F"/>
                </a:solidFill>
                <a:latin typeface="Arial"/>
                <a:ea typeface="Arial"/>
                <a:cs typeface="Arial"/>
                <a:sym typeface="Arial"/>
              </a:rPr>
              <a:t>int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5</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10</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duplicar</a:t>
            </a:r>
            <a:r>
              <a:rPr b="0" i="0" lang="es" sz="1150" u="none" cap="none" strike="noStrike">
                <a:solidFill>
                  <a:srgbClr val="383A42"/>
                </a:solidFill>
                <a:latin typeface="Arial"/>
                <a:ea typeface="Arial"/>
                <a:cs typeface="Arial"/>
                <a:sym typeface="Arial"/>
              </a:rPr>
              <a:t>(</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11</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std::cout</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50A14F"/>
                </a:solidFill>
                <a:latin typeface="Arial"/>
                <a:ea typeface="Arial"/>
                <a:cs typeface="Arial"/>
                <a:sym typeface="Arial"/>
              </a:rPr>
              <a:t>"Fuera: "</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numero</a:t>
            </a:r>
            <a:r>
              <a:rPr b="0" i="0" lang="es" sz="1150" u="none" cap="none" strike="noStrike">
                <a:solidFill>
                  <a:srgbClr val="383A42"/>
                </a:solidFill>
                <a:latin typeface="Arial"/>
                <a:ea typeface="Arial"/>
                <a:cs typeface="Arial"/>
                <a:sym typeface="Arial"/>
              </a:rPr>
              <a:t> </a:t>
            </a:r>
            <a:r>
              <a:rPr b="0" i="0" lang="es" sz="1150" u="none" cap="none" strike="noStrike">
                <a:solidFill>
                  <a:srgbClr val="0184BC"/>
                </a:solidFill>
                <a:latin typeface="Arial"/>
                <a:ea typeface="Arial"/>
                <a:cs typeface="Arial"/>
                <a:sym typeface="Arial"/>
              </a:rPr>
              <a:t>&lt;&lt;</a:t>
            </a:r>
            <a:r>
              <a:rPr b="0" i="0" lang="es" sz="1150" u="none" cap="none" strike="noStrike">
                <a:solidFill>
                  <a:srgbClr val="383A42"/>
                </a:solidFill>
                <a:latin typeface="Arial"/>
                <a:ea typeface="Arial"/>
                <a:cs typeface="Arial"/>
                <a:sym typeface="Arial"/>
              </a:rPr>
              <a:t> </a:t>
            </a:r>
            <a:r>
              <a:rPr b="0" i="0" lang="es" sz="1150" u="none" cap="none" strike="noStrike">
                <a:solidFill>
                  <a:srgbClr val="E06C75"/>
                </a:solidFill>
                <a:latin typeface="Arial"/>
                <a:ea typeface="Arial"/>
                <a:cs typeface="Arial"/>
                <a:sym typeface="Arial"/>
              </a:rPr>
              <a:t>std::endl</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12</a:t>
            </a:r>
            <a:r>
              <a:rPr b="0" i="0" lang="es" sz="1150" u="none" cap="none" strike="noStrike">
                <a:solidFill>
                  <a:srgbClr val="383A42"/>
                </a:solidFill>
                <a:latin typeface="Arial"/>
                <a:ea typeface="Arial"/>
                <a:cs typeface="Arial"/>
                <a:sym typeface="Arial"/>
              </a:rPr>
              <a:t>      </a:t>
            </a:r>
            <a:r>
              <a:rPr b="0" i="0" lang="es" sz="1150" u="none" cap="none" strike="noStrike">
                <a:solidFill>
                  <a:srgbClr val="A626A4"/>
                </a:solidFill>
                <a:latin typeface="Arial"/>
                <a:ea typeface="Arial"/>
                <a:cs typeface="Arial"/>
                <a:sym typeface="Arial"/>
              </a:rPr>
              <a:t>return</a:t>
            </a:r>
            <a:r>
              <a:rPr b="0" i="0" lang="es" sz="1150" u="none" cap="none" strike="noStrike">
                <a:solidFill>
                  <a:srgbClr val="383A42"/>
                </a:solidFill>
                <a:latin typeface="Arial"/>
                <a:ea typeface="Arial"/>
                <a:cs typeface="Arial"/>
                <a:sym typeface="Arial"/>
              </a:rPr>
              <a:t> </a:t>
            </a:r>
            <a:r>
              <a:rPr b="0" i="0" lang="es" sz="1150" u="none" cap="none" strike="noStrike">
                <a:solidFill>
                  <a:srgbClr val="986801"/>
                </a:solidFill>
                <a:latin typeface="Arial"/>
                <a:ea typeface="Arial"/>
                <a:cs typeface="Arial"/>
                <a:sym typeface="Arial"/>
              </a:rPr>
              <a:t>0</a:t>
            </a:r>
            <a:r>
              <a:rPr b="0" i="0" lang="es" sz="1150" u="none" cap="none" strike="noStrike">
                <a:solidFill>
                  <a:srgbClr val="383A42"/>
                </a:solidFill>
                <a:latin typeface="Arial"/>
                <a:ea typeface="Arial"/>
                <a:cs typeface="Arial"/>
                <a:sym typeface="Arial"/>
              </a:rPr>
              <a:t>;</a:t>
            </a:r>
            <a:endParaRPr b="0" i="0" sz="115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rgbClr val="929292"/>
                </a:solidFill>
                <a:latin typeface="Arial"/>
                <a:ea typeface="Arial"/>
                <a:cs typeface="Arial"/>
                <a:sym typeface="Arial"/>
              </a:rPr>
              <a:t>13</a:t>
            </a:r>
            <a:r>
              <a:rPr b="0" i="0" lang="es" sz="1150" u="none" cap="none" strike="noStrike">
                <a:solidFill>
                  <a:srgbClr val="383A42"/>
                </a:solidFill>
                <a:latin typeface="Arial"/>
                <a:ea typeface="Arial"/>
                <a:cs typeface="Arial"/>
                <a:sym typeface="Arial"/>
              </a:rPr>
              <a:t>  }</a:t>
            </a:r>
            <a:endParaRPr b="0" i="0" sz="1150" u="none" cap="none" strike="noStrike">
              <a:solidFill>
                <a:srgbClr val="383A42"/>
              </a:solidFill>
              <a:latin typeface="Arial"/>
              <a:ea typeface="Arial"/>
              <a:cs typeface="Arial"/>
              <a:sym typeface="Arial"/>
            </a:endParaRPr>
          </a:p>
        </p:txBody>
      </p:sp>
      <p:sp>
        <p:nvSpPr>
          <p:cNvPr id="464" name="Google Shape;464;p50"/>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465" name="Google Shape;465;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Ahora hagámoslo por referencia!</a:t>
            </a:r>
            <a:endParaRPr/>
          </a:p>
        </p:txBody>
      </p:sp>
      <p:sp>
        <p:nvSpPr>
          <p:cNvPr id="466" name="Google Shape;466;p50"/>
          <p:cNvSpPr/>
          <p:nvPr/>
        </p:nvSpPr>
        <p:spPr>
          <a:xfrm>
            <a:off x="6101000" y="2468925"/>
            <a:ext cx="611700" cy="1634400"/>
          </a:xfrm>
          <a:prstGeom prst="upArrowCallout">
            <a:avLst>
              <a:gd fmla="val 22961" name="adj1"/>
              <a:gd fmla="val 25000" name="adj2"/>
              <a:gd fmla="val 25000" name="adj3"/>
              <a:gd fmla="val 29295" name="adj4"/>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50"/>
          <p:cNvSpPr txBox="1"/>
          <p:nvPr>
            <p:ph idx="1" type="body"/>
          </p:nvPr>
        </p:nvSpPr>
        <p:spPr>
          <a:xfrm>
            <a:off x="5344100" y="3994675"/>
            <a:ext cx="2125500" cy="369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SzPts val="1800"/>
              <a:buNone/>
            </a:pPr>
            <a:r>
              <a:rPr lang="es"/>
              <a:t>x</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1"/>
          <p:cNvSpPr/>
          <p:nvPr/>
        </p:nvSpPr>
        <p:spPr>
          <a:xfrm rot="10800000">
            <a:off x="616700" y="1676075"/>
            <a:ext cx="4638300" cy="3006600"/>
          </a:xfrm>
          <a:prstGeom prst="round2SameRect">
            <a:avLst>
              <a:gd fmla="val 3719"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73" name="Google Shape;473;p51"/>
          <p:cNvSpPr/>
          <p:nvPr/>
        </p:nvSpPr>
        <p:spPr>
          <a:xfrm rot="10800000">
            <a:off x="616700" y="1495150"/>
            <a:ext cx="46383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74" name="Google Shape;474;p51"/>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75" name="Google Shape;475;p51"/>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76" name="Google Shape;476;p51"/>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77" name="Google Shape;477;p51"/>
          <p:cNvSpPr txBox="1"/>
          <p:nvPr/>
        </p:nvSpPr>
        <p:spPr>
          <a:xfrm>
            <a:off x="616500" y="1717343"/>
            <a:ext cx="4638300" cy="2785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1</a:t>
            </a:r>
            <a:r>
              <a:rPr lang="es" sz="1150">
                <a:solidFill>
                  <a:srgbClr val="383A42"/>
                </a:solidFill>
                <a:latin typeface="Ubuntu Mono"/>
                <a:ea typeface="Ubuntu Mono"/>
                <a:cs typeface="Ubuntu Mono"/>
                <a:sym typeface="Ubuntu Mono"/>
              </a:rPr>
              <a:t> #include &lt;iostream&gt;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2</a:t>
            </a:r>
            <a:r>
              <a:rPr lang="es" sz="1150">
                <a:solidFill>
                  <a:srgbClr val="383A42"/>
                </a:solidFill>
                <a:latin typeface="Ubuntu Mono"/>
                <a:ea typeface="Ubuntu Mono"/>
                <a:cs typeface="Ubuntu Mono"/>
                <a:sym typeface="Ubuntu Mono"/>
              </a:rPr>
              <a:t> </a:t>
            </a:r>
            <a:r>
              <a:rPr lang="es" sz="1150">
                <a:solidFill>
                  <a:srgbClr val="A626A4"/>
                </a:solidFill>
                <a:latin typeface="Ubuntu Mono"/>
                <a:ea typeface="Ubuntu Mono"/>
                <a:cs typeface="Ubuntu Mono"/>
                <a:sym typeface="Ubuntu Mono"/>
              </a:rPr>
              <a:t>const</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N</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a:t>
            </a:r>
            <a:r>
              <a:rPr lang="es" sz="1150">
                <a:solidFill>
                  <a:srgbClr val="383A42"/>
                </a:solidFill>
                <a:latin typeface="Ubuntu Mono"/>
                <a:ea typeface="Ubuntu Mono"/>
                <a:cs typeface="Ubuntu Mono"/>
                <a:sym typeface="Ubuntu Mono"/>
              </a:rPr>
              <a:t> </a:t>
            </a:r>
            <a:r>
              <a:rPr lang="es" sz="1150">
                <a:solidFill>
                  <a:srgbClr val="986801"/>
                </a:solidFill>
                <a:latin typeface="Ubuntu Mono"/>
                <a:ea typeface="Ubuntu Mono"/>
                <a:cs typeface="Ubuntu Mono"/>
                <a:sym typeface="Ubuntu Mono"/>
              </a:rPr>
              <a:t>4</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3</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void</a:t>
            </a:r>
            <a:r>
              <a:rPr lang="es" sz="1150">
                <a:solidFill>
                  <a:srgbClr val="383A42"/>
                </a:solidFill>
                <a:latin typeface="Ubuntu Mono"/>
                <a:ea typeface="Ubuntu Mono"/>
                <a:cs typeface="Ubuntu Mono"/>
                <a:sym typeface="Ubuntu Mono"/>
              </a:rPr>
              <a:t> </a:t>
            </a:r>
            <a:r>
              <a:rPr lang="es" sz="1150">
                <a:solidFill>
                  <a:srgbClr val="4078F2"/>
                </a:solidFill>
                <a:latin typeface="Ubuntu Mono"/>
                <a:ea typeface="Ubuntu Mono"/>
                <a:cs typeface="Ubuntu Mono"/>
                <a:sym typeface="Ubuntu Mono"/>
              </a:rPr>
              <a:t>resetear</a:t>
            </a:r>
            <a:r>
              <a:rPr lang="es" sz="1150">
                <a:solidFill>
                  <a:srgbClr val="383A42"/>
                </a:solidFill>
                <a:latin typeface="Ubuntu Mono"/>
                <a:ea typeface="Ubuntu Mono"/>
                <a:cs typeface="Ubuntu Mono"/>
                <a:sym typeface="Ubuntu Mono"/>
              </a:rPr>
              <a:t>(</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x</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N</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4</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x</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a:t>
            </a:r>
            <a:r>
              <a:rPr lang="es" sz="1150">
                <a:solidFill>
                  <a:srgbClr val="383A42"/>
                </a:solidFill>
                <a:latin typeface="Ubuntu Mono"/>
                <a:ea typeface="Ubuntu Mono"/>
                <a:cs typeface="Ubuntu Mono"/>
                <a:sym typeface="Ubuntu Mono"/>
              </a:rPr>
              <a:t> </a:t>
            </a:r>
            <a:r>
              <a:rPr lang="es" sz="1150">
                <a:solidFill>
                  <a:srgbClr val="986801"/>
                </a:solidFill>
                <a:latin typeface="Ubuntu Mono"/>
                <a:ea typeface="Ubuntu Mono"/>
                <a:cs typeface="Ubuntu Mono"/>
                <a:sym typeface="Ubuntu Mono"/>
              </a:rPr>
              <a:t>0</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5</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std::cout</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50A14F"/>
                </a:solidFill>
                <a:latin typeface="Ubuntu Mono"/>
                <a:ea typeface="Ubuntu Mono"/>
                <a:cs typeface="Ubuntu Mono"/>
                <a:sym typeface="Ubuntu Mono"/>
              </a:rPr>
              <a:t>"Dentro: "</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x</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std::endl</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6</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7</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8</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4078F2"/>
                </a:solidFill>
                <a:latin typeface="Ubuntu Mono"/>
                <a:ea typeface="Ubuntu Mono"/>
                <a:cs typeface="Ubuntu Mono"/>
                <a:sym typeface="Ubuntu Mono"/>
              </a:rPr>
              <a:t>main</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9</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numeros</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N</a:t>
            </a:r>
            <a:r>
              <a:rPr lang="es" sz="1150">
                <a:solidFill>
                  <a:srgbClr val="383A42"/>
                </a:solidFill>
                <a:latin typeface="Ubuntu Mono"/>
                <a:ea typeface="Ubuntu Mono"/>
                <a:cs typeface="Ubuntu Mono"/>
                <a:sym typeface="Ubuntu Mono"/>
              </a:rPr>
              <a:t>] = {1,2,3,4};</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10</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resetear</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numeros</a:t>
            </a:r>
            <a:r>
              <a:rPr lang="es" sz="1150">
                <a:solidFill>
                  <a:srgbClr val="383A42"/>
                </a:solidFill>
                <a:latin typeface="Ubuntu Mono"/>
                <a:ea typeface="Ubuntu Mono"/>
                <a:cs typeface="Ubuntu Mono"/>
                <a:sym typeface="Ubuntu Mono"/>
              </a:rPr>
              <a:t>,</a:t>
            </a:r>
            <a:r>
              <a:rPr lang="es" sz="1150">
                <a:solidFill>
                  <a:srgbClr val="986801"/>
                </a:solidFill>
                <a:latin typeface="Ubuntu Mono"/>
                <a:ea typeface="Ubuntu Mono"/>
                <a:cs typeface="Ubuntu Mono"/>
                <a:sym typeface="Ubuntu Mono"/>
              </a:rPr>
              <a:t>2</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11</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std::cout</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50A14F"/>
                </a:solidFill>
                <a:latin typeface="Ubuntu Mono"/>
                <a:ea typeface="Ubuntu Mono"/>
                <a:cs typeface="Ubuntu Mono"/>
                <a:sym typeface="Ubuntu Mono"/>
              </a:rPr>
              <a:t>"Fuera: "</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numeros</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std::endl</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12</a:t>
            </a:r>
            <a:r>
              <a:rPr lang="es" sz="1150">
                <a:solidFill>
                  <a:srgbClr val="383A42"/>
                </a:solidFill>
                <a:latin typeface="Ubuntu Mono"/>
                <a:ea typeface="Ubuntu Mono"/>
                <a:cs typeface="Ubuntu Mono"/>
                <a:sym typeface="Ubuntu Mono"/>
              </a:rPr>
              <a:t>     </a:t>
            </a:r>
            <a:r>
              <a:rPr lang="es" sz="1150">
                <a:solidFill>
                  <a:srgbClr val="A626A4"/>
                </a:solidFill>
                <a:latin typeface="Ubuntu Mono"/>
                <a:ea typeface="Ubuntu Mono"/>
                <a:cs typeface="Ubuntu Mono"/>
                <a:sym typeface="Ubuntu Mono"/>
              </a:rPr>
              <a:t>return</a:t>
            </a:r>
            <a:r>
              <a:rPr lang="es" sz="1150">
                <a:solidFill>
                  <a:srgbClr val="383A42"/>
                </a:solidFill>
                <a:latin typeface="Ubuntu Mono"/>
                <a:ea typeface="Ubuntu Mono"/>
                <a:cs typeface="Ubuntu Mono"/>
                <a:sym typeface="Ubuntu Mono"/>
              </a:rPr>
              <a:t> </a:t>
            </a:r>
            <a:r>
              <a:rPr lang="es" sz="1150">
                <a:solidFill>
                  <a:srgbClr val="986801"/>
                </a:solidFill>
                <a:latin typeface="Ubuntu Mono"/>
                <a:ea typeface="Ubuntu Mono"/>
                <a:cs typeface="Ubuntu Mono"/>
                <a:sym typeface="Ubuntu Mono"/>
              </a:rPr>
              <a:t>0</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13</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p:txBody>
      </p:sp>
      <p:sp>
        <p:nvSpPr>
          <p:cNvPr id="478" name="Google Shape;478;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Qué pasa con los arreglos como parámetro?</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2"/>
          <p:cNvSpPr/>
          <p:nvPr/>
        </p:nvSpPr>
        <p:spPr>
          <a:xfrm>
            <a:off x="6013025" y="1676625"/>
            <a:ext cx="2907600" cy="895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52"/>
          <p:cNvSpPr txBox="1"/>
          <p:nvPr>
            <p:ph idx="1" type="body"/>
          </p:nvPr>
        </p:nvSpPr>
        <p:spPr>
          <a:xfrm>
            <a:off x="5344100" y="11295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numeros</a:t>
            </a:r>
            <a:endParaRPr/>
          </a:p>
        </p:txBody>
      </p:sp>
      <p:sp>
        <p:nvSpPr>
          <p:cNvPr id="485" name="Google Shape;485;p52"/>
          <p:cNvSpPr/>
          <p:nvPr/>
        </p:nvSpPr>
        <p:spPr>
          <a:xfrm rot="10800000">
            <a:off x="616700" y="1676075"/>
            <a:ext cx="4638300" cy="3006600"/>
          </a:xfrm>
          <a:prstGeom prst="round2SameRect">
            <a:avLst>
              <a:gd fmla="val 3719"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86" name="Google Shape;486;p52"/>
          <p:cNvSpPr/>
          <p:nvPr/>
        </p:nvSpPr>
        <p:spPr>
          <a:xfrm rot="10800000">
            <a:off x="616700" y="1495150"/>
            <a:ext cx="46383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87" name="Google Shape;487;p52"/>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88" name="Google Shape;488;p52"/>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89" name="Google Shape;489;p52"/>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90" name="Google Shape;490;p52"/>
          <p:cNvSpPr txBox="1"/>
          <p:nvPr/>
        </p:nvSpPr>
        <p:spPr>
          <a:xfrm>
            <a:off x="616500" y="1717343"/>
            <a:ext cx="4638300" cy="2785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1</a:t>
            </a:r>
            <a:r>
              <a:rPr lang="es" sz="1150">
                <a:solidFill>
                  <a:srgbClr val="383A42"/>
                </a:solidFill>
                <a:latin typeface="Ubuntu Mono"/>
                <a:ea typeface="Ubuntu Mono"/>
                <a:cs typeface="Ubuntu Mono"/>
                <a:sym typeface="Ubuntu Mono"/>
              </a:rPr>
              <a:t> #include &lt;iostream&gt;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2</a:t>
            </a:r>
            <a:r>
              <a:rPr lang="es" sz="1150">
                <a:solidFill>
                  <a:srgbClr val="383A42"/>
                </a:solidFill>
                <a:latin typeface="Ubuntu Mono"/>
                <a:ea typeface="Ubuntu Mono"/>
                <a:cs typeface="Ubuntu Mono"/>
                <a:sym typeface="Ubuntu Mono"/>
              </a:rPr>
              <a:t> </a:t>
            </a:r>
            <a:r>
              <a:rPr lang="es" sz="1150">
                <a:solidFill>
                  <a:srgbClr val="A626A4"/>
                </a:solidFill>
                <a:latin typeface="Ubuntu Mono"/>
                <a:ea typeface="Ubuntu Mono"/>
                <a:cs typeface="Ubuntu Mono"/>
                <a:sym typeface="Ubuntu Mono"/>
              </a:rPr>
              <a:t>const</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N</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a:t>
            </a:r>
            <a:r>
              <a:rPr lang="es" sz="1150">
                <a:solidFill>
                  <a:srgbClr val="383A42"/>
                </a:solidFill>
                <a:latin typeface="Ubuntu Mono"/>
                <a:ea typeface="Ubuntu Mono"/>
                <a:cs typeface="Ubuntu Mono"/>
                <a:sym typeface="Ubuntu Mono"/>
              </a:rPr>
              <a:t> </a:t>
            </a:r>
            <a:r>
              <a:rPr lang="es" sz="1150">
                <a:solidFill>
                  <a:srgbClr val="986801"/>
                </a:solidFill>
                <a:latin typeface="Ubuntu Mono"/>
                <a:ea typeface="Ubuntu Mono"/>
                <a:cs typeface="Ubuntu Mono"/>
                <a:sym typeface="Ubuntu Mono"/>
              </a:rPr>
              <a:t>4</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3</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void</a:t>
            </a:r>
            <a:r>
              <a:rPr lang="es" sz="1150">
                <a:solidFill>
                  <a:srgbClr val="383A42"/>
                </a:solidFill>
                <a:latin typeface="Ubuntu Mono"/>
                <a:ea typeface="Ubuntu Mono"/>
                <a:cs typeface="Ubuntu Mono"/>
                <a:sym typeface="Ubuntu Mono"/>
              </a:rPr>
              <a:t> </a:t>
            </a:r>
            <a:r>
              <a:rPr lang="es" sz="1150">
                <a:solidFill>
                  <a:srgbClr val="4078F2"/>
                </a:solidFill>
                <a:latin typeface="Ubuntu Mono"/>
                <a:ea typeface="Ubuntu Mono"/>
                <a:cs typeface="Ubuntu Mono"/>
                <a:sym typeface="Ubuntu Mono"/>
              </a:rPr>
              <a:t>resetear</a:t>
            </a:r>
            <a:r>
              <a:rPr lang="es" sz="1150">
                <a:solidFill>
                  <a:srgbClr val="383A42"/>
                </a:solidFill>
                <a:latin typeface="Ubuntu Mono"/>
                <a:ea typeface="Ubuntu Mono"/>
                <a:cs typeface="Ubuntu Mono"/>
                <a:sym typeface="Ubuntu Mono"/>
              </a:rPr>
              <a:t>(</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x</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N</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4</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x</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a:t>
            </a:r>
            <a:r>
              <a:rPr lang="es" sz="1150">
                <a:solidFill>
                  <a:srgbClr val="383A42"/>
                </a:solidFill>
                <a:latin typeface="Ubuntu Mono"/>
                <a:ea typeface="Ubuntu Mono"/>
                <a:cs typeface="Ubuntu Mono"/>
                <a:sym typeface="Ubuntu Mono"/>
              </a:rPr>
              <a:t> </a:t>
            </a:r>
            <a:r>
              <a:rPr lang="es" sz="1150">
                <a:solidFill>
                  <a:srgbClr val="986801"/>
                </a:solidFill>
                <a:latin typeface="Ubuntu Mono"/>
                <a:ea typeface="Ubuntu Mono"/>
                <a:cs typeface="Ubuntu Mono"/>
                <a:sym typeface="Ubuntu Mono"/>
              </a:rPr>
              <a:t>0</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5</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std::cout</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50A14F"/>
                </a:solidFill>
                <a:latin typeface="Ubuntu Mono"/>
                <a:ea typeface="Ubuntu Mono"/>
                <a:cs typeface="Ubuntu Mono"/>
                <a:sym typeface="Ubuntu Mono"/>
              </a:rPr>
              <a:t>"Dentro: "</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x</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std::endl</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6</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7</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8</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4078F2"/>
                </a:solidFill>
                <a:latin typeface="Ubuntu Mono"/>
                <a:ea typeface="Ubuntu Mono"/>
                <a:cs typeface="Ubuntu Mono"/>
                <a:sym typeface="Ubuntu Mono"/>
              </a:rPr>
              <a:t>main</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9</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numeros</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N</a:t>
            </a:r>
            <a:r>
              <a:rPr lang="es" sz="1150">
                <a:solidFill>
                  <a:srgbClr val="383A42"/>
                </a:solidFill>
                <a:latin typeface="Ubuntu Mono"/>
                <a:ea typeface="Ubuntu Mono"/>
                <a:cs typeface="Ubuntu Mono"/>
                <a:sym typeface="Ubuntu Mono"/>
              </a:rPr>
              <a:t>] = {1,2,3,4};</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10</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resetear</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numeros</a:t>
            </a:r>
            <a:r>
              <a:rPr lang="es" sz="1150">
                <a:solidFill>
                  <a:srgbClr val="383A42"/>
                </a:solidFill>
                <a:latin typeface="Ubuntu Mono"/>
                <a:ea typeface="Ubuntu Mono"/>
                <a:cs typeface="Ubuntu Mono"/>
                <a:sym typeface="Ubuntu Mono"/>
              </a:rPr>
              <a:t>,</a:t>
            </a:r>
            <a:r>
              <a:rPr lang="es" sz="1150">
                <a:solidFill>
                  <a:srgbClr val="986801"/>
                </a:solidFill>
                <a:latin typeface="Ubuntu Mono"/>
                <a:ea typeface="Ubuntu Mono"/>
                <a:cs typeface="Ubuntu Mono"/>
                <a:sym typeface="Ubuntu Mono"/>
              </a:rPr>
              <a:t>2</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11</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std::cout</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50A14F"/>
                </a:solidFill>
                <a:latin typeface="Ubuntu Mono"/>
                <a:ea typeface="Ubuntu Mono"/>
                <a:cs typeface="Ubuntu Mono"/>
                <a:sym typeface="Ubuntu Mono"/>
              </a:rPr>
              <a:t>"Fuera: "</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numeros</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std::endl</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12</a:t>
            </a:r>
            <a:r>
              <a:rPr lang="es" sz="1150">
                <a:solidFill>
                  <a:srgbClr val="383A42"/>
                </a:solidFill>
                <a:latin typeface="Ubuntu Mono"/>
                <a:ea typeface="Ubuntu Mono"/>
                <a:cs typeface="Ubuntu Mono"/>
                <a:sym typeface="Ubuntu Mono"/>
              </a:rPr>
              <a:t>     </a:t>
            </a:r>
            <a:r>
              <a:rPr lang="es" sz="1150">
                <a:solidFill>
                  <a:srgbClr val="A626A4"/>
                </a:solidFill>
                <a:latin typeface="Ubuntu Mono"/>
                <a:ea typeface="Ubuntu Mono"/>
                <a:cs typeface="Ubuntu Mono"/>
                <a:sym typeface="Ubuntu Mono"/>
              </a:rPr>
              <a:t>return</a:t>
            </a:r>
            <a:r>
              <a:rPr lang="es" sz="1150">
                <a:solidFill>
                  <a:srgbClr val="383A42"/>
                </a:solidFill>
                <a:latin typeface="Ubuntu Mono"/>
                <a:ea typeface="Ubuntu Mono"/>
                <a:cs typeface="Ubuntu Mono"/>
                <a:sym typeface="Ubuntu Mono"/>
              </a:rPr>
              <a:t> </a:t>
            </a:r>
            <a:r>
              <a:rPr lang="es" sz="1150">
                <a:solidFill>
                  <a:srgbClr val="986801"/>
                </a:solidFill>
                <a:latin typeface="Ubuntu Mono"/>
                <a:ea typeface="Ubuntu Mono"/>
                <a:cs typeface="Ubuntu Mono"/>
                <a:sym typeface="Ubuntu Mono"/>
              </a:rPr>
              <a:t>0</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13</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p:txBody>
      </p:sp>
      <p:sp>
        <p:nvSpPr>
          <p:cNvPr id="491" name="Google Shape;491;p52"/>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s"/>
              <a:t>1</a:t>
            </a:r>
            <a:endParaRPr b="0" i="0" sz="1400" u="none" cap="none" strike="noStrike">
              <a:solidFill>
                <a:srgbClr val="000000"/>
              </a:solidFill>
              <a:latin typeface="Arial"/>
              <a:ea typeface="Arial"/>
              <a:cs typeface="Arial"/>
              <a:sym typeface="Arial"/>
            </a:endParaRPr>
          </a:p>
        </p:txBody>
      </p:sp>
      <p:sp>
        <p:nvSpPr>
          <p:cNvPr id="492" name="Google Shape;492;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Qué pasa con los arreglos como parámetro?</a:t>
            </a:r>
            <a:endParaRPr/>
          </a:p>
        </p:txBody>
      </p:sp>
      <p:sp>
        <p:nvSpPr>
          <p:cNvPr id="493" name="Google Shape;493;p52"/>
          <p:cNvSpPr/>
          <p:nvPr/>
        </p:nvSpPr>
        <p:spPr>
          <a:xfrm>
            <a:off x="6802175"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s"/>
              <a:t>2</a:t>
            </a:r>
            <a:endParaRPr b="0" i="0" sz="1400" u="none" cap="none" strike="noStrike">
              <a:solidFill>
                <a:srgbClr val="000000"/>
              </a:solidFill>
              <a:latin typeface="Arial"/>
              <a:ea typeface="Arial"/>
              <a:cs typeface="Arial"/>
              <a:sym typeface="Arial"/>
            </a:endParaRPr>
          </a:p>
        </p:txBody>
      </p:sp>
      <p:sp>
        <p:nvSpPr>
          <p:cNvPr id="494" name="Google Shape;494;p52"/>
          <p:cNvSpPr/>
          <p:nvPr/>
        </p:nvSpPr>
        <p:spPr>
          <a:xfrm>
            <a:off x="750335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s"/>
              <a:t>3</a:t>
            </a:r>
            <a:endParaRPr b="0" i="0" sz="1400" u="none" cap="none" strike="noStrike">
              <a:solidFill>
                <a:srgbClr val="000000"/>
              </a:solidFill>
              <a:latin typeface="Arial"/>
              <a:ea typeface="Arial"/>
              <a:cs typeface="Arial"/>
              <a:sym typeface="Arial"/>
            </a:endParaRPr>
          </a:p>
        </p:txBody>
      </p:sp>
      <p:sp>
        <p:nvSpPr>
          <p:cNvPr id="495" name="Google Shape;495;p52"/>
          <p:cNvSpPr/>
          <p:nvPr/>
        </p:nvSpPr>
        <p:spPr>
          <a:xfrm>
            <a:off x="8204525"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s"/>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3"/>
          <p:cNvSpPr/>
          <p:nvPr/>
        </p:nvSpPr>
        <p:spPr>
          <a:xfrm>
            <a:off x="6013025" y="1676625"/>
            <a:ext cx="2907600" cy="895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3"/>
          <p:cNvSpPr txBox="1"/>
          <p:nvPr>
            <p:ph idx="1" type="body"/>
          </p:nvPr>
        </p:nvSpPr>
        <p:spPr>
          <a:xfrm>
            <a:off x="5344100" y="11295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numeros</a:t>
            </a:r>
            <a:endParaRPr/>
          </a:p>
        </p:txBody>
      </p:sp>
      <p:sp>
        <p:nvSpPr>
          <p:cNvPr id="502" name="Google Shape;502;p53"/>
          <p:cNvSpPr/>
          <p:nvPr/>
        </p:nvSpPr>
        <p:spPr>
          <a:xfrm rot="10800000">
            <a:off x="616700" y="1676075"/>
            <a:ext cx="4638300" cy="3006600"/>
          </a:xfrm>
          <a:prstGeom prst="round2SameRect">
            <a:avLst>
              <a:gd fmla="val 3719"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503" name="Google Shape;503;p53"/>
          <p:cNvSpPr/>
          <p:nvPr/>
        </p:nvSpPr>
        <p:spPr>
          <a:xfrm rot="10800000">
            <a:off x="616700" y="1495150"/>
            <a:ext cx="46383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04" name="Google Shape;504;p53"/>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05" name="Google Shape;505;p53"/>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06" name="Google Shape;506;p53"/>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07" name="Google Shape;507;p53"/>
          <p:cNvSpPr txBox="1"/>
          <p:nvPr/>
        </p:nvSpPr>
        <p:spPr>
          <a:xfrm>
            <a:off x="616500" y="1717343"/>
            <a:ext cx="4638300" cy="2785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1</a:t>
            </a:r>
            <a:r>
              <a:rPr lang="es" sz="1150">
                <a:solidFill>
                  <a:srgbClr val="383A42"/>
                </a:solidFill>
                <a:latin typeface="Ubuntu Mono"/>
                <a:ea typeface="Ubuntu Mono"/>
                <a:cs typeface="Ubuntu Mono"/>
                <a:sym typeface="Ubuntu Mono"/>
              </a:rPr>
              <a:t> #include &lt;iostream&gt;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2</a:t>
            </a:r>
            <a:r>
              <a:rPr lang="es" sz="1150">
                <a:solidFill>
                  <a:srgbClr val="383A42"/>
                </a:solidFill>
                <a:latin typeface="Ubuntu Mono"/>
                <a:ea typeface="Ubuntu Mono"/>
                <a:cs typeface="Ubuntu Mono"/>
                <a:sym typeface="Ubuntu Mono"/>
              </a:rPr>
              <a:t> </a:t>
            </a:r>
            <a:r>
              <a:rPr lang="es" sz="1150">
                <a:solidFill>
                  <a:srgbClr val="A626A4"/>
                </a:solidFill>
                <a:latin typeface="Ubuntu Mono"/>
                <a:ea typeface="Ubuntu Mono"/>
                <a:cs typeface="Ubuntu Mono"/>
                <a:sym typeface="Ubuntu Mono"/>
              </a:rPr>
              <a:t>const</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N</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a:t>
            </a:r>
            <a:r>
              <a:rPr lang="es" sz="1150">
                <a:solidFill>
                  <a:srgbClr val="383A42"/>
                </a:solidFill>
                <a:latin typeface="Ubuntu Mono"/>
                <a:ea typeface="Ubuntu Mono"/>
                <a:cs typeface="Ubuntu Mono"/>
                <a:sym typeface="Ubuntu Mono"/>
              </a:rPr>
              <a:t> </a:t>
            </a:r>
            <a:r>
              <a:rPr lang="es" sz="1150">
                <a:solidFill>
                  <a:srgbClr val="986801"/>
                </a:solidFill>
                <a:latin typeface="Ubuntu Mono"/>
                <a:ea typeface="Ubuntu Mono"/>
                <a:cs typeface="Ubuntu Mono"/>
                <a:sym typeface="Ubuntu Mono"/>
              </a:rPr>
              <a:t>4</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3</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void</a:t>
            </a:r>
            <a:r>
              <a:rPr lang="es" sz="1150">
                <a:solidFill>
                  <a:srgbClr val="383A42"/>
                </a:solidFill>
                <a:latin typeface="Ubuntu Mono"/>
                <a:ea typeface="Ubuntu Mono"/>
                <a:cs typeface="Ubuntu Mono"/>
                <a:sym typeface="Ubuntu Mono"/>
              </a:rPr>
              <a:t> </a:t>
            </a:r>
            <a:r>
              <a:rPr lang="es" sz="1150">
                <a:solidFill>
                  <a:srgbClr val="4078F2"/>
                </a:solidFill>
                <a:latin typeface="Ubuntu Mono"/>
                <a:ea typeface="Ubuntu Mono"/>
                <a:cs typeface="Ubuntu Mono"/>
                <a:sym typeface="Ubuntu Mono"/>
              </a:rPr>
              <a:t>resetear</a:t>
            </a:r>
            <a:r>
              <a:rPr lang="es" sz="1150">
                <a:solidFill>
                  <a:srgbClr val="383A42"/>
                </a:solidFill>
                <a:latin typeface="Ubuntu Mono"/>
                <a:ea typeface="Ubuntu Mono"/>
                <a:cs typeface="Ubuntu Mono"/>
                <a:sym typeface="Ubuntu Mono"/>
              </a:rPr>
              <a:t>(</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x</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N</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4</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x</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a:t>
            </a:r>
            <a:r>
              <a:rPr lang="es" sz="1150">
                <a:solidFill>
                  <a:srgbClr val="383A42"/>
                </a:solidFill>
                <a:latin typeface="Ubuntu Mono"/>
                <a:ea typeface="Ubuntu Mono"/>
                <a:cs typeface="Ubuntu Mono"/>
                <a:sym typeface="Ubuntu Mono"/>
              </a:rPr>
              <a:t> </a:t>
            </a:r>
            <a:r>
              <a:rPr lang="es" sz="1150">
                <a:solidFill>
                  <a:srgbClr val="986801"/>
                </a:solidFill>
                <a:latin typeface="Ubuntu Mono"/>
                <a:ea typeface="Ubuntu Mono"/>
                <a:cs typeface="Ubuntu Mono"/>
                <a:sym typeface="Ubuntu Mono"/>
              </a:rPr>
              <a:t>0</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5</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std::cout</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50A14F"/>
                </a:solidFill>
                <a:latin typeface="Ubuntu Mono"/>
                <a:ea typeface="Ubuntu Mono"/>
                <a:cs typeface="Ubuntu Mono"/>
                <a:sym typeface="Ubuntu Mono"/>
              </a:rPr>
              <a:t>"Dentro: "</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x</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std::endl</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6</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7</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8</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4078F2"/>
                </a:solidFill>
                <a:latin typeface="Ubuntu Mono"/>
                <a:ea typeface="Ubuntu Mono"/>
                <a:cs typeface="Ubuntu Mono"/>
                <a:sym typeface="Ubuntu Mono"/>
              </a:rPr>
              <a:t>main</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9</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numeros</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N</a:t>
            </a:r>
            <a:r>
              <a:rPr lang="es" sz="1150">
                <a:solidFill>
                  <a:srgbClr val="383A42"/>
                </a:solidFill>
                <a:latin typeface="Ubuntu Mono"/>
                <a:ea typeface="Ubuntu Mono"/>
                <a:cs typeface="Ubuntu Mono"/>
                <a:sym typeface="Ubuntu Mono"/>
              </a:rPr>
              <a:t>] = {1,2,3,4};</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10</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resetear</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numeros</a:t>
            </a:r>
            <a:r>
              <a:rPr lang="es" sz="1150">
                <a:solidFill>
                  <a:srgbClr val="383A42"/>
                </a:solidFill>
                <a:latin typeface="Ubuntu Mono"/>
                <a:ea typeface="Ubuntu Mono"/>
                <a:cs typeface="Ubuntu Mono"/>
                <a:sym typeface="Ubuntu Mono"/>
              </a:rPr>
              <a:t>,</a:t>
            </a:r>
            <a:r>
              <a:rPr lang="es" sz="1150">
                <a:solidFill>
                  <a:srgbClr val="986801"/>
                </a:solidFill>
                <a:latin typeface="Ubuntu Mono"/>
                <a:ea typeface="Ubuntu Mono"/>
                <a:cs typeface="Ubuntu Mono"/>
                <a:sym typeface="Ubuntu Mono"/>
              </a:rPr>
              <a:t>2</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11</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std::cout</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50A14F"/>
                </a:solidFill>
                <a:latin typeface="Ubuntu Mono"/>
                <a:ea typeface="Ubuntu Mono"/>
                <a:cs typeface="Ubuntu Mono"/>
                <a:sym typeface="Ubuntu Mono"/>
              </a:rPr>
              <a:t>"Fuera: "</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numeros</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std::endl</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12</a:t>
            </a:r>
            <a:r>
              <a:rPr lang="es" sz="1150">
                <a:solidFill>
                  <a:srgbClr val="383A42"/>
                </a:solidFill>
                <a:latin typeface="Ubuntu Mono"/>
                <a:ea typeface="Ubuntu Mono"/>
                <a:cs typeface="Ubuntu Mono"/>
                <a:sym typeface="Ubuntu Mono"/>
              </a:rPr>
              <a:t>     </a:t>
            </a:r>
            <a:r>
              <a:rPr lang="es" sz="1150">
                <a:solidFill>
                  <a:srgbClr val="A626A4"/>
                </a:solidFill>
                <a:latin typeface="Ubuntu Mono"/>
                <a:ea typeface="Ubuntu Mono"/>
                <a:cs typeface="Ubuntu Mono"/>
                <a:sym typeface="Ubuntu Mono"/>
              </a:rPr>
              <a:t>return</a:t>
            </a:r>
            <a:r>
              <a:rPr lang="es" sz="1150">
                <a:solidFill>
                  <a:srgbClr val="383A42"/>
                </a:solidFill>
                <a:latin typeface="Ubuntu Mono"/>
                <a:ea typeface="Ubuntu Mono"/>
                <a:cs typeface="Ubuntu Mono"/>
                <a:sym typeface="Ubuntu Mono"/>
              </a:rPr>
              <a:t> </a:t>
            </a:r>
            <a:r>
              <a:rPr lang="es" sz="1150">
                <a:solidFill>
                  <a:srgbClr val="986801"/>
                </a:solidFill>
                <a:latin typeface="Ubuntu Mono"/>
                <a:ea typeface="Ubuntu Mono"/>
                <a:cs typeface="Ubuntu Mono"/>
                <a:sym typeface="Ubuntu Mono"/>
              </a:rPr>
              <a:t>0</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13</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p:txBody>
      </p:sp>
      <p:sp>
        <p:nvSpPr>
          <p:cNvPr id="508" name="Google Shape;508;p53"/>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s"/>
              <a:t>1</a:t>
            </a:r>
            <a:endParaRPr b="0" i="0" sz="1400" u="none" cap="none" strike="noStrike">
              <a:solidFill>
                <a:srgbClr val="000000"/>
              </a:solidFill>
              <a:latin typeface="Arial"/>
              <a:ea typeface="Arial"/>
              <a:cs typeface="Arial"/>
              <a:sym typeface="Arial"/>
            </a:endParaRPr>
          </a:p>
        </p:txBody>
      </p:sp>
      <p:sp>
        <p:nvSpPr>
          <p:cNvPr id="509" name="Google Shape;509;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Qué pasa con los arreglos como parámetro?</a:t>
            </a:r>
            <a:endParaRPr/>
          </a:p>
        </p:txBody>
      </p:sp>
      <p:sp>
        <p:nvSpPr>
          <p:cNvPr id="510" name="Google Shape;510;p53"/>
          <p:cNvSpPr/>
          <p:nvPr/>
        </p:nvSpPr>
        <p:spPr>
          <a:xfrm>
            <a:off x="6101000" y="2571825"/>
            <a:ext cx="611700" cy="1531500"/>
          </a:xfrm>
          <a:prstGeom prst="upArrowCallout">
            <a:avLst>
              <a:gd fmla="val 22961" name="adj1"/>
              <a:gd fmla="val 25000" name="adj2"/>
              <a:gd fmla="val 25000" name="adj3"/>
              <a:gd fmla="val 29295" name="adj4"/>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53"/>
          <p:cNvSpPr txBox="1"/>
          <p:nvPr>
            <p:ph idx="1" type="body"/>
          </p:nvPr>
        </p:nvSpPr>
        <p:spPr>
          <a:xfrm>
            <a:off x="5344100" y="3994675"/>
            <a:ext cx="2125500" cy="369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SzPts val="1800"/>
              <a:buNone/>
            </a:pPr>
            <a:r>
              <a:rPr lang="es"/>
              <a:t>x</a:t>
            </a:r>
            <a:endParaRPr/>
          </a:p>
        </p:txBody>
      </p:sp>
      <p:sp>
        <p:nvSpPr>
          <p:cNvPr id="512" name="Google Shape;512;p53"/>
          <p:cNvSpPr/>
          <p:nvPr/>
        </p:nvSpPr>
        <p:spPr>
          <a:xfrm>
            <a:off x="6802175"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s"/>
              <a:t>2</a:t>
            </a:r>
            <a:endParaRPr b="0" i="0" sz="1400" u="none" cap="none" strike="noStrike">
              <a:solidFill>
                <a:srgbClr val="000000"/>
              </a:solidFill>
              <a:latin typeface="Arial"/>
              <a:ea typeface="Arial"/>
              <a:cs typeface="Arial"/>
              <a:sym typeface="Arial"/>
            </a:endParaRPr>
          </a:p>
        </p:txBody>
      </p:sp>
      <p:sp>
        <p:nvSpPr>
          <p:cNvPr id="513" name="Google Shape;513;p53"/>
          <p:cNvSpPr/>
          <p:nvPr/>
        </p:nvSpPr>
        <p:spPr>
          <a:xfrm>
            <a:off x="750335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s"/>
              <a:t>3</a:t>
            </a:r>
            <a:endParaRPr b="0" i="0" sz="1400" u="none" cap="none" strike="noStrike">
              <a:solidFill>
                <a:srgbClr val="000000"/>
              </a:solidFill>
              <a:latin typeface="Arial"/>
              <a:ea typeface="Arial"/>
              <a:cs typeface="Arial"/>
              <a:sym typeface="Arial"/>
            </a:endParaRPr>
          </a:p>
        </p:txBody>
      </p:sp>
      <p:sp>
        <p:nvSpPr>
          <p:cNvPr id="514" name="Google Shape;514;p53"/>
          <p:cNvSpPr/>
          <p:nvPr/>
        </p:nvSpPr>
        <p:spPr>
          <a:xfrm>
            <a:off x="8204525"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s"/>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4"/>
          <p:cNvSpPr/>
          <p:nvPr/>
        </p:nvSpPr>
        <p:spPr>
          <a:xfrm>
            <a:off x="6013025" y="1676625"/>
            <a:ext cx="2907600" cy="895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54"/>
          <p:cNvSpPr txBox="1"/>
          <p:nvPr>
            <p:ph idx="1" type="body"/>
          </p:nvPr>
        </p:nvSpPr>
        <p:spPr>
          <a:xfrm>
            <a:off x="5344100" y="1129513"/>
            <a:ext cx="2125500" cy="1028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
              <a:t>numeros</a:t>
            </a:r>
            <a:endParaRPr/>
          </a:p>
        </p:txBody>
      </p:sp>
      <p:sp>
        <p:nvSpPr>
          <p:cNvPr id="521" name="Google Shape;521;p54"/>
          <p:cNvSpPr/>
          <p:nvPr/>
        </p:nvSpPr>
        <p:spPr>
          <a:xfrm rot="10800000">
            <a:off x="616700" y="1676075"/>
            <a:ext cx="4638300" cy="3006600"/>
          </a:xfrm>
          <a:prstGeom prst="round2SameRect">
            <a:avLst>
              <a:gd fmla="val 3719"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522" name="Google Shape;522;p54"/>
          <p:cNvSpPr/>
          <p:nvPr/>
        </p:nvSpPr>
        <p:spPr>
          <a:xfrm rot="10800000">
            <a:off x="616700" y="1495150"/>
            <a:ext cx="4638300" cy="2436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23" name="Google Shape;523;p54"/>
          <p:cNvSpPr/>
          <p:nvPr/>
        </p:nvSpPr>
        <p:spPr>
          <a:xfrm>
            <a:off x="709100" y="1540513"/>
            <a:ext cx="118800" cy="118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24" name="Google Shape;524;p54"/>
          <p:cNvSpPr/>
          <p:nvPr/>
        </p:nvSpPr>
        <p:spPr>
          <a:xfrm>
            <a:off x="885143" y="1540513"/>
            <a:ext cx="118800" cy="118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25" name="Google Shape;525;p54"/>
          <p:cNvSpPr/>
          <p:nvPr/>
        </p:nvSpPr>
        <p:spPr>
          <a:xfrm>
            <a:off x="1061186" y="1540513"/>
            <a:ext cx="118800" cy="118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26" name="Google Shape;526;p54"/>
          <p:cNvSpPr txBox="1"/>
          <p:nvPr/>
        </p:nvSpPr>
        <p:spPr>
          <a:xfrm>
            <a:off x="616500" y="1717343"/>
            <a:ext cx="4638300" cy="2785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1</a:t>
            </a:r>
            <a:r>
              <a:rPr lang="es" sz="1150">
                <a:solidFill>
                  <a:srgbClr val="383A42"/>
                </a:solidFill>
                <a:latin typeface="Ubuntu Mono"/>
                <a:ea typeface="Ubuntu Mono"/>
                <a:cs typeface="Ubuntu Mono"/>
                <a:sym typeface="Ubuntu Mono"/>
              </a:rPr>
              <a:t> #include &lt;iostream&gt;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2</a:t>
            </a:r>
            <a:r>
              <a:rPr lang="es" sz="1150">
                <a:solidFill>
                  <a:srgbClr val="383A42"/>
                </a:solidFill>
                <a:latin typeface="Ubuntu Mono"/>
                <a:ea typeface="Ubuntu Mono"/>
                <a:cs typeface="Ubuntu Mono"/>
                <a:sym typeface="Ubuntu Mono"/>
              </a:rPr>
              <a:t> </a:t>
            </a:r>
            <a:r>
              <a:rPr lang="es" sz="1150">
                <a:solidFill>
                  <a:srgbClr val="A626A4"/>
                </a:solidFill>
                <a:latin typeface="Ubuntu Mono"/>
                <a:ea typeface="Ubuntu Mono"/>
                <a:cs typeface="Ubuntu Mono"/>
                <a:sym typeface="Ubuntu Mono"/>
              </a:rPr>
              <a:t>const</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N</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a:t>
            </a:r>
            <a:r>
              <a:rPr lang="es" sz="1150">
                <a:solidFill>
                  <a:srgbClr val="383A42"/>
                </a:solidFill>
                <a:latin typeface="Ubuntu Mono"/>
                <a:ea typeface="Ubuntu Mono"/>
                <a:cs typeface="Ubuntu Mono"/>
                <a:sym typeface="Ubuntu Mono"/>
              </a:rPr>
              <a:t> </a:t>
            </a:r>
            <a:r>
              <a:rPr lang="es" sz="1150">
                <a:solidFill>
                  <a:srgbClr val="986801"/>
                </a:solidFill>
                <a:latin typeface="Ubuntu Mono"/>
                <a:ea typeface="Ubuntu Mono"/>
                <a:cs typeface="Ubuntu Mono"/>
                <a:sym typeface="Ubuntu Mono"/>
              </a:rPr>
              <a:t>4</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3</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void</a:t>
            </a:r>
            <a:r>
              <a:rPr lang="es" sz="1150">
                <a:solidFill>
                  <a:srgbClr val="383A42"/>
                </a:solidFill>
                <a:latin typeface="Ubuntu Mono"/>
                <a:ea typeface="Ubuntu Mono"/>
                <a:cs typeface="Ubuntu Mono"/>
                <a:sym typeface="Ubuntu Mono"/>
              </a:rPr>
              <a:t> </a:t>
            </a:r>
            <a:r>
              <a:rPr lang="es" sz="1150">
                <a:solidFill>
                  <a:srgbClr val="4078F2"/>
                </a:solidFill>
                <a:latin typeface="Ubuntu Mono"/>
                <a:ea typeface="Ubuntu Mono"/>
                <a:cs typeface="Ubuntu Mono"/>
                <a:sym typeface="Ubuntu Mono"/>
              </a:rPr>
              <a:t>resetear</a:t>
            </a:r>
            <a:r>
              <a:rPr lang="es" sz="1150">
                <a:solidFill>
                  <a:srgbClr val="383A42"/>
                </a:solidFill>
                <a:latin typeface="Ubuntu Mono"/>
                <a:ea typeface="Ubuntu Mono"/>
                <a:cs typeface="Ubuntu Mono"/>
                <a:sym typeface="Ubuntu Mono"/>
              </a:rPr>
              <a:t>(</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x</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N</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4</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x</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a:t>
            </a:r>
            <a:r>
              <a:rPr lang="es" sz="1150">
                <a:solidFill>
                  <a:srgbClr val="383A42"/>
                </a:solidFill>
                <a:latin typeface="Ubuntu Mono"/>
                <a:ea typeface="Ubuntu Mono"/>
                <a:cs typeface="Ubuntu Mono"/>
                <a:sym typeface="Ubuntu Mono"/>
              </a:rPr>
              <a:t> </a:t>
            </a:r>
            <a:r>
              <a:rPr lang="es" sz="1150">
                <a:solidFill>
                  <a:srgbClr val="986801"/>
                </a:solidFill>
                <a:latin typeface="Ubuntu Mono"/>
                <a:ea typeface="Ubuntu Mono"/>
                <a:cs typeface="Ubuntu Mono"/>
                <a:sym typeface="Ubuntu Mono"/>
              </a:rPr>
              <a:t>0</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5</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std::cout</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50A14F"/>
                </a:solidFill>
                <a:latin typeface="Ubuntu Mono"/>
                <a:ea typeface="Ubuntu Mono"/>
                <a:cs typeface="Ubuntu Mono"/>
                <a:sym typeface="Ubuntu Mono"/>
              </a:rPr>
              <a:t>"Dentro: "</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x</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std::endl</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6</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7</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8</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4078F2"/>
                </a:solidFill>
                <a:latin typeface="Ubuntu Mono"/>
                <a:ea typeface="Ubuntu Mono"/>
                <a:cs typeface="Ubuntu Mono"/>
                <a:sym typeface="Ubuntu Mono"/>
              </a:rPr>
              <a:t>main</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383A42"/>
                </a:solidFill>
                <a:latin typeface="Ubuntu Mono"/>
                <a:ea typeface="Ubuntu Mono"/>
                <a:cs typeface="Ubuntu Mono"/>
                <a:sym typeface="Ubuntu Mono"/>
              </a:rPr>
              <a:t> </a:t>
            </a:r>
            <a:r>
              <a:rPr lang="es" sz="1150">
                <a:solidFill>
                  <a:srgbClr val="929292"/>
                </a:solidFill>
                <a:latin typeface="Ubuntu Mono"/>
                <a:ea typeface="Ubuntu Mono"/>
                <a:cs typeface="Ubuntu Mono"/>
                <a:sym typeface="Ubuntu Mono"/>
              </a:rPr>
              <a:t>9</a:t>
            </a:r>
            <a:r>
              <a:rPr lang="es" sz="1150">
                <a:solidFill>
                  <a:srgbClr val="383A42"/>
                </a:solidFill>
                <a:latin typeface="Ubuntu Mono"/>
                <a:ea typeface="Ubuntu Mono"/>
                <a:cs typeface="Ubuntu Mono"/>
                <a:sym typeface="Ubuntu Mono"/>
              </a:rPr>
              <a:t>     </a:t>
            </a:r>
            <a:r>
              <a:rPr lang="es" sz="1150">
                <a:solidFill>
                  <a:srgbClr val="27292F"/>
                </a:solidFill>
                <a:latin typeface="Ubuntu Mono"/>
                <a:ea typeface="Ubuntu Mono"/>
                <a:cs typeface="Ubuntu Mono"/>
                <a:sym typeface="Ubuntu Mono"/>
              </a:rPr>
              <a:t>int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numeros</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N</a:t>
            </a:r>
            <a:r>
              <a:rPr lang="es" sz="1150">
                <a:solidFill>
                  <a:srgbClr val="383A42"/>
                </a:solidFill>
                <a:latin typeface="Ubuntu Mono"/>
                <a:ea typeface="Ubuntu Mono"/>
                <a:cs typeface="Ubuntu Mono"/>
                <a:sym typeface="Ubuntu Mono"/>
              </a:rPr>
              <a:t>] = {1,2,3,4};</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10</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resetear</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numeros</a:t>
            </a:r>
            <a:r>
              <a:rPr lang="es" sz="1150">
                <a:solidFill>
                  <a:srgbClr val="383A42"/>
                </a:solidFill>
                <a:latin typeface="Ubuntu Mono"/>
                <a:ea typeface="Ubuntu Mono"/>
                <a:cs typeface="Ubuntu Mono"/>
                <a:sym typeface="Ubuntu Mono"/>
              </a:rPr>
              <a:t>,</a:t>
            </a:r>
            <a:r>
              <a:rPr lang="es" sz="1150">
                <a:solidFill>
                  <a:srgbClr val="986801"/>
                </a:solidFill>
                <a:latin typeface="Ubuntu Mono"/>
                <a:ea typeface="Ubuntu Mono"/>
                <a:cs typeface="Ubuntu Mono"/>
                <a:sym typeface="Ubuntu Mono"/>
              </a:rPr>
              <a:t>2</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11</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std::cout</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50A14F"/>
                </a:solidFill>
                <a:latin typeface="Ubuntu Mono"/>
                <a:ea typeface="Ubuntu Mono"/>
                <a:cs typeface="Ubuntu Mono"/>
                <a:sym typeface="Ubuntu Mono"/>
              </a:rPr>
              <a:t>"Fuera: "</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numeros</a:t>
            </a:r>
            <a:r>
              <a:rPr lang="es" sz="1150">
                <a:solidFill>
                  <a:srgbClr val="383A42"/>
                </a:solidFill>
                <a:latin typeface="Ubuntu Mono"/>
                <a:ea typeface="Ubuntu Mono"/>
                <a:cs typeface="Ubuntu Mono"/>
                <a:sym typeface="Ubuntu Mono"/>
              </a:rPr>
              <a:t>[</a:t>
            </a:r>
            <a:r>
              <a:rPr lang="es" sz="1150">
                <a:solidFill>
                  <a:srgbClr val="E06C75"/>
                </a:solidFill>
                <a:latin typeface="Ubuntu Mono"/>
                <a:ea typeface="Ubuntu Mono"/>
                <a:cs typeface="Ubuntu Mono"/>
                <a:sym typeface="Ubuntu Mono"/>
              </a:rPr>
              <a:t>pos</a:t>
            </a:r>
            <a:r>
              <a:rPr lang="es" sz="1150">
                <a:solidFill>
                  <a:srgbClr val="383A42"/>
                </a:solidFill>
                <a:latin typeface="Ubuntu Mono"/>
                <a:ea typeface="Ubuntu Mono"/>
                <a:cs typeface="Ubuntu Mono"/>
                <a:sym typeface="Ubuntu Mono"/>
              </a:rPr>
              <a:t>] </a:t>
            </a:r>
            <a:r>
              <a:rPr lang="es" sz="1150">
                <a:solidFill>
                  <a:srgbClr val="0184BC"/>
                </a:solidFill>
                <a:latin typeface="Ubuntu Mono"/>
                <a:ea typeface="Ubuntu Mono"/>
                <a:cs typeface="Ubuntu Mono"/>
                <a:sym typeface="Ubuntu Mono"/>
              </a:rPr>
              <a:t>&lt;&lt;</a:t>
            </a:r>
            <a:r>
              <a:rPr lang="es" sz="1150">
                <a:solidFill>
                  <a:srgbClr val="383A42"/>
                </a:solidFill>
                <a:latin typeface="Ubuntu Mono"/>
                <a:ea typeface="Ubuntu Mono"/>
                <a:cs typeface="Ubuntu Mono"/>
                <a:sym typeface="Ubuntu Mono"/>
              </a:rPr>
              <a:t> </a:t>
            </a:r>
            <a:r>
              <a:rPr lang="es" sz="1150">
                <a:solidFill>
                  <a:srgbClr val="E06C75"/>
                </a:solidFill>
                <a:latin typeface="Ubuntu Mono"/>
                <a:ea typeface="Ubuntu Mono"/>
                <a:cs typeface="Ubuntu Mono"/>
                <a:sym typeface="Ubuntu Mono"/>
              </a:rPr>
              <a:t>std::endl</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12</a:t>
            </a:r>
            <a:r>
              <a:rPr lang="es" sz="1150">
                <a:solidFill>
                  <a:srgbClr val="383A42"/>
                </a:solidFill>
                <a:latin typeface="Ubuntu Mono"/>
                <a:ea typeface="Ubuntu Mono"/>
                <a:cs typeface="Ubuntu Mono"/>
                <a:sym typeface="Ubuntu Mono"/>
              </a:rPr>
              <a:t>     </a:t>
            </a:r>
            <a:r>
              <a:rPr lang="es" sz="1150">
                <a:solidFill>
                  <a:srgbClr val="A626A4"/>
                </a:solidFill>
                <a:latin typeface="Ubuntu Mono"/>
                <a:ea typeface="Ubuntu Mono"/>
                <a:cs typeface="Ubuntu Mono"/>
                <a:sym typeface="Ubuntu Mono"/>
              </a:rPr>
              <a:t>return</a:t>
            </a:r>
            <a:r>
              <a:rPr lang="es" sz="1150">
                <a:solidFill>
                  <a:srgbClr val="383A42"/>
                </a:solidFill>
                <a:latin typeface="Ubuntu Mono"/>
                <a:ea typeface="Ubuntu Mono"/>
                <a:cs typeface="Ubuntu Mono"/>
                <a:sym typeface="Ubuntu Mono"/>
              </a:rPr>
              <a:t> </a:t>
            </a:r>
            <a:r>
              <a:rPr lang="es" sz="1150">
                <a:solidFill>
                  <a:srgbClr val="986801"/>
                </a:solidFill>
                <a:latin typeface="Ubuntu Mono"/>
                <a:ea typeface="Ubuntu Mono"/>
                <a:cs typeface="Ubuntu Mono"/>
                <a:sym typeface="Ubuntu Mono"/>
              </a:rPr>
              <a:t>0</a:t>
            </a:r>
            <a:r>
              <a:rPr lang="es" sz="1150">
                <a:solidFill>
                  <a:srgbClr val="383A42"/>
                </a:solidFill>
                <a:latin typeface="Ubuntu Mono"/>
                <a:ea typeface="Ubuntu Mono"/>
                <a:cs typeface="Ubuntu Mono"/>
                <a:sym typeface="Ubuntu Mono"/>
              </a:rPr>
              <a:t>;</a:t>
            </a:r>
            <a:endParaRPr sz="115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150"/>
              <a:buFont typeface="Arial"/>
              <a:buNone/>
            </a:pPr>
            <a:r>
              <a:rPr lang="es" sz="1150">
                <a:solidFill>
                  <a:srgbClr val="929292"/>
                </a:solidFill>
                <a:latin typeface="Ubuntu Mono"/>
                <a:ea typeface="Ubuntu Mono"/>
                <a:cs typeface="Ubuntu Mono"/>
                <a:sym typeface="Ubuntu Mono"/>
              </a:rPr>
              <a:t>13</a:t>
            </a:r>
            <a:r>
              <a:rPr lang="es" sz="1150">
                <a:solidFill>
                  <a:srgbClr val="383A42"/>
                </a:solidFill>
                <a:latin typeface="Ubuntu Mono"/>
                <a:ea typeface="Ubuntu Mono"/>
                <a:cs typeface="Ubuntu Mono"/>
                <a:sym typeface="Ubuntu Mono"/>
              </a:rPr>
              <a:t> }</a:t>
            </a:r>
            <a:endParaRPr sz="1150">
              <a:solidFill>
                <a:srgbClr val="383A42"/>
              </a:solidFill>
              <a:latin typeface="Ubuntu Mono"/>
              <a:ea typeface="Ubuntu Mono"/>
              <a:cs typeface="Ubuntu Mono"/>
              <a:sym typeface="Ubuntu Mono"/>
            </a:endParaRPr>
          </a:p>
        </p:txBody>
      </p:sp>
      <p:sp>
        <p:nvSpPr>
          <p:cNvPr id="527" name="Google Shape;527;p54"/>
          <p:cNvSpPr/>
          <p:nvPr/>
        </p:nvSpPr>
        <p:spPr>
          <a:xfrm>
            <a:off x="610100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s"/>
              <a:t>1</a:t>
            </a:r>
            <a:endParaRPr b="0" i="0" sz="1400" u="none" cap="none" strike="noStrike">
              <a:solidFill>
                <a:srgbClr val="000000"/>
              </a:solidFill>
              <a:latin typeface="Arial"/>
              <a:ea typeface="Arial"/>
              <a:cs typeface="Arial"/>
              <a:sym typeface="Arial"/>
            </a:endParaRPr>
          </a:p>
        </p:txBody>
      </p:sp>
      <p:sp>
        <p:nvSpPr>
          <p:cNvPr id="528" name="Google Shape;528;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111111"/>
              <a:buNone/>
            </a:pPr>
            <a:r>
              <a:rPr lang="es"/>
              <a:t>Qué pasa con los arreglos como parámetro?</a:t>
            </a:r>
            <a:endParaRPr/>
          </a:p>
        </p:txBody>
      </p:sp>
      <p:sp>
        <p:nvSpPr>
          <p:cNvPr id="529" name="Google Shape;529;p54"/>
          <p:cNvSpPr/>
          <p:nvPr/>
        </p:nvSpPr>
        <p:spPr>
          <a:xfrm>
            <a:off x="6101000" y="2571825"/>
            <a:ext cx="611700" cy="1531500"/>
          </a:xfrm>
          <a:prstGeom prst="upArrowCallout">
            <a:avLst>
              <a:gd fmla="val 22961" name="adj1"/>
              <a:gd fmla="val 25000" name="adj2"/>
              <a:gd fmla="val 25000" name="adj3"/>
              <a:gd fmla="val 29295" name="adj4"/>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54"/>
          <p:cNvSpPr txBox="1"/>
          <p:nvPr>
            <p:ph idx="1" type="body"/>
          </p:nvPr>
        </p:nvSpPr>
        <p:spPr>
          <a:xfrm>
            <a:off x="5344100" y="3994675"/>
            <a:ext cx="2125500" cy="369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SzPts val="1800"/>
              <a:buNone/>
            </a:pPr>
            <a:r>
              <a:rPr lang="es"/>
              <a:t>x</a:t>
            </a:r>
            <a:endParaRPr/>
          </a:p>
        </p:txBody>
      </p:sp>
      <p:sp>
        <p:nvSpPr>
          <p:cNvPr id="531" name="Google Shape;531;p54"/>
          <p:cNvSpPr/>
          <p:nvPr/>
        </p:nvSpPr>
        <p:spPr>
          <a:xfrm>
            <a:off x="6802175"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s"/>
              <a:t>2</a:t>
            </a:r>
            <a:endParaRPr b="0" i="0" sz="1400" u="none" cap="none" strike="noStrike">
              <a:solidFill>
                <a:srgbClr val="000000"/>
              </a:solidFill>
              <a:latin typeface="Arial"/>
              <a:ea typeface="Arial"/>
              <a:cs typeface="Arial"/>
              <a:sym typeface="Arial"/>
            </a:endParaRPr>
          </a:p>
        </p:txBody>
      </p:sp>
      <p:sp>
        <p:nvSpPr>
          <p:cNvPr id="532" name="Google Shape;532;p54"/>
          <p:cNvSpPr/>
          <p:nvPr/>
        </p:nvSpPr>
        <p:spPr>
          <a:xfrm>
            <a:off x="7503350"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s"/>
              <a:t>0</a:t>
            </a:r>
            <a:endParaRPr b="0" i="0" sz="1400" u="none" cap="none" strike="noStrike">
              <a:solidFill>
                <a:srgbClr val="000000"/>
              </a:solidFill>
              <a:latin typeface="Arial"/>
              <a:ea typeface="Arial"/>
              <a:cs typeface="Arial"/>
              <a:sym typeface="Arial"/>
            </a:endParaRPr>
          </a:p>
        </p:txBody>
      </p:sp>
      <p:sp>
        <p:nvSpPr>
          <p:cNvPr id="533" name="Google Shape;533;p54"/>
          <p:cNvSpPr/>
          <p:nvPr/>
        </p:nvSpPr>
        <p:spPr>
          <a:xfrm>
            <a:off x="8204525" y="1779525"/>
            <a:ext cx="611700" cy="689400"/>
          </a:xfrm>
          <a:prstGeom prst="roundRect">
            <a:avLst>
              <a:gd fmla="val 16667" name="adj"/>
            </a:avLst>
          </a:prstGeom>
          <a:solidFill>
            <a:srgbClr val="50A1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s"/>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Estructuras posibles…</a:t>
            </a:r>
            <a:endParaRPr/>
          </a:p>
        </p:txBody>
      </p:sp>
      <p:sp>
        <p:nvSpPr>
          <p:cNvPr id="539" name="Google Shape;539;p55"/>
          <p:cNvSpPr/>
          <p:nvPr/>
        </p:nvSpPr>
        <p:spPr>
          <a:xfrm rot="10800000">
            <a:off x="646161" y="1878425"/>
            <a:ext cx="2653800" cy="1041000"/>
          </a:xfrm>
          <a:prstGeom prst="round2SameRect">
            <a:avLst>
              <a:gd fmla="val 14331"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40" name="Google Shape;540;p55"/>
          <p:cNvSpPr/>
          <p:nvPr/>
        </p:nvSpPr>
        <p:spPr>
          <a:xfrm rot="10800000">
            <a:off x="646143" y="1483875"/>
            <a:ext cx="26538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41" name="Google Shape;541;p55"/>
          <p:cNvSpPr/>
          <p:nvPr/>
        </p:nvSpPr>
        <p:spPr>
          <a:xfrm>
            <a:off x="84883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42" name="Google Shape;542;p55"/>
          <p:cNvSpPr/>
          <p:nvPr/>
        </p:nvSpPr>
        <p:spPr>
          <a:xfrm>
            <a:off x="123203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43" name="Google Shape;543;p55"/>
          <p:cNvSpPr/>
          <p:nvPr/>
        </p:nvSpPr>
        <p:spPr>
          <a:xfrm>
            <a:off x="161524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44" name="Google Shape;544;p55"/>
          <p:cNvSpPr txBox="1"/>
          <p:nvPr/>
        </p:nvSpPr>
        <p:spPr>
          <a:xfrm>
            <a:off x="646150" y="1914801"/>
            <a:ext cx="26538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50A14F"/>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50A14F"/>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50A14F"/>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50A14F"/>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50A14F"/>
                </a:solidFill>
                <a:latin typeface="Ubuntu Mono"/>
                <a:ea typeface="Ubuntu Mono"/>
                <a:cs typeface="Ubuntu Mono"/>
                <a:sym typeface="Ubuntu Mono"/>
              </a:rPr>
              <a:t> "Hola!"</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50A14F"/>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
        <p:nvSpPr>
          <p:cNvPr id="545" name="Google Shape;545;p55"/>
          <p:cNvSpPr txBox="1"/>
          <p:nvPr>
            <p:ph idx="1" type="body"/>
          </p:nvPr>
        </p:nvSpPr>
        <p:spPr>
          <a:xfrm>
            <a:off x="8995675" y="328600"/>
            <a:ext cx="1693200" cy="376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solidFill>
                  <a:srgbClr val="FF605C"/>
                </a:solidFill>
              </a:rPr>
              <a:t>(NR,ND)</a:t>
            </a:r>
            <a:endParaRPr>
              <a:solidFill>
                <a:srgbClr val="FF605C"/>
              </a:solidFill>
            </a:endParaRPr>
          </a:p>
          <a:p>
            <a:pPr indent="-342900" lvl="0" marL="457200" rtl="0" algn="l">
              <a:spcBef>
                <a:spcPts val="0"/>
              </a:spcBef>
              <a:spcAft>
                <a:spcPts val="0"/>
              </a:spcAft>
              <a:buSzPts val="1800"/>
              <a:buChar char="●"/>
            </a:pPr>
            <a:r>
              <a:rPr lang="es">
                <a:solidFill>
                  <a:srgbClr val="FFBD44"/>
                </a:solidFill>
              </a:rPr>
              <a:t>(R,ND)</a:t>
            </a:r>
            <a:endParaRPr>
              <a:solidFill>
                <a:srgbClr val="FFBD44"/>
              </a:solidFill>
            </a:endParaRPr>
          </a:p>
          <a:p>
            <a:pPr indent="-342900" lvl="0" marL="457200" rtl="0" algn="l">
              <a:spcBef>
                <a:spcPts val="0"/>
              </a:spcBef>
              <a:spcAft>
                <a:spcPts val="0"/>
              </a:spcAft>
              <a:buSzPts val="1800"/>
              <a:buChar char="●"/>
            </a:pPr>
            <a:r>
              <a:rPr lang="es">
                <a:solidFill>
                  <a:srgbClr val="00CA4E"/>
                </a:solidFill>
              </a:rPr>
              <a:t>(R,D)</a:t>
            </a:r>
            <a:endParaRPr>
              <a:solidFill>
                <a:srgbClr val="00CA4E"/>
              </a:solidFill>
            </a:endParaRPr>
          </a:p>
          <a:p>
            <a:pPr indent="-342900" lvl="0" marL="457200" rtl="0" algn="l">
              <a:spcBef>
                <a:spcPts val="0"/>
              </a:spcBef>
              <a:spcAft>
                <a:spcPts val="0"/>
              </a:spcAft>
              <a:buSzPts val="1800"/>
              <a:buChar char="●"/>
            </a:pPr>
            <a:r>
              <a:rPr lang="es">
                <a:solidFill>
                  <a:srgbClr val="FAFF2D"/>
                </a:solidFill>
              </a:rPr>
              <a:t>(NR,D)</a:t>
            </a:r>
            <a:br>
              <a:rPr lang="es"/>
            </a:b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56"/>
          <p:cNvSpPr/>
          <p:nvPr/>
        </p:nvSpPr>
        <p:spPr>
          <a:xfrm rot="10800000">
            <a:off x="646161" y="1878425"/>
            <a:ext cx="2653800" cy="1041000"/>
          </a:xfrm>
          <a:prstGeom prst="round2SameRect">
            <a:avLst>
              <a:gd fmla="val 14331"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51" name="Google Shape;551;p56"/>
          <p:cNvSpPr/>
          <p:nvPr/>
        </p:nvSpPr>
        <p:spPr>
          <a:xfrm rot="10800000">
            <a:off x="646143" y="1483875"/>
            <a:ext cx="26538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52" name="Google Shape;552;p56"/>
          <p:cNvSpPr/>
          <p:nvPr/>
        </p:nvSpPr>
        <p:spPr>
          <a:xfrm>
            <a:off x="84883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53" name="Google Shape;553;p56"/>
          <p:cNvSpPr/>
          <p:nvPr/>
        </p:nvSpPr>
        <p:spPr>
          <a:xfrm>
            <a:off x="123203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54" name="Google Shape;554;p56"/>
          <p:cNvSpPr/>
          <p:nvPr/>
        </p:nvSpPr>
        <p:spPr>
          <a:xfrm>
            <a:off x="161524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55" name="Google Shape;555;p56"/>
          <p:cNvSpPr txBox="1"/>
          <p:nvPr/>
        </p:nvSpPr>
        <p:spPr>
          <a:xfrm>
            <a:off x="646150" y="1914801"/>
            <a:ext cx="26538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50A14F"/>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50A14F"/>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50A14F"/>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50A14F"/>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50A14F"/>
                </a:solidFill>
                <a:latin typeface="Ubuntu Mono"/>
                <a:ea typeface="Ubuntu Mono"/>
                <a:cs typeface="Ubuntu Mono"/>
                <a:sym typeface="Ubuntu Mono"/>
              </a:rPr>
              <a:t> "Hola!"</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50A14F"/>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
        <p:nvSpPr>
          <p:cNvPr id="556" name="Google Shape;556;p56"/>
          <p:cNvSpPr/>
          <p:nvPr/>
        </p:nvSpPr>
        <p:spPr>
          <a:xfrm>
            <a:off x="995376" y="2055450"/>
            <a:ext cx="1955400" cy="687000"/>
          </a:xfrm>
          <a:prstGeom prst="roundRect">
            <a:avLst>
              <a:gd fmla="val 16667" name="adj"/>
            </a:avLst>
          </a:prstGeom>
          <a:solidFill>
            <a:srgbClr val="F4CCCC"/>
          </a:solidFill>
          <a:ln cap="flat" cmpd="sng" w="9525">
            <a:solidFill>
              <a:srgbClr val="FF60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s" sz="3500">
                <a:solidFill>
                  <a:srgbClr val="FF605C"/>
                </a:solidFill>
              </a:rPr>
              <a:t>NR,ND</a:t>
            </a:r>
            <a:endParaRPr sz="3100">
              <a:solidFill>
                <a:srgbClr val="FF605C"/>
              </a:solidFill>
            </a:endParaRPr>
          </a:p>
        </p:txBody>
      </p:sp>
      <p:sp>
        <p:nvSpPr>
          <p:cNvPr id="557" name="Google Shape;557;p56"/>
          <p:cNvSpPr txBox="1"/>
          <p:nvPr>
            <p:ph idx="1" type="body"/>
          </p:nvPr>
        </p:nvSpPr>
        <p:spPr>
          <a:xfrm>
            <a:off x="8995675" y="328600"/>
            <a:ext cx="1693200" cy="376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solidFill>
                  <a:srgbClr val="FF605C"/>
                </a:solidFill>
              </a:rPr>
              <a:t>(NR,ND)</a:t>
            </a:r>
            <a:endParaRPr>
              <a:solidFill>
                <a:srgbClr val="FF605C"/>
              </a:solidFill>
            </a:endParaRPr>
          </a:p>
          <a:p>
            <a:pPr indent="-342900" lvl="0" marL="457200" rtl="0" algn="l">
              <a:spcBef>
                <a:spcPts val="0"/>
              </a:spcBef>
              <a:spcAft>
                <a:spcPts val="0"/>
              </a:spcAft>
              <a:buSzPts val="1800"/>
              <a:buChar char="●"/>
            </a:pPr>
            <a:r>
              <a:rPr lang="es">
                <a:solidFill>
                  <a:srgbClr val="FFBD44"/>
                </a:solidFill>
              </a:rPr>
              <a:t>(R,ND)</a:t>
            </a:r>
            <a:endParaRPr>
              <a:solidFill>
                <a:srgbClr val="FFBD44"/>
              </a:solidFill>
            </a:endParaRPr>
          </a:p>
          <a:p>
            <a:pPr indent="-342900" lvl="0" marL="457200" rtl="0" algn="l">
              <a:spcBef>
                <a:spcPts val="0"/>
              </a:spcBef>
              <a:spcAft>
                <a:spcPts val="0"/>
              </a:spcAft>
              <a:buSzPts val="1800"/>
              <a:buChar char="●"/>
            </a:pPr>
            <a:r>
              <a:rPr lang="es">
                <a:solidFill>
                  <a:srgbClr val="00CA4E"/>
                </a:solidFill>
              </a:rPr>
              <a:t>(R,D)</a:t>
            </a:r>
            <a:endParaRPr>
              <a:solidFill>
                <a:srgbClr val="00CA4E"/>
              </a:solidFill>
            </a:endParaRPr>
          </a:p>
          <a:p>
            <a:pPr indent="-342900" lvl="0" marL="457200" rtl="0" algn="l">
              <a:spcBef>
                <a:spcPts val="0"/>
              </a:spcBef>
              <a:spcAft>
                <a:spcPts val="0"/>
              </a:spcAft>
              <a:buSzPts val="1800"/>
              <a:buChar char="●"/>
            </a:pPr>
            <a:r>
              <a:rPr lang="es">
                <a:solidFill>
                  <a:srgbClr val="FAFF2D"/>
                </a:solidFill>
              </a:rPr>
              <a:t>(NR,D)</a:t>
            </a:r>
            <a:br>
              <a:rPr lang="es"/>
            </a:br>
            <a:endParaRPr/>
          </a:p>
        </p:txBody>
      </p:sp>
      <p:sp>
        <p:nvSpPr>
          <p:cNvPr id="558" name="Google Shape;558;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Estructuras posibles…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7"/>
          <p:cNvSpPr/>
          <p:nvPr/>
        </p:nvSpPr>
        <p:spPr>
          <a:xfrm rot="10800000">
            <a:off x="3851586" y="1878425"/>
            <a:ext cx="4363200" cy="1041000"/>
          </a:xfrm>
          <a:prstGeom prst="round2SameRect">
            <a:avLst>
              <a:gd fmla="val 14767"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64" name="Google Shape;564;p57"/>
          <p:cNvSpPr/>
          <p:nvPr/>
        </p:nvSpPr>
        <p:spPr>
          <a:xfrm rot="10800000">
            <a:off x="3851556" y="1483875"/>
            <a:ext cx="43632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65" name="Google Shape;565;p57"/>
          <p:cNvSpPr/>
          <p:nvPr/>
        </p:nvSpPr>
        <p:spPr>
          <a:xfrm>
            <a:off x="405398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66" name="Google Shape;566;p57"/>
          <p:cNvSpPr/>
          <p:nvPr/>
        </p:nvSpPr>
        <p:spPr>
          <a:xfrm>
            <a:off x="443718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67" name="Google Shape;567;p57"/>
          <p:cNvSpPr/>
          <p:nvPr/>
        </p:nvSpPr>
        <p:spPr>
          <a:xfrm>
            <a:off x="482039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68" name="Google Shape;568;p57"/>
          <p:cNvSpPr txBox="1"/>
          <p:nvPr/>
        </p:nvSpPr>
        <p:spPr>
          <a:xfrm>
            <a:off x="3852095" y="1892501"/>
            <a:ext cx="4363200" cy="8286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383A42"/>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383A42"/>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r>
              <a:rPr lang="es" sz="1600">
                <a:solidFill>
                  <a:srgbClr val="27292F"/>
                </a:solidFill>
                <a:latin typeface="Ubuntu Mono"/>
                <a:ea typeface="Ubuntu Mono"/>
                <a:cs typeface="Ubuntu Mono"/>
                <a:sym typeface="Ubuntu Mono"/>
              </a:rPr>
              <a:t>char</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nombre</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50A14F"/>
                </a:solidFill>
                <a:latin typeface="Ubuntu Mono"/>
                <a:ea typeface="Ubuntu Mono"/>
                <a:cs typeface="Ubuntu Mono"/>
                <a:sym typeface="Ubuntu Mono"/>
              </a:rPr>
              <a:t>"Hola "</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nombre</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50A14F"/>
                </a:solidFill>
                <a:latin typeface="Ubuntu Mono"/>
                <a:ea typeface="Ubuntu Mono"/>
                <a:cs typeface="Ubuntu Mono"/>
                <a:sym typeface="Ubuntu Mono"/>
              </a:rPr>
              <a:t>"!"</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383A42"/>
                </a:solidFill>
                <a:latin typeface="Ubuntu Mono"/>
                <a:ea typeface="Ubuntu Mono"/>
                <a:cs typeface="Ubuntu Mono"/>
                <a:sym typeface="Ubuntu Mono"/>
              </a:rPr>
              <a:t> }</a:t>
            </a:r>
            <a:endParaRPr sz="1600">
              <a:solidFill>
                <a:srgbClr val="383A42"/>
              </a:solidFill>
              <a:latin typeface="Ubuntu Mono"/>
              <a:ea typeface="Ubuntu Mono"/>
              <a:cs typeface="Ubuntu Mono"/>
              <a:sym typeface="Ubuntu Mono"/>
            </a:endParaRPr>
          </a:p>
        </p:txBody>
      </p:sp>
      <p:sp>
        <p:nvSpPr>
          <p:cNvPr id="569" name="Google Shape;569;p57"/>
          <p:cNvSpPr txBox="1"/>
          <p:nvPr>
            <p:ph idx="1" type="body"/>
          </p:nvPr>
        </p:nvSpPr>
        <p:spPr>
          <a:xfrm>
            <a:off x="8995675" y="328600"/>
            <a:ext cx="1693200" cy="376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solidFill>
                  <a:srgbClr val="FF605C"/>
                </a:solidFill>
              </a:rPr>
              <a:t>(NR,ND)</a:t>
            </a:r>
            <a:endParaRPr>
              <a:solidFill>
                <a:srgbClr val="FF605C"/>
              </a:solidFill>
            </a:endParaRPr>
          </a:p>
          <a:p>
            <a:pPr indent="-342900" lvl="0" marL="457200" rtl="0" algn="l">
              <a:spcBef>
                <a:spcPts val="0"/>
              </a:spcBef>
              <a:spcAft>
                <a:spcPts val="0"/>
              </a:spcAft>
              <a:buSzPts val="1800"/>
              <a:buChar char="●"/>
            </a:pPr>
            <a:r>
              <a:rPr lang="es">
                <a:solidFill>
                  <a:srgbClr val="FFBD44"/>
                </a:solidFill>
              </a:rPr>
              <a:t>(R,ND)</a:t>
            </a:r>
            <a:endParaRPr>
              <a:solidFill>
                <a:srgbClr val="FFBD44"/>
              </a:solidFill>
            </a:endParaRPr>
          </a:p>
          <a:p>
            <a:pPr indent="-342900" lvl="0" marL="457200" rtl="0" algn="l">
              <a:spcBef>
                <a:spcPts val="0"/>
              </a:spcBef>
              <a:spcAft>
                <a:spcPts val="0"/>
              </a:spcAft>
              <a:buSzPts val="1800"/>
              <a:buChar char="●"/>
            </a:pPr>
            <a:r>
              <a:rPr lang="es">
                <a:solidFill>
                  <a:srgbClr val="00CA4E"/>
                </a:solidFill>
              </a:rPr>
              <a:t>(R,D)</a:t>
            </a:r>
            <a:endParaRPr>
              <a:solidFill>
                <a:srgbClr val="00CA4E"/>
              </a:solidFill>
            </a:endParaRPr>
          </a:p>
          <a:p>
            <a:pPr indent="-342900" lvl="0" marL="457200" rtl="0" algn="l">
              <a:spcBef>
                <a:spcPts val="0"/>
              </a:spcBef>
              <a:spcAft>
                <a:spcPts val="0"/>
              </a:spcAft>
              <a:buSzPts val="1800"/>
              <a:buChar char="●"/>
            </a:pPr>
            <a:r>
              <a:rPr lang="es">
                <a:solidFill>
                  <a:srgbClr val="FAFF2D"/>
                </a:solidFill>
              </a:rPr>
              <a:t>(NR,D)</a:t>
            </a:r>
            <a:br>
              <a:rPr lang="es"/>
            </a:br>
            <a:endParaRPr/>
          </a:p>
        </p:txBody>
      </p:sp>
      <p:sp>
        <p:nvSpPr>
          <p:cNvPr id="570" name="Google Shape;570;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Estructuras posibles…</a:t>
            </a:r>
            <a:endParaRPr/>
          </a:p>
        </p:txBody>
      </p:sp>
      <p:sp>
        <p:nvSpPr>
          <p:cNvPr id="571" name="Google Shape;571;p57"/>
          <p:cNvSpPr/>
          <p:nvPr/>
        </p:nvSpPr>
        <p:spPr>
          <a:xfrm rot="10800000">
            <a:off x="646161" y="1878425"/>
            <a:ext cx="2653800" cy="1041000"/>
          </a:xfrm>
          <a:prstGeom prst="round2SameRect">
            <a:avLst>
              <a:gd fmla="val 14331"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72" name="Google Shape;572;p57"/>
          <p:cNvSpPr/>
          <p:nvPr/>
        </p:nvSpPr>
        <p:spPr>
          <a:xfrm rot="10800000">
            <a:off x="646143" y="1483875"/>
            <a:ext cx="26538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73" name="Google Shape;573;p57"/>
          <p:cNvSpPr/>
          <p:nvPr/>
        </p:nvSpPr>
        <p:spPr>
          <a:xfrm>
            <a:off x="84883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74" name="Google Shape;574;p57"/>
          <p:cNvSpPr/>
          <p:nvPr/>
        </p:nvSpPr>
        <p:spPr>
          <a:xfrm>
            <a:off x="123203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75" name="Google Shape;575;p57"/>
          <p:cNvSpPr/>
          <p:nvPr/>
        </p:nvSpPr>
        <p:spPr>
          <a:xfrm>
            <a:off x="161524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76" name="Google Shape;576;p57"/>
          <p:cNvSpPr txBox="1"/>
          <p:nvPr/>
        </p:nvSpPr>
        <p:spPr>
          <a:xfrm>
            <a:off x="646150" y="1914801"/>
            <a:ext cx="26538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50A14F"/>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50A14F"/>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50A14F"/>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50A14F"/>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50A14F"/>
                </a:solidFill>
                <a:latin typeface="Ubuntu Mono"/>
                <a:ea typeface="Ubuntu Mono"/>
                <a:cs typeface="Ubuntu Mono"/>
                <a:sym typeface="Ubuntu Mono"/>
              </a:rPr>
              <a:t> "Hola!"</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50A14F"/>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58"/>
          <p:cNvSpPr/>
          <p:nvPr/>
        </p:nvSpPr>
        <p:spPr>
          <a:xfrm rot="10800000">
            <a:off x="3851586" y="1878425"/>
            <a:ext cx="4363200" cy="1041000"/>
          </a:xfrm>
          <a:prstGeom prst="round2SameRect">
            <a:avLst>
              <a:gd fmla="val 14767"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82" name="Google Shape;582;p58"/>
          <p:cNvSpPr/>
          <p:nvPr/>
        </p:nvSpPr>
        <p:spPr>
          <a:xfrm rot="10800000">
            <a:off x="3851556" y="1483875"/>
            <a:ext cx="43632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83" name="Google Shape;583;p58"/>
          <p:cNvSpPr/>
          <p:nvPr/>
        </p:nvSpPr>
        <p:spPr>
          <a:xfrm>
            <a:off x="405398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84" name="Google Shape;584;p58"/>
          <p:cNvSpPr/>
          <p:nvPr/>
        </p:nvSpPr>
        <p:spPr>
          <a:xfrm>
            <a:off x="443718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85" name="Google Shape;585;p58"/>
          <p:cNvSpPr/>
          <p:nvPr/>
        </p:nvSpPr>
        <p:spPr>
          <a:xfrm>
            <a:off x="482039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86" name="Google Shape;586;p58"/>
          <p:cNvSpPr txBox="1"/>
          <p:nvPr/>
        </p:nvSpPr>
        <p:spPr>
          <a:xfrm>
            <a:off x="3852095" y="1892501"/>
            <a:ext cx="4363200" cy="8286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383A42"/>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383A42"/>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r>
              <a:rPr lang="es" sz="1600">
                <a:solidFill>
                  <a:srgbClr val="27292F"/>
                </a:solidFill>
                <a:latin typeface="Ubuntu Mono"/>
                <a:ea typeface="Ubuntu Mono"/>
                <a:cs typeface="Ubuntu Mono"/>
                <a:sym typeface="Ubuntu Mono"/>
              </a:rPr>
              <a:t>char</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nombre</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50A14F"/>
                </a:solidFill>
                <a:latin typeface="Ubuntu Mono"/>
                <a:ea typeface="Ubuntu Mono"/>
                <a:cs typeface="Ubuntu Mono"/>
                <a:sym typeface="Ubuntu Mono"/>
              </a:rPr>
              <a:t>"Hola "</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nombre</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50A14F"/>
                </a:solidFill>
                <a:latin typeface="Ubuntu Mono"/>
                <a:ea typeface="Ubuntu Mono"/>
                <a:cs typeface="Ubuntu Mono"/>
                <a:sym typeface="Ubuntu Mono"/>
              </a:rPr>
              <a:t>"!"</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383A42"/>
                </a:solidFill>
                <a:latin typeface="Ubuntu Mono"/>
                <a:ea typeface="Ubuntu Mono"/>
                <a:cs typeface="Ubuntu Mono"/>
                <a:sym typeface="Ubuntu Mono"/>
              </a:rPr>
              <a:t> }</a:t>
            </a:r>
            <a:endParaRPr sz="1600">
              <a:solidFill>
                <a:srgbClr val="383A42"/>
              </a:solidFill>
              <a:latin typeface="Ubuntu Mono"/>
              <a:ea typeface="Ubuntu Mono"/>
              <a:cs typeface="Ubuntu Mono"/>
              <a:sym typeface="Ubuntu Mono"/>
            </a:endParaRPr>
          </a:p>
        </p:txBody>
      </p:sp>
      <p:sp>
        <p:nvSpPr>
          <p:cNvPr id="587" name="Google Shape;587;p58"/>
          <p:cNvSpPr txBox="1"/>
          <p:nvPr>
            <p:ph idx="1" type="body"/>
          </p:nvPr>
        </p:nvSpPr>
        <p:spPr>
          <a:xfrm>
            <a:off x="8995675" y="328600"/>
            <a:ext cx="1693200" cy="376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solidFill>
                  <a:srgbClr val="FF605C"/>
                </a:solidFill>
              </a:rPr>
              <a:t>(NR,ND)</a:t>
            </a:r>
            <a:endParaRPr>
              <a:solidFill>
                <a:srgbClr val="FF605C"/>
              </a:solidFill>
            </a:endParaRPr>
          </a:p>
          <a:p>
            <a:pPr indent="-342900" lvl="0" marL="457200" rtl="0" algn="l">
              <a:spcBef>
                <a:spcPts val="0"/>
              </a:spcBef>
              <a:spcAft>
                <a:spcPts val="0"/>
              </a:spcAft>
              <a:buSzPts val="1800"/>
              <a:buChar char="●"/>
            </a:pPr>
            <a:r>
              <a:rPr lang="es">
                <a:solidFill>
                  <a:srgbClr val="FFBD44"/>
                </a:solidFill>
              </a:rPr>
              <a:t>(R,ND)</a:t>
            </a:r>
            <a:endParaRPr>
              <a:solidFill>
                <a:srgbClr val="FFBD44"/>
              </a:solidFill>
            </a:endParaRPr>
          </a:p>
          <a:p>
            <a:pPr indent="-342900" lvl="0" marL="457200" rtl="0" algn="l">
              <a:spcBef>
                <a:spcPts val="0"/>
              </a:spcBef>
              <a:spcAft>
                <a:spcPts val="0"/>
              </a:spcAft>
              <a:buSzPts val="1800"/>
              <a:buChar char="●"/>
            </a:pPr>
            <a:r>
              <a:rPr lang="es">
                <a:solidFill>
                  <a:srgbClr val="00CA4E"/>
                </a:solidFill>
              </a:rPr>
              <a:t>(R,D)</a:t>
            </a:r>
            <a:endParaRPr>
              <a:solidFill>
                <a:srgbClr val="00CA4E"/>
              </a:solidFill>
            </a:endParaRPr>
          </a:p>
          <a:p>
            <a:pPr indent="-342900" lvl="0" marL="457200" rtl="0" algn="l">
              <a:spcBef>
                <a:spcPts val="0"/>
              </a:spcBef>
              <a:spcAft>
                <a:spcPts val="0"/>
              </a:spcAft>
              <a:buSzPts val="1800"/>
              <a:buChar char="●"/>
            </a:pPr>
            <a:r>
              <a:rPr lang="es">
                <a:solidFill>
                  <a:srgbClr val="FAFF2D"/>
                </a:solidFill>
              </a:rPr>
              <a:t>(NR,D)</a:t>
            </a:r>
            <a:br>
              <a:rPr lang="es"/>
            </a:br>
            <a:endParaRPr/>
          </a:p>
        </p:txBody>
      </p:sp>
      <p:sp>
        <p:nvSpPr>
          <p:cNvPr id="588" name="Google Shape;588;p58"/>
          <p:cNvSpPr/>
          <p:nvPr/>
        </p:nvSpPr>
        <p:spPr>
          <a:xfrm>
            <a:off x="5056000" y="2055441"/>
            <a:ext cx="1955400" cy="687000"/>
          </a:xfrm>
          <a:prstGeom prst="roundRect">
            <a:avLst>
              <a:gd fmla="val 16667" name="adj"/>
            </a:avLst>
          </a:prstGeom>
          <a:solidFill>
            <a:srgbClr val="FCE5CD"/>
          </a:solidFill>
          <a:ln cap="flat" cmpd="sng" w="9525">
            <a:solidFill>
              <a:srgbClr val="FFBD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s" sz="3500">
                <a:solidFill>
                  <a:srgbClr val="FFBD44"/>
                </a:solidFill>
              </a:rPr>
              <a:t>R,ND</a:t>
            </a:r>
            <a:endParaRPr sz="3500">
              <a:solidFill>
                <a:srgbClr val="FFBD44"/>
              </a:solidFill>
            </a:endParaRPr>
          </a:p>
        </p:txBody>
      </p:sp>
      <p:sp>
        <p:nvSpPr>
          <p:cNvPr id="589" name="Google Shape;589;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Estructuras posibles…</a:t>
            </a:r>
            <a:endParaRPr/>
          </a:p>
        </p:txBody>
      </p:sp>
      <p:sp>
        <p:nvSpPr>
          <p:cNvPr id="590" name="Google Shape;590;p58"/>
          <p:cNvSpPr/>
          <p:nvPr/>
        </p:nvSpPr>
        <p:spPr>
          <a:xfrm rot="10800000">
            <a:off x="646161" y="1878425"/>
            <a:ext cx="2653800" cy="1041000"/>
          </a:xfrm>
          <a:prstGeom prst="round2SameRect">
            <a:avLst>
              <a:gd fmla="val 14331"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91" name="Google Shape;591;p58"/>
          <p:cNvSpPr/>
          <p:nvPr/>
        </p:nvSpPr>
        <p:spPr>
          <a:xfrm rot="10800000">
            <a:off x="646143" y="1483875"/>
            <a:ext cx="26538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92" name="Google Shape;592;p58"/>
          <p:cNvSpPr/>
          <p:nvPr/>
        </p:nvSpPr>
        <p:spPr>
          <a:xfrm>
            <a:off x="84883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93" name="Google Shape;593;p58"/>
          <p:cNvSpPr/>
          <p:nvPr/>
        </p:nvSpPr>
        <p:spPr>
          <a:xfrm>
            <a:off x="123203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94" name="Google Shape;594;p58"/>
          <p:cNvSpPr/>
          <p:nvPr/>
        </p:nvSpPr>
        <p:spPr>
          <a:xfrm>
            <a:off x="161524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595" name="Google Shape;595;p58"/>
          <p:cNvSpPr txBox="1"/>
          <p:nvPr/>
        </p:nvSpPr>
        <p:spPr>
          <a:xfrm>
            <a:off x="646150" y="1914801"/>
            <a:ext cx="26538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50A14F"/>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50A14F"/>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50A14F"/>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50A14F"/>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50A14F"/>
                </a:solidFill>
                <a:latin typeface="Ubuntu Mono"/>
                <a:ea typeface="Ubuntu Mono"/>
                <a:cs typeface="Ubuntu Mono"/>
                <a:sym typeface="Ubuntu Mono"/>
              </a:rPr>
              <a:t> "Hola!"</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50A14F"/>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59"/>
          <p:cNvSpPr/>
          <p:nvPr/>
        </p:nvSpPr>
        <p:spPr>
          <a:xfrm rot="10800000">
            <a:off x="646839" y="3602450"/>
            <a:ext cx="4224600" cy="1041000"/>
          </a:xfrm>
          <a:prstGeom prst="round2SameRect">
            <a:avLst>
              <a:gd fmla="val 12436"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01" name="Google Shape;601;p59"/>
          <p:cNvSpPr/>
          <p:nvPr/>
        </p:nvSpPr>
        <p:spPr>
          <a:xfrm rot="10800000">
            <a:off x="646809" y="3207900"/>
            <a:ext cx="42246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02" name="Google Shape;602;p59"/>
          <p:cNvSpPr/>
          <p:nvPr/>
        </p:nvSpPr>
        <p:spPr>
          <a:xfrm>
            <a:off x="849286" y="33067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03" name="Google Shape;603;p59"/>
          <p:cNvSpPr/>
          <p:nvPr/>
        </p:nvSpPr>
        <p:spPr>
          <a:xfrm>
            <a:off x="1232489" y="33067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04" name="Google Shape;604;p59"/>
          <p:cNvSpPr/>
          <p:nvPr/>
        </p:nvSpPr>
        <p:spPr>
          <a:xfrm>
            <a:off x="1615691" y="33067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05" name="Google Shape;605;p59"/>
          <p:cNvSpPr txBox="1"/>
          <p:nvPr/>
        </p:nvSpPr>
        <p:spPr>
          <a:xfrm>
            <a:off x="647400" y="3616526"/>
            <a:ext cx="42246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A626A4"/>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A626A4"/>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int</a:t>
            </a:r>
            <a:r>
              <a:rPr lang="es" sz="1600">
                <a:solidFill>
                  <a:srgbClr val="A626A4"/>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sumar_enteros</a:t>
            </a:r>
            <a:r>
              <a:rPr lang="es" sz="1600">
                <a:solidFill>
                  <a:srgbClr val="383A42"/>
                </a:solidFill>
                <a:latin typeface="Ubuntu Mono"/>
                <a:ea typeface="Ubuntu Mono"/>
                <a:cs typeface="Ubuntu Mono"/>
                <a:sym typeface="Ubuntu Mono"/>
              </a:rPr>
              <a:t>(</a:t>
            </a:r>
            <a:r>
              <a:rPr lang="es" sz="1600">
                <a:solidFill>
                  <a:srgbClr val="27292F"/>
                </a:solidFill>
                <a:latin typeface="Ubuntu Mono"/>
                <a:ea typeface="Ubuntu Mono"/>
                <a:cs typeface="Ubuntu Mono"/>
                <a:sym typeface="Ubuntu Mono"/>
              </a:rPr>
              <a:t>int</a:t>
            </a:r>
            <a:r>
              <a:rPr lang="es" sz="1600">
                <a:solidFill>
                  <a:srgbClr val="A626A4"/>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a</a:t>
            </a:r>
            <a:r>
              <a:rPr lang="es" sz="1600">
                <a:solidFill>
                  <a:srgbClr val="383A42"/>
                </a:solidFill>
                <a:latin typeface="Ubuntu Mono"/>
                <a:ea typeface="Ubuntu Mono"/>
                <a:cs typeface="Ubuntu Mono"/>
                <a:sym typeface="Ubuntu Mono"/>
              </a:rPr>
              <a:t>,</a:t>
            </a:r>
            <a:r>
              <a:rPr lang="es" sz="1600">
                <a:solidFill>
                  <a:srgbClr val="A626A4"/>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int</a:t>
            </a:r>
            <a:r>
              <a:rPr lang="es" sz="1600">
                <a:solidFill>
                  <a:srgbClr val="A626A4"/>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b</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A626A4"/>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A626A4"/>
                </a:solidFill>
                <a:latin typeface="Ubuntu Mono"/>
                <a:ea typeface="Ubuntu Mono"/>
                <a:cs typeface="Ubuntu Mono"/>
                <a:sym typeface="Ubuntu Mono"/>
              </a:rPr>
              <a:t> 	return </a:t>
            </a:r>
            <a:r>
              <a:rPr lang="es" sz="1600">
                <a:solidFill>
                  <a:srgbClr val="E06C75"/>
                </a:solidFill>
                <a:latin typeface="Ubuntu Mono"/>
                <a:ea typeface="Ubuntu Mono"/>
                <a:cs typeface="Ubuntu Mono"/>
                <a:sym typeface="Ubuntu Mono"/>
              </a:rPr>
              <a:t>a</a:t>
            </a:r>
            <a:r>
              <a:rPr lang="es" sz="1600">
                <a:solidFill>
                  <a:srgbClr val="0184BC"/>
                </a:solidFill>
                <a:latin typeface="Ubuntu Mono"/>
                <a:ea typeface="Ubuntu Mono"/>
                <a:cs typeface="Ubuntu Mono"/>
                <a:sym typeface="Ubuntu Mono"/>
              </a:rPr>
              <a:t>+</a:t>
            </a:r>
            <a:r>
              <a:rPr lang="es" sz="1600">
                <a:solidFill>
                  <a:srgbClr val="E06C75"/>
                </a:solidFill>
                <a:latin typeface="Ubuntu Mono"/>
                <a:ea typeface="Ubuntu Mono"/>
                <a:cs typeface="Ubuntu Mono"/>
                <a:sym typeface="Ubuntu Mono"/>
              </a:rPr>
              <a:t>b</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A626A4"/>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A626A4"/>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
        <p:nvSpPr>
          <p:cNvPr id="606" name="Google Shape;606;p59"/>
          <p:cNvSpPr txBox="1"/>
          <p:nvPr>
            <p:ph idx="1" type="body"/>
          </p:nvPr>
        </p:nvSpPr>
        <p:spPr>
          <a:xfrm>
            <a:off x="8995675" y="328600"/>
            <a:ext cx="1693200" cy="376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solidFill>
                  <a:srgbClr val="FF605C"/>
                </a:solidFill>
              </a:rPr>
              <a:t>(NR,ND)</a:t>
            </a:r>
            <a:endParaRPr>
              <a:solidFill>
                <a:srgbClr val="FF605C"/>
              </a:solidFill>
            </a:endParaRPr>
          </a:p>
          <a:p>
            <a:pPr indent="-342900" lvl="0" marL="457200" rtl="0" algn="l">
              <a:spcBef>
                <a:spcPts val="0"/>
              </a:spcBef>
              <a:spcAft>
                <a:spcPts val="0"/>
              </a:spcAft>
              <a:buSzPts val="1800"/>
              <a:buChar char="●"/>
            </a:pPr>
            <a:r>
              <a:rPr lang="es">
                <a:solidFill>
                  <a:srgbClr val="FFBD44"/>
                </a:solidFill>
              </a:rPr>
              <a:t>(R,ND)</a:t>
            </a:r>
            <a:endParaRPr>
              <a:solidFill>
                <a:srgbClr val="FFBD44"/>
              </a:solidFill>
            </a:endParaRPr>
          </a:p>
          <a:p>
            <a:pPr indent="-342900" lvl="0" marL="457200" rtl="0" algn="l">
              <a:spcBef>
                <a:spcPts val="0"/>
              </a:spcBef>
              <a:spcAft>
                <a:spcPts val="0"/>
              </a:spcAft>
              <a:buSzPts val="1800"/>
              <a:buChar char="●"/>
            </a:pPr>
            <a:r>
              <a:rPr lang="es">
                <a:solidFill>
                  <a:srgbClr val="00CA4E"/>
                </a:solidFill>
              </a:rPr>
              <a:t>(R,D)</a:t>
            </a:r>
            <a:endParaRPr>
              <a:solidFill>
                <a:srgbClr val="00CA4E"/>
              </a:solidFill>
            </a:endParaRPr>
          </a:p>
          <a:p>
            <a:pPr indent="-342900" lvl="0" marL="457200" rtl="0" algn="l">
              <a:spcBef>
                <a:spcPts val="0"/>
              </a:spcBef>
              <a:spcAft>
                <a:spcPts val="0"/>
              </a:spcAft>
              <a:buSzPts val="1800"/>
              <a:buChar char="●"/>
            </a:pPr>
            <a:r>
              <a:rPr lang="es">
                <a:solidFill>
                  <a:srgbClr val="FAFF2D"/>
                </a:solidFill>
              </a:rPr>
              <a:t>(NR,D)</a:t>
            </a:r>
            <a:br>
              <a:rPr lang="es"/>
            </a:br>
            <a:endParaRPr/>
          </a:p>
        </p:txBody>
      </p:sp>
      <p:sp>
        <p:nvSpPr>
          <p:cNvPr id="607" name="Google Shape;60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Estructuras posibles…</a:t>
            </a:r>
            <a:endParaRPr/>
          </a:p>
        </p:txBody>
      </p:sp>
      <p:sp>
        <p:nvSpPr>
          <p:cNvPr id="608" name="Google Shape;608;p59"/>
          <p:cNvSpPr/>
          <p:nvPr/>
        </p:nvSpPr>
        <p:spPr>
          <a:xfrm rot="10800000">
            <a:off x="646161" y="1878425"/>
            <a:ext cx="2653800" cy="1041000"/>
          </a:xfrm>
          <a:prstGeom prst="round2SameRect">
            <a:avLst>
              <a:gd fmla="val 14331"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09" name="Google Shape;609;p59"/>
          <p:cNvSpPr/>
          <p:nvPr/>
        </p:nvSpPr>
        <p:spPr>
          <a:xfrm rot="10800000">
            <a:off x="646143" y="1483875"/>
            <a:ext cx="26538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10" name="Google Shape;610;p59"/>
          <p:cNvSpPr/>
          <p:nvPr/>
        </p:nvSpPr>
        <p:spPr>
          <a:xfrm>
            <a:off x="84883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11" name="Google Shape;611;p59"/>
          <p:cNvSpPr/>
          <p:nvPr/>
        </p:nvSpPr>
        <p:spPr>
          <a:xfrm>
            <a:off x="123203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12" name="Google Shape;612;p59"/>
          <p:cNvSpPr/>
          <p:nvPr/>
        </p:nvSpPr>
        <p:spPr>
          <a:xfrm>
            <a:off x="161524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13" name="Google Shape;613;p59"/>
          <p:cNvSpPr txBox="1"/>
          <p:nvPr/>
        </p:nvSpPr>
        <p:spPr>
          <a:xfrm>
            <a:off x="646150" y="1914801"/>
            <a:ext cx="26538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50A14F"/>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50A14F"/>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50A14F"/>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50A14F"/>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50A14F"/>
                </a:solidFill>
                <a:latin typeface="Ubuntu Mono"/>
                <a:ea typeface="Ubuntu Mono"/>
                <a:cs typeface="Ubuntu Mono"/>
                <a:sym typeface="Ubuntu Mono"/>
              </a:rPr>
              <a:t> "Hola!"</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50A14F"/>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
        <p:nvSpPr>
          <p:cNvPr id="614" name="Google Shape;614;p59"/>
          <p:cNvSpPr/>
          <p:nvPr/>
        </p:nvSpPr>
        <p:spPr>
          <a:xfrm rot="10800000">
            <a:off x="3851586" y="1878425"/>
            <a:ext cx="4363200" cy="1041000"/>
          </a:xfrm>
          <a:prstGeom prst="round2SameRect">
            <a:avLst>
              <a:gd fmla="val 14767"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15" name="Google Shape;615;p59"/>
          <p:cNvSpPr/>
          <p:nvPr/>
        </p:nvSpPr>
        <p:spPr>
          <a:xfrm rot="10800000">
            <a:off x="3851556" y="1483875"/>
            <a:ext cx="43632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16" name="Google Shape;616;p59"/>
          <p:cNvSpPr/>
          <p:nvPr/>
        </p:nvSpPr>
        <p:spPr>
          <a:xfrm>
            <a:off x="405398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17" name="Google Shape;617;p59"/>
          <p:cNvSpPr/>
          <p:nvPr/>
        </p:nvSpPr>
        <p:spPr>
          <a:xfrm>
            <a:off x="443718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18" name="Google Shape;618;p59"/>
          <p:cNvSpPr/>
          <p:nvPr/>
        </p:nvSpPr>
        <p:spPr>
          <a:xfrm>
            <a:off x="482039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19" name="Google Shape;619;p59"/>
          <p:cNvSpPr txBox="1"/>
          <p:nvPr/>
        </p:nvSpPr>
        <p:spPr>
          <a:xfrm>
            <a:off x="3852095" y="1892501"/>
            <a:ext cx="4363200" cy="8286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383A42"/>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383A42"/>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r>
              <a:rPr lang="es" sz="1600">
                <a:solidFill>
                  <a:srgbClr val="27292F"/>
                </a:solidFill>
                <a:latin typeface="Ubuntu Mono"/>
                <a:ea typeface="Ubuntu Mono"/>
                <a:cs typeface="Ubuntu Mono"/>
                <a:sym typeface="Ubuntu Mono"/>
              </a:rPr>
              <a:t>char</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nombre</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50A14F"/>
                </a:solidFill>
                <a:latin typeface="Ubuntu Mono"/>
                <a:ea typeface="Ubuntu Mono"/>
                <a:cs typeface="Ubuntu Mono"/>
                <a:sym typeface="Ubuntu Mono"/>
              </a:rPr>
              <a:t>"Hola "</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nombre</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50A14F"/>
                </a:solidFill>
                <a:latin typeface="Ubuntu Mono"/>
                <a:ea typeface="Ubuntu Mono"/>
                <a:cs typeface="Ubuntu Mono"/>
                <a:sym typeface="Ubuntu Mono"/>
              </a:rPr>
              <a:t>"!"</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383A42"/>
                </a:solidFill>
                <a:latin typeface="Ubuntu Mono"/>
                <a:ea typeface="Ubuntu Mono"/>
                <a:cs typeface="Ubuntu Mono"/>
                <a:sym typeface="Ubuntu Mono"/>
              </a:rPr>
              <a:t> }</a:t>
            </a:r>
            <a:endParaRPr sz="1600">
              <a:solidFill>
                <a:srgbClr val="383A42"/>
              </a:solidFill>
              <a:latin typeface="Ubuntu Mono"/>
              <a:ea typeface="Ubuntu Mono"/>
              <a:cs typeface="Ubuntu Mono"/>
              <a:sym typeface="Ubuntu Mon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60"/>
          <p:cNvSpPr/>
          <p:nvPr/>
        </p:nvSpPr>
        <p:spPr>
          <a:xfrm rot="10800000">
            <a:off x="646839" y="3602450"/>
            <a:ext cx="4224600" cy="1041000"/>
          </a:xfrm>
          <a:prstGeom prst="round2SameRect">
            <a:avLst>
              <a:gd fmla="val 12436"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25" name="Google Shape;625;p60"/>
          <p:cNvSpPr/>
          <p:nvPr/>
        </p:nvSpPr>
        <p:spPr>
          <a:xfrm rot="10800000">
            <a:off x="646809" y="3207900"/>
            <a:ext cx="42246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26" name="Google Shape;626;p60"/>
          <p:cNvSpPr/>
          <p:nvPr/>
        </p:nvSpPr>
        <p:spPr>
          <a:xfrm>
            <a:off x="849286" y="33067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27" name="Google Shape;627;p60"/>
          <p:cNvSpPr/>
          <p:nvPr/>
        </p:nvSpPr>
        <p:spPr>
          <a:xfrm>
            <a:off x="1232489" y="33067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28" name="Google Shape;628;p60"/>
          <p:cNvSpPr/>
          <p:nvPr/>
        </p:nvSpPr>
        <p:spPr>
          <a:xfrm>
            <a:off x="1615691" y="33067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29" name="Google Shape;629;p60"/>
          <p:cNvSpPr txBox="1"/>
          <p:nvPr/>
        </p:nvSpPr>
        <p:spPr>
          <a:xfrm>
            <a:off x="647400" y="3616526"/>
            <a:ext cx="42246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A626A4"/>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A626A4"/>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int</a:t>
            </a:r>
            <a:r>
              <a:rPr lang="es" sz="1600">
                <a:solidFill>
                  <a:srgbClr val="A626A4"/>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sumar_enteros</a:t>
            </a:r>
            <a:r>
              <a:rPr lang="es" sz="1600">
                <a:solidFill>
                  <a:srgbClr val="383A42"/>
                </a:solidFill>
                <a:latin typeface="Ubuntu Mono"/>
                <a:ea typeface="Ubuntu Mono"/>
                <a:cs typeface="Ubuntu Mono"/>
                <a:sym typeface="Ubuntu Mono"/>
              </a:rPr>
              <a:t>(</a:t>
            </a:r>
            <a:r>
              <a:rPr lang="es" sz="1600">
                <a:solidFill>
                  <a:srgbClr val="27292F"/>
                </a:solidFill>
                <a:latin typeface="Ubuntu Mono"/>
                <a:ea typeface="Ubuntu Mono"/>
                <a:cs typeface="Ubuntu Mono"/>
                <a:sym typeface="Ubuntu Mono"/>
              </a:rPr>
              <a:t>int</a:t>
            </a:r>
            <a:r>
              <a:rPr lang="es" sz="1600">
                <a:solidFill>
                  <a:srgbClr val="A626A4"/>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a</a:t>
            </a:r>
            <a:r>
              <a:rPr lang="es" sz="1600">
                <a:solidFill>
                  <a:srgbClr val="383A42"/>
                </a:solidFill>
                <a:latin typeface="Ubuntu Mono"/>
                <a:ea typeface="Ubuntu Mono"/>
                <a:cs typeface="Ubuntu Mono"/>
                <a:sym typeface="Ubuntu Mono"/>
              </a:rPr>
              <a:t>,</a:t>
            </a:r>
            <a:r>
              <a:rPr lang="es" sz="1600">
                <a:solidFill>
                  <a:srgbClr val="A626A4"/>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int</a:t>
            </a:r>
            <a:r>
              <a:rPr lang="es" sz="1600">
                <a:solidFill>
                  <a:srgbClr val="A626A4"/>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b</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A626A4"/>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A626A4"/>
                </a:solidFill>
                <a:latin typeface="Ubuntu Mono"/>
                <a:ea typeface="Ubuntu Mono"/>
                <a:cs typeface="Ubuntu Mono"/>
                <a:sym typeface="Ubuntu Mono"/>
              </a:rPr>
              <a:t> 	return </a:t>
            </a:r>
            <a:r>
              <a:rPr lang="es" sz="1600">
                <a:solidFill>
                  <a:srgbClr val="E06C75"/>
                </a:solidFill>
                <a:latin typeface="Ubuntu Mono"/>
                <a:ea typeface="Ubuntu Mono"/>
                <a:cs typeface="Ubuntu Mono"/>
                <a:sym typeface="Ubuntu Mono"/>
              </a:rPr>
              <a:t>a</a:t>
            </a:r>
            <a:r>
              <a:rPr lang="es" sz="1600">
                <a:solidFill>
                  <a:srgbClr val="0184BC"/>
                </a:solidFill>
                <a:latin typeface="Ubuntu Mono"/>
                <a:ea typeface="Ubuntu Mono"/>
                <a:cs typeface="Ubuntu Mono"/>
                <a:sym typeface="Ubuntu Mono"/>
              </a:rPr>
              <a:t>+</a:t>
            </a:r>
            <a:r>
              <a:rPr lang="es" sz="1600">
                <a:solidFill>
                  <a:srgbClr val="E06C75"/>
                </a:solidFill>
                <a:latin typeface="Ubuntu Mono"/>
                <a:ea typeface="Ubuntu Mono"/>
                <a:cs typeface="Ubuntu Mono"/>
                <a:sym typeface="Ubuntu Mono"/>
              </a:rPr>
              <a:t>b</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A626A4"/>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A626A4"/>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
        <p:nvSpPr>
          <p:cNvPr id="630" name="Google Shape;630;p60"/>
          <p:cNvSpPr txBox="1"/>
          <p:nvPr>
            <p:ph idx="1" type="body"/>
          </p:nvPr>
        </p:nvSpPr>
        <p:spPr>
          <a:xfrm>
            <a:off x="8995675" y="328600"/>
            <a:ext cx="1693200" cy="376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solidFill>
                  <a:srgbClr val="FF605C"/>
                </a:solidFill>
              </a:rPr>
              <a:t>(NR,ND)</a:t>
            </a:r>
            <a:endParaRPr>
              <a:solidFill>
                <a:srgbClr val="FF605C"/>
              </a:solidFill>
            </a:endParaRPr>
          </a:p>
          <a:p>
            <a:pPr indent="-342900" lvl="0" marL="457200" rtl="0" algn="l">
              <a:spcBef>
                <a:spcPts val="0"/>
              </a:spcBef>
              <a:spcAft>
                <a:spcPts val="0"/>
              </a:spcAft>
              <a:buSzPts val="1800"/>
              <a:buChar char="●"/>
            </a:pPr>
            <a:r>
              <a:rPr lang="es">
                <a:solidFill>
                  <a:srgbClr val="FFBD44"/>
                </a:solidFill>
              </a:rPr>
              <a:t>(R,ND)</a:t>
            </a:r>
            <a:endParaRPr>
              <a:solidFill>
                <a:srgbClr val="FFBD44"/>
              </a:solidFill>
            </a:endParaRPr>
          </a:p>
          <a:p>
            <a:pPr indent="-342900" lvl="0" marL="457200" rtl="0" algn="l">
              <a:spcBef>
                <a:spcPts val="0"/>
              </a:spcBef>
              <a:spcAft>
                <a:spcPts val="0"/>
              </a:spcAft>
              <a:buSzPts val="1800"/>
              <a:buChar char="●"/>
            </a:pPr>
            <a:r>
              <a:rPr lang="es">
                <a:solidFill>
                  <a:srgbClr val="00CA4E"/>
                </a:solidFill>
              </a:rPr>
              <a:t>(R,D)</a:t>
            </a:r>
            <a:endParaRPr>
              <a:solidFill>
                <a:srgbClr val="00CA4E"/>
              </a:solidFill>
            </a:endParaRPr>
          </a:p>
          <a:p>
            <a:pPr indent="-342900" lvl="0" marL="457200" rtl="0" algn="l">
              <a:spcBef>
                <a:spcPts val="0"/>
              </a:spcBef>
              <a:spcAft>
                <a:spcPts val="0"/>
              </a:spcAft>
              <a:buSzPts val="1800"/>
              <a:buChar char="●"/>
            </a:pPr>
            <a:r>
              <a:rPr lang="es">
                <a:solidFill>
                  <a:srgbClr val="FAFF2D"/>
                </a:solidFill>
              </a:rPr>
              <a:t>(NR,D)</a:t>
            </a:r>
            <a:br>
              <a:rPr lang="es"/>
            </a:br>
            <a:endParaRPr/>
          </a:p>
        </p:txBody>
      </p:sp>
      <p:sp>
        <p:nvSpPr>
          <p:cNvPr id="631" name="Google Shape;631;p60"/>
          <p:cNvSpPr/>
          <p:nvPr/>
        </p:nvSpPr>
        <p:spPr>
          <a:xfrm>
            <a:off x="1781954" y="3779450"/>
            <a:ext cx="1955400" cy="687000"/>
          </a:xfrm>
          <a:prstGeom prst="roundRect">
            <a:avLst>
              <a:gd fmla="val 16667" name="adj"/>
            </a:avLst>
          </a:prstGeom>
          <a:solidFill>
            <a:srgbClr val="D9EAD3"/>
          </a:solidFill>
          <a:ln cap="flat" cmpd="sng" w="9525">
            <a:solidFill>
              <a:srgbClr val="00CA4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s" sz="3500">
                <a:solidFill>
                  <a:srgbClr val="00CA4E"/>
                </a:solidFill>
              </a:rPr>
              <a:t>R,D</a:t>
            </a:r>
            <a:endParaRPr sz="3500">
              <a:solidFill>
                <a:srgbClr val="00CA4E"/>
              </a:solidFill>
            </a:endParaRPr>
          </a:p>
        </p:txBody>
      </p:sp>
      <p:sp>
        <p:nvSpPr>
          <p:cNvPr id="632" name="Google Shape;632;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Estructuras posibles…</a:t>
            </a:r>
            <a:endParaRPr/>
          </a:p>
        </p:txBody>
      </p:sp>
      <p:sp>
        <p:nvSpPr>
          <p:cNvPr id="633" name="Google Shape;633;p60"/>
          <p:cNvSpPr/>
          <p:nvPr/>
        </p:nvSpPr>
        <p:spPr>
          <a:xfrm rot="10800000">
            <a:off x="646161" y="1878425"/>
            <a:ext cx="2653800" cy="1041000"/>
          </a:xfrm>
          <a:prstGeom prst="round2SameRect">
            <a:avLst>
              <a:gd fmla="val 14331"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34" name="Google Shape;634;p60"/>
          <p:cNvSpPr/>
          <p:nvPr/>
        </p:nvSpPr>
        <p:spPr>
          <a:xfrm rot="10800000">
            <a:off x="646143" y="1483875"/>
            <a:ext cx="26538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35" name="Google Shape;635;p60"/>
          <p:cNvSpPr/>
          <p:nvPr/>
        </p:nvSpPr>
        <p:spPr>
          <a:xfrm>
            <a:off x="84883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36" name="Google Shape;636;p60"/>
          <p:cNvSpPr/>
          <p:nvPr/>
        </p:nvSpPr>
        <p:spPr>
          <a:xfrm>
            <a:off x="123203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37" name="Google Shape;637;p60"/>
          <p:cNvSpPr/>
          <p:nvPr/>
        </p:nvSpPr>
        <p:spPr>
          <a:xfrm>
            <a:off x="161524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38" name="Google Shape;638;p60"/>
          <p:cNvSpPr txBox="1"/>
          <p:nvPr/>
        </p:nvSpPr>
        <p:spPr>
          <a:xfrm>
            <a:off x="646150" y="1914801"/>
            <a:ext cx="26538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50A14F"/>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50A14F"/>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50A14F"/>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50A14F"/>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50A14F"/>
                </a:solidFill>
                <a:latin typeface="Ubuntu Mono"/>
                <a:ea typeface="Ubuntu Mono"/>
                <a:cs typeface="Ubuntu Mono"/>
                <a:sym typeface="Ubuntu Mono"/>
              </a:rPr>
              <a:t> "Hola!"</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50A14F"/>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
        <p:nvSpPr>
          <p:cNvPr id="639" name="Google Shape;639;p60"/>
          <p:cNvSpPr/>
          <p:nvPr/>
        </p:nvSpPr>
        <p:spPr>
          <a:xfrm rot="10800000">
            <a:off x="3851586" y="1878425"/>
            <a:ext cx="4363200" cy="1041000"/>
          </a:xfrm>
          <a:prstGeom prst="round2SameRect">
            <a:avLst>
              <a:gd fmla="val 14767"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40" name="Google Shape;640;p60"/>
          <p:cNvSpPr/>
          <p:nvPr/>
        </p:nvSpPr>
        <p:spPr>
          <a:xfrm rot="10800000">
            <a:off x="3851556" y="1483875"/>
            <a:ext cx="43632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41" name="Google Shape;641;p60"/>
          <p:cNvSpPr/>
          <p:nvPr/>
        </p:nvSpPr>
        <p:spPr>
          <a:xfrm>
            <a:off x="405398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42" name="Google Shape;642;p60"/>
          <p:cNvSpPr/>
          <p:nvPr/>
        </p:nvSpPr>
        <p:spPr>
          <a:xfrm>
            <a:off x="443718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43" name="Google Shape;643;p60"/>
          <p:cNvSpPr/>
          <p:nvPr/>
        </p:nvSpPr>
        <p:spPr>
          <a:xfrm>
            <a:off x="482039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44" name="Google Shape;644;p60"/>
          <p:cNvSpPr txBox="1"/>
          <p:nvPr/>
        </p:nvSpPr>
        <p:spPr>
          <a:xfrm>
            <a:off x="3852095" y="1892501"/>
            <a:ext cx="4363200" cy="8286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383A42"/>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383A42"/>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r>
              <a:rPr lang="es" sz="1600">
                <a:solidFill>
                  <a:srgbClr val="27292F"/>
                </a:solidFill>
                <a:latin typeface="Ubuntu Mono"/>
                <a:ea typeface="Ubuntu Mono"/>
                <a:cs typeface="Ubuntu Mono"/>
                <a:sym typeface="Ubuntu Mono"/>
              </a:rPr>
              <a:t>char</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nombre</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50A14F"/>
                </a:solidFill>
                <a:latin typeface="Ubuntu Mono"/>
                <a:ea typeface="Ubuntu Mono"/>
                <a:cs typeface="Ubuntu Mono"/>
                <a:sym typeface="Ubuntu Mono"/>
              </a:rPr>
              <a:t>"Hola "</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nombre</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50A14F"/>
                </a:solidFill>
                <a:latin typeface="Ubuntu Mono"/>
                <a:ea typeface="Ubuntu Mono"/>
                <a:cs typeface="Ubuntu Mono"/>
                <a:sym typeface="Ubuntu Mono"/>
              </a:rPr>
              <a:t>"!"</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383A42"/>
                </a:solidFill>
                <a:latin typeface="Ubuntu Mono"/>
                <a:ea typeface="Ubuntu Mono"/>
                <a:cs typeface="Ubuntu Mono"/>
                <a:sym typeface="Ubuntu Mono"/>
              </a:rPr>
              <a:t> }</a:t>
            </a:r>
            <a:endParaRPr sz="1600">
              <a:solidFill>
                <a:srgbClr val="383A42"/>
              </a:solidFill>
              <a:latin typeface="Ubuntu Mono"/>
              <a:ea typeface="Ubuntu Mono"/>
              <a:cs typeface="Ubuntu Mono"/>
              <a:sym typeface="Ubuntu Mon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1"/>
          <p:cNvSpPr/>
          <p:nvPr/>
        </p:nvSpPr>
        <p:spPr>
          <a:xfrm rot="10800000">
            <a:off x="5070575" y="3602525"/>
            <a:ext cx="3558300" cy="1228800"/>
          </a:xfrm>
          <a:prstGeom prst="round2SameRect">
            <a:avLst>
              <a:gd fmla="val 14331"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50" name="Google Shape;650;p61"/>
          <p:cNvSpPr/>
          <p:nvPr/>
        </p:nvSpPr>
        <p:spPr>
          <a:xfrm rot="10800000">
            <a:off x="5070538" y="3207900"/>
            <a:ext cx="355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51" name="Google Shape;651;p61"/>
          <p:cNvSpPr/>
          <p:nvPr/>
        </p:nvSpPr>
        <p:spPr>
          <a:xfrm>
            <a:off x="5273211" y="33067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52" name="Google Shape;652;p61"/>
          <p:cNvSpPr/>
          <p:nvPr/>
        </p:nvSpPr>
        <p:spPr>
          <a:xfrm>
            <a:off x="5656414" y="33067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53" name="Google Shape;653;p61"/>
          <p:cNvSpPr/>
          <p:nvPr/>
        </p:nvSpPr>
        <p:spPr>
          <a:xfrm>
            <a:off x="6039616" y="33067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54" name="Google Shape;654;p61"/>
          <p:cNvSpPr txBox="1"/>
          <p:nvPr/>
        </p:nvSpPr>
        <p:spPr>
          <a:xfrm>
            <a:off x="5071342" y="3616526"/>
            <a:ext cx="35583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E06C75"/>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E06C75"/>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int</a:t>
            </a:r>
            <a:r>
              <a:rPr lang="es" sz="1600">
                <a:solidFill>
                  <a:srgbClr val="E06C75"/>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cargar_numero</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E06C75"/>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E06C75"/>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int</a:t>
            </a:r>
            <a:r>
              <a:rPr lang="es" sz="1600">
                <a:solidFill>
                  <a:srgbClr val="E06C75"/>
                </a:solidFill>
                <a:latin typeface="Ubuntu Mono"/>
                <a:ea typeface="Ubuntu Mono"/>
                <a:cs typeface="Ubuntu Mono"/>
                <a:sym typeface="Ubuntu Mono"/>
              </a:rPr>
              <a:t> a</a:t>
            </a:r>
            <a:r>
              <a:rPr lang="es" sz="1600">
                <a:solidFill>
                  <a:srgbClr val="383A42"/>
                </a:solidFill>
                <a:latin typeface="Ubuntu Mono"/>
                <a:ea typeface="Ubuntu Mono"/>
                <a:cs typeface="Ubuntu Mono"/>
                <a:sym typeface="Ubuntu Mono"/>
              </a:rPr>
              <a:t>;</a:t>
            </a:r>
            <a:r>
              <a:rPr lang="es" sz="1600">
                <a:solidFill>
                  <a:srgbClr val="E06C75"/>
                </a:solidFill>
                <a:latin typeface="Ubuntu Mono"/>
                <a:ea typeface="Ubuntu Mono"/>
                <a:cs typeface="Ubuntu Mono"/>
                <a:sym typeface="Ubuntu Mono"/>
              </a:rPr>
              <a:t> cin </a:t>
            </a:r>
            <a:r>
              <a:rPr lang="es" sz="1600">
                <a:solidFill>
                  <a:srgbClr val="0184BC"/>
                </a:solidFill>
                <a:latin typeface="Ubuntu Mono"/>
                <a:ea typeface="Ubuntu Mono"/>
                <a:cs typeface="Ubuntu Mono"/>
                <a:sym typeface="Ubuntu Mono"/>
              </a:rPr>
              <a:t>&gt;&gt;</a:t>
            </a:r>
            <a:r>
              <a:rPr lang="es" sz="1600">
                <a:solidFill>
                  <a:srgbClr val="E06C75"/>
                </a:solidFill>
                <a:latin typeface="Ubuntu Mono"/>
                <a:ea typeface="Ubuntu Mono"/>
                <a:cs typeface="Ubuntu Mono"/>
                <a:sym typeface="Ubuntu Mono"/>
              </a:rPr>
              <a:t> a</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E06C75"/>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E06C75"/>
                </a:solidFill>
                <a:latin typeface="Ubuntu Mono"/>
                <a:ea typeface="Ubuntu Mono"/>
                <a:cs typeface="Ubuntu Mono"/>
                <a:sym typeface="Ubuntu Mono"/>
              </a:rPr>
              <a:t> 	</a:t>
            </a:r>
            <a:r>
              <a:rPr lang="es" sz="1600">
                <a:solidFill>
                  <a:srgbClr val="A626A4"/>
                </a:solidFill>
                <a:latin typeface="Ubuntu Mono"/>
                <a:ea typeface="Ubuntu Mono"/>
                <a:cs typeface="Ubuntu Mono"/>
                <a:sym typeface="Ubuntu Mono"/>
              </a:rPr>
              <a:t>return</a:t>
            </a:r>
            <a:r>
              <a:rPr lang="es" sz="1600">
                <a:solidFill>
                  <a:srgbClr val="E06C75"/>
                </a:solidFill>
                <a:latin typeface="Ubuntu Mono"/>
                <a:ea typeface="Ubuntu Mono"/>
                <a:cs typeface="Ubuntu Mono"/>
                <a:sym typeface="Ubuntu Mono"/>
              </a:rPr>
              <a:t> a</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E06C75"/>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4</a:t>
            </a:r>
            <a:r>
              <a:rPr lang="es" sz="1600">
                <a:solidFill>
                  <a:srgbClr val="E06C75"/>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
        <p:nvSpPr>
          <p:cNvPr id="655" name="Google Shape;655;p61"/>
          <p:cNvSpPr txBox="1"/>
          <p:nvPr>
            <p:ph idx="1" type="body"/>
          </p:nvPr>
        </p:nvSpPr>
        <p:spPr>
          <a:xfrm>
            <a:off x="8995675" y="328600"/>
            <a:ext cx="1693200" cy="376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solidFill>
                  <a:srgbClr val="FF605C"/>
                </a:solidFill>
              </a:rPr>
              <a:t>(NR,ND)</a:t>
            </a:r>
            <a:endParaRPr>
              <a:solidFill>
                <a:srgbClr val="FF605C"/>
              </a:solidFill>
            </a:endParaRPr>
          </a:p>
          <a:p>
            <a:pPr indent="-342900" lvl="0" marL="457200" rtl="0" algn="l">
              <a:spcBef>
                <a:spcPts val="0"/>
              </a:spcBef>
              <a:spcAft>
                <a:spcPts val="0"/>
              </a:spcAft>
              <a:buSzPts val="1800"/>
              <a:buChar char="●"/>
            </a:pPr>
            <a:r>
              <a:rPr lang="es">
                <a:solidFill>
                  <a:srgbClr val="FFBD44"/>
                </a:solidFill>
              </a:rPr>
              <a:t>(R,ND)</a:t>
            </a:r>
            <a:endParaRPr>
              <a:solidFill>
                <a:srgbClr val="FFBD44"/>
              </a:solidFill>
            </a:endParaRPr>
          </a:p>
          <a:p>
            <a:pPr indent="-342900" lvl="0" marL="457200" rtl="0" algn="l">
              <a:spcBef>
                <a:spcPts val="0"/>
              </a:spcBef>
              <a:spcAft>
                <a:spcPts val="0"/>
              </a:spcAft>
              <a:buSzPts val="1800"/>
              <a:buChar char="●"/>
            </a:pPr>
            <a:r>
              <a:rPr lang="es">
                <a:solidFill>
                  <a:srgbClr val="00CA4E"/>
                </a:solidFill>
              </a:rPr>
              <a:t>(R,D)</a:t>
            </a:r>
            <a:endParaRPr>
              <a:solidFill>
                <a:srgbClr val="00CA4E"/>
              </a:solidFill>
            </a:endParaRPr>
          </a:p>
          <a:p>
            <a:pPr indent="-342900" lvl="0" marL="457200" rtl="0" algn="l">
              <a:spcBef>
                <a:spcPts val="0"/>
              </a:spcBef>
              <a:spcAft>
                <a:spcPts val="0"/>
              </a:spcAft>
              <a:buSzPts val="1800"/>
              <a:buChar char="●"/>
            </a:pPr>
            <a:r>
              <a:rPr lang="es">
                <a:solidFill>
                  <a:srgbClr val="FAFF2D"/>
                </a:solidFill>
              </a:rPr>
              <a:t>(NR,D)</a:t>
            </a:r>
            <a:br>
              <a:rPr lang="es"/>
            </a:br>
            <a:endParaRPr/>
          </a:p>
        </p:txBody>
      </p:sp>
      <p:sp>
        <p:nvSpPr>
          <p:cNvPr id="656" name="Google Shape;65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Estructuras posibles…</a:t>
            </a:r>
            <a:endParaRPr/>
          </a:p>
        </p:txBody>
      </p:sp>
      <p:sp>
        <p:nvSpPr>
          <p:cNvPr id="657" name="Google Shape;657;p61"/>
          <p:cNvSpPr/>
          <p:nvPr/>
        </p:nvSpPr>
        <p:spPr>
          <a:xfrm rot="10800000">
            <a:off x="646161" y="1878425"/>
            <a:ext cx="2653800" cy="1041000"/>
          </a:xfrm>
          <a:prstGeom prst="round2SameRect">
            <a:avLst>
              <a:gd fmla="val 14331"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58" name="Google Shape;658;p61"/>
          <p:cNvSpPr/>
          <p:nvPr/>
        </p:nvSpPr>
        <p:spPr>
          <a:xfrm rot="10800000">
            <a:off x="646143" y="1483875"/>
            <a:ext cx="26538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59" name="Google Shape;659;p61"/>
          <p:cNvSpPr/>
          <p:nvPr/>
        </p:nvSpPr>
        <p:spPr>
          <a:xfrm>
            <a:off x="84883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60" name="Google Shape;660;p61"/>
          <p:cNvSpPr/>
          <p:nvPr/>
        </p:nvSpPr>
        <p:spPr>
          <a:xfrm>
            <a:off x="123203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61" name="Google Shape;661;p61"/>
          <p:cNvSpPr/>
          <p:nvPr/>
        </p:nvSpPr>
        <p:spPr>
          <a:xfrm>
            <a:off x="161524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62" name="Google Shape;662;p61"/>
          <p:cNvSpPr txBox="1"/>
          <p:nvPr/>
        </p:nvSpPr>
        <p:spPr>
          <a:xfrm>
            <a:off x="646150" y="1914801"/>
            <a:ext cx="26538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50A14F"/>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50A14F"/>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50A14F"/>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50A14F"/>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50A14F"/>
                </a:solidFill>
                <a:latin typeface="Ubuntu Mono"/>
                <a:ea typeface="Ubuntu Mono"/>
                <a:cs typeface="Ubuntu Mono"/>
                <a:sym typeface="Ubuntu Mono"/>
              </a:rPr>
              <a:t> "Hola!"</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50A14F"/>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
        <p:nvSpPr>
          <p:cNvPr id="663" name="Google Shape;663;p61"/>
          <p:cNvSpPr/>
          <p:nvPr/>
        </p:nvSpPr>
        <p:spPr>
          <a:xfrm rot="10800000">
            <a:off x="3851586" y="1878425"/>
            <a:ext cx="4363200" cy="1041000"/>
          </a:xfrm>
          <a:prstGeom prst="round2SameRect">
            <a:avLst>
              <a:gd fmla="val 14767"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64" name="Google Shape;664;p61"/>
          <p:cNvSpPr/>
          <p:nvPr/>
        </p:nvSpPr>
        <p:spPr>
          <a:xfrm rot="10800000">
            <a:off x="3851556" y="1483875"/>
            <a:ext cx="43632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65" name="Google Shape;665;p61"/>
          <p:cNvSpPr/>
          <p:nvPr/>
        </p:nvSpPr>
        <p:spPr>
          <a:xfrm>
            <a:off x="405398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66" name="Google Shape;666;p61"/>
          <p:cNvSpPr/>
          <p:nvPr/>
        </p:nvSpPr>
        <p:spPr>
          <a:xfrm>
            <a:off x="443718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67" name="Google Shape;667;p61"/>
          <p:cNvSpPr/>
          <p:nvPr/>
        </p:nvSpPr>
        <p:spPr>
          <a:xfrm>
            <a:off x="482039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68" name="Google Shape;668;p61"/>
          <p:cNvSpPr txBox="1"/>
          <p:nvPr/>
        </p:nvSpPr>
        <p:spPr>
          <a:xfrm>
            <a:off x="3852095" y="1892501"/>
            <a:ext cx="4363200" cy="8286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383A42"/>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383A42"/>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r>
              <a:rPr lang="es" sz="1600">
                <a:solidFill>
                  <a:srgbClr val="27292F"/>
                </a:solidFill>
                <a:latin typeface="Ubuntu Mono"/>
                <a:ea typeface="Ubuntu Mono"/>
                <a:cs typeface="Ubuntu Mono"/>
                <a:sym typeface="Ubuntu Mono"/>
              </a:rPr>
              <a:t>char</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nombre</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50A14F"/>
                </a:solidFill>
                <a:latin typeface="Ubuntu Mono"/>
                <a:ea typeface="Ubuntu Mono"/>
                <a:cs typeface="Ubuntu Mono"/>
                <a:sym typeface="Ubuntu Mono"/>
              </a:rPr>
              <a:t>"Hola "</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nombre</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50A14F"/>
                </a:solidFill>
                <a:latin typeface="Ubuntu Mono"/>
                <a:ea typeface="Ubuntu Mono"/>
                <a:cs typeface="Ubuntu Mono"/>
                <a:sym typeface="Ubuntu Mono"/>
              </a:rPr>
              <a:t>"!"</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383A42"/>
                </a:solidFill>
                <a:latin typeface="Ubuntu Mono"/>
                <a:ea typeface="Ubuntu Mono"/>
                <a:cs typeface="Ubuntu Mono"/>
                <a:sym typeface="Ubuntu Mono"/>
              </a:rPr>
              <a:t> }</a:t>
            </a:r>
            <a:endParaRPr sz="1600">
              <a:solidFill>
                <a:srgbClr val="383A42"/>
              </a:solidFill>
              <a:latin typeface="Ubuntu Mono"/>
              <a:ea typeface="Ubuntu Mono"/>
              <a:cs typeface="Ubuntu Mono"/>
              <a:sym typeface="Ubuntu Mono"/>
            </a:endParaRPr>
          </a:p>
        </p:txBody>
      </p:sp>
      <p:sp>
        <p:nvSpPr>
          <p:cNvPr id="669" name="Google Shape;669;p61"/>
          <p:cNvSpPr/>
          <p:nvPr/>
        </p:nvSpPr>
        <p:spPr>
          <a:xfrm rot="10800000">
            <a:off x="646839" y="3602450"/>
            <a:ext cx="4224600" cy="1041000"/>
          </a:xfrm>
          <a:prstGeom prst="round2SameRect">
            <a:avLst>
              <a:gd fmla="val 12436"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70" name="Google Shape;670;p61"/>
          <p:cNvSpPr/>
          <p:nvPr/>
        </p:nvSpPr>
        <p:spPr>
          <a:xfrm rot="10800000">
            <a:off x="646809" y="3207900"/>
            <a:ext cx="42246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71" name="Google Shape;671;p61"/>
          <p:cNvSpPr/>
          <p:nvPr/>
        </p:nvSpPr>
        <p:spPr>
          <a:xfrm>
            <a:off x="849286" y="33067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72" name="Google Shape;672;p61"/>
          <p:cNvSpPr/>
          <p:nvPr/>
        </p:nvSpPr>
        <p:spPr>
          <a:xfrm>
            <a:off x="1232489" y="33067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73" name="Google Shape;673;p61"/>
          <p:cNvSpPr/>
          <p:nvPr/>
        </p:nvSpPr>
        <p:spPr>
          <a:xfrm>
            <a:off x="1615691" y="33067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74" name="Google Shape;674;p61"/>
          <p:cNvSpPr txBox="1"/>
          <p:nvPr/>
        </p:nvSpPr>
        <p:spPr>
          <a:xfrm>
            <a:off x="647400" y="3616526"/>
            <a:ext cx="42246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A626A4"/>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A626A4"/>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int</a:t>
            </a:r>
            <a:r>
              <a:rPr lang="es" sz="1600">
                <a:solidFill>
                  <a:srgbClr val="A626A4"/>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sumar_enteros</a:t>
            </a:r>
            <a:r>
              <a:rPr lang="es" sz="1600">
                <a:solidFill>
                  <a:srgbClr val="383A42"/>
                </a:solidFill>
                <a:latin typeface="Ubuntu Mono"/>
                <a:ea typeface="Ubuntu Mono"/>
                <a:cs typeface="Ubuntu Mono"/>
                <a:sym typeface="Ubuntu Mono"/>
              </a:rPr>
              <a:t>(</a:t>
            </a:r>
            <a:r>
              <a:rPr lang="es" sz="1600">
                <a:solidFill>
                  <a:srgbClr val="27292F"/>
                </a:solidFill>
                <a:latin typeface="Ubuntu Mono"/>
                <a:ea typeface="Ubuntu Mono"/>
                <a:cs typeface="Ubuntu Mono"/>
                <a:sym typeface="Ubuntu Mono"/>
              </a:rPr>
              <a:t>int</a:t>
            </a:r>
            <a:r>
              <a:rPr lang="es" sz="1600">
                <a:solidFill>
                  <a:srgbClr val="A626A4"/>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a</a:t>
            </a:r>
            <a:r>
              <a:rPr lang="es" sz="1600">
                <a:solidFill>
                  <a:srgbClr val="383A42"/>
                </a:solidFill>
                <a:latin typeface="Ubuntu Mono"/>
                <a:ea typeface="Ubuntu Mono"/>
                <a:cs typeface="Ubuntu Mono"/>
                <a:sym typeface="Ubuntu Mono"/>
              </a:rPr>
              <a:t>,</a:t>
            </a:r>
            <a:r>
              <a:rPr lang="es" sz="1600">
                <a:solidFill>
                  <a:srgbClr val="A626A4"/>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int</a:t>
            </a:r>
            <a:r>
              <a:rPr lang="es" sz="1600">
                <a:solidFill>
                  <a:srgbClr val="A626A4"/>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b</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A626A4"/>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A626A4"/>
                </a:solidFill>
                <a:latin typeface="Ubuntu Mono"/>
                <a:ea typeface="Ubuntu Mono"/>
                <a:cs typeface="Ubuntu Mono"/>
                <a:sym typeface="Ubuntu Mono"/>
              </a:rPr>
              <a:t> 	return </a:t>
            </a:r>
            <a:r>
              <a:rPr lang="es" sz="1600">
                <a:solidFill>
                  <a:srgbClr val="E06C75"/>
                </a:solidFill>
                <a:latin typeface="Ubuntu Mono"/>
                <a:ea typeface="Ubuntu Mono"/>
                <a:cs typeface="Ubuntu Mono"/>
                <a:sym typeface="Ubuntu Mono"/>
              </a:rPr>
              <a:t>a</a:t>
            </a:r>
            <a:r>
              <a:rPr lang="es" sz="1600">
                <a:solidFill>
                  <a:srgbClr val="0184BC"/>
                </a:solidFill>
                <a:latin typeface="Ubuntu Mono"/>
                <a:ea typeface="Ubuntu Mono"/>
                <a:cs typeface="Ubuntu Mono"/>
                <a:sym typeface="Ubuntu Mono"/>
              </a:rPr>
              <a:t>+</a:t>
            </a:r>
            <a:r>
              <a:rPr lang="es" sz="1600">
                <a:solidFill>
                  <a:srgbClr val="E06C75"/>
                </a:solidFill>
                <a:latin typeface="Ubuntu Mono"/>
                <a:ea typeface="Ubuntu Mono"/>
                <a:cs typeface="Ubuntu Mono"/>
                <a:sym typeface="Ubuntu Mono"/>
              </a:rPr>
              <a:t>b</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A626A4"/>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A626A4"/>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2"/>
          <p:cNvSpPr/>
          <p:nvPr/>
        </p:nvSpPr>
        <p:spPr>
          <a:xfrm rot="10800000">
            <a:off x="5070575" y="3602525"/>
            <a:ext cx="3558300" cy="1228800"/>
          </a:xfrm>
          <a:prstGeom prst="round2SameRect">
            <a:avLst>
              <a:gd fmla="val 14331"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80" name="Google Shape;680;p62"/>
          <p:cNvSpPr/>
          <p:nvPr/>
        </p:nvSpPr>
        <p:spPr>
          <a:xfrm rot="10800000">
            <a:off x="5070538" y="3207900"/>
            <a:ext cx="355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81" name="Google Shape;681;p62"/>
          <p:cNvSpPr/>
          <p:nvPr/>
        </p:nvSpPr>
        <p:spPr>
          <a:xfrm>
            <a:off x="5273211" y="33067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82" name="Google Shape;682;p62"/>
          <p:cNvSpPr/>
          <p:nvPr/>
        </p:nvSpPr>
        <p:spPr>
          <a:xfrm>
            <a:off x="5656414" y="33067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83" name="Google Shape;683;p62"/>
          <p:cNvSpPr/>
          <p:nvPr/>
        </p:nvSpPr>
        <p:spPr>
          <a:xfrm>
            <a:off x="6039616" y="33067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84" name="Google Shape;684;p62"/>
          <p:cNvSpPr txBox="1"/>
          <p:nvPr/>
        </p:nvSpPr>
        <p:spPr>
          <a:xfrm>
            <a:off x="5071342" y="3616526"/>
            <a:ext cx="35583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E06C75"/>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E06C75"/>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int</a:t>
            </a:r>
            <a:r>
              <a:rPr lang="es" sz="1600">
                <a:solidFill>
                  <a:srgbClr val="E06C75"/>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cargar_numero</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E06C75"/>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E06C75"/>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int</a:t>
            </a:r>
            <a:r>
              <a:rPr lang="es" sz="1600">
                <a:solidFill>
                  <a:srgbClr val="E06C75"/>
                </a:solidFill>
                <a:latin typeface="Ubuntu Mono"/>
                <a:ea typeface="Ubuntu Mono"/>
                <a:cs typeface="Ubuntu Mono"/>
                <a:sym typeface="Ubuntu Mono"/>
              </a:rPr>
              <a:t> a</a:t>
            </a:r>
            <a:r>
              <a:rPr lang="es" sz="1600">
                <a:solidFill>
                  <a:srgbClr val="383A42"/>
                </a:solidFill>
                <a:latin typeface="Ubuntu Mono"/>
                <a:ea typeface="Ubuntu Mono"/>
                <a:cs typeface="Ubuntu Mono"/>
                <a:sym typeface="Ubuntu Mono"/>
              </a:rPr>
              <a:t>;</a:t>
            </a:r>
            <a:r>
              <a:rPr lang="es" sz="1600">
                <a:solidFill>
                  <a:srgbClr val="E06C75"/>
                </a:solidFill>
                <a:latin typeface="Ubuntu Mono"/>
                <a:ea typeface="Ubuntu Mono"/>
                <a:cs typeface="Ubuntu Mono"/>
                <a:sym typeface="Ubuntu Mono"/>
              </a:rPr>
              <a:t> cin </a:t>
            </a:r>
            <a:r>
              <a:rPr lang="es" sz="1600">
                <a:solidFill>
                  <a:srgbClr val="0184BC"/>
                </a:solidFill>
                <a:latin typeface="Ubuntu Mono"/>
                <a:ea typeface="Ubuntu Mono"/>
                <a:cs typeface="Ubuntu Mono"/>
                <a:sym typeface="Ubuntu Mono"/>
              </a:rPr>
              <a:t>&gt;&gt;</a:t>
            </a:r>
            <a:r>
              <a:rPr lang="es" sz="1600">
                <a:solidFill>
                  <a:srgbClr val="E06C75"/>
                </a:solidFill>
                <a:latin typeface="Ubuntu Mono"/>
                <a:ea typeface="Ubuntu Mono"/>
                <a:cs typeface="Ubuntu Mono"/>
                <a:sym typeface="Ubuntu Mono"/>
              </a:rPr>
              <a:t> a</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E06C75"/>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E06C75"/>
                </a:solidFill>
                <a:latin typeface="Ubuntu Mono"/>
                <a:ea typeface="Ubuntu Mono"/>
                <a:cs typeface="Ubuntu Mono"/>
                <a:sym typeface="Ubuntu Mono"/>
              </a:rPr>
              <a:t> 	</a:t>
            </a:r>
            <a:r>
              <a:rPr lang="es" sz="1600">
                <a:solidFill>
                  <a:srgbClr val="A626A4"/>
                </a:solidFill>
                <a:latin typeface="Ubuntu Mono"/>
                <a:ea typeface="Ubuntu Mono"/>
                <a:cs typeface="Ubuntu Mono"/>
                <a:sym typeface="Ubuntu Mono"/>
              </a:rPr>
              <a:t>return</a:t>
            </a:r>
            <a:r>
              <a:rPr lang="es" sz="1600">
                <a:solidFill>
                  <a:srgbClr val="E06C75"/>
                </a:solidFill>
                <a:latin typeface="Ubuntu Mono"/>
                <a:ea typeface="Ubuntu Mono"/>
                <a:cs typeface="Ubuntu Mono"/>
                <a:sym typeface="Ubuntu Mono"/>
              </a:rPr>
              <a:t> a</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E06C75"/>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4</a:t>
            </a:r>
            <a:r>
              <a:rPr lang="es" sz="1600">
                <a:solidFill>
                  <a:srgbClr val="E06C75"/>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
        <p:nvSpPr>
          <p:cNvPr id="685" name="Google Shape;685;p62"/>
          <p:cNvSpPr txBox="1"/>
          <p:nvPr>
            <p:ph idx="1" type="body"/>
          </p:nvPr>
        </p:nvSpPr>
        <p:spPr>
          <a:xfrm>
            <a:off x="8995675" y="328600"/>
            <a:ext cx="1693200" cy="376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solidFill>
                  <a:srgbClr val="FF605C"/>
                </a:solidFill>
              </a:rPr>
              <a:t>(NR,ND)</a:t>
            </a:r>
            <a:endParaRPr>
              <a:solidFill>
                <a:srgbClr val="FF605C"/>
              </a:solidFill>
            </a:endParaRPr>
          </a:p>
          <a:p>
            <a:pPr indent="-342900" lvl="0" marL="457200" rtl="0" algn="l">
              <a:spcBef>
                <a:spcPts val="0"/>
              </a:spcBef>
              <a:spcAft>
                <a:spcPts val="0"/>
              </a:spcAft>
              <a:buSzPts val="1800"/>
              <a:buChar char="●"/>
            </a:pPr>
            <a:r>
              <a:rPr lang="es">
                <a:solidFill>
                  <a:srgbClr val="FFBD44"/>
                </a:solidFill>
              </a:rPr>
              <a:t>(R,ND)</a:t>
            </a:r>
            <a:endParaRPr>
              <a:solidFill>
                <a:srgbClr val="FFBD44"/>
              </a:solidFill>
            </a:endParaRPr>
          </a:p>
          <a:p>
            <a:pPr indent="-342900" lvl="0" marL="457200" rtl="0" algn="l">
              <a:spcBef>
                <a:spcPts val="0"/>
              </a:spcBef>
              <a:spcAft>
                <a:spcPts val="0"/>
              </a:spcAft>
              <a:buSzPts val="1800"/>
              <a:buChar char="●"/>
            </a:pPr>
            <a:r>
              <a:rPr lang="es">
                <a:solidFill>
                  <a:srgbClr val="00CA4E"/>
                </a:solidFill>
              </a:rPr>
              <a:t>(R,D)</a:t>
            </a:r>
            <a:endParaRPr>
              <a:solidFill>
                <a:srgbClr val="00CA4E"/>
              </a:solidFill>
            </a:endParaRPr>
          </a:p>
          <a:p>
            <a:pPr indent="-342900" lvl="0" marL="457200" rtl="0" algn="l">
              <a:spcBef>
                <a:spcPts val="0"/>
              </a:spcBef>
              <a:spcAft>
                <a:spcPts val="0"/>
              </a:spcAft>
              <a:buSzPts val="1800"/>
              <a:buChar char="●"/>
            </a:pPr>
            <a:r>
              <a:rPr lang="es">
                <a:solidFill>
                  <a:srgbClr val="FAFF2D"/>
                </a:solidFill>
              </a:rPr>
              <a:t>(NR,D)</a:t>
            </a:r>
            <a:br>
              <a:rPr lang="es"/>
            </a:br>
            <a:endParaRPr/>
          </a:p>
        </p:txBody>
      </p:sp>
      <p:sp>
        <p:nvSpPr>
          <p:cNvPr id="686" name="Google Shape;686;p62"/>
          <p:cNvSpPr/>
          <p:nvPr/>
        </p:nvSpPr>
        <p:spPr>
          <a:xfrm>
            <a:off x="5872800" y="3779466"/>
            <a:ext cx="1955400" cy="687000"/>
          </a:xfrm>
          <a:prstGeom prst="roundRect">
            <a:avLst>
              <a:gd fmla="val 16667" name="adj"/>
            </a:avLst>
          </a:prstGeom>
          <a:solidFill>
            <a:srgbClr val="FFF2CC"/>
          </a:solidFill>
          <a:ln cap="flat" cmpd="sng" w="9525">
            <a:solidFill>
              <a:srgbClr val="FAFF2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s" sz="3500">
                <a:solidFill>
                  <a:srgbClr val="F1C232"/>
                </a:solidFill>
              </a:rPr>
              <a:t>NR,D</a:t>
            </a:r>
            <a:endParaRPr sz="3500">
              <a:solidFill>
                <a:srgbClr val="F1C232"/>
              </a:solidFill>
            </a:endParaRPr>
          </a:p>
        </p:txBody>
      </p:sp>
      <p:sp>
        <p:nvSpPr>
          <p:cNvPr id="687" name="Google Shape;687;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Estructuras posibles…</a:t>
            </a:r>
            <a:endParaRPr/>
          </a:p>
        </p:txBody>
      </p:sp>
      <p:sp>
        <p:nvSpPr>
          <p:cNvPr id="688" name="Google Shape;688;p62"/>
          <p:cNvSpPr/>
          <p:nvPr/>
        </p:nvSpPr>
        <p:spPr>
          <a:xfrm rot="10800000">
            <a:off x="646161" y="1878425"/>
            <a:ext cx="2653800" cy="1041000"/>
          </a:xfrm>
          <a:prstGeom prst="round2SameRect">
            <a:avLst>
              <a:gd fmla="val 14331"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89" name="Google Shape;689;p62"/>
          <p:cNvSpPr/>
          <p:nvPr/>
        </p:nvSpPr>
        <p:spPr>
          <a:xfrm rot="10800000">
            <a:off x="646143" y="1483875"/>
            <a:ext cx="26538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90" name="Google Shape;690;p62"/>
          <p:cNvSpPr/>
          <p:nvPr/>
        </p:nvSpPr>
        <p:spPr>
          <a:xfrm>
            <a:off x="84883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91" name="Google Shape;691;p62"/>
          <p:cNvSpPr/>
          <p:nvPr/>
        </p:nvSpPr>
        <p:spPr>
          <a:xfrm>
            <a:off x="123203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92" name="Google Shape;692;p62"/>
          <p:cNvSpPr/>
          <p:nvPr/>
        </p:nvSpPr>
        <p:spPr>
          <a:xfrm>
            <a:off x="161524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93" name="Google Shape;693;p62"/>
          <p:cNvSpPr txBox="1"/>
          <p:nvPr/>
        </p:nvSpPr>
        <p:spPr>
          <a:xfrm>
            <a:off x="646150" y="1914801"/>
            <a:ext cx="26538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50A14F"/>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50A14F"/>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50A14F"/>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50A14F"/>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50A14F"/>
                </a:solidFill>
                <a:latin typeface="Ubuntu Mono"/>
                <a:ea typeface="Ubuntu Mono"/>
                <a:cs typeface="Ubuntu Mono"/>
                <a:sym typeface="Ubuntu Mono"/>
              </a:rPr>
              <a:t> "Hola!"</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50A14F"/>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50A14F"/>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
        <p:nvSpPr>
          <p:cNvPr id="694" name="Google Shape;694;p62"/>
          <p:cNvSpPr/>
          <p:nvPr/>
        </p:nvSpPr>
        <p:spPr>
          <a:xfrm rot="10800000">
            <a:off x="3851586" y="1878425"/>
            <a:ext cx="4363200" cy="1041000"/>
          </a:xfrm>
          <a:prstGeom prst="round2SameRect">
            <a:avLst>
              <a:gd fmla="val 14767"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695" name="Google Shape;695;p62"/>
          <p:cNvSpPr/>
          <p:nvPr/>
        </p:nvSpPr>
        <p:spPr>
          <a:xfrm rot="10800000">
            <a:off x="3851556" y="1483875"/>
            <a:ext cx="43632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96" name="Google Shape;696;p62"/>
          <p:cNvSpPr/>
          <p:nvPr/>
        </p:nvSpPr>
        <p:spPr>
          <a:xfrm>
            <a:off x="4053986" y="15827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97" name="Google Shape;697;p62"/>
          <p:cNvSpPr/>
          <p:nvPr/>
        </p:nvSpPr>
        <p:spPr>
          <a:xfrm>
            <a:off x="4437189" y="15827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98" name="Google Shape;698;p62"/>
          <p:cNvSpPr/>
          <p:nvPr/>
        </p:nvSpPr>
        <p:spPr>
          <a:xfrm>
            <a:off x="4820391" y="15827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699" name="Google Shape;699;p62"/>
          <p:cNvSpPr txBox="1"/>
          <p:nvPr/>
        </p:nvSpPr>
        <p:spPr>
          <a:xfrm>
            <a:off x="3852095" y="1892501"/>
            <a:ext cx="4363200" cy="8286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383A42"/>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void</a:t>
            </a:r>
            <a:r>
              <a:rPr lang="es" sz="1600">
                <a:solidFill>
                  <a:srgbClr val="383A42"/>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saludar</a:t>
            </a:r>
            <a:r>
              <a:rPr lang="es" sz="1600">
                <a:solidFill>
                  <a:srgbClr val="383A42"/>
                </a:solidFill>
                <a:latin typeface="Ubuntu Mono"/>
                <a:ea typeface="Ubuntu Mono"/>
                <a:cs typeface="Ubuntu Mono"/>
                <a:sym typeface="Ubuntu Mono"/>
              </a:rPr>
              <a:t>(</a:t>
            </a:r>
            <a:r>
              <a:rPr lang="es" sz="1600">
                <a:solidFill>
                  <a:srgbClr val="27292F"/>
                </a:solidFill>
                <a:latin typeface="Ubuntu Mono"/>
                <a:ea typeface="Ubuntu Mono"/>
                <a:cs typeface="Ubuntu Mono"/>
                <a:sym typeface="Ubuntu Mono"/>
              </a:rPr>
              <a:t>char</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nombre</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cout</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50A14F"/>
                </a:solidFill>
                <a:latin typeface="Ubuntu Mono"/>
                <a:ea typeface="Ubuntu Mono"/>
                <a:cs typeface="Ubuntu Mono"/>
                <a:sym typeface="Ubuntu Mono"/>
              </a:rPr>
              <a:t>"Hola "</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nombre</a:t>
            </a:r>
            <a:r>
              <a:rPr lang="es" sz="1600">
                <a:solidFill>
                  <a:srgbClr val="383A42"/>
                </a:solidFill>
                <a:latin typeface="Ubuntu Mono"/>
                <a:ea typeface="Ubuntu Mono"/>
                <a:cs typeface="Ubuntu Mono"/>
                <a:sym typeface="Ubuntu Mono"/>
              </a:rPr>
              <a:t> </a:t>
            </a:r>
            <a:r>
              <a:rPr lang="es" sz="1600">
                <a:solidFill>
                  <a:srgbClr val="0184BC"/>
                </a:solidFill>
                <a:latin typeface="Ubuntu Mono"/>
                <a:ea typeface="Ubuntu Mono"/>
                <a:cs typeface="Ubuntu Mono"/>
                <a:sym typeface="Ubuntu Mono"/>
              </a:rPr>
              <a:t>&lt;&lt;</a:t>
            </a:r>
            <a:r>
              <a:rPr lang="es" sz="1600">
                <a:solidFill>
                  <a:srgbClr val="383A42"/>
                </a:solidFill>
                <a:latin typeface="Ubuntu Mono"/>
                <a:ea typeface="Ubuntu Mono"/>
                <a:cs typeface="Ubuntu Mono"/>
                <a:sym typeface="Ubuntu Mono"/>
              </a:rPr>
              <a:t> </a:t>
            </a:r>
            <a:r>
              <a:rPr lang="es" sz="1600">
                <a:solidFill>
                  <a:srgbClr val="50A14F"/>
                </a:solidFill>
                <a:latin typeface="Ubuntu Mono"/>
                <a:ea typeface="Ubuntu Mono"/>
                <a:cs typeface="Ubuntu Mono"/>
                <a:sym typeface="Ubuntu Mono"/>
              </a:rPr>
              <a:t>"!"</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383A42"/>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383A42"/>
                </a:solidFill>
                <a:latin typeface="Ubuntu Mono"/>
                <a:ea typeface="Ubuntu Mono"/>
                <a:cs typeface="Ubuntu Mono"/>
                <a:sym typeface="Ubuntu Mono"/>
              </a:rPr>
              <a:t> }</a:t>
            </a:r>
            <a:endParaRPr sz="1600">
              <a:solidFill>
                <a:srgbClr val="383A42"/>
              </a:solidFill>
              <a:latin typeface="Ubuntu Mono"/>
              <a:ea typeface="Ubuntu Mono"/>
              <a:cs typeface="Ubuntu Mono"/>
              <a:sym typeface="Ubuntu Mono"/>
            </a:endParaRPr>
          </a:p>
        </p:txBody>
      </p:sp>
      <p:sp>
        <p:nvSpPr>
          <p:cNvPr id="700" name="Google Shape;700;p62"/>
          <p:cNvSpPr/>
          <p:nvPr/>
        </p:nvSpPr>
        <p:spPr>
          <a:xfrm rot="10800000">
            <a:off x="646839" y="3602450"/>
            <a:ext cx="4224600" cy="1041000"/>
          </a:xfrm>
          <a:prstGeom prst="round2SameRect">
            <a:avLst>
              <a:gd fmla="val 12436" name="adj1"/>
              <a:gd fmla="val 0" name="adj2"/>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701" name="Google Shape;701;p62"/>
          <p:cNvSpPr/>
          <p:nvPr/>
        </p:nvSpPr>
        <p:spPr>
          <a:xfrm rot="10800000">
            <a:off x="646809" y="3207900"/>
            <a:ext cx="42246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702" name="Google Shape;702;p62"/>
          <p:cNvSpPr/>
          <p:nvPr/>
        </p:nvSpPr>
        <p:spPr>
          <a:xfrm>
            <a:off x="849286" y="33067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703" name="Google Shape;703;p62"/>
          <p:cNvSpPr/>
          <p:nvPr/>
        </p:nvSpPr>
        <p:spPr>
          <a:xfrm>
            <a:off x="1232489" y="33067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704" name="Google Shape;704;p62"/>
          <p:cNvSpPr/>
          <p:nvPr/>
        </p:nvSpPr>
        <p:spPr>
          <a:xfrm>
            <a:off x="1615691" y="33067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
          </a:p>
        </p:txBody>
      </p:sp>
      <p:sp>
        <p:nvSpPr>
          <p:cNvPr id="705" name="Google Shape;705;p62"/>
          <p:cNvSpPr txBox="1"/>
          <p:nvPr/>
        </p:nvSpPr>
        <p:spPr>
          <a:xfrm>
            <a:off x="647400" y="3616526"/>
            <a:ext cx="4224600" cy="849900"/>
          </a:xfrm>
          <a:prstGeom prst="rect">
            <a:avLst/>
          </a:prstGeom>
          <a:solidFill>
            <a:srgbClr val="FAFAFA"/>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A626A4"/>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1</a:t>
            </a:r>
            <a:r>
              <a:rPr lang="es" sz="1600">
                <a:solidFill>
                  <a:srgbClr val="A626A4"/>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int</a:t>
            </a:r>
            <a:r>
              <a:rPr lang="es" sz="1600">
                <a:solidFill>
                  <a:srgbClr val="A626A4"/>
                </a:solidFill>
                <a:latin typeface="Ubuntu Mono"/>
                <a:ea typeface="Ubuntu Mono"/>
                <a:cs typeface="Ubuntu Mono"/>
                <a:sym typeface="Ubuntu Mono"/>
              </a:rPr>
              <a:t> </a:t>
            </a:r>
            <a:r>
              <a:rPr lang="es" sz="1600">
                <a:solidFill>
                  <a:srgbClr val="4078F2"/>
                </a:solidFill>
                <a:latin typeface="Ubuntu Mono"/>
                <a:ea typeface="Ubuntu Mono"/>
                <a:cs typeface="Ubuntu Mono"/>
                <a:sym typeface="Ubuntu Mono"/>
              </a:rPr>
              <a:t>sumar_enteros</a:t>
            </a:r>
            <a:r>
              <a:rPr lang="es" sz="1600">
                <a:solidFill>
                  <a:srgbClr val="383A42"/>
                </a:solidFill>
                <a:latin typeface="Ubuntu Mono"/>
                <a:ea typeface="Ubuntu Mono"/>
                <a:cs typeface="Ubuntu Mono"/>
                <a:sym typeface="Ubuntu Mono"/>
              </a:rPr>
              <a:t>(</a:t>
            </a:r>
            <a:r>
              <a:rPr lang="es" sz="1600">
                <a:solidFill>
                  <a:srgbClr val="27292F"/>
                </a:solidFill>
                <a:latin typeface="Ubuntu Mono"/>
                <a:ea typeface="Ubuntu Mono"/>
                <a:cs typeface="Ubuntu Mono"/>
                <a:sym typeface="Ubuntu Mono"/>
              </a:rPr>
              <a:t>int</a:t>
            </a:r>
            <a:r>
              <a:rPr lang="es" sz="1600">
                <a:solidFill>
                  <a:srgbClr val="A626A4"/>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a</a:t>
            </a:r>
            <a:r>
              <a:rPr lang="es" sz="1600">
                <a:solidFill>
                  <a:srgbClr val="383A42"/>
                </a:solidFill>
                <a:latin typeface="Ubuntu Mono"/>
                <a:ea typeface="Ubuntu Mono"/>
                <a:cs typeface="Ubuntu Mono"/>
                <a:sym typeface="Ubuntu Mono"/>
              </a:rPr>
              <a:t>,</a:t>
            </a:r>
            <a:r>
              <a:rPr lang="es" sz="1600">
                <a:solidFill>
                  <a:srgbClr val="A626A4"/>
                </a:solidFill>
                <a:latin typeface="Ubuntu Mono"/>
                <a:ea typeface="Ubuntu Mono"/>
                <a:cs typeface="Ubuntu Mono"/>
                <a:sym typeface="Ubuntu Mono"/>
              </a:rPr>
              <a:t> </a:t>
            </a:r>
            <a:r>
              <a:rPr lang="es" sz="1600">
                <a:solidFill>
                  <a:srgbClr val="27292F"/>
                </a:solidFill>
                <a:latin typeface="Ubuntu Mono"/>
                <a:ea typeface="Ubuntu Mono"/>
                <a:cs typeface="Ubuntu Mono"/>
                <a:sym typeface="Ubuntu Mono"/>
              </a:rPr>
              <a:t>int</a:t>
            </a:r>
            <a:r>
              <a:rPr lang="es" sz="1600">
                <a:solidFill>
                  <a:srgbClr val="A626A4"/>
                </a:solidFill>
                <a:latin typeface="Ubuntu Mono"/>
                <a:ea typeface="Ubuntu Mono"/>
                <a:cs typeface="Ubuntu Mono"/>
                <a:sym typeface="Ubuntu Mono"/>
              </a:rPr>
              <a:t> </a:t>
            </a:r>
            <a:r>
              <a:rPr lang="es" sz="1600">
                <a:solidFill>
                  <a:srgbClr val="E06C75"/>
                </a:solidFill>
                <a:latin typeface="Ubuntu Mono"/>
                <a:ea typeface="Ubuntu Mono"/>
                <a:cs typeface="Ubuntu Mono"/>
                <a:sym typeface="Ubuntu Mono"/>
              </a:rPr>
              <a:t>b</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A626A4"/>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2</a:t>
            </a:r>
            <a:r>
              <a:rPr lang="es" sz="1600">
                <a:solidFill>
                  <a:srgbClr val="A626A4"/>
                </a:solidFill>
                <a:latin typeface="Ubuntu Mono"/>
                <a:ea typeface="Ubuntu Mono"/>
                <a:cs typeface="Ubuntu Mono"/>
                <a:sym typeface="Ubuntu Mono"/>
              </a:rPr>
              <a:t> 	return </a:t>
            </a:r>
            <a:r>
              <a:rPr lang="es" sz="1600">
                <a:solidFill>
                  <a:srgbClr val="E06C75"/>
                </a:solidFill>
                <a:latin typeface="Ubuntu Mono"/>
                <a:ea typeface="Ubuntu Mono"/>
                <a:cs typeface="Ubuntu Mono"/>
                <a:sym typeface="Ubuntu Mono"/>
              </a:rPr>
              <a:t>a</a:t>
            </a:r>
            <a:r>
              <a:rPr lang="es" sz="1600">
                <a:solidFill>
                  <a:srgbClr val="0184BC"/>
                </a:solidFill>
                <a:latin typeface="Ubuntu Mono"/>
                <a:ea typeface="Ubuntu Mono"/>
                <a:cs typeface="Ubuntu Mono"/>
                <a:sym typeface="Ubuntu Mono"/>
              </a:rPr>
              <a:t>+</a:t>
            </a:r>
            <a:r>
              <a:rPr lang="es" sz="1600">
                <a:solidFill>
                  <a:srgbClr val="E06C75"/>
                </a:solidFill>
                <a:latin typeface="Ubuntu Mono"/>
                <a:ea typeface="Ubuntu Mono"/>
                <a:cs typeface="Ubuntu Mono"/>
                <a:sym typeface="Ubuntu Mono"/>
              </a:rPr>
              <a:t>b</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a:p>
            <a:pPr indent="0" lvl="0" marL="0" rtl="0" algn="l">
              <a:spcBef>
                <a:spcPts val="0"/>
              </a:spcBef>
              <a:spcAft>
                <a:spcPts val="0"/>
              </a:spcAft>
              <a:buNone/>
            </a:pPr>
            <a:r>
              <a:rPr lang="es" sz="1600">
                <a:solidFill>
                  <a:srgbClr val="A626A4"/>
                </a:solidFill>
                <a:latin typeface="Ubuntu Mono"/>
                <a:ea typeface="Ubuntu Mono"/>
                <a:cs typeface="Ubuntu Mono"/>
                <a:sym typeface="Ubuntu Mono"/>
              </a:rPr>
              <a:t> </a:t>
            </a:r>
            <a:r>
              <a:rPr lang="es" sz="1600">
                <a:solidFill>
                  <a:srgbClr val="929292"/>
                </a:solidFill>
                <a:latin typeface="Ubuntu Mono"/>
                <a:ea typeface="Ubuntu Mono"/>
                <a:cs typeface="Ubuntu Mono"/>
                <a:sym typeface="Ubuntu Mono"/>
              </a:rPr>
              <a:t>3</a:t>
            </a:r>
            <a:r>
              <a:rPr lang="es" sz="1600">
                <a:solidFill>
                  <a:srgbClr val="A626A4"/>
                </a:solidFill>
                <a:latin typeface="Ubuntu Mono"/>
                <a:ea typeface="Ubuntu Mono"/>
                <a:cs typeface="Ubuntu Mono"/>
                <a:sym typeface="Ubuntu Mono"/>
              </a:rPr>
              <a:t> </a:t>
            </a:r>
            <a:r>
              <a:rPr lang="es" sz="1600">
                <a:solidFill>
                  <a:srgbClr val="383A42"/>
                </a:solidFill>
                <a:latin typeface="Ubuntu Mono"/>
                <a:ea typeface="Ubuntu Mono"/>
                <a:cs typeface="Ubuntu Mono"/>
                <a:sym typeface="Ubuntu Mono"/>
              </a:rPr>
              <a:t>}</a:t>
            </a:r>
            <a:endParaRPr sz="1600">
              <a:solidFill>
                <a:srgbClr val="383A42"/>
              </a:solidFill>
              <a:latin typeface="Ubuntu Mono"/>
              <a:ea typeface="Ubuntu Mono"/>
              <a:cs typeface="Ubuntu Mono"/>
              <a:sym typeface="Ubuntu Mon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pic>
        <p:nvPicPr>
          <p:cNvPr id="710" name="Google Shape;710;p63"/>
          <p:cNvPicPr preferRelativeResize="0"/>
          <p:nvPr/>
        </p:nvPicPr>
        <p:blipFill rotWithShape="1">
          <a:blip r:embed="rId3">
            <a:alphaModFix amt="20000"/>
          </a:blip>
          <a:srcRect b="0" l="0" r="0" t="0"/>
          <a:stretch/>
        </p:blipFill>
        <p:spPr>
          <a:xfrm>
            <a:off x="4354750" y="264425"/>
            <a:ext cx="4614650" cy="4614650"/>
          </a:xfrm>
          <a:prstGeom prst="rect">
            <a:avLst/>
          </a:prstGeom>
          <a:noFill/>
          <a:ln>
            <a:noFill/>
          </a:ln>
        </p:spPr>
      </p:pic>
      <p:sp>
        <p:nvSpPr>
          <p:cNvPr id="711" name="Google Shape;711;p6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Alcance de Variables</a:t>
            </a:r>
            <a:endParaRPr sz="70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Alcance de Variables</a:t>
            </a:r>
            <a:endParaRPr/>
          </a:p>
        </p:txBody>
      </p:sp>
      <p:sp>
        <p:nvSpPr>
          <p:cNvPr id="717" name="Google Shape;717;p64"/>
          <p:cNvSpPr/>
          <p:nvPr/>
        </p:nvSpPr>
        <p:spPr>
          <a:xfrm rot="10800000">
            <a:off x="1150125" y="1469875"/>
            <a:ext cx="4668000" cy="32763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718" name="Google Shape;718;p64"/>
          <p:cNvSpPr/>
          <p:nvPr/>
        </p:nvSpPr>
        <p:spPr>
          <a:xfrm rot="10800000">
            <a:off x="1150125" y="1240395"/>
            <a:ext cx="4668000" cy="309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19" name="Google Shape;719;p64"/>
          <p:cNvSpPr/>
          <p:nvPr/>
        </p:nvSpPr>
        <p:spPr>
          <a:xfrm>
            <a:off x="1267406" y="1297839"/>
            <a:ext cx="150900" cy="150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20" name="Google Shape;720;p64"/>
          <p:cNvSpPr/>
          <p:nvPr/>
        </p:nvSpPr>
        <p:spPr>
          <a:xfrm>
            <a:off x="1490798" y="1297839"/>
            <a:ext cx="150900" cy="150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21" name="Google Shape;721;p64"/>
          <p:cNvSpPr/>
          <p:nvPr/>
        </p:nvSpPr>
        <p:spPr>
          <a:xfrm>
            <a:off x="1714190" y="1297839"/>
            <a:ext cx="150900" cy="150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22" name="Google Shape;722;p64"/>
          <p:cNvSpPr txBox="1"/>
          <p:nvPr/>
        </p:nvSpPr>
        <p:spPr>
          <a:xfrm>
            <a:off x="1149900" y="1514847"/>
            <a:ext cx="4668000" cy="30351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  #include &lt;iostream&gt;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2</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3</a:t>
            </a:r>
            <a:r>
              <a:rPr b="0" i="0" lang="es" sz="1000" u="none" cap="none" strike="noStrike">
                <a:solidFill>
                  <a:srgbClr val="383A42"/>
                </a:solidFill>
                <a:latin typeface="Arial"/>
                <a:ea typeface="Arial"/>
                <a:cs typeface="Arial"/>
                <a:sym typeface="Arial"/>
              </a:rPr>
              <a:t>  </a:t>
            </a:r>
            <a:r>
              <a:rPr b="0" i="0" lang="es" sz="1000" u="none" cap="none" strike="noStrike">
                <a:solidFill>
                  <a:srgbClr val="A626A4"/>
                </a:solidFill>
                <a:latin typeface="Arial"/>
                <a:ea typeface="Arial"/>
                <a:cs typeface="Arial"/>
                <a:sym typeface="Arial"/>
              </a:rPr>
              <a:t>using</a:t>
            </a:r>
            <a:r>
              <a:rPr b="0" i="0" lang="es" sz="1000" u="none" cap="none" strike="noStrike">
                <a:solidFill>
                  <a:srgbClr val="383A42"/>
                </a:solidFill>
                <a:latin typeface="Arial"/>
                <a:ea typeface="Arial"/>
                <a:cs typeface="Arial"/>
                <a:sym typeface="Arial"/>
              </a:rPr>
              <a:t> </a:t>
            </a:r>
            <a:r>
              <a:rPr b="0" i="0" lang="es" sz="1000" u="none" cap="none" strike="noStrike">
                <a:solidFill>
                  <a:srgbClr val="A626A4"/>
                </a:solidFill>
                <a:latin typeface="Arial"/>
                <a:ea typeface="Arial"/>
                <a:cs typeface="Arial"/>
                <a:sym typeface="Arial"/>
              </a:rPr>
              <a:t>namespace</a:t>
            </a:r>
            <a:r>
              <a:rPr b="0" i="0" lang="es" sz="1000" u="none" cap="none" strike="noStrike">
                <a:solidFill>
                  <a:srgbClr val="383A42"/>
                </a:solidFill>
                <a:latin typeface="Arial"/>
                <a:ea typeface="Arial"/>
                <a:cs typeface="Arial"/>
                <a:sym typeface="Arial"/>
              </a:rPr>
              <a:t> </a:t>
            </a:r>
            <a:r>
              <a:rPr b="0" i="0" lang="es" sz="1000" u="none" cap="none" strike="noStrike">
                <a:solidFill>
                  <a:srgbClr val="4078F2"/>
                </a:solidFill>
                <a:latin typeface="Arial"/>
                <a:ea typeface="Arial"/>
                <a:cs typeface="Arial"/>
                <a:sym typeface="Arial"/>
              </a:rPr>
              <a:t>std</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4</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5</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6</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7</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void</a:t>
            </a:r>
            <a:r>
              <a:rPr b="0" i="0" lang="es" sz="1000" u="none" cap="none" strike="noStrike">
                <a:solidFill>
                  <a:srgbClr val="383A42"/>
                </a:solidFill>
                <a:latin typeface="Arial"/>
                <a:ea typeface="Arial"/>
                <a:cs typeface="Arial"/>
                <a:sym typeface="Arial"/>
              </a:rPr>
              <a:t> </a:t>
            </a:r>
            <a:r>
              <a:rPr b="0" i="0" lang="es" sz="1000" u="none" cap="none" strike="noStrike">
                <a:solidFill>
                  <a:srgbClr val="4078F2"/>
                </a:solidFill>
                <a:latin typeface="Arial"/>
                <a:ea typeface="Arial"/>
                <a:cs typeface="Arial"/>
                <a:sym typeface="Arial"/>
              </a:rPr>
              <a:t>f</a:t>
            </a:r>
            <a:r>
              <a:rPr b="0" i="0" lang="es" sz="1000" u="none" cap="none" strike="noStrike">
                <a:solidFill>
                  <a:srgbClr val="383A42"/>
                </a:solidFill>
                <a:latin typeface="Arial"/>
                <a:ea typeface="Arial"/>
                <a:cs typeface="Arial"/>
                <a:sym typeface="Arial"/>
              </a:rPr>
              <a:t>(</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x</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y</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8</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0184BC"/>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9</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x</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x</a:t>
            </a:r>
            <a:r>
              <a:rPr b="0" i="0" lang="es" sz="1000" u="none" cap="none" strike="noStrike">
                <a:solidFill>
                  <a:srgbClr val="0184BC"/>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10</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y</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y</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11</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12</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13</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4078F2"/>
                </a:solidFill>
                <a:latin typeface="Arial"/>
                <a:ea typeface="Arial"/>
                <a:cs typeface="Arial"/>
                <a:sym typeface="Arial"/>
              </a:rPr>
              <a:t>main</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14</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b</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15</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16</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17</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f</a:t>
            </a:r>
            <a:r>
              <a:rPr b="0" i="0" lang="es" sz="1000" u="none" cap="none" strike="noStrike">
                <a:solidFill>
                  <a:srgbClr val="383A42"/>
                </a:solidFill>
                <a:latin typeface="Arial"/>
                <a:ea typeface="Arial"/>
                <a:cs typeface="Arial"/>
                <a:sym typeface="Arial"/>
              </a:rPr>
              <a:t>(</a:t>
            </a:r>
            <a:r>
              <a:rPr b="0" i="0" lang="es" sz="1000" u="none" cap="none" strike="noStrike">
                <a:solidFill>
                  <a:srgbClr val="E06C75"/>
                </a:solidFill>
                <a:latin typeface="Arial"/>
                <a:ea typeface="Arial"/>
                <a:cs typeface="Arial"/>
                <a:sym typeface="Arial"/>
              </a:rPr>
              <a:t>b</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18</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19</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cout</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endl</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b</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endl</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20</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6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Alcance de Variables</a:t>
            </a:r>
            <a:endParaRPr/>
          </a:p>
        </p:txBody>
      </p:sp>
      <p:sp>
        <p:nvSpPr>
          <p:cNvPr id="728" name="Google Shape;728;p65"/>
          <p:cNvSpPr/>
          <p:nvPr/>
        </p:nvSpPr>
        <p:spPr>
          <a:xfrm rot="10800000">
            <a:off x="1150125" y="1469875"/>
            <a:ext cx="4668000" cy="32763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729" name="Google Shape;729;p65"/>
          <p:cNvSpPr/>
          <p:nvPr/>
        </p:nvSpPr>
        <p:spPr>
          <a:xfrm rot="10800000">
            <a:off x="1150125" y="1240395"/>
            <a:ext cx="4668000" cy="309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30" name="Google Shape;730;p65"/>
          <p:cNvSpPr/>
          <p:nvPr/>
        </p:nvSpPr>
        <p:spPr>
          <a:xfrm>
            <a:off x="1267406" y="1297839"/>
            <a:ext cx="150900" cy="150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31" name="Google Shape;731;p65"/>
          <p:cNvSpPr/>
          <p:nvPr/>
        </p:nvSpPr>
        <p:spPr>
          <a:xfrm>
            <a:off x="1490798" y="1297839"/>
            <a:ext cx="150900" cy="150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32" name="Google Shape;732;p65"/>
          <p:cNvSpPr/>
          <p:nvPr/>
        </p:nvSpPr>
        <p:spPr>
          <a:xfrm>
            <a:off x="1714190" y="1297839"/>
            <a:ext cx="150900" cy="150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33" name="Google Shape;733;p65"/>
          <p:cNvSpPr txBox="1"/>
          <p:nvPr/>
        </p:nvSpPr>
        <p:spPr>
          <a:xfrm>
            <a:off x="1149900" y="1514847"/>
            <a:ext cx="4668000" cy="30351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  #include &lt;iostream&gt;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2</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3</a:t>
            </a:r>
            <a:r>
              <a:rPr b="0" i="0" lang="es" sz="1000" u="none" cap="none" strike="noStrike">
                <a:solidFill>
                  <a:srgbClr val="383A42"/>
                </a:solidFill>
                <a:latin typeface="Arial"/>
                <a:ea typeface="Arial"/>
                <a:cs typeface="Arial"/>
                <a:sym typeface="Arial"/>
              </a:rPr>
              <a:t>  </a:t>
            </a:r>
            <a:r>
              <a:rPr b="0" i="0" lang="es" sz="1000" u="none" cap="none" strike="noStrike">
                <a:solidFill>
                  <a:srgbClr val="A626A4"/>
                </a:solidFill>
                <a:latin typeface="Arial"/>
                <a:ea typeface="Arial"/>
                <a:cs typeface="Arial"/>
                <a:sym typeface="Arial"/>
              </a:rPr>
              <a:t>using</a:t>
            </a:r>
            <a:r>
              <a:rPr b="0" i="0" lang="es" sz="1000" u="none" cap="none" strike="noStrike">
                <a:solidFill>
                  <a:srgbClr val="383A42"/>
                </a:solidFill>
                <a:latin typeface="Arial"/>
                <a:ea typeface="Arial"/>
                <a:cs typeface="Arial"/>
                <a:sym typeface="Arial"/>
              </a:rPr>
              <a:t> </a:t>
            </a:r>
            <a:r>
              <a:rPr b="0" i="0" lang="es" sz="1000" u="none" cap="none" strike="noStrike">
                <a:solidFill>
                  <a:srgbClr val="A626A4"/>
                </a:solidFill>
                <a:latin typeface="Arial"/>
                <a:ea typeface="Arial"/>
                <a:cs typeface="Arial"/>
                <a:sym typeface="Arial"/>
              </a:rPr>
              <a:t>namespace</a:t>
            </a:r>
            <a:r>
              <a:rPr b="0" i="0" lang="es" sz="1000" u="none" cap="none" strike="noStrike">
                <a:solidFill>
                  <a:srgbClr val="383A42"/>
                </a:solidFill>
                <a:latin typeface="Arial"/>
                <a:ea typeface="Arial"/>
                <a:cs typeface="Arial"/>
                <a:sym typeface="Arial"/>
              </a:rPr>
              <a:t> </a:t>
            </a:r>
            <a:r>
              <a:rPr b="0" i="0" lang="es" sz="1000" u="none" cap="none" strike="noStrike">
                <a:solidFill>
                  <a:srgbClr val="4078F2"/>
                </a:solidFill>
                <a:latin typeface="Arial"/>
                <a:ea typeface="Arial"/>
                <a:cs typeface="Arial"/>
                <a:sym typeface="Arial"/>
              </a:rPr>
              <a:t>std</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4</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5</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6</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7</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void</a:t>
            </a:r>
            <a:r>
              <a:rPr b="0" i="0" lang="es" sz="1000" u="none" cap="none" strike="noStrike">
                <a:solidFill>
                  <a:srgbClr val="383A42"/>
                </a:solidFill>
                <a:latin typeface="Arial"/>
                <a:ea typeface="Arial"/>
                <a:cs typeface="Arial"/>
                <a:sym typeface="Arial"/>
              </a:rPr>
              <a:t> </a:t>
            </a:r>
            <a:r>
              <a:rPr b="0" i="0" lang="es" sz="1000" u="none" cap="none" strike="noStrike">
                <a:solidFill>
                  <a:srgbClr val="4078F2"/>
                </a:solidFill>
                <a:latin typeface="Arial"/>
                <a:ea typeface="Arial"/>
                <a:cs typeface="Arial"/>
                <a:sym typeface="Arial"/>
              </a:rPr>
              <a:t>f</a:t>
            </a:r>
            <a:r>
              <a:rPr b="0" i="0" lang="es" sz="1000" u="none" cap="none" strike="noStrike">
                <a:solidFill>
                  <a:srgbClr val="383A42"/>
                </a:solidFill>
                <a:latin typeface="Arial"/>
                <a:ea typeface="Arial"/>
                <a:cs typeface="Arial"/>
                <a:sym typeface="Arial"/>
              </a:rPr>
              <a:t>(</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x</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y</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8</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0184BC"/>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9</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x</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x</a:t>
            </a:r>
            <a:r>
              <a:rPr b="0" i="0" lang="es" sz="1000" u="none" cap="none" strike="noStrike">
                <a:solidFill>
                  <a:srgbClr val="0184BC"/>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10</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y</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y</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11</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12</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13</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4078F2"/>
                </a:solidFill>
                <a:latin typeface="Arial"/>
                <a:ea typeface="Arial"/>
                <a:cs typeface="Arial"/>
                <a:sym typeface="Arial"/>
              </a:rPr>
              <a:t>main</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14</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b</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15</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16</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17</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f</a:t>
            </a:r>
            <a:r>
              <a:rPr b="0" i="0" lang="es" sz="1000" u="none" cap="none" strike="noStrike">
                <a:solidFill>
                  <a:srgbClr val="383A42"/>
                </a:solidFill>
                <a:latin typeface="Arial"/>
                <a:ea typeface="Arial"/>
                <a:cs typeface="Arial"/>
                <a:sym typeface="Arial"/>
              </a:rPr>
              <a:t>(</a:t>
            </a:r>
            <a:r>
              <a:rPr b="0" i="0" lang="es" sz="1000" u="none" cap="none" strike="noStrike">
                <a:solidFill>
                  <a:srgbClr val="E06C75"/>
                </a:solidFill>
                <a:latin typeface="Arial"/>
                <a:ea typeface="Arial"/>
                <a:cs typeface="Arial"/>
                <a:sym typeface="Arial"/>
              </a:rPr>
              <a:t>b</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18</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19</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cout</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endl</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b</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endl</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20</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p:txBody>
      </p:sp>
      <p:sp>
        <p:nvSpPr>
          <p:cNvPr id="734" name="Google Shape;734;p65"/>
          <p:cNvSpPr/>
          <p:nvPr/>
        </p:nvSpPr>
        <p:spPr>
          <a:xfrm>
            <a:off x="1441575" y="2675000"/>
            <a:ext cx="1445400" cy="494400"/>
          </a:xfrm>
          <a:prstGeom prst="roundRect">
            <a:avLst>
              <a:gd fmla="val 16667" name="adj"/>
            </a:avLst>
          </a:prstGeom>
          <a:noFill/>
          <a:ln cap="flat" cmpd="sng" w="19050">
            <a:solidFill>
              <a:srgbClr val="00CA4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65"/>
          <p:cNvSpPr/>
          <p:nvPr/>
        </p:nvSpPr>
        <p:spPr>
          <a:xfrm>
            <a:off x="1441575" y="3601075"/>
            <a:ext cx="2502900" cy="948900"/>
          </a:xfrm>
          <a:prstGeom prst="roundRect">
            <a:avLst>
              <a:gd fmla="val 8573" name="adj"/>
            </a:avLst>
          </a:prstGeom>
          <a:noFill/>
          <a:ln cap="flat" cmpd="sng" w="19050">
            <a:solidFill>
              <a:srgbClr val="00CA4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65"/>
          <p:cNvSpPr/>
          <p:nvPr/>
        </p:nvSpPr>
        <p:spPr>
          <a:xfrm>
            <a:off x="6423075" y="2675000"/>
            <a:ext cx="1445400" cy="494400"/>
          </a:xfrm>
          <a:prstGeom prst="roundRect">
            <a:avLst>
              <a:gd fmla="val 16667" name="adj"/>
            </a:avLst>
          </a:prstGeom>
          <a:noFill/>
          <a:ln cap="flat" cmpd="sng" w="19050">
            <a:solidFill>
              <a:srgbClr val="00CA4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Alcance local</a:t>
            </a:r>
            <a:endParaRPr b="0" i="0" sz="1400" u="none" cap="none" strike="noStrike">
              <a:solidFill>
                <a:schemeClr val="dk1"/>
              </a:solidFill>
              <a:latin typeface="Arial"/>
              <a:ea typeface="Arial"/>
              <a:cs typeface="Arial"/>
              <a:sym typeface="Arial"/>
            </a:endParaRPr>
          </a:p>
        </p:txBody>
      </p:sp>
      <p:sp>
        <p:nvSpPr>
          <p:cNvPr id="737" name="Google Shape;737;p65"/>
          <p:cNvSpPr/>
          <p:nvPr/>
        </p:nvSpPr>
        <p:spPr>
          <a:xfrm>
            <a:off x="6423075" y="3828325"/>
            <a:ext cx="1445400" cy="494400"/>
          </a:xfrm>
          <a:prstGeom prst="roundRect">
            <a:avLst>
              <a:gd fmla="val 16667" name="adj"/>
            </a:avLst>
          </a:prstGeom>
          <a:noFill/>
          <a:ln cap="flat" cmpd="sng" w="19050">
            <a:solidFill>
              <a:srgbClr val="00CA4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Alcance local</a:t>
            </a:r>
            <a:endParaRPr b="0" i="0" sz="1400" u="none" cap="none" strike="noStrike">
              <a:solidFill>
                <a:schemeClr val="dk1"/>
              </a:solidFill>
              <a:latin typeface="Arial"/>
              <a:ea typeface="Arial"/>
              <a:cs typeface="Arial"/>
              <a:sym typeface="Arial"/>
            </a:endParaRPr>
          </a:p>
        </p:txBody>
      </p:sp>
      <p:cxnSp>
        <p:nvCxnSpPr>
          <p:cNvPr id="738" name="Google Shape;738;p65"/>
          <p:cNvCxnSpPr>
            <a:stCxn id="734" idx="3"/>
            <a:endCxn id="736" idx="1"/>
          </p:cNvCxnSpPr>
          <p:nvPr/>
        </p:nvCxnSpPr>
        <p:spPr>
          <a:xfrm>
            <a:off x="2886975" y="2922200"/>
            <a:ext cx="3536100" cy="0"/>
          </a:xfrm>
          <a:prstGeom prst="straightConnector1">
            <a:avLst/>
          </a:prstGeom>
          <a:noFill/>
          <a:ln cap="flat" cmpd="sng" w="19050">
            <a:solidFill>
              <a:srgbClr val="00CA4E"/>
            </a:solidFill>
            <a:prstDash val="solid"/>
            <a:round/>
            <a:headEnd len="sm" w="sm" type="none"/>
            <a:tailEnd len="sm" w="sm" type="none"/>
          </a:ln>
        </p:spPr>
      </p:cxnSp>
      <p:cxnSp>
        <p:nvCxnSpPr>
          <p:cNvPr id="739" name="Google Shape;739;p65"/>
          <p:cNvCxnSpPr>
            <a:stCxn id="735" idx="3"/>
            <a:endCxn id="737" idx="1"/>
          </p:cNvCxnSpPr>
          <p:nvPr/>
        </p:nvCxnSpPr>
        <p:spPr>
          <a:xfrm>
            <a:off x="3944475" y="4075525"/>
            <a:ext cx="2478600" cy="0"/>
          </a:xfrm>
          <a:prstGeom prst="straightConnector1">
            <a:avLst/>
          </a:prstGeom>
          <a:noFill/>
          <a:ln cap="flat" cmpd="sng" w="19050">
            <a:solidFill>
              <a:srgbClr val="00CA4E"/>
            </a:solidFill>
            <a:prstDash val="solid"/>
            <a:round/>
            <a:headEnd len="sm" w="sm" type="none"/>
            <a:tailEnd len="sm" w="sm" type="non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6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Alcance de Variables</a:t>
            </a:r>
            <a:endParaRPr/>
          </a:p>
        </p:txBody>
      </p:sp>
      <p:sp>
        <p:nvSpPr>
          <p:cNvPr id="745" name="Google Shape;745;p66"/>
          <p:cNvSpPr/>
          <p:nvPr/>
        </p:nvSpPr>
        <p:spPr>
          <a:xfrm rot="10800000">
            <a:off x="1150125" y="1469875"/>
            <a:ext cx="4668000" cy="32763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746" name="Google Shape;746;p66"/>
          <p:cNvSpPr/>
          <p:nvPr/>
        </p:nvSpPr>
        <p:spPr>
          <a:xfrm rot="10800000">
            <a:off x="1150125" y="1240395"/>
            <a:ext cx="4668000" cy="309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47" name="Google Shape;747;p66"/>
          <p:cNvSpPr/>
          <p:nvPr/>
        </p:nvSpPr>
        <p:spPr>
          <a:xfrm>
            <a:off x="1267406" y="1297839"/>
            <a:ext cx="150900" cy="150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48" name="Google Shape;748;p66"/>
          <p:cNvSpPr/>
          <p:nvPr/>
        </p:nvSpPr>
        <p:spPr>
          <a:xfrm>
            <a:off x="1490798" y="1297839"/>
            <a:ext cx="150900" cy="150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49" name="Google Shape;749;p66"/>
          <p:cNvSpPr/>
          <p:nvPr/>
        </p:nvSpPr>
        <p:spPr>
          <a:xfrm>
            <a:off x="1714190" y="1297839"/>
            <a:ext cx="150900" cy="150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50" name="Google Shape;750;p66"/>
          <p:cNvSpPr txBox="1"/>
          <p:nvPr/>
        </p:nvSpPr>
        <p:spPr>
          <a:xfrm>
            <a:off x="1149900" y="1514847"/>
            <a:ext cx="4668000" cy="30351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  #include &lt;iostream&gt;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2</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3</a:t>
            </a:r>
            <a:r>
              <a:rPr b="0" i="0" lang="es" sz="1000" u="none" cap="none" strike="noStrike">
                <a:solidFill>
                  <a:srgbClr val="383A42"/>
                </a:solidFill>
                <a:latin typeface="Arial"/>
                <a:ea typeface="Arial"/>
                <a:cs typeface="Arial"/>
                <a:sym typeface="Arial"/>
              </a:rPr>
              <a:t>  </a:t>
            </a:r>
            <a:r>
              <a:rPr b="0" i="0" lang="es" sz="1000" u="none" cap="none" strike="noStrike">
                <a:solidFill>
                  <a:srgbClr val="A626A4"/>
                </a:solidFill>
                <a:latin typeface="Arial"/>
                <a:ea typeface="Arial"/>
                <a:cs typeface="Arial"/>
                <a:sym typeface="Arial"/>
              </a:rPr>
              <a:t>using</a:t>
            </a:r>
            <a:r>
              <a:rPr b="0" i="0" lang="es" sz="1000" u="none" cap="none" strike="noStrike">
                <a:solidFill>
                  <a:srgbClr val="383A42"/>
                </a:solidFill>
                <a:latin typeface="Arial"/>
                <a:ea typeface="Arial"/>
                <a:cs typeface="Arial"/>
                <a:sym typeface="Arial"/>
              </a:rPr>
              <a:t> </a:t>
            </a:r>
            <a:r>
              <a:rPr b="0" i="0" lang="es" sz="1000" u="none" cap="none" strike="noStrike">
                <a:solidFill>
                  <a:srgbClr val="A626A4"/>
                </a:solidFill>
                <a:latin typeface="Arial"/>
                <a:ea typeface="Arial"/>
                <a:cs typeface="Arial"/>
                <a:sym typeface="Arial"/>
              </a:rPr>
              <a:t>namespace</a:t>
            </a:r>
            <a:r>
              <a:rPr b="0" i="0" lang="es" sz="1000" u="none" cap="none" strike="noStrike">
                <a:solidFill>
                  <a:srgbClr val="383A42"/>
                </a:solidFill>
                <a:latin typeface="Arial"/>
                <a:ea typeface="Arial"/>
                <a:cs typeface="Arial"/>
                <a:sym typeface="Arial"/>
              </a:rPr>
              <a:t> </a:t>
            </a:r>
            <a:r>
              <a:rPr b="0" i="0" lang="es" sz="1000" u="none" cap="none" strike="noStrike">
                <a:solidFill>
                  <a:srgbClr val="4078F2"/>
                </a:solidFill>
                <a:latin typeface="Arial"/>
                <a:ea typeface="Arial"/>
                <a:cs typeface="Arial"/>
                <a:sym typeface="Arial"/>
              </a:rPr>
              <a:t>std</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4</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5</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6</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7</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void</a:t>
            </a:r>
            <a:r>
              <a:rPr b="0" i="0" lang="es" sz="1000" u="none" cap="none" strike="noStrike">
                <a:solidFill>
                  <a:srgbClr val="383A42"/>
                </a:solidFill>
                <a:latin typeface="Arial"/>
                <a:ea typeface="Arial"/>
                <a:cs typeface="Arial"/>
                <a:sym typeface="Arial"/>
              </a:rPr>
              <a:t> </a:t>
            </a:r>
            <a:r>
              <a:rPr b="0" i="0" lang="es" sz="1000" u="none" cap="none" strike="noStrike">
                <a:solidFill>
                  <a:srgbClr val="4078F2"/>
                </a:solidFill>
                <a:latin typeface="Arial"/>
                <a:ea typeface="Arial"/>
                <a:cs typeface="Arial"/>
                <a:sym typeface="Arial"/>
              </a:rPr>
              <a:t>f</a:t>
            </a:r>
            <a:r>
              <a:rPr b="0" i="0" lang="es" sz="1000" u="none" cap="none" strike="noStrike">
                <a:solidFill>
                  <a:srgbClr val="383A42"/>
                </a:solidFill>
                <a:latin typeface="Arial"/>
                <a:ea typeface="Arial"/>
                <a:cs typeface="Arial"/>
                <a:sym typeface="Arial"/>
              </a:rPr>
              <a:t>(</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x</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y</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8</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0184BC"/>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9</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x</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x</a:t>
            </a:r>
            <a:r>
              <a:rPr b="0" i="0" lang="es" sz="1000" u="none" cap="none" strike="noStrike">
                <a:solidFill>
                  <a:srgbClr val="0184BC"/>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10</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y</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y</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11</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12</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13</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4078F2"/>
                </a:solidFill>
                <a:latin typeface="Arial"/>
                <a:ea typeface="Arial"/>
                <a:cs typeface="Arial"/>
                <a:sym typeface="Arial"/>
              </a:rPr>
              <a:t>main</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14</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b</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15</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16</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17</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f</a:t>
            </a:r>
            <a:r>
              <a:rPr b="0" i="0" lang="es" sz="1000" u="none" cap="none" strike="noStrike">
                <a:solidFill>
                  <a:srgbClr val="383A42"/>
                </a:solidFill>
                <a:latin typeface="Arial"/>
                <a:ea typeface="Arial"/>
                <a:cs typeface="Arial"/>
                <a:sym typeface="Arial"/>
              </a:rPr>
              <a:t>(</a:t>
            </a:r>
            <a:r>
              <a:rPr b="0" i="0" lang="es" sz="1000" u="none" cap="none" strike="noStrike">
                <a:solidFill>
                  <a:srgbClr val="E06C75"/>
                </a:solidFill>
                <a:latin typeface="Arial"/>
                <a:ea typeface="Arial"/>
                <a:cs typeface="Arial"/>
                <a:sym typeface="Arial"/>
              </a:rPr>
              <a:t>b</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18</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19</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cout</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endl</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b</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endl</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20</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p:txBody>
      </p:sp>
      <p:sp>
        <p:nvSpPr>
          <p:cNvPr id="751" name="Google Shape;751;p66"/>
          <p:cNvSpPr/>
          <p:nvPr/>
        </p:nvSpPr>
        <p:spPr>
          <a:xfrm>
            <a:off x="1418300" y="2120325"/>
            <a:ext cx="2526300" cy="2596800"/>
          </a:xfrm>
          <a:prstGeom prst="roundRect">
            <a:avLst>
              <a:gd fmla="val 4011" name="adj"/>
            </a:avLst>
          </a:prstGeom>
          <a:noFill/>
          <a:ln cap="flat" cmpd="sng" w="19050">
            <a:solidFill>
              <a:srgbClr val="00CA4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66"/>
          <p:cNvSpPr/>
          <p:nvPr/>
        </p:nvSpPr>
        <p:spPr>
          <a:xfrm>
            <a:off x="6423200" y="3171525"/>
            <a:ext cx="1445400" cy="494400"/>
          </a:xfrm>
          <a:prstGeom prst="roundRect">
            <a:avLst>
              <a:gd fmla="val 16667" name="adj"/>
            </a:avLst>
          </a:prstGeom>
          <a:noFill/>
          <a:ln cap="flat" cmpd="sng" w="19050">
            <a:solidFill>
              <a:srgbClr val="00CA4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Alcance Global</a:t>
            </a:r>
            <a:endParaRPr b="0" i="0" sz="1400" u="none" cap="none" strike="noStrike">
              <a:solidFill>
                <a:schemeClr val="dk1"/>
              </a:solidFill>
              <a:latin typeface="Arial"/>
              <a:ea typeface="Arial"/>
              <a:cs typeface="Arial"/>
              <a:sym typeface="Arial"/>
            </a:endParaRPr>
          </a:p>
        </p:txBody>
      </p:sp>
      <p:cxnSp>
        <p:nvCxnSpPr>
          <p:cNvPr id="753" name="Google Shape;753;p66"/>
          <p:cNvCxnSpPr>
            <a:stCxn id="751" idx="3"/>
            <a:endCxn id="752" idx="1"/>
          </p:cNvCxnSpPr>
          <p:nvPr/>
        </p:nvCxnSpPr>
        <p:spPr>
          <a:xfrm>
            <a:off x="3944600" y="3418725"/>
            <a:ext cx="2478600" cy="0"/>
          </a:xfrm>
          <a:prstGeom prst="straightConnector1">
            <a:avLst/>
          </a:prstGeom>
          <a:noFill/>
          <a:ln cap="flat" cmpd="sng" w="19050">
            <a:solidFill>
              <a:srgbClr val="00CA4E"/>
            </a:solidFill>
            <a:prstDash val="solid"/>
            <a:round/>
            <a:headEnd len="sm" w="sm" type="none"/>
            <a:tailEnd len="sm" w="sm" type="non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¿Cuál es la salida por pantalla?</a:t>
            </a:r>
            <a:endParaRPr/>
          </a:p>
        </p:txBody>
      </p:sp>
      <p:sp>
        <p:nvSpPr>
          <p:cNvPr id="759" name="Google Shape;759;p67"/>
          <p:cNvSpPr/>
          <p:nvPr/>
        </p:nvSpPr>
        <p:spPr>
          <a:xfrm rot="10800000">
            <a:off x="2238112" y="1469875"/>
            <a:ext cx="4668000" cy="32763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760" name="Google Shape;760;p67"/>
          <p:cNvSpPr/>
          <p:nvPr/>
        </p:nvSpPr>
        <p:spPr>
          <a:xfrm rot="10800000">
            <a:off x="2238113" y="1240395"/>
            <a:ext cx="4668000" cy="309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61" name="Google Shape;761;p67"/>
          <p:cNvSpPr/>
          <p:nvPr/>
        </p:nvSpPr>
        <p:spPr>
          <a:xfrm>
            <a:off x="2355393" y="1297839"/>
            <a:ext cx="150900" cy="150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62" name="Google Shape;762;p67"/>
          <p:cNvSpPr/>
          <p:nvPr/>
        </p:nvSpPr>
        <p:spPr>
          <a:xfrm>
            <a:off x="2578785" y="1297839"/>
            <a:ext cx="150900" cy="150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63" name="Google Shape;763;p67"/>
          <p:cNvSpPr/>
          <p:nvPr/>
        </p:nvSpPr>
        <p:spPr>
          <a:xfrm>
            <a:off x="2802177" y="1297839"/>
            <a:ext cx="150900" cy="150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64" name="Google Shape;764;p67"/>
          <p:cNvSpPr txBox="1"/>
          <p:nvPr/>
        </p:nvSpPr>
        <p:spPr>
          <a:xfrm>
            <a:off x="2237888" y="1514847"/>
            <a:ext cx="4668000" cy="30351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  #include &lt;iostream&gt;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2</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3</a:t>
            </a:r>
            <a:r>
              <a:rPr b="0" i="0" lang="es" sz="1000" u="none" cap="none" strike="noStrike">
                <a:solidFill>
                  <a:srgbClr val="383A42"/>
                </a:solidFill>
                <a:latin typeface="Arial"/>
                <a:ea typeface="Arial"/>
                <a:cs typeface="Arial"/>
                <a:sym typeface="Arial"/>
              </a:rPr>
              <a:t>  </a:t>
            </a:r>
            <a:r>
              <a:rPr b="0" i="0" lang="es" sz="1000" u="none" cap="none" strike="noStrike">
                <a:solidFill>
                  <a:srgbClr val="A626A4"/>
                </a:solidFill>
                <a:latin typeface="Arial"/>
                <a:ea typeface="Arial"/>
                <a:cs typeface="Arial"/>
                <a:sym typeface="Arial"/>
              </a:rPr>
              <a:t>using</a:t>
            </a:r>
            <a:r>
              <a:rPr b="0" i="0" lang="es" sz="1000" u="none" cap="none" strike="noStrike">
                <a:solidFill>
                  <a:srgbClr val="383A42"/>
                </a:solidFill>
                <a:latin typeface="Arial"/>
                <a:ea typeface="Arial"/>
                <a:cs typeface="Arial"/>
                <a:sym typeface="Arial"/>
              </a:rPr>
              <a:t> </a:t>
            </a:r>
            <a:r>
              <a:rPr b="0" i="0" lang="es" sz="1000" u="none" cap="none" strike="noStrike">
                <a:solidFill>
                  <a:srgbClr val="A626A4"/>
                </a:solidFill>
                <a:latin typeface="Arial"/>
                <a:ea typeface="Arial"/>
                <a:cs typeface="Arial"/>
                <a:sym typeface="Arial"/>
              </a:rPr>
              <a:t>namespace</a:t>
            </a:r>
            <a:r>
              <a:rPr b="0" i="0" lang="es" sz="1000" u="none" cap="none" strike="noStrike">
                <a:solidFill>
                  <a:srgbClr val="383A42"/>
                </a:solidFill>
                <a:latin typeface="Arial"/>
                <a:ea typeface="Arial"/>
                <a:cs typeface="Arial"/>
                <a:sym typeface="Arial"/>
              </a:rPr>
              <a:t> </a:t>
            </a:r>
            <a:r>
              <a:rPr b="0" i="0" lang="es" sz="1000" u="none" cap="none" strike="noStrike">
                <a:solidFill>
                  <a:srgbClr val="4078F2"/>
                </a:solidFill>
                <a:latin typeface="Arial"/>
                <a:ea typeface="Arial"/>
                <a:cs typeface="Arial"/>
                <a:sym typeface="Arial"/>
              </a:rPr>
              <a:t>std</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4</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5</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6</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7</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void</a:t>
            </a:r>
            <a:r>
              <a:rPr b="0" i="0" lang="es" sz="1000" u="none" cap="none" strike="noStrike">
                <a:solidFill>
                  <a:srgbClr val="383A42"/>
                </a:solidFill>
                <a:latin typeface="Arial"/>
                <a:ea typeface="Arial"/>
                <a:cs typeface="Arial"/>
                <a:sym typeface="Arial"/>
              </a:rPr>
              <a:t> </a:t>
            </a:r>
            <a:r>
              <a:rPr b="0" i="0" lang="es" sz="1000" u="none" cap="none" strike="noStrike">
                <a:solidFill>
                  <a:srgbClr val="4078F2"/>
                </a:solidFill>
                <a:latin typeface="Arial"/>
                <a:ea typeface="Arial"/>
                <a:cs typeface="Arial"/>
                <a:sym typeface="Arial"/>
              </a:rPr>
              <a:t>f</a:t>
            </a:r>
            <a:r>
              <a:rPr b="0" i="0" lang="es" sz="1000" u="none" cap="none" strike="noStrike">
                <a:solidFill>
                  <a:srgbClr val="383A42"/>
                </a:solidFill>
                <a:latin typeface="Arial"/>
                <a:ea typeface="Arial"/>
                <a:cs typeface="Arial"/>
                <a:sym typeface="Arial"/>
              </a:rPr>
              <a:t>(</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x</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y</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8</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0184BC"/>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383A42"/>
                </a:solidFill>
                <a:latin typeface="Arial"/>
                <a:ea typeface="Arial"/>
                <a:cs typeface="Arial"/>
                <a:sym typeface="Arial"/>
              </a:rPr>
              <a:t>  </a:t>
            </a:r>
            <a:r>
              <a:rPr b="0" i="0" lang="es" sz="1000" u="none" cap="none" strike="noStrike">
                <a:solidFill>
                  <a:srgbClr val="929292"/>
                </a:solidFill>
                <a:latin typeface="Arial"/>
                <a:ea typeface="Arial"/>
                <a:cs typeface="Arial"/>
                <a:sym typeface="Arial"/>
              </a:rPr>
              <a:t>9</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x</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x</a:t>
            </a:r>
            <a:r>
              <a:rPr b="0" i="0" lang="es" sz="1000" u="none" cap="none" strike="noStrike">
                <a:solidFill>
                  <a:srgbClr val="0184BC"/>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10</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y</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y</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11</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12</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13</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4078F2"/>
                </a:solidFill>
                <a:latin typeface="Arial"/>
                <a:ea typeface="Arial"/>
                <a:cs typeface="Arial"/>
                <a:sym typeface="Arial"/>
              </a:rPr>
              <a:t>main</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14</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b</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15</a:t>
            </a:r>
            <a:r>
              <a:rPr b="0" i="0" lang="es" sz="1000" u="none" cap="none" strike="noStrike">
                <a:solidFill>
                  <a:srgbClr val="383A42"/>
                </a:solidFill>
                <a:latin typeface="Arial"/>
                <a:ea typeface="Arial"/>
                <a:cs typeface="Arial"/>
                <a:sym typeface="Arial"/>
              </a:rPr>
              <a:t>  	</a:t>
            </a:r>
            <a:r>
              <a:rPr b="0" i="0" lang="es" sz="1000" u="none" cap="none" strike="noStrike">
                <a:solidFill>
                  <a:srgbClr val="27292F"/>
                </a:solidFill>
                <a:latin typeface="Arial"/>
                <a:ea typeface="Arial"/>
                <a:cs typeface="Arial"/>
                <a:sym typeface="Arial"/>
              </a:rPr>
              <a:t>int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1</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a:t>
            </a:r>
            <a:r>
              <a:rPr b="0" i="0" lang="es" sz="1000" u="none" cap="none" strike="noStrike">
                <a:solidFill>
                  <a:srgbClr val="383A42"/>
                </a:solidFill>
                <a:latin typeface="Arial"/>
                <a:ea typeface="Arial"/>
                <a:cs typeface="Arial"/>
                <a:sym typeface="Arial"/>
              </a:rPr>
              <a:t> {</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16</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17</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f</a:t>
            </a:r>
            <a:r>
              <a:rPr b="0" i="0" lang="es" sz="1000" u="none" cap="none" strike="noStrike">
                <a:solidFill>
                  <a:srgbClr val="383A42"/>
                </a:solidFill>
                <a:latin typeface="Arial"/>
                <a:ea typeface="Arial"/>
                <a:cs typeface="Arial"/>
                <a:sym typeface="Arial"/>
              </a:rPr>
              <a:t>(</a:t>
            </a:r>
            <a:r>
              <a:rPr b="0" i="0" lang="es" sz="1000" u="none" cap="none" strike="noStrike">
                <a:solidFill>
                  <a:srgbClr val="E06C75"/>
                </a:solidFill>
                <a:latin typeface="Arial"/>
                <a:ea typeface="Arial"/>
                <a:cs typeface="Arial"/>
                <a:sym typeface="Arial"/>
              </a:rPr>
              <a:t>b</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18</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19</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cout</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a</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endl</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b</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endl</a:t>
            </a:r>
            <a:r>
              <a:rPr b="0" i="0" lang="es" sz="1000" u="none" cap="none" strike="noStrike">
                <a:solidFill>
                  <a:srgbClr val="383A42"/>
                </a:solidFill>
                <a:latin typeface="Arial"/>
                <a:ea typeface="Arial"/>
                <a:cs typeface="Arial"/>
                <a:sym typeface="Arial"/>
              </a:rPr>
              <a:t> </a:t>
            </a:r>
            <a:r>
              <a:rPr b="0" i="0" lang="es" sz="1000" u="none" cap="none" strike="noStrike">
                <a:solidFill>
                  <a:srgbClr val="0184BC"/>
                </a:solidFill>
                <a:latin typeface="Arial"/>
                <a:ea typeface="Arial"/>
                <a:cs typeface="Arial"/>
                <a:sym typeface="Arial"/>
              </a:rPr>
              <a:t>&lt;&lt;</a:t>
            </a:r>
            <a:r>
              <a:rPr b="0" i="0" lang="es" sz="1000" u="none" cap="none" strike="noStrike">
                <a:solidFill>
                  <a:srgbClr val="383A42"/>
                </a:solidFill>
                <a:latin typeface="Arial"/>
                <a:ea typeface="Arial"/>
                <a:cs typeface="Arial"/>
                <a:sym typeface="Arial"/>
              </a:rPr>
              <a:t> </a:t>
            </a:r>
            <a:r>
              <a:rPr b="0" i="0" lang="es" sz="1000" u="none" cap="none" strike="noStrike">
                <a:solidFill>
                  <a:srgbClr val="E06C75"/>
                </a:solidFill>
                <a:latin typeface="Arial"/>
                <a:ea typeface="Arial"/>
                <a:cs typeface="Arial"/>
                <a:sym typeface="Arial"/>
              </a:rPr>
              <a:t>c</a:t>
            </a:r>
            <a:r>
              <a:rPr b="0" i="0" lang="es" sz="1000" u="none" cap="none" strike="noStrike">
                <a:solidFill>
                  <a:srgbClr val="383A42"/>
                </a:solidFill>
                <a:latin typeface="Arial"/>
                <a:ea typeface="Arial"/>
                <a:cs typeface="Arial"/>
                <a:sym typeface="Arial"/>
              </a:rPr>
              <a:t>[</a:t>
            </a:r>
            <a:r>
              <a:rPr b="0" i="0" lang="es" sz="1000" u="none" cap="none" strike="noStrike">
                <a:solidFill>
                  <a:srgbClr val="986801"/>
                </a:solidFill>
                <a:latin typeface="Arial"/>
                <a:ea typeface="Arial"/>
                <a:cs typeface="Arial"/>
                <a:sym typeface="Arial"/>
              </a:rPr>
              <a:t>0</a:t>
            </a:r>
            <a:r>
              <a:rPr b="0" i="0" lang="es" sz="1000" u="none" cap="none" strike="noStrike">
                <a:solidFill>
                  <a:srgbClr val="383A42"/>
                </a:solidFill>
                <a:latin typeface="Arial"/>
                <a:ea typeface="Arial"/>
                <a:cs typeface="Arial"/>
                <a:sym typeface="Arial"/>
              </a:rPr>
              <a:t>];</a:t>
            </a:r>
            <a:endParaRPr b="0" i="0" sz="1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929292"/>
                </a:solidFill>
                <a:latin typeface="Arial"/>
                <a:ea typeface="Arial"/>
                <a:cs typeface="Arial"/>
                <a:sym typeface="Arial"/>
              </a:rPr>
              <a:t>20</a:t>
            </a:r>
            <a:r>
              <a:rPr b="0" i="0" lang="es" sz="1000" u="none" cap="none" strike="noStrike">
                <a:solidFill>
                  <a:srgbClr val="383A42"/>
                </a:solidFill>
                <a:latin typeface="Arial"/>
                <a:ea typeface="Arial"/>
                <a:cs typeface="Arial"/>
                <a:sym typeface="Arial"/>
              </a:rPr>
              <a:t>  }</a:t>
            </a:r>
            <a:endParaRPr b="0" i="0" sz="1000" u="none" cap="none" strike="noStrike">
              <a:solidFill>
                <a:srgbClr val="383A42"/>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Alcance de Variables - Local vs Global</a:t>
            </a:r>
            <a:endParaRPr/>
          </a:p>
        </p:txBody>
      </p:sp>
      <p:sp>
        <p:nvSpPr>
          <p:cNvPr id="770" name="Google Shape;770;p68"/>
          <p:cNvSpPr txBox="1"/>
          <p:nvPr>
            <p:ph idx="1" type="body"/>
          </p:nvPr>
        </p:nvSpPr>
        <p:spPr>
          <a:xfrm>
            <a:off x="311700" y="16858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2200"/>
              <a:t>Las variables </a:t>
            </a:r>
            <a:r>
              <a:rPr lang="es" sz="2200">
                <a:solidFill>
                  <a:schemeClr val="accent4"/>
                </a:solidFill>
              </a:rPr>
              <a:t>viven dentro </a:t>
            </a:r>
            <a:r>
              <a:rPr lang="es" sz="2200"/>
              <a:t>de </a:t>
            </a:r>
            <a:r>
              <a:rPr lang="es" sz="2200">
                <a:solidFill>
                  <a:schemeClr val="accent1"/>
                </a:solidFill>
              </a:rPr>
              <a:t>su alcance</a:t>
            </a:r>
            <a:r>
              <a:rPr lang="es" sz="2200"/>
              <a:t>.</a:t>
            </a:r>
            <a:endParaRPr sz="2200"/>
          </a:p>
          <a:p>
            <a:pPr indent="0" lvl="0" marL="0" rtl="0" algn="l">
              <a:lnSpc>
                <a:spcPct val="115000"/>
              </a:lnSpc>
              <a:spcBef>
                <a:spcPts val="1200"/>
              </a:spcBef>
              <a:spcAft>
                <a:spcPts val="0"/>
              </a:spcAft>
              <a:buSzPts val="1800"/>
              <a:buNone/>
            </a:pPr>
            <a:r>
              <a:rPr lang="es" sz="2200"/>
              <a:t>Los alcances se anidan. (Es decir que, variables de alcances más exteriores, son visibles en alcances interiores)</a:t>
            </a:r>
            <a:endParaRPr sz="2200"/>
          </a:p>
          <a:p>
            <a:pPr indent="0" lvl="0" marL="0" rtl="0" algn="l">
              <a:lnSpc>
                <a:spcPct val="115000"/>
              </a:lnSpc>
              <a:spcBef>
                <a:spcPts val="1200"/>
              </a:spcBef>
              <a:spcAft>
                <a:spcPts val="0"/>
              </a:spcAft>
              <a:buSzPts val="1800"/>
              <a:buNone/>
            </a:pPr>
            <a:r>
              <a:rPr lang="es" sz="2200"/>
              <a:t>Una </a:t>
            </a:r>
            <a:r>
              <a:rPr lang="es" sz="2200">
                <a:solidFill>
                  <a:schemeClr val="accent4"/>
                </a:solidFill>
              </a:rPr>
              <a:t>variable global</a:t>
            </a:r>
            <a:r>
              <a:rPr lang="es" sz="2200"/>
              <a:t> se puede </a:t>
            </a:r>
            <a:r>
              <a:rPr lang="es" sz="2200">
                <a:solidFill>
                  <a:schemeClr val="accent1"/>
                </a:solidFill>
              </a:rPr>
              <a:t>usar en</a:t>
            </a:r>
            <a:r>
              <a:rPr lang="es" sz="2200"/>
              <a:t> expresiones dentro de un </a:t>
            </a:r>
            <a:r>
              <a:rPr lang="es" sz="2200">
                <a:solidFill>
                  <a:schemeClr val="accent4"/>
                </a:solidFill>
              </a:rPr>
              <a:t>alcance local</a:t>
            </a:r>
            <a:r>
              <a:rPr lang="es" sz="2200"/>
              <a:t>.</a:t>
            </a:r>
            <a:endParaRPr sz="2200"/>
          </a:p>
          <a:p>
            <a:pPr indent="0" lvl="0" marL="0" rtl="0" algn="l">
              <a:lnSpc>
                <a:spcPct val="115000"/>
              </a:lnSpc>
              <a:spcBef>
                <a:spcPts val="1200"/>
              </a:spcBef>
              <a:spcAft>
                <a:spcPts val="1200"/>
              </a:spcAft>
              <a:buSzPts val="1800"/>
              <a:buNone/>
            </a:pPr>
            <a:r>
              <a:t/>
            </a:r>
            <a:endParaRPr sz="22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pic>
        <p:nvPicPr>
          <p:cNvPr id="775" name="Google Shape;775;p69"/>
          <p:cNvPicPr preferRelativeResize="0"/>
          <p:nvPr/>
        </p:nvPicPr>
        <p:blipFill rotWithShape="1">
          <a:blip r:embed="rId3">
            <a:alphaModFix amt="20000"/>
          </a:blip>
          <a:srcRect b="0" l="0" r="0" t="0"/>
          <a:stretch/>
        </p:blipFill>
        <p:spPr>
          <a:xfrm>
            <a:off x="4129825" y="133350"/>
            <a:ext cx="4876800" cy="4876800"/>
          </a:xfrm>
          <a:prstGeom prst="rect">
            <a:avLst/>
          </a:prstGeom>
          <a:noFill/>
          <a:ln>
            <a:noFill/>
          </a:ln>
        </p:spPr>
      </p:pic>
      <p:sp>
        <p:nvSpPr>
          <p:cNvPr id="776" name="Google Shape;776;p6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Matrices</a:t>
            </a:r>
            <a:endParaRPr sz="70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Matrices</a:t>
            </a:r>
            <a:endParaRPr/>
          </a:p>
        </p:txBody>
      </p:sp>
      <p:pic>
        <p:nvPicPr>
          <p:cNvPr id="782" name="Google Shape;782;p70"/>
          <p:cNvPicPr preferRelativeResize="0"/>
          <p:nvPr/>
        </p:nvPicPr>
        <p:blipFill rotWithShape="1">
          <a:blip r:embed="rId3">
            <a:alphaModFix/>
          </a:blip>
          <a:srcRect b="0" l="0" r="0" t="0"/>
          <a:stretch/>
        </p:blipFill>
        <p:spPr>
          <a:xfrm>
            <a:off x="311700" y="1787050"/>
            <a:ext cx="4233899" cy="2147250"/>
          </a:xfrm>
          <a:prstGeom prst="rect">
            <a:avLst/>
          </a:prstGeom>
          <a:noFill/>
          <a:ln>
            <a:noFill/>
          </a:ln>
        </p:spPr>
      </p:pic>
      <p:sp>
        <p:nvSpPr>
          <p:cNvPr id="783" name="Google Shape;783;p70"/>
          <p:cNvSpPr txBox="1"/>
          <p:nvPr>
            <p:ph idx="1" type="body"/>
          </p:nvPr>
        </p:nvSpPr>
        <p:spPr>
          <a:xfrm flipH="1">
            <a:off x="5033500" y="1152475"/>
            <a:ext cx="3702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pic>
        <p:nvPicPr>
          <p:cNvPr id="788" name="Google Shape;788;p71"/>
          <p:cNvPicPr preferRelativeResize="0"/>
          <p:nvPr/>
        </p:nvPicPr>
        <p:blipFill rotWithShape="1">
          <a:blip r:embed="rId3">
            <a:alphaModFix/>
          </a:blip>
          <a:srcRect b="0" l="0" r="0" t="0"/>
          <a:stretch/>
        </p:blipFill>
        <p:spPr>
          <a:xfrm>
            <a:off x="199967" y="1787050"/>
            <a:ext cx="4457365" cy="2147250"/>
          </a:xfrm>
          <a:prstGeom prst="rect">
            <a:avLst/>
          </a:prstGeom>
          <a:noFill/>
          <a:ln>
            <a:noFill/>
          </a:ln>
        </p:spPr>
      </p:pic>
      <p:sp>
        <p:nvSpPr>
          <p:cNvPr id="789" name="Google Shape;789;p7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Matrices</a:t>
            </a:r>
            <a:endParaRPr/>
          </a:p>
        </p:txBody>
      </p:sp>
      <p:sp>
        <p:nvSpPr>
          <p:cNvPr id="790" name="Google Shape;790;p71"/>
          <p:cNvSpPr txBox="1"/>
          <p:nvPr>
            <p:ph idx="1" type="body"/>
          </p:nvPr>
        </p:nvSpPr>
        <p:spPr>
          <a:xfrm flipH="1">
            <a:off x="5033500" y="1152475"/>
            <a:ext cx="3702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lang="es" sz="1800">
                <a:solidFill>
                  <a:schemeClr val="accent4"/>
                </a:solidFill>
              </a:rPr>
              <a:t>Cada fila</a:t>
            </a:r>
            <a:r>
              <a:rPr lang="es" sz="1800"/>
              <a:t> puede representarse </a:t>
            </a:r>
            <a:r>
              <a:rPr lang="es" sz="1800">
                <a:solidFill>
                  <a:schemeClr val="accent4"/>
                </a:solidFill>
              </a:rPr>
              <a:t>como un arreglo</a:t>
            </a:r>
            <a:endParaRPr sz="1800">
              <a:solidFill>
                <a:schemeClr val="accent4"/>
              </a:solidFill>
            </a:endParaRPr>
          </a:p>
          <a:p>
            <a:pPr indent="0" lvl="0" marL="0" rtl="0" algn="l">
              <a:lnSpc>
                <a:spcPct val="115000"/>
              </a:lnSpc>
              <a:spcBef>
                <a:spcPts val="1200"/>
              </a:spcBef>
              <a:spcAft>
                <a:spcPts val="1200"/>
              </a:spcAft>
              <a:buSzPts val="1400"/>
              <a:buNone/>
            </a:pPr>
            <a:r>
              <a:t/>
            </a:r>
            <a:endParaRPr sz="1800">
              <a:solidFill>
                <a:schemeClr val="accent4"/>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pic>
        <p:nvPicPr>
          <p:cNvPr id="795" name="Google Shape;795;p72"/>
          <p:cNvPicPr preferRelativeResize="0"/>
          <p:nvPr/>
        </p:nvPicPr>
        <p:blipFill rotWithShape="1">
          <a:blip r:embed="rId3">
            <a:alphaModFix/>
          </a:blip>
          <a:srcRect b="0" l="0" r="78736" t="0"/>
          <a:stretch/>
        </p:blipFill>
        <p:spPr>
          <a:xfrm>
            <a:off x="199969" y="1787050"/>
            <a:ext cx="947799" cy="2147250"/>
          </a:xfrm>
          <a:prstGeom prst="rect">
            <a:avLst/>
          </a:prstGeom>
          <a:noFill/>
          <a:ln>
            <a:noFill/>
          </a:ln>
        </p:spPr>
      </p:pic>
      <p:sp>
        <p:nvSpPr>
          <p:cNvPr id="796" name="Google Shape;796;p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Matrices</a:t>
            </a:r>
            <a:endParaRPr/>
          </a:p>
        </p:txBody>
      </p:sp>
      <p:sp>
        <p:nvSpPr>
          <p:cNvPr id="797" name="Google Shape;797;p72"/>
          <p:cNvSpPr txBox="1"/>
          <p:nvPr>
            <p:ph idx="1" type="body"/>
          </p:nvPr>
        </p:nvSpPr>
        <p:spPr>
          <a:xfrm flipH="1">
            <a:off x="5033500" y="1152475"/>
            <a:ext cx="3702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lang="es" sz="1800">
                <a:solidFill>
                  <a:schemeClr val="accent4"/>
                </a:solidFill>
              </a:rPr>
              <a:t>Cada fila</a:t>
            </a:r>
            <a:r>
              <a:rPr lang="es" sz="1800"/>
              <a:t> puede representarse </a:t>
            </a:r>
            <a:r>
              <a:rPr lang="es" sz="1800">
                <a:solidFill>
                  <a:schemeClr val="accent4"/>
                </a:solidFill>
              </a:rPr>
              <a:t>como un arreglo</a:t>
            </a:r>
            <a:endParaRPr sz="1800">
              <a:solidFill>
                <a:schemeClr val="accent4"/>
              </a:solidFill>
            </a:endParaRPr>
          </a:p>
          <a:p>
            <a:pPr indent="0" lvl="0" marL="0" rtl="0" algn="l">
              <a:lnSpc>
                <a:spcPct val="115000"/>
              </a:lnSpc>
              <a:spcBef>
                <a:spcPts val="1200"/>
              </a:spcBef>
              <a:spcAft>
                <a:spcPts val="0"/>
              </a:spcAft>
              <a:buSzPts val="1400"/>
              <a:buNone/>
            </a:pPr>
            <a:r>
              <a:rPr lang="es" sz="1800"/>
              <a:t>La matriz, como un </a:t>
            </a:r>
            <a:r>
              <a:rPr lang="es" sz="1800">
                <a:solidFill>
                  <a:schemeClr val="accent1"/>
                </a:solidFill>
              </a:rPr>
              <a:t>arreglo de arreglos</a:t>
            </a:r>
            <a:r>
              <a:rPr lang="es" sz="1800"/>
              <a:t>.</a:t>
            </a:r>
            <a:endParaRPr sz="1800"/>
          </a:p>
          <a:p>
            <a:pPr indent="0" lvl="0" marL="0" rtl="0" algn="l">
              <a:lnSpc>
                <a:spcPct val="115000"/>
              </a:lnSpc>
              <a:spcBef>
                <a:spcPts val="1200"/>
              </a:spcBef>
              <a:spcAft>
                <a:spcPts val="1200"/>
              </a:spcAft>
              <a:buSzPts val="1400"/>
              <a:buNone/>
            </a:pPr>
            <a:r>
              <a:t/>
            </a:r>
            <a:endParaRPr sz="1800"/>
          </a:p>
        </p:txBody>
      </p:sp>
      <p:pic>
        <p:nvPicPr>
          <p:cNvPr id="798" name="Google Shape;798;p72"/>
          <p:cNvPicPr preferRelativeResize="0"/>
          <p:nvPr/>
        </p:nvPicPr>
        <p:blipFill rotWithShape="1">
          <a:blip r:embed="rId3">
            <a:alphaModFix/>
          </a:blip>
          <a:srcRect b="0" l="30668" r="6021" t="0"/>
          <a:stretch/>
        </p:blipFill>
        <p:spPr>
          <a:xfrm>
            <a:off x="1566999" y="1787050"/>
            <a:ext cx="2822074" cy="2147250"/>
          </a:xfrm>
          <a:prstGeom prst="rect">
            <a:avLst/>
          </a:prstGeom>
          <a:noFill/>
          <a:ln>
            <a:noFill/>
          </a:ln>
        </p:spPr>
      </p:pic>
      <p:sp>
        <p:nvSpPr>
          <p:cNvPr id="799" name="Google Shape;799;p72"/>
          <p:cNvSpPr txBox="1"/>
          <p:nvPr/>
        </p:nvSpPr>
        <p:spPr>
          <a:xfrm>
            <a:off x="1247800" y="1500875"/>
            <a:ext cx="319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chemeClr val="accent1"/>
                </a:solidFill>
                <a:latin typeface="Arial"/>
                <a:ea typeface="Arial"/>
                <a:cs typeface="Arial"/>
                <a:sym typeface="Arial"/>
              </a:rPr>
              <a:t>[</a:t>
            </a:r>
            <a:endParaRPr b="0" i="0" sz="4800" u="none" cap="none" strike="noStrike">
              <a:solidFill>
                <a:schemeClr val="accent1"/>
              </a:solidFill>
              <a:latin typeface="Arial"/>
              <a:ea typeface="Arial"/>
              <a:cs typeface="Arial"/>
              <a:sym typeface="Arial"/>
            </a:endParaRPr>
          </a:p>
        </p:txBody>
      </p:sp>
      <p:sp>
        <p:nvSpPr>
          <p:cNvPr id="800" name="Google Shape;800;p72"/>
          <p:cNvSpPr txBox="1"/>
          <p:nvPr/>
        </p:nvSpPr>
        <p:spPr>
          <a:xfrm rot="10800000">
            <a:off x="4220025" y="3259175"/>
            <a:ext cx="319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chemeClr val="accent1"/>
                </a:solidFill>
                <a:latin typeface="Arial"/>
                <a:ea typeface="Arial"/>
                <a:cs typeface="Arial"/>
                <a:sym typeface="Arial"/>
              </a:rPr>
              <a:t>[</a:t>
            </a:r>
            <a:endParaRPr b="0" i="0" sz="4800" u="none" cap="none" strike="noStrike">
              <a:solidFill>
                <a:schemeClr val="accent1"/>
              </a:solidFill>
              <a:latin typeface="Arial"/>
              <a:ea typeface="Arial"/>
              <a:cs typeface="Arial"/>
              <a:sym typeface="Arial"/>
            </a:endParaRPr>
          </a:p>
        </p:txBody>
      </p:sp>
      <p:sp>
        <p:nvSpPr>
          <p:cNvPr id="801" name="Google Shape;801;p72"/>
          <p:cNvSpPr txBox="1"/>
          <p:nvPr/>
        </p:nvSpPr>
        <p:spPr>
          <a:xfrm>
            <a:off x="4069875" y="1500875"/>
            <a:ext cx="319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chemeClr val="accent1"/>
                </a:solidFill>
                <a:latin typeface="Arial"/>
                <a:ea typeface="Arial"/>
                <a:cs typeface="Arial"/>
                <a:sym typeface="Arial"/>
              </a:rPr>
              <a:t>,</a:t>
            </a:r>
            <a:endParaRPr b="0" i="0" sz="4800" u="none" cap="none" strike="noStrike">
              <a:solidFill>
                <a:schemeClr val="accent1"/>
              </a:solidFill>
              <a:latin typeface="Arial"/>
              <a:ea typeface="Arial"/>
              <a:cs typeface="Arial"/>
              <a:sym typeface="Arial"/>
            </a:endParaRPr>
          </a:p>
        </p:txBody>
      </p:sp>
      <p:sp>
        <p:nvSpPr>
          <p:cNvPr id="802" name="Google Shape;802;p72"/>
          <p:cNvSpPr txBox="1"/>
          <p:nvPr/>
        </p:nvSpPr>
        <p:spPr>
          <a:xfrm>
            <a:off x="4220025" y="2157900"/>
            <a:ext cx="319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chemeClr val="accent1"/>
                </a:solidFill>
                <a:latin typeface="Arial"/>
                <a:ea typeface="Arial"/>
                <a:cs typeface="Arial"/>
                <a:sym typeface="Arial"/>
              </a:rPr>
              <a:t>,</a:t>
            </a:r>
            <a:endParaRPr b="0" i="0" sz="4800" u="none" cap="none" strike="noStrike">
              <a:solidFill>
                <a:schemeClr val="accent1"/>
              </a:solidFill>
              <a:latin typeface="Arial"/>
              <a:ea typeface="Arial"/>
              <a:cs typeface="Arial"/>
              <a:sym typeface="Arial"/>
            </a:endParaRPr>
          </a:p>
        </p:txBody>
      </p:sp>
      <p:sp>
        <p:nvSpPr>
          <p:cNvPr id="803" name="Google Shape;803;p72"/>
          <p:cNvSpPr txBox="1"/>
          <p:nvPr/>
        </p:nvSpPr>
        <p:spPr>
          <a:xfrm>
            <a:off x="4026050" y="2678125"/>
            <a:ext cx="319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chemeClr val="accent1"/>
                </a:solidFill>
                <a:latin typeface="Arial"/>
                <a:ea typeface="Arial"/>
                <a:cs typeface="Arial"/>
                <a:sym typeface="Arial"/>
              </a:rPr>
              <a:t>,</a:t>
            </a:r>
            <a:endParaRPr b="0" i="0" sz="4800" u="none" cap="none" strike="noStrike">
              <a:solidFill>
                <a:schemeClr val="accent1"/>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pic>
        <p:nvPicPr>
          <p:cNvPr id="808" name="Google Shape;808;p73"/>
          <p:cNvPicPr preferRelativeResize="0"/>
          <p:nvPr/>
        </p:nvPicPr>
        <p:blipFill rotWithShape="1">
          <a:blip r:embed="rId3">
            <a:alphaModFix/>
          </a:blip>
          <a:srcRect b="0" l="0" r="78736" t="0"/>
          <a:stretch/>
        </p:blipFill>
        <p:spPr>
          <a:xfrm>
            <a:off x="199969" y="1787050"/>
            <a:ext cx="947799" cy="2147250"/>
          </a:xfrm>
          <a:prstGeom prst="rect">
            <a:avLst/>
          </a:prstGeom>
          <a:noFill/>
          <a:ln>
            <a:noFill/>
          </a:ln>
        </p:spPr>
      </p:pic>
      <p:sp>
        <p:nvSpPr>
          <p:cNvPr id="809" name="Google Shape;809;p7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Matrices</a:t>
            </a:r>
            <a:endParaRPr/>
          </a:p>
        </p:txBody>
      </p:sp>
      <p:sp>
        <p:nvSpPr>
          <p:cNvPr id="810" name="Google Shape;810;p73"/>
          <p:cNvSpPr txBox="1"/>
          <p:nvPr>
            <p:ph idx="1" type="body"/>
          </p:nvPr>
        </p:nvSpPr>
        <p:spPr>
          <a:xfrm flipH="1">
            <a:off x="5033500" y="1152475"/>
            <a:ext cx="3702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lang="es" sz="1800">
                <a:solidFill>
                  <a:schemeClr val="accent4"/>
                </a:solidFill>
              </a:rPr>
              <a:t>Cada fila</a:t>
            </a:r>
            <a:r>
              <a:rPr lang="es" sz="1800"/>
              <a:t> puede representarse </a:t>
            </a:r>
            <a:r>
              <a:rPr lang="es" sz="1800">
                <a:solidFill>
                  <a:schemeClr val="accent4"/>
                </a:solidFill>
              </a:rPr>
              <a:t>como un arreglo</a:t>
            </a:r>
            <a:endParaRPr sz="1800">
              <a:solidFill>
                <a:schemeClr val="accent4"/>
              </a:solidFill>
            </a:endParaRPr>
          </a:p>
          <a:p>
            <a:pPr indent="0" lvl="0" marL="0" rtl="0" algn="l">
              <a:lnSpc>
                <a:spcPct val="115000"/>
              </a:lnSpc>
              <a:spcBef>
                <a:spcPts val="1200"/>
              </a:spcBef>
              <a:spcAft>
                <a:spcPts val="0"/>
              </a:spcAft>
              <a:buSzPts val="1400"/>
              <a:buNone/>
            </a:pPr>
            <a:r>
              <a:rPr lang="es" sz="1800"/>
              <a:t>La matriz, como un </a:t>
            </a:r>
            <a:r>
              <a:rPr lang="es" sz="1800">
                <a:solidFill>
                  <a:schemeClr val="accent1"/>
                </a:solidFill>
              </a:rPr>
              <a:t>arreglo de arreglos</a:t>
            </a:r>
            <a:r>
              <a:rPr lang="es" sz="1800"/>
              <a:t>.</a:t>
            </a:r>
            <a:endParaRPr sz="1800"/>
          </a:p>
          <a:p>
            <a:pPr indent="0" lvl="0" marL="0" rtl="0" algn="l">
              <a:lnSpc>
                <a:spcPct val="115000"/>
              </a:lnSpc>
              <a:spcBef>
                <a:spcPts val="1200"/>
              </a:spcBef>
              <a:spcAft>
                <a:spcPts val="1200"/>
              </a:spcAft>
              <a:buSzPts val="1400"/>
              <a:buNone/>
            </a:pPr>
            <a:r>
              <a:rPr b="1" lang="es" sz="1800"/>
              <a:t>m[</a:t>
            </a:r>
            <a:r>
              <a:rPr b="1" lang="es" sz="1800">
                <a:solidFill>
                  <a:schemeClr val="accent4"/>
                </a:solidFill>
              </a:rPr>
              <a:t>i</a:t>
            </a:r>
            <a:r>
              <a:rPr b="1" lang="es" sz="1800"/>
              <a:t>][</a:t>
            </a:r>
            <a:r>
              <a:rPr b="1" lang="es" sz="1800">
                <a:solidFill>
                  <a:schemeClr val="accent1"/>
                </a:solidFill>
              </a:rPr>
              <a:t>j</a:t>
            </a:r>
            <a:r>
              <a:rPr b="1" lang="es" sz="1800"/>
              <a:t>]</a:t>
            </a:r>
            <a:r>
              <a:rPr lang="es" sz="1800"/>
              <a:t> es la indexación para </a:t>
            </a:r>
            <a:r>
              <a:rPr lang="es" sz="1800">
                <a:solidFill>
                  <a:srgbClr val="A4C2F4"/>
                </a:solidFill>
              </a:rPr>
              <a:t>acceder </a:t>
            </a:r>
            <a:r>
              <a:rPr lang="es" sz="1800"/>
              <a:t>primero a la </a:t>
            </a:r>
            <a:r>
              <a:rPr lang="es" sz="1800">
                <a:solidFill>
                  <a:schemeClr val="accent4"/>
                </a:solidFill>
              </a:rPr>
              <a:t>fila i</a:t>
            </a:r>
            <a:r>
              <a:rPr lang="es" sz="1800"/>
              <a:t> y luego a la </a:t>
            </a:r>
            <a:r>
              <a:rPr lang="es" sz="1800">
                <a:solidFill>
                  <a:schemeClr val="accent1"/>
                </a:solidFill>
              </a:rPr>
              <a:t>columna j</a:t>
            </a:r>
            <a:endParaRPr sz="1800">
              <a:solidFill>
                <a:schemeClr val="accent1"/>
              </a:solidFill>
            </a:endParaRPr>
          </a:p>
        </p:txBody>
      </p:sp>
      <p:pic>
        <p:nvPicPr>
          <p:cNvPr id="811" name="Google Shape;811;p73"/>
          <p:cNvPicPr preferRelativeResize="0"/>
          <p:nvPr/>
        </p:nvPicPr>
        <p:blipFill rotWithShape="1">
          <a:blip r:embed="rId3">
            <a:alphaModFix/>
          </a:blip>
          <a:srcRect b="0" l="30668" r="6021" t="0"/>
          <a:stretch/>
        </p:blipFill>
        <p:spPr>
          <a:xfrm>
            <a:off x="1566999" y="1787050"/>
            <a:ext cx="2822074" cy="2147250"/>
          </a:xfrm>
          <a:prstGeom prst="rect">
            <a:avLst/>
          </a:prstGeom>
          <a:noFill/>
          <a:ln>
            <a:noFill/>
          </a:ln>
        </p:spPr>
      </p:pic>
      <p:sp>
        <p:nvSpPr>
          <p:cNvPr id="812" name="Google Shape;812;p73"/>
          <p:cNvSpPr txBox="1"/>
          <p:nvPr/>
        </p:nvSpPr>
        <p:spPr>
          <a:xfrm>
            <a:off x="1247800" y="1500875"/>
            <a:ext cx="319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chemeClr val="accent1"/>
                </a:solidFill>
                <a:latin typeface="Arial"/>
                <a:ea typeface="Arial"/>
                <a:cs typeface="Arial"/>
                <a:sym typeface="Arial"/>
              </a:rPr>
              <a:t>[</a:t>
            </a:r>
            <a:endParaRPr b="0" i="0" sz="4800" u="none" cap="none" strike="noStrike">
              <a:solidFill>
                <a:schemeClr val="accent1"/>
              </a:solidFill>
              <a:latin typeface="Arial"/>
              <a:ea typeface="Arial"/>
              <a:cs typeface="Arial"/>
              <a:sym typeface="Arial"/>
            </a:endParaRPr>
          </a:p>
        </p:txBody>
      </p:sp>
      <p:sp>
        <p:nvSpPr>
          <p:cNvPr id="813" name="Google Shape;813;p73"/>
          <p:cNvSpPr txBox="1"/>
          <p:nvPr/>
        </p:nvSpPr>
        <p:spPr>
          <a:xfrm rot="10800000">
            <a:off x="4220025" y="3259175"/>
            <a:ext cx="319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chemeClr val="accent1"/>
                </a:solidFill>
                <a:latin typeface="Arial"/>
                <a:ea typeface="Arial"/>
                <a:cs typeface="Arial"/>
                <a:sym typeface="Arial"/>
              </a:rPr>
              <a:t>[</a:t>
            </a:r>
            <a:endParaRPr b="0" i="0" sz="4800" u="none" cap="none" strike="noStrike">
              <a:solidFill>
                <a:schemeClr val="accent1"/>
              </a:solidFill>
              <a:latin typeface="Arial"/>
              <a:ea typeface="Arial"/>
              <a:cs typeface="Arial"/>
              <a:sym typeface="Arial"/>
            </a:endParaRPr>
          </a:p>
        </p:txBody>
      </p:sp>
      <p:sp>
        <p:nvSpPr>
          <p:cNvPr id="814" name="Google Shape;814;p73"/>
          <p:cNvSpPr txBox="1"/>
          <p:nvPr/>
        </p:nvSpPr>
        <p:spPr>
          <a:xfrm>
            <a:off x="4069875" y="1500875"/>
            <a:ext cx="319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chemeClr val="accent1"/>
                </a:solidFill>
                <a:latin typeface="Arial"/>
                <a:ea typeface="Arial"/>
                <a:cs typeface="Arial"/>
                <a:sym typeface="Arial"/>
              </a:rPr>
              <a:t>,</a:t>
            </a:r>
            <a:endParaRPr b="0" i="0" sz="4800" u="none" cap="none" strike="noStrike">
              <a:solidFill>
                <a:schemeClr val="accent1"/>
              </a:solidFill>
              <a:latin typeface="Arial"/>
              <a:ea typeface="Arial"/>
              <a:cs typeface="Arial"/>
              <a:sym typeface="Arial"/>
            </a:endParaRPr>
          </a:p>
        </p:txBody>
      </p:sp>
      <p:sp>
        <p:nvSpPr>
          <p:cNvPr id="815" name="Google Shape;815;p73"/>
          <p:cNvSpPr txBox="1"/>
          <p:nvPr/>
        </p:nvSpPr>
        <p:spPr>
          <a:xfrm>
            <a:off x="4220025" y="2157900"/>
            <a:ext cx="319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chemeClr val="accent1"/>
                </a:solidFill>
                <a:latin typeface="Arial"/>
                <a:ea typeface="Arial"/>
                <a:cs typeface="Arial"/>
                <a:sym typeface="Arial"/>
              </a:rPr>
              <a:t>,</a:t>
            </a:r>
            <a:endParaRPr b="0" i="0" sz="4800" u="none" cap="none" strike="noStrike">
              <a:solidFill>
                <a:schemeClr val="accent1"/>
              </a:solidFill>
              <a:latin typeface="Arial"/>
              <a:ea typeface="Arial"/>
              <a:cs typeface="Arial"/>
              <a:sym typeface="Arial"/>
            </a:endParaRPr>
          </a:p>
        </p:txBody>
      </p:sp>
      <p:sp>
        <p:nvSpPr>
          <p:cNvPr id="816" name="Google Shape;816;p73"/>
          <p:cNvSpPr txBox="1"/>
          <p:nvPr/>
        </p:nvSpPr>
        <p:spPr>
          <a:xfrm>
            <a:off x="4026050" y="2678125"/>
            <a:ext cx="319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chemeClr val="accent1"/>
                </a:solidFill>
                <a:latin typeface="Arial"/>
                <a:ea typeface="Arial"/>
                <a:cs typeface="Arial"/>
                <a:sym typeface="Arial"/>
              </a:rPr>
              <a:t>,</a:t>
            </a:r>
            <a:endParaRPr b="0" i="0" sz="4800" u="none" cap="none" strike="noStrike">
              <a:solidFill>
                <a:schemeClr val="accent1"/>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822" name="Google Shape;822;p74"/>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823" name="Google Shape;823;p74"/>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824" name="Google Shape;824;p74"/>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25" name="Google Shape;825;p74"/>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26" name="Google Shape;826;p74"/>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27" name="Google Shape;827;p74"/>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28" name="Google Shape;828;p74"/>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imagen[i][j]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829" name="Google Shape;829;p74"/>
          <p:cNvSpPr txBox="1"/>
          <p:nvPr>
            <p:ph idx="1" type="body"/>
          </p:nvPr>
        </p:nvSpPr>
        <p:spPr>
          <a:xfrm>
            <a:off x="311700" y="1152475"/>
            <a:ext cx="3643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fila</a:t>
            </a:r>
            <a:r>
              <a:rPr b="1" lang="es"/>
              <a:t> por fila</a:t>
            </a:r>
            <a:r>
              <a:rPr lang="es"/>
              <a:t>.</a:t>
            </a:r>
            <a:endParaRPr/>
          </a:p>
        </p:txBody>
      </p:sp>
      <p:graphicFrame>
        <p:nvGraphicFramePr>
          <p:cNvPr id="830" name="Google Shape;830;p74"/>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836" name="Google Shape;836;p75"/>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837" name="Google Shape;837;p75"/>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838" name="Google Shape;838;p75"/>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39" name="Google Shape;839;p75"/>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40" name="Google Shape;840;p75"/>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41" name="Google Shape;841;p75"/>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42" name="Google Shape;842;p75"/>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imagen[i][j]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843" name="Google Shape;843;p75"/>
          <p:cNvSpPr txBox="1"/>
          <p:nvPr>
            <p:ph idx="1" type="body"/>
          </p:nvPr>
        </p:nvSpPr>
        <p:spPr>
          <a:xfrm>
            <a:off x="311700" y="1152475"/>
            <a:ext cx="3643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fila por fila</a:t>
            </a:r>
            <a:r>
              <a:rPr lang="es"/>
              <a:t>.</a:t>
            </a:r>
            <a:endParaRPr/>
          </a:p>
        </p:txBody>
      </p:sp>
      <p:graphicFrame>
        <p:nvGraphicFramePr>
          <p:cNvPr id="844" name="Google Shape;844;p75"/>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bl>
          </a:graphicData>
        </a:graphic>
      </p:graphicFrame>
      <p:sp>
        <p:nvSpPr>
          <p:cNvPr id="845" name="Google Shape;845;p75"/>
          <p:cNvSpPr/>
          <p:nvPr/>
        </p:nvSpPr>
        <p:spPr>
          <a:xfrm>
            <a:off x="4075575" y="19617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46" name="Google Shape;846;p75"/>
          <p:cNvSpPr/>
          <p:nvPr/>
        </p:nvSpPr>
        <p:spPr>
          <a:xfrm>
            <a:off x="96350" y="27966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852" name="Google Shape;852;p76"/>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853" name="Google Shape;853;p76"/>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854" name="Google Shape;854;p76"/>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55" name="Google Shape;855;p76"/>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56" name="Google Shape;856;p76"/>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57" name="Google Shape;857;p76"/>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58" name="Google Shape;858;p76"/>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imagen[i][j]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859" name="Google Shape;859;p76"/>
          <p:cNvSpPr txBox="1"/>
          <p:nvPr>
            <p:ph idx="1" type="body"/>
          </p:nvPr>
        </p:nvSpPr>
        <p:spPr>
          <a:xfrm>
            <a:off x="311700" y="1152475"/>
            <a:ext cx="3643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fila por fila</a:t>
            </a:r>
            <a:r>
              <a:rPr lang="es"/>
              <a:t>.</a:t>
            </a:r>
            <a:endParaRPr/>
          </a:p>
        </p:txBody>
      </p:sp>
      <p:graphicFrame>
        <p:nvGraphicFramePr>
          <p:cNvPr id="860" name="Google Shape;860;p76"/>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ctr">
                        <a:spcBef>
                          <a:spcPts val="0"/>
                        </a:spcBef>
                        <a:spcAft>
                          <a:spcPts val="0"/>
                        </a:spcAft>
                        <a:buNone/>
                      </a:pPr>
                      <a:r>
                        <a:rPr b="1" lang="es" sz="600"/>
                        <a:t>0</a:t>
                      </a:r>
                      <a:endParaRPr b="1"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2975">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bl>
          </a:graphicData>
        </a:graphic>
      </p:graphicFrame>
      <p:sp>
        <p:nvSpPr>
          <p:cNvPr id="861" name="Google Shape;861;p76"/>
          <p:cNvSpPr/>
          <p:nvPr/>
        </p:nvSpPr>
        <p:spPr>
          <a:xfrm>
            <a:off x="4075575" y="19617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62" name="Google Shape;862;p76"/>
          <p:cNvSpPr/>
          <p:nvPr/>
        </p:nvSpPr>
        <p:spPr>
          <a:xfrm>
            <a:off x="96350" y="27966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63" name="Google Shape;863;p76"/>
          <p:cNvSpPr/>
          <p:nvPr/>
        </p:nvSpPr>
        <p:spPr>
          <a:xfrm>
            <a:off x="4227975" y="2114114"/>
            <a:ext cx="4323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64" name="Google Shape;864;p76"/>
          <p:cNvSpPr/>
          <p:nvPr/>
        </p:nvSpPr>
        <p:spPr>
          <a:xfrm rot="5400000">
            <a:off x="684443"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870" name="Google Shape;870;p77"/>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871" name="Google Shape;871;p77"/>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872" name="Google Shape;872;p77"/>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73" name="Google Shape;873;p77"/>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74" name="Google Shape;874;p77"/>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75" name="Google Shape;875;p77"/>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76" name="Google Shape;876;p77"/>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imagen[i][j]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877" name="Google Shape;877;p77"/>
          <p:cNvSpPr txBox="1"/>
          <p:nvPr>
            <p:ph idx="1" type="body"/>
          </p:nvPr>
        </p:nvSpPr>
        <p:spPr>
          <a:xfrm>
            <a:off x="311700" y="1152475"/>
            <a:ext cx="3643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fila por fila</a:t>
            </a:r>
            <a:r>
              <a:rPr lang="es"/>
              <a:t>.</a:t>
            </a:r>
            <a:endParaRPr/>
          </a:p>
        </p:txBody>
      </p:sp>
      <p:sp>
        <p:nvSpPr>
          <p:cNvPr id="878" name="Google Shape;878;p77"/>
          <p:cNvSpPr/>
          <p:nvPr/>
        </p:nvSpPr>
        <p:spPr>
          <a:xfrm>
            <a:off x="4075575" y="19617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79" name="Google Shape;879;p77"/>
          <p:cNvSpPr/>
          <p:nvPr/>
        </p:nvSpPr>
        <p:spPr>
          <a:xfrm>
            <a:off x="96350" y="27966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80" name="Google Shape;880;p77"/>
          <p:cNvSpPr/>
          <p:nvPr/>
        </p:nvSpPr>
        <p:spPr>
          <a:xfrm>
            <a:off x="4227975" y="2114114"/>
            <a:ext cx="4323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81" name="Google Shape;881;p77"/>
          <p:cNvSpPr/>
          <p:nvPr/>
        </p:nvSpPr>
        <p:spPr>
          <a:xfrm rot="5400000">
            <a:off x="684443"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82" name="Google Shape;882;p77"/>
          <p:cNvSpPr/>
          <p:nvPr/>
        </p:nvSpPr>
        <p:spPr>
          <a:xfrm rot="5400000">
            <a:off x="106076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aphicFrame>
        <p:nvGraphicFramePr>
          <p:cNvPr id="883" name="Google Shape;883;p77"/>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889" name="Google Shape;889;p78"/>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890" name="Google Shape;890;p78"/>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891" name="Google Shape;891;p78"/>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92" name="Google Shape;892;p78"/>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93" name="Google Shape;893;p78"/>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94" name="Google Shape;894;p78"/>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95" name="Google Shape;895;p78"/>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imagen[i][j]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896" name="Google Shape;896;p78"/>
          <p:cNvSpPr txBox="1"/>
          <p:nvPr>
            <p:ph idx="1" type="body"/>
          </p:nvPr>
        </p:nvSpPr>
        <p:spPr>
          <a:xfrm>
            <a:off x="311700" y="1152475"/>
            <a:ext cx="3643800" cy="1310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fila por fila</a:t>
            </a:r>
            <a:r>
              <a:rPr lang="es"/>
              <a:t>.</a:t>
            </a:r>
            <a:endParaRPr/>
          </a:p>
        </p:txBody>
      </p:sp>
      <p:sp>
        <p:nvSpPr>
          <p:cNvPr id="897" name="Google Shape;897;p78"/>
          <p:cNvSpPr/>
          <p:nvPr/>
        </p:nvSpPr>
        <p:spPr>
          <a:xfrm>
            <a:off x="4075575" y="19617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98" name="Google Shape;898;p78"/>
          <p:cNvSpPr/>
          <p:nvPr/>
        </p:nvSpPr>
        <p:spPr>
          <a:xfrm>
            <a:off x="96350" y="27966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99" name="Google Shape;899;p78"/>
          <p:cNvSpPr/>
          <p:nvPr/>
        </p:nvSpPr>
        <p:spPr>
          <a:xfrm>
            <a:off x="4227975" y="2114114"/>
            <a:ext cx="4323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00" name="Google Shape;900;p78"/>
          <p:cNvSpPr/>
          <p:nvPr/>
        </p:nvSpPr>
        <p:spPr>
          <a:xfrm rot="5400000">
            <a:off x="684443"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01" name="Google Shape;901;p78"/>
          <p:cNvSpPr/>
          <p:nvPr/>
        </p:nvSpPr>
        <p:spPr>
          <a:xfrm rot="5400000">
            <a:off x="106076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02" name="Google Shape;902;p78"/>
          <p:cNvSpPr/>
          <p:nvPr/>
        </p:nvSpPr>
        <p:spPr>
          <a:xfrm rot="5400000">
            <a:off x="1437092"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03" name="Google Shape;903;p78"/>
          <p:cNvSpPr/>
          <p:nvPr/>
        </p:nvSpPr>
        <p:spPr>
          <a:xfrm rot="5400000">
            <a:off x="181341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04" name="Google Shape;904;p78"/>
          <p:cNvSpPr/>
          <p:nvPr/>
        </p:nvSpPr>
        <p:spPr>
          <a:xfrm rot="5400000">
            <a:off x="2189742"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05" name="Google Shape;905;p78"/>
          <p:cNvSpPr/>
          <p:nvPr/>
        </p:nvSpPr>
        <p:spPr>
          <a:xfrm rot="5400000">
            <a:off x="256606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06" name="Google Shape;906;p78"/>
          <p:cNvSpPr/>
          <p:nvPr/>
        </p:nvSpPr>
        <p:spPr>
          <a:xfrm rot="5400000">
            <a:off x="335076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07" name="Google Shape;907;p78"/>
          <p:cNvSpPr/>
          <p:nvPr/>
        </p:nvSpPr>
        <p:spPr>
          <a:xfrm rot="5400000">
            <a:off x="295841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aphicFrame>
        <p:nvGraphicFramePr>
          <p:cNvPr id="908" name="Google Shape;908;p78"/>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914" name="Google Shape;914;p79"/>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915" name="Google Shape;915;p79"/>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916" name="Google Shape;916;p79"/>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17" name="Google Shape;917;p79"/>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18" name="Google Shape;918;p79"/>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19" name="Google Shape;919;p79"/>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20" name="Google Shape;920;p79"/>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imagen[i][j]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921" name="Google Shape;921;p79"/>
          <p:cNvSpPr txBox="1"/>
          <p:nvPr>
            <p:ph idx="1" type="body"/>
          </p:nvPr>
        </p:nvSpPr>
        <p:spPr>
          <a:xfrm>
            <a:off x="311700" y="1152475"/>
            <a:ext cx="3643800" cy="1310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fila por fila</a:t>
            </a:r>
            <a:r>
              <a:rPr lang="es"/>
              <a:t>.</a:t>
            </a:r>
            <a:endParaRPr/>
          </a:p>
        </p:txBody>
      </p:sp>
      <p:sp>
        <p:nvSpPr>
          <p:cNvPr id="922" name="Google Shape;922;p79"/>
          <p:cNvSpPr/>
          <p:nvPr/>
        </p:nvSpPr>
        <p:spPr>
          <a:xfrm>
            <a:off x="4075575" y="19617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23" name="Google Shape;923;p79"/>
          <p:cNvSpPr/>
          <p:nvPr/>
        </p:nvSpPr>
        <p:spPr>
          <a:xfrm>
            <a:off x="96350" y="3056589"/>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24" name="Google Shape;924;p79"/>
          <p:cNvSpPr/>
          <p:nvPr/>
        </p:nvSpPr>
        <p:spPr>
          <a:xfrm>
            <a:off x="4227975" y="2114114"/>
            <a:ext cx="4323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25" name="Google Shape;925;p79"/>
          <p:cNvSpPr/>
          <p:nvPr/>
        </p:nvSpPr>
        <p:spPr>
          <a:xfrm rot="5400000">
            <a:off x="684443"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aphicFrame>
        <p:nvGraphicFramePr>
          <p:cNvPr id="926" name="Google Shape;926;p79"/>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r>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932" name="Google Shape;932;p80"/>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933" name="Google Shape;933;p80"/>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934" name="Google Shape;934;p80"/>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35" name="Google Shape;935;p80"/>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36" name="Google Shape;936;p80"/>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37" name="Google Shape;937;p80"/>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38" name="Google Shape;938;p80"/>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imagen[i][j]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939" name="Google Shape;939;p80"/>
          <p:cNvSpPr txBox="1"/>
          <p:nvPr>
            <p:ph idx="1" type="body"/>
          </p:nvPr>
        </p:nvSpPr>
        <p:spPr>
          <a:xfrm>
            <a:off x="311700" y="1152475"/>
            <a:ext cx="3643800" cy="1310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fila por fila</a:t>
            </a:r>
            <a:r>
              <a:rPr lang="es"/>
              <a:t>.</a:t>
            </a:r>
            <a:endParaRPr/>
          </a:p>
        </p:txBody>
      </p:sp>
      <p:sp>
        <p:nvSpPr>
          <p:cNvPr id="940" name="Google Shape;940;p80"/>
          <p:cNvSpPr/>
          <p:nvPr/>
        </p:nvSpPr>
        <p:spPr>
          <a:xfrm>
            <a:off x="4075575" y="19617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41" name="Google Shape;941;p80"/>
          <p:cNvSpPr/>
          <p:nvPr/>
        </p:nvSpPr>
        <p:spPr>
          <a:xfrm>
            <a:off x="96350" y="3056589"/>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42" name="Google Shape;942;p80"/>
          <p:cNvSpPr/>
          <p:nvPr/>
        </p:nvSpPr>
        <p:spPr>
          <a:xfrm>
            <a:off x="4227975" y="2114114"/>
            <a:ext cx="4323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43" name="Google Shape;943;p80"/>
          <p:cNvSpPr/>
          <p:nvPr/>
        </p:nvSpPr>
        <p:spPr>
          <a:xfrm rot="5400000">
            <a:off x="684443"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aphicFrame>
        <p:nvGraphicFramePr>
          <p:cNvPr id="944" name="Google Shape;944;p80"/>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r>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bl>
          </a:graphicData>
        </a:graphic>
      </p:graphicFrame>
      <p:sp>
        <p:nvSpPr>
          <p:cNvPr id="945" name="Google Shape;945;p80"/>
          <p:cNvSpPr/>
          <p:nvPr/>
        </p:nvSpPr>
        <p:spPr>
          <a:xfrm rot="5400000">
            <a:off x="106076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951" name="Google Shape;951;p81"/>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952" name="Google Shape;952;p81"/>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953" name="Google Shape;953;p81"/>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54" name="Google Shape;954;p81"/>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55" name="Google Shape;955;p81"/>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56" name="Google Shape;956;p81"/>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57" name="Google Shape;957;p81"/>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imagen[i][j]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958" name="Google Shape;958;p81"/>
          <p:cNvSpPr txBox="1"/>
          <p:nvPr>
            <p:ph idx="1" type="body"/>
          </p:nvPr>
        </p:nvSpPr>
        <p:spPr>
          <a:xfrm>
            <a:off x="311700" y="1152475"/>
            <a:ext cx="3643800" cy="1310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fila por fila</a:t>
            </a:r>
            <a:r>
              <a:rPr lang="es"/>
              <a:t>.</a:t>
            </a:r>
            <a:endParaRPr/>
          </a:p>
        </p:txBody>
      </p:sp>
      <p:sp>
        <p:nvSpPr>
          <p:cNvPr id="959" name="Google Shape;959;p81"/>
          <p:cNvSpPr/>
          <p:nvPr/>
        </p:nvSpPr>
        <p:spPr>
          <a:xfrm>
            <a:off x="4075575" y="19617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60" name="Google Shape;960;p81"/>
          <p:cNvSpPr/>
          <p:nvPr/>
        </p:nvSpPr>
        <p:spPr>
          <a:xfrm>
            <a:off x="96350" y="3056589"/>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61" name="Google Shape;961;p81"/>
          <p:cNvSpPr/>
          <p:nvPr/>
        </p:nvSpPr>
        <p:spPr>
          <a:xfrm>
            <a:off x="4227975" y="2114114"/>
            <a:ext cx="4323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62" name="Google Shape;962;p81"/>
          <p:cNvSpPr/>
          <p:nvPr/>
        </p:nvSpPr>
        <p:spPr>
          <a:xfrm rot="5400000">
            <a:off x="684443"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aphicFrame>
        <p:nvGraphicFramePr>
          <p:cNvPr id="963" name="Google Shape;963;p81"/>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s" sz="600"/>
                        <a:t>0</a:t>
                      </a:r>
                      <a:endParaRPr b="1" sz="600"/>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s" sz="600"/>
                        <a:t>0</a:t>
                      </a:r>
                      <a:endParaRPr b="1" sz="600"/>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s" sz="600"/>
                        <a:t>255</a:t>
                      </a:r>
                      <a:endParaRPr b="1" sz="600"/>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s" sz="600"/>
                        <a:t>255</a:t>
                      </a:r>
                      <a:endParaRPr b="1" sz="600"/>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s" sz="600"/>
                        <a:t>0</a:t>
                      </a:r>
                      <a:endParaRPr b="1" sz="600"/>
                    </a:p>
                  </a:txBody>
                  <a:tcPr marT="91425" marB="91425" marR="91425" marL="91425" anchor="ctr">
                    <a:lnB cap="flat" cmpd="sng" w="9525">
                      <a:solidFill>
                        <a:srgbClr val="9E9E9E"/>
                      </a:solidFill>
                      <a:prstDash val="solid"/>
                      <a:round/>
                      <a:headEnd len="sm" w="sm" type="none"/>
                      <a:tailEnd len="sm" w="sm" type="none"/>
                    </a:lnB>
                  </a:tcPr>
                </a:tc>
              </a:tr>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s" sz="600"/>
                        <a:t>255</a:t>
                      </a:r>
                      <a:endParaRPr b="1" sz="6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s" sz="600"/>
                        <a:t>0</a:t>
                      </a:r>
                      <a:endParaRPr b="1" sz="6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s" sz="600"/>
                        <a:t>0</a:t>
                      </a:r>
                      <a:endParaRPr b="1" sz="6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s" sz="600"/>
                        <a:t>255</a:t>
                      </a:r>
                      <a:endParaRPr b="1" sz="6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s" sz="600"/>
                        <a:t>255</a:t>
                      </a:r>
                      <a:endParaRPr b="1" sz="6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s" sz="600"/>
                        <a:t>0</a:t>
                      </a:r>
                      <a:endParaRPr b="1" sz="6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b="1" sz="600"/>
                    </a:p>
                  </a:txBody>
                  <a:tcPr marT="91425" marB="91425" marR="91425" marL="91425"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b="1" sz="600"/>
                    </a:p>
                  </a:txBody>
                  <a:tcPr marT="91425" marB="91425" marR="91425" marL="91425"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b="1" sz="600"/>
                    </a:p>
                  </a:txBody>
                  <a:tcPr marT="91425" marB="91425" marR="91425" marL="91425"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b="1" sz="600"/>
                    </a:p>
                  </a:txBody>
                  <a:tcPr marT="91425" marB="91425" marR="91425" marL="91425"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b="1" sz="600"/>
                    </a:p>
                  </a:txBody>
                  <a:tcPr marT="91425" marB="91425" marR="91425" marL="91425" anchor="ctr">
                    <a:lnT cap="flat" cmpd="sng" w="9525">
                      <a:solidFill>
                        <a:srgbClr val="9E9E9E"/>
                      </a:solidFill>
                      <a:prstDash val="solid"/>
                      <a:round/>
                      <a:headEnd len="sm" w="sm" type="none"/>
                      <a:tailEnd len="sm" w="sm" type="none"/>
                    </a:lnT>
                  </a:tcP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bl>
          </a:graphicData>
        </a:graphic>
      </p:graphicFrame>
      <p:sp>
        <p:nvSpPr>
          <p:cNvPr id="964" name="Google Shape;964;p81"/>
          <p:cNvSpPr/>
          <p:nvPr/>
        </p:nvSpPr>
        <p:spPr>
          <a:xfrm rot="5400000">
            <a:off x="106076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65" name="Google Shape;965;p81"/>
          <p:cNvSpPr/>
          <p:nvPr/>
        </p:nvSpPr>
        <p:spPr>
          <a:xfrm rot="5400000">
            <a:off x="1437092"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66" name="Google Shape;966;p81"/>
          <p:cNvSpPr/>
          <p:nvPr/>
        </p:nvSpPr>
        <p:spPr>
          <a:xfrm rot="5400000">
            <a:off x="181341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67" name="Google Shape;967;p81"/>
          <p:cNvSpPr/>
          <p:nvPr/>
        </p:nvSpPr>
        <p:spPr>
          <a:xfrm rot="5400000">
            <a:off x="2189742"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68" name="Google Shape;968;p81"/>
          <p:cNvSpPr/>
          <p:nvPr/>
        </p:nvSpPr>
        <p:spPr>
          <a:xfrm rot="5400000">
            <a:off x="256606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69" name="Google Shape;969;p81"/>
          <p:cNvSpPr/>
          <p:nvPr/>
        </p:nvSpPr>
        <p:spPr>
          <a:xfrm rot="5400000">
            <a:off x="335076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70" name="Google Shape;970;p81"/>
          <p:cNvSpPr/>
          <p:nvPr/>
        </p:nvSpPr>
        <p:spPr>
          <a:xfrm rot="5400000">
            <a:off x="295841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976" name="Google Shape;976;p82"/>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977" name="Google Shape;977;p82"/>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978" name="Google Shape;978;p82"/>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79" name="Google Shape;979;p82"/>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80" name="Google Shape;980;p82"/>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81" name="Google Shape;981;p82"/>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82" name="Google Shape;982;p82"/>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imagen[i][j]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983" name="Google Shape;983;p82"/>
          <p:cNvSpPr txBox="1"/>
          <p:nvPr>
            <p:ph idx="1" type="body"/>
          </p:nvPr>
        </p:nvSpPr>
        <p:spPr>
          <a:xfrm>
            <a:off x="311700" y="1152475"/>
            <a:ext cx="3643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fila por fila</a:t>
            </a:r>
            <a:r>
              <a:rPr lang="es"/>
              <a:t>.</a:t>
            </a:r>
            <a:endParaRPr/>
          </a:p>
        </p:txBody>
      </p:sp>
      <p:sp>
        <p:nvSpPr>
          <p:cNvPr id="984" name="Google Shape;984;p82"/>
          <p:cNvSpPr/>
          <p:nvPr/>
        </p:nvSpPr>
        <p:spPr>
          <a:xfrm>
            <a:off x="4075575" y="19617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85" name="Google Shape;985;p82"/>
          <p:cNvSpPr/>
          <p:nvPr/>
        </p:nvSpPr>
        <p:spPr>
          <a:xfrm>
            <a:off x="96350" y="4734639"/>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86" name="Google Shape;986;p82"/>
          <p:cNvSpPr/>
          <p:nvPr/>
        </p:nvSpPr>
        <p:spPr>
          <a:xfrm>
            <a:off x="4227975" y="2114114"/>
            <a:ext cx="4323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87" name="Google Shape;987;p82"/>
          <p:cNvSpPr/>
          <p:nvPr/>
        </p:nvSpPr>
        <p:spPr>
          <a:xfrm rot="5400000">
            <a:off x="684443"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88" name="Google Shape;988;p82"/>
          <p:cNvSpPr/>
          <p:nvPr/>
        </p:nvSpPr>
        <p:spPr>
          <a:xfrm rot="5400000">
            <a:off x="106076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89" name="Google Shape;989;p82"/>
          <p:cNvSpPr/>
          <p:nvPr/>
        </p:nvSpPr>
        <p:spPr>
          <a:xfrm rot="5400000">
            <a:off x="1437092"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90" name="Google Shape;990;p82"/>
          <p:cNvSpPr/>
          <p:nvPr/>
        </p:nvSpPr>
        <p:spPr>
          <a:xfrm rot="5400000">
            <a:off x="181341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91" name="Google Shape;991;p82"/>
          <p:cNvSpPr/>
          <p:nvPr/>
        </p:nvSpPr>
        <p:spPr>
          <a:xfrm rot="5400000">
            <a:off x="2189742"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92" name="Google Shape;992;p82"/>
          <p:cNvSpPr/>
          <p:nvPr/>
        </p:nvSpPr>
        <p:spPr>
          <a:xfrm rot="5400000">
            <a:off x="256606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93" name="Google Shape;993;p82"/>
          <p:cNvSpPr/>
          <p:nvPr/>
        </p:nvSpPr>
        <p:spPr>
          <a:xfrm rot="5400000">
            <a:off x="335076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94" name="Google Shape;994;p82"/>
          <p:cNvSpPr/>
          <p:nvPr/>
        </p:nvSpPr>
        <p:spPr>
          <a:xfrm rot="5400000">
            <a:off x="2958417" y="2507695"/>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aphicFrame>
        <p:nvGraphicFramePr>
          <p:cNvPr id="995" name="Google Shape;995;p82"/>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r>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r>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r>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r>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r>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r>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255</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r>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rPr b="1" lang="es" sz="600"/>
                        <a:t>0</a:t>
                      </a:r>
                      <a:endParaRPr b="1" sz="600"/>
                    </a:p>
                  </a:txBody>
                  <a:tcPr marT="91425" marB="91425" marR="91425" marL="91425" anchor="ctr"/>
                </a:tc>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1001" name="Google Shape;1001;p83"/>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002" name="Google Shape;1002;p83"/>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003" name="Google Shape;1003;p83"/>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04" name="Google Shape;1004;p83"/>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05" name="Google Shape;1005;p83"/>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06" name="Google Shape;1006;p83"/>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07" name="Google Shape;1007;p83"/>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imagen[i][j]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1008" name="Google Shape;1008;p83"/>
          <p:cNvSpPr txBox="1"/>
          <p:nvPr>
            <p:ph idx="1" type="body"/>
          </p:nvPr>
        </p:nvSpPr>
        <p:spPr>
          <a:xfrm>
            <a:off x="311700" y="1152475"/>
            <a:ext cx="3643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columna por columna</a:t>
            </a:r>
            <a:r>
              <a:rPr lang="es"/>
              <a:t>.</a:t>
            </a:r>
            <a:endParaRPr/>
          </a:p>
        </p:txBody>
      </p:sp>
      <p:graphicFrame>
        <p:nvGraphicFramePr>
          <p:cNvPr id="1009" name="Google Shape;1009;p83"/>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l">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l">
                        <a:spcBef>
                          <a:spcPts val="0"/>
                        </a:spcBef>
                        <a:spcAft>
                          <a:spcPts val="0"/>
                        </a:spcAft>
                        <a:buNone/>
                      </a:pPr>
                      <a:r>
                        <a:t/>
                      </a:r>
                      <a:endParaRPr b="1" sz="600"/>
                    </a:p>
                  </a:txBody>
                  <a:tcPr marT="91425" marB="91425" marR="91425" marL="91425" anchor="ctr"/>
                </a:tc>
                <a:tc>
                  <a:txBody>
                    <a:bodyPr/>
                    <a:lstStyle/>
                    <a:p>
                      <a:pPr indent="0" lvl="0" marL="0" rtl="0" algn="l">
                        <a:spcBef>
                          <a:spcPts val="0"/>
                        </a:spcBef>
                        <a:spcAft>
                          <a:spcPts val="0"/>
                        </a:spcAft>
                        <a:buNone/>
                      </a:pPr>
                      <a:r>
                        <a:t/>
                      </a:r>
                      <a:endParaRPr b="1" sz="600"/>
                    </a:p>
                  </a:txBody>
                  <a:tcPr marT="91425" marB="91425" marR="91425" marL="91425" anchor="ctr"/>
                </a:tc>
                <a:tc>
                  <a:txBody>
                    <a:bodyPr/>
                    <a:lstStyle/>
                    <a:p>
                      <a:pPr indent="0" lvl="0" marL="0" rtl="0" algn="l">
                        <a:spcBef>
                          <a:spcPts val="0"/>
                        </a:spcBef>
                        <a:spcAft>
                          <a:spcPts val="0"/>
                        </a:spcAft>
                        <a:buNone/>
                      </a:pPr>
                      <a:r>
                        <a:t/>
                      </a:r>
                      <a:endParaRPr b="1" sz="600"/>
                    </a:p>
                  </a:txBody>
                  <a:tcPr marT="91425" marB="91425" marR="91425" marL="91425" anchor="ctr"/>
                </a:tc>
              </a:tr>
              <a:tr h="282975">
                <a:tc>
                  <a:txBody>
                    <a:bodyPr/>
                    <a:lstStyle/>
                    <a:p>
                      <a:pPr indent="0" lvl="0" marL="0" rtl="0" algn="l">
                        <a:spcBef>
                          <a:spcPts val="0"/>
                        </a:spcBef>
                        <a:spcAft>
                          <a:spcPts val="0"/>
                        </a:spcAft>
                        <a:buNone/>
                      </a:pPr>
                      <a:r>
                        <a:t/>
                      </a:r>
                      <a:endParaRPr b="1" sz="600"/>
                    </a:p>
                  </a:txBody>
                  <a:tcPr marT="91425" marB="91425" marR="91425" marL="91425" anchor="ctr"/>
                </a:tc>
                <a:tc>
                  <a:txBody>
                    <a:bodyPr/>
                    <a:lstStyle/>
                    <a:p>
                      <a:pPr indent="0" lvl="0" marL="0" rtl="0" algn="l">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l">
                        <a:spcBef>
                          <a:spcPts val="0"/>
                        </a:spcBef>
                        <a:spcAft>
                          <a:spcPts val="0"/>
                        </a:spcAft>
                        <a:buNone/>
                      </a:pPr>
                      <a:r>
                        <a:t/>
                      </a:r>
                      <a:endParaRPr b="1" sz="600"/>
                    </a:p>
                  </a:txBody>
                  <a:tcPr marT="91425" marB="91425" marR="91425" marL="91425" anchor="ctr"/>
                </a:tc>
                <a:tc>
                  <a:txBody>
                    <a:bodyPr/>
                    <a:lstStyle/>
                    <a:p>
                      <a:pPr indent="0" lvl="0" marL="0" rtl="0" algn="l">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l">
                        <a:spcBef>
                          <a:spcPts val="0"/>
                        </a:spcBef>
                        <a:spcAft>
                          <a:spcPts val="0"/>
                        </a:spcAft>
                        <a:buNone/>
                      </a:pPr>
                      <a:r>
                        <a:t/>
                      </a:r>
                      <a:endParaRPr b="1" sz="600"/>
                    </a:p>
                  </a:txBody>
                  <a:tcPr marT="91425" marB="91425" marR="91425" marL="91425" anchor="ctr"/>
                </a:tc>
                <a:tc>
                  <a:txBody>
                    <a:bodyPr/>
                    <a:lstStyle/>
                    <a:p>
                      <a:pPr indent="0" lvl="0" marL="0" rtl="0" algn="l">
                        <a:spcBef>
                          <a:spcPts val="0"/>
                        </a:spcBef>
                        <a:spcAft>
                          <a:spcPts val="0"/>
                        </a:spcAft>
                        <a:buNone/>
                      </a:pPr>
                      <a:r>
                        <a:t/>
                      </a:r>
                      <a:endParaRPr b="1" sz="600"/>
                    </a:p>
                  </a:txBody>
                  <a:tcPr marT="91425" marB="91425" marR="91425" marL="91425" anchor="ctr"/>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1015" name="Google Shape;1015;p84"/>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016" name="Google Shape;1016;p84"/>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017" name="Google Shape;1017;p84"/>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18" name="Google Shape;1018;p84"/>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19" name="Google Shape;1019;p84"/>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20" name="Google Shape;1020;p84"/>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21" name="Google Shape;1021;p84"/>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imagen[i][j]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1022" name="Google Shape;1022;p84"/>
          <p:cNvSpPr txBox="1"/>
          <p:nvPr>
            <p:ph idx="1" type="body"/>
          </p:nvPr>
        </p:nvSpPr>
        <p:spPr>
          <a:xfrm>
            <a:off x="311700" y="1152475"/>
            <a:ext cx="3643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columna por columna</a:t>
            </a:r>
            <a:r>
              <a:rPr lang="es"/>
              <a:t>.</a:t>
            </a:r>
            <a:endParaRPr/>
          </a:p>
        </p:txBody>
      </p:sp>
      <p:sp>
        <p:nvSpPr>
          <p:cNvPr id="1023" name="Google Shape;1023;p84"/>
          <p:cNvSpPr/>
          <p:nvPr/>
        </p:nvSpPr>
        <p:spPr>
          <a:xfrm>
            <a:off x="4075575" y="19617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24" name="Google Shape;1024;p84"/>
          <p:cNvSpPr/>
          <p:nvPr/>
        </p:nvSpPr>
        <p:spPr>
          <a:xfrm rot="5405431">
            <a:off x="698075" y="2476431"/>
            <a:ext cx="1899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aphicFrame>
        <p:nvGraphicFramePr>
          <p:cNvPr id="1025" name="Google Shape;1025;p84"/>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1031" name="Google Shape;1031;p85"/>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032" name="Google Shape;1032;p85"/>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033" name="Google Shape;1033;p85"/>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34" name="Google Shape;1034;p85"/>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35" name="Google Shape;1035;p85"/>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36" name="Google Shape;1036;p85"/>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37" name="Google Shape;1037;p85"/>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r>
              <a:rPr lang="es" sz="1100">
                <a:solidFill>
                  <a:srgbClr val="383A42"/>
                </a:solidFill>
              </a:rPr>
              <a:t>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a:t>
            </a:r>
            <a:r>
              <a:rPr lang="es" sz="1100">
                <a:solidFill>
                  <a:srgbClr val="383A42"/>
                </a:solidFill>
              </a:rPr>
              <a:t>[</a:t>
            </a:r>
            <a:r>
              <a:rPr lang="es" sz="1100">
                <a:solidFill>
                  <a:srgbClr val="383A42"/>
                </a:solidFill>
              </a:rPr>
              <a:t>i</a:t>
            </a:r>
            <a:r>
              <a:rPr lang="es" sz="1100">
                <a:solidFill>
                  <a:srgbClr val="383A42"/>
                </a:solidFill>
              </a:rPr>
              <a:t>][</a:t>
            </a:r>
            <a:r>
              <a:rPr lang="es" sz="1100">
                <a:solidFill>
                  <a:srgbClr val="383A42"/>
                </a:solidFill>
              </a:rPr>
              <a:t>j</a:t>
            </a:r>
            <a:r>
              <a:rPr lang="es" sz="1100">
                <a:solidFill>
                  <a:srgbClr val="383A42"/>
                </a:solidFill>
              </a:rPr>
              <a:t>]</a:t>
            </a:r>
            <a:r>
              <a:rPr lang="es" sz="1100">
                <a:solidFill>
                  <a:srgbClr val="383A42"/>
                </a:solidFill>
              </a:rPr>
              <a:t>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1038" name="Google Shape;1038;p85"/>
          <p:cNvSpPr txBox="1"/>
          <p:nvPr>
            <p:ph idx="1" type="body"/>
          </p:nvPr>
        </p:nvSpPr>
        <p:spPr>
          <a:xfrm>
            <a:off x="311700" y="1152475"/>
            <a:ext cx="3643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columna por columna</a:t>
            </a:r>
            <a:r>
              <a:rPr lang="es"/>
              <a:t>.</a:t>
            </a:r>
            <a:endParaRPr/>
          </a:p>
        </p:txBody>
      </p:sp>
      <p:sp>
        <p:nvSpPr>
          <p:cNvPr id="1039" name="Google Shape;1039;p85"/>
          <p:cNvSpPr/>
          <p:nvPr/>
        </p:nvSpPr>
        <p:spPr>
          <a:xfrm>
            <a:off x="4075575" y="19617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40" name="Google Shape;1040;p85"/>
          <p:cNvSpPr/>
          <p:nvPr/>
        </p:nvSpPr>
        <p:spPr>
          <a:xfrm rot="5405431">
            <a:off x="698075" y="2476431"/>
            <a:ext cx="1899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41" name="Google Shape;1041;p85"/>
          <p:cNvSpPr/>
          <p:nvPr/>
        </p:nvSpPr>
        <p:spPr>
          <a:xfrm>
            <a:off x="4227975" y="2114114"/>
            <a:ext cx="4323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42" name="Google Shape;1042;p85"/>
          <p:cNvSpPr/>
          <p:nvPr/>
        </p:nvSpPr>
        <p:spPr>
          <a:xfrm>
            <a:off x="344168" y="2796620"/>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aphicFrame>
        <p:nvGraphicFramePr>
          <p:cNvPr id="1043" name="Google Shape;1043;p85"/>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1049" name="Google Shape;1049;p86"/>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050" name="Google Shape;1050;p86"/>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051" name="Google Shape;1051;p86"/>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52" name="Google Shape;1052;p86"/>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53" name="Google Shape;1053;p86"/>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54" name="Google Shape;1054;p86"/>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55" name="Google Shape;1055;p86"/>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FILAS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const int COLUMNAS = 8;</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imagen[FILAS][COLUMNAS];</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int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j = 0; j &lt; COLUMNAS; j++)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for (int i = 0; i &lt; FILAS; i++)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"Ingrese el valor del pixel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&lt;&lt; i &lt;&lt; "][" &lt;&lt; j &lt;&lt; "]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while (valor &lt; 0 || valor &gt;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cout &lt;&lt; "Valor invalido. Ingrese un valor entre 0 y 255: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cin &gt;&gt;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imagen[i][j] = valor;</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1100">
                <a:solidFill>
                  <a:srgbClr val="383A42"/>
                </a:solidFill>
              </a:rPr>
              <a:t>    }</a:t>
            </a:r>
            <a:endParaRPr sz="11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1056" name="Google Shape;1056;p86"/>
          <p:cNvSpPr txBox="1"/>
          <p:nvPr>
            <p:ph idx="1" type="body"/>
          </p:nvPr>
        </p:nvSpPr>
        <p:spPr>
          <a:xfrm>
            <a:off x="311700" y="1152475"/>
            <a:ext cx="3643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s"/>
              <a:t>Escriba un programa donde se cargaran valores enteros entre 0 y 255 que corresponden a una imagen de 8x8 pixeles. Se debe cargar </a:t>
            </a:r>
            <a:r>
              <a:rPr b="1" lang="es"/>
              <a:t>columna por columna</a:t>
            </a:r>
            <a:r>
              <a:rPr lang="es"/>
              <a:t>.</a:t>
            </a:r>
            <a:endParaRPr/>
          </a:p>
        </p:txBody>
      </p:sp>
      <p:sp>
        <p:nvSpPr>
          <p:cNvPr id="1057" name="Google Shape;1057;p86"/>
          <p:cNvSpPr/>
          <p:nvPr/>
        </p:nvSpPr>
        <p:spPr>
          <a:xfrm>
            <a:off x="4075575" y="1961714"/>
            <a:ext cx="4323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58" name="Google Shape;1058;p86"/>
          <p:cNvSpPr/>
          <p:nvPr/>
        </p:nvSpPr>
        <p:spPr>
          <a:xfrm rot="5405431">
            <a:off x="698075" y="2476431"/>
            <a:ext cx="189900" cy="128100"/>
          </a:xfrm>
          <a:prstGeom prst="homePlate">
            <a:avLst>
              <a:gd fmla="val 50000"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59" name="Google Shape;1059;p86"/>
          <p:cNvSpPr/>
          <p:nvPr/>
        </p:nvSpPr>
        <p:spPr>
          <a:xfrm>
            <a:off x="4227975" y="2114114"/>
            <a:ext cx="4323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60" name="Google Shape;1060;p86"/>
          <p:cNvSpPr/>
          <p:nvPr/>
        </p:nvSpPr>
        <p:spPr>
          <a:xfrm>
            <a:off x="344168" y="2796620"/>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aphicFrame>
        <p:nvGraphicFramePr>
          <p:cNvPr id="1061" name="Google Shape;1061;p86"/>
          <p:cNvGraphicFramePr/>
          <p:nvPr/>
        </p:nvGraphicFramePr>
        <p:xfrm>
          <a:off x="602200" y="2705200"/>
          <a:ext cx="3000000" cy="3000000"/>
        </p:xfrm>
        <a:graphic>
          <a:graphicData uri="http://schemas.openxmlformats.org/drawingml/2006/table">
            <a:tbl>
              <a:tblPr>
                <a:noFill/>
                <a:tableStyleId>{CF786E22-CB09-45D2-B7E3-19844F05C299}</a:tableStyleId>
              </a:tblPr>
              <a:tblGrid>
                <a:gridCol w="382850"/>
                <a:gridCol w="382850"/>
                <a:gridCol w="382850"/>
                <a:gridCol w="382850"/>
                <a:gridCol w="382850"/>
                <a:gridCol w="382850"/>
                <a:gridCol w="382850"/>
                <a:gridCol w="382850"/>
              </a:tblGrid>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rPr b="1" lang="es" sz="600"/>
                        <a:t>0</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r h="282975">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c>
                  <a:txBody>
                    <a:bodyPr/>
                    <a:lstStyle/>
                    <a:p>
                      <a:pPr indent="0" lvl="0" marL="0" rtl="0" algn="ctr">
                        <a:spcBef>
                          <a:spcPts val="0"/>
                        </a:spcBef>
                        <a:spcAft>
                          <a:spcPts val="0"/>
                        </a:spcAft>
                        <a:buNone/>
                      </a:pPr>
                      <a:r>
                        <a:t/>
                      </a:r>
                      <a:endParaRPr b="1" sz="600"/>
                    </a:p>
                  </a:txBody>
                  <a:tcPr marT="91425" marB="91425" marR="91425" marL="91425" anchor="ctr"/>
                </a:tc>
              </a:tr>
            </a:tbl>
          </a:graphicData>
        </a:graphic>
      </p:graphicFrame>
      <p:sp>
        <p:nvSpPr>
          <p:cNvPr id="1062" name="Google Shape;1062;p86"/>
          <p:cNvSpPr/>
          <p:nvPr/>
        </p:nvSpPr>
        <p:spPr>
          <a:xfrm>
            <a:off x="344168" y="3064920"/>
            <a:ext cx="217500" cy="128100"/>
          </a:xfrm>
          <a:prstGeom prst="homePlate">
            <a:avLst>
              <a:gd fmla="val 50000"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Recorriendo arreglos</a:t>
            </a:r>
            <a:endParaRPr/>
          </a:p>
        </p:txBody>
      </p:sp>
      <p:sp>
        <p:nvSpPr>
          <p:cNvPr id="1068" name="Google Shape;1068;p87"/>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069" name="Google Shape;1069;p87"/>
          <p:cNvSpPr/>
          <p:nvPr/>
        </p:nvSpPr>
        <p:spPr>
          <a:xfrm rot="10800000">
            <a:off x="4307645" y="787650"/>
            <a:ext cx="4524600" cy="3812700"/>
          </a:xfrm>
          <a:prstGeom prst="round2SameRect">
            <a:avLst>
              <a:gd fmla="val 3153"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070" name="Google Shape;1070;p87"/>
          <p:cNvSpPr/>
          <p:nvPr/>
        </p:nvSpPr>
        <p:spPr>
          <a:xfrm rot="10800000">
            <a:off x="4307700" y="497575"/>
            <a:ext cx="45246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71" name="Google Shape;1071;p87"/>
          <p:cNvSpPr/>
          <p:nvPr/>
        </p:nvSpPr>
        <p:spPr>
          <a:xfrm>
            <a:off x="4456145" y="5701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72" name="Google Shape;1072;p87"/>
          <p:cNvSpPr/>
          <p:nvPr/>
        </p:nvSpPr>
        <p:spPr>
          <a:xfrm>
            <a:off x="4738006" y="5701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73" name="Google Shape;1073;p87"/>
          <p:cNvSpPr/>
          <p:nvPr/>
        </p:nvSpPr>
        <p:spPr>
          <a:xfrm>
            <a:off x="5019866" y="5701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74" name="Google Shape;1074;p87"/>
          <p:cNvSpPr txBox="1"/>
          <p:nvPr/>
        </p:nvSpPr>
        <p:spPr>
          <a:xfrm>
            <a:off x="4307605" y="839432"/>
            <a:ext cx="4524600" cy="3532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const int MAX = 100;</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const int COLUMNAS = 2;</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int cantidad;</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float mediciones[MAX][COLUMNAS];</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"Ingrese la cantidad de mediciones: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cin &gt;&gt; cantidad;</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while (cantidad &lt; 1 || cantidad &gt; MAX)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"La cantidad debe estar entre 1 y " &lt;&lt; MAX &lt;&lt; "." &lt;&lt; endl;</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"Ingrese nuevamente la cantidad: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cin &gt;&gt; cantidad;</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for (int i = 0; i &lt; cantidad; i++)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endl;</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"Medicion " &lt;&lt; i + 1 &lt;&lt; endl;</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"Ingrese el dia del mes: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cin &gt;&gt; mediciones[i][0];</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cout &lt;&lt; "Ingrese la temperatura: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cin &gt;&gt; mediciones[i][1];</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rPr lang="es" sz="900">
                <a:solidFill>
                  <a:srgbClr val="383A42"/>
                </a:solidFill>
              </a:rPr>
              <a:t>    }</a:t>
            </a:r>
            <a:endParaRPr sz="900">
              <a:solidFill>
                <a:srgbClr val="383A42"/>
              </a:solidFill>
            </a:endParaRPr>
          </a:p>
          <a:p>
            <a:pPr indent="0" lvl="0" marL="0" rtl="0" algn="l">
              <a:lnSpc>
                <a:spcPct val="115000"/>
              </a:lnSpc>
              <a:spcBef>
                <a:spcPts val="0"/>
              </a:spcBef>
              <a:spcAft>
                <a:spcPts val="0"/>
              </a:spcAft>
              <a:buNone/>
            </a:pPr>
            <a:r>
              <a:t/>
            </a:r>
            <a:endParaRPr sz="900">
              <a:solidFill>
                <a:srgbClr val="383A42"/>
              </a:solidFill>
            </a:endParaRPr>
          </a:p>
          <a:p>
            <a:pPr indent="0" lvl="0" marL="0" marR="0" rtl="0" algn="l">
              <a:lnSpc>
                <a:spcPct val="100000"/>
              </a:lnSpc>
              <a:spcBef>
                <a:spcPts val="0"/>
              </a:spcBef>
              <a:spcAft>
                <a:spcPts val="0"/>
              </a:spcAft>
              <a:buClr>
                <a:srgbClr val="000000"/>
              </a:buClr>
              <a:buSzPts val="1600"/>
              <a:buFont typeface="Arial"/>
              <a:buNone/>
            </a:pPr>
            <a:r>
              <a:t/>
            </a:r>
            <a:endParaRPr sz="900">
              <a:solidFill>
                <a:srgbClr val="383A42"/>
              </a:solidFill>
            </a:endParaRPr>
          </a:p>
        </p:txBody>
      </p:sp>
      <p:sp>
        <p:nvSpPr>
          <p:cNvPr id="1075" name="Google Shape;1075;p87"/>
          <p:cNvSpPr txBox="1"/>
          <p:nvPr>
            <p:ph idx="1" type="body"/>
          </p:nvPr>
        </p:nvSpPr>
        <p:spPr>
          <a:xfrm>
            <a:off x="311700" y="1152475"/>
            <a:ext cx="3643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s"/>
              <a:t>Escriba un programa que solicite al usuario la cantidad de mediciones de un sensor de temperatura. Luego, para cada medición, solicite el día del mes en que fue tomada y el valor de temperatura registrado.</a:t>
            </a:r>
            <a:endParaRPr/>
          </a:p>
          <a:p>
            <a:pPr indent="0" lvl="0" marL="0" rtl="0" algn="l">
              <a:spcBef>
                <a:spcPts val="1200"/>
              </a:spcBef>
              <a:spcAft>
                <a:spcPts val="0"/>
              </a:spcAft>
              <a:buNone/>
            </a:pPr>
            <a:r>
              <a:rPr lang="es"/>
              <a:t>Utilice una matriz de dos dimensiones, donde:</a:t>
            </a:r>
            <a:endParaRPr/>
          </a:p>
          <a:p>
            <a:pPr indent="-298450" lvl="0" marL="457200" rtl="0" algn="l">
              <a:spcBef>
                <a:spcPts val="1200"/>
              </a:spcBef>
              <a:spcAft>
                <a:spcPts val="0"/>
              </a:spcAft>
              <a:buClr>
                <a:srgbClr val="000000"/>
              </a:buClr>
              <a:buSzPts val="1100"/>
              <a:buFont typeface="Arial"/>
              <a:buChar char="●"/>
            </a:pPr>
            <a:r>
              <a:rPr lang="es"/>
              <a:t>La primera columna almacene el día del mes.</a:t>
            </a:r>
            <a:endParaRPr/>
          </a:p>
          <a:p>
            <a:pPr indent="-298450" lvl="0" marL="457200" rtl="0" algn="l">
              <a:spcBef>
                <a:spcPts val="0"/>
              </a:spcBef>
              <a:spcAft>
                <a:spcPts val="0"/>
              </a:spcAft>
              <a:buClr>
                <a:srgbClr val="000000"/>
              </a:buClr>
              <a:buSzPts val="1100"/>
              <a:buFont typeface="Arial"/>
              <a:buChar char="●"/>
            </a:pPr>
            <a:r>
              <a:rPr lang="es"/>
              <a:t>La segunda columna almacene la temperatura medida.</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pic>
        <p:nvPicPr>
          <p:cNvPr id="1080" name="Google Shape;1080;p88"/>
          <p:cNvPicPr preferRelativeResize="0"/>
          <p:nvPr/>
        </p:nvPicPr>
        <p:blipFill rotWithShape="1">
          <a:blip r:embed="rId3">
            <a:alphaModFix amt="20000"/>
          </a:blip>
          <a:srcRect b="0" l="0" r="0" t="0"/>
          <a:stretch/>
        </p:blipFill>
        <p:spPr>
          <a:xfrm>
            <a:off x="4352250" y="268175"/>
            <a:ext cx="4607150" cy="4607150"/>
          </a:xfrm>
          <a:prstGeom prst="rect">
            <a:avLst/>
          </a:prstGeom>
          <a:noFill/>
          <a:ln>
            <a:noFill/>
          </a:ln>
        </p:spPr>
      </p:pic>
      <p:sp>
        <p:nvSpPr>
          <p:cNvPr id="1081" name="Google Shape;1081;p8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68571"/>
              <a:buNone/>
            </a:pPr>
            <a:r>
              <a:rPr lang="es" sz="7000"/>
              <a:t>Algoritmos sobre Arreglos y Matrices</a:t>
            </a:r>
            <a:endParaRPr sz="70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8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Básicos</a:t>
            </a:r>
            <a:endParaRPr/>
          </a:p>
        </p:txBody>
      </p:sp>
      <p:sp>
        <p:nvSpPr>
          <p:cNvPr id="1087" name="Google Shape;1087;p8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61950" lvl="0" marL="457200" rtl="0" algn="l">
              <a:lnSpc>
                <a:spcPct val="115000"/>
              </a:lnSpc>
              <a:spcBef>
                <a:spcPts val="0"/>
              </a:spcBef>
              <a:spcAft>
                <a:spcPts val="0"/>
              </a:spcAft>
              <a:buSzPts val="2100"/>
              <a:buChar char="●"/>
            </a:pPr>
            <a:r>
              <a:rPr lang="es" sz="2100"/>
              <a:t>Muchos problemas se resuelven con algoritmos básicos</a:t>
            </a:r>
            <a:endParaRPr sz="2300"/>
          </a:p>
          <a:p>
            <a:pPr indent="-361950" lvl="0" marL="457200" rtl="0" algn="l">
              <a:lnSpc>
                <a:spcPct val="115000"/>
              </a:lnSpc>
              <a:spcBef>
                <a:spcPts val="0"/>
              </a:spcBef>
              <a:spcAft>
                <a:spcPts val="0"/>
              </a:spcAft>
              <a:buSzPts val="2100"/>
              <a:buChar char="●"/>
            </a:pPr>
            <a:r>
              <a:rPr lang="es" sz="2100"/>
              <a:t>Representan </a:t>
            </a:r>
            <a:r>
              <a:rPr lang="es" sz="2100">
                <a:solidFill>
                  <a:schemeClr val="accent4"/>
                </a:solidFill>
              </a:rPr>
              <a:t>esquemas/patrones</a:t>
            </a:r>
            <a:r>
              <a:rPr lang="es" sz="2100"/>
              <a:t> comunes</a:t>
            </a:r>
            <a:endParaRPr sz="2100"/>
          </a:p>
          <a:p>
            <a:pPr indent="-361950" lvl="0" marL="457200" rtl="0" algn="l">
              <a:lnSpc>
                <a:spcPct val="115000"/>
              </a:lnSpc>
              <a:spcBef>
                <a:spcPts val="0"/>
              </a:spcBef>
              <a:spcAft>
                <a:spcPts val="0"/>
              </a:spcAft>
              <a:buSzPts val="2100"/>
              <a:buChar char="●"/>
            </a:pPr>
            <a:r>
              <a:rPr lang="es" sz="2100"/>
              <a:t>Proveen una </a:t>
            </a:r>
            <a:r>
              <a:rPr lang="es" sz="2100">
                <a:solidFill>
                  <a:schemeClr val="accent1"/>
                </a:solidFill>
              </a:rPr>
              <a:t>base para</a:t>
            </a:r>
            <a:r>
              <a:rPr lang="es" sz="2100"/>
              <a:t> resolver problemas </a:t>
            </a:r>
            <a:r>
              <a:rPr lang="es" sz="2100">
                <a:solidFill>
                  <a:schemeClr val="accent1"/>
                </a:solidFill>
              </a:rPr>
              <a:t>más complejos</a:t>
            </a:r>
            <a:endParaRPr sz="2100">
              <a:solidFill>
                <a:schemeClr val="accent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Básicos</a:t>
            </a:r>
            <a:endParaRPr/>
          </a:p>
        </p:txBody>
      </p:sp>
      <p:sp>
        <p:nvSpPr>
          <p:cNvPr id="1093" name="Google Shape;1093;p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20000"/>
          </a:bodyPr>
          <a:lstStyle/>
          <a:p>
            <a:pPr indent="-361950" lvl="0" marL="457200" rtl="0" algn="l">
              <a:lnSpc>
                <a:spcPct val="115000"/>
              </a:lnSpc>
              <a:spcBef>
                <a:spcPts val="0"/>
              </a:spcBef>
              <a:spcAft>
                <a:spcPts val="0"/>
              </a:spcAft>
              <a:buSzPts val="2100"/>
              <a:buChar char="●"/>
            </a:pPr>
            <a:r>
              <a:rPr lang="es" sz="2100">
                <a:solidFill>
                  <a:schemeClr val="accent1"/>
                </a:solidFill>
              </a:rPr>
              <a:t>Búsqueda </a:t>
            </a:r>
            <a:r>
              <a:rPr lang="es" sz="2100"/>
              <a:t>de valores que cumplen cierta propiedad.</a:t>
            </a:r>
            <a:endParaRPr sz="2100"/>
          </a:p>
          <a:p>
            <a:pPr indent="-336550" lvl="1" marL="914400" rtl="0" algn="l">
              <a:lnSpc>
                <a:spcPct val="115000"/>
              </a:lnSpc>
              <a:spcBef>
                <a:spcPts val="0"/>
              </a:spcBef>
              <a:spcAft>
                <a:spcPts val="0"/>
              </a:spcAft>
              <a:buSzPts val="1700"/>
              <a:buChar char="○"/>
            </a:pPr>
            <a:r>
              <a:rPr lang="es" sz="1700"/>
              <a:t>Booleano. (¿Existe un valor que cumpla X </a:t>
            </a:r>
            <a:r>
              <a:rPr lang="es" sz="1700"/>
              <a:t>condición</a:t>
            </a:r>
            <a:r>
              <a:rPr lang="es" sz="1700"/>
              <a:t>?)</a:t>
            </a:r>
            <a:endParaRPr sz="1700"/>
          </a:p>
          <a:p>
            <a:pPr indent="-336550" lvl="1" marL="914400" rtl="0" algn="l">
              <a:lnSpc>
                <a:spcPct val="115000"/>
              </a:lnSpc>
              <a:spcBef>
                <a:spcPts val="0"/>
              </a:spcBef>
              <a:spcAft>
                <a:spcPts val="0"/>
              </a:spcAft>
              <a:buSzPts val="1700"/>
              <a:buChar char="○"/>
            </a:pPr>
            <a:r>
              <a:rPr lang="es" sz="1700"/>
              <a:t>Posición del primer valor. (¿En qu</a:t>
            </a:r>
            <a:r>
              <a:rPr lang="es" sz="1700"/>
              <a:t>é posición está el primer valor que cumple X condición?)</a:t>
            </a:r>
            <a:endParaRPr sz="1700"/>
          </a:p>
          <a:p>
            <a:pPr indent="-336550" lvl="1" marL="914400" rtl="0" algn="l">
              <a:lnSpc>
                <a:spcPct val="115000"/>
              </a:lnSpc>
              <a:spcBef>
                <a:spcPts val="0"/>
              </a:spcBef>
              <a:spcAft>
                <a:spcPts val="0"/>
              </a:spcAft>
              <a:buSzPts val="1700"/>
              <a:buChar char="○"/>
            </a:pPr>
            <a:r>
              <a:rPr lang="es" sz="1700"/>
              <a:t>Posición del último valor.</a:t>
            </a:r>
            <a:endParaRPr sz="1700"/>
          </a:p>
          <a:p>
            <a:pPr indent="-361950" lvl="0" marL="457200" rtl="0" algn="l">
              <a:lnSpc>
                <a:spcPct val="115000"/>
              </a:lnSpc>
              <a:spcBef>
                <a:spcPts val="0"/>
              </a:spcBef>
              <a:spcAft>
                <a:spcPts val="0"/>
              </a:spcAft>
              <a:buSzPts val="2100"/>
              <a:buChar char="●"/>
            </a:pPr>
            <a:r>
              <a:rPr lang="es" sz="2100">
                <a:solidFill>
                  <a:schemeClr val="accent4"/>
                </a:solidFill>
              </a:rPr>
              <a:t>Conteo </a:t>
            </a:r>
            <a:r>
              <a:rPr lang="es" sz="2100"/>
              <a:t>de ocurrencias de valores que cumplen cierta propiedad. (¿Cu</a:t>
            </a:r>
            <a:r>
              <a:rPr lang="es" sz="2100"/>
              <a:t>ántas veces pasa X propiedad/estado?)</a:t>
            </a:r>
            <a:endParaRPr sz="2100"/>
          </a:p>
          <a:p>
            <a:pPr indent="-361950" lvl="0" marL="457200" rtl="0" algn="l">
              <a:lnSpc>
                <a:spcPct val="115000"/>
              </a:lnSpc>
              <a:spcBef>
                <a:spcPts val="0"/>
              </a:spcBef>
              <a:spcAft>
                <a:spcPts val="0"/>
              </a:spcAft>
              <a:buSzPts val="2100"/>
              <a:buChar char="●"/>
            </a:pPr>
            <a:r>
              <a:rPr lang="es" sz="2100">
                <a:solidFill>
                  <a:schemeClr val="accent5"/>
                </a:solidFill>
              </a:rPr>
              <a:t>Modificación </a:t>
            </a:r>
            <a:r>
              <a:rPr lang="es" sz="2100"/>
              <a:t>punto a punto de valores. (Para cada valor que cumpla X, lo modifico de Y manera)</a:t>
            </a:r>
            <a:endParaRPr sz="2100"/>
          </a:p>
          <a:p>
            <a:pPr indent="-361950" lvl="0" marL="457200" rtl="0" algn="l">
              <a:lnSpc>
                <a:spcPct val="115000"/>
              </a:lnSpc>
              <a:spcBef>
                <a:spcPts val="0"/>
              </a:spcBef>
              <a:spcAft>
                <a:spcPts val="0"/>
              </a:spcAft>
              <a:buSzPts val="2100"/>
              <a:buChar char="●"/>
            </a:pPr>
            <a:r>
              <a:rPr lang="es" sz="2100">
                <a:solidFill>
                  <a:srgbClr val="9900FF"/>
                </a:solidFill>
              </a:rPr>
              <a:t>Acumulación </a:t>
            </a:r>
            <a:r>
              <a:rPr lang="es" sz="2100"/>
              <a:t>de valores. (Necesito agrupar los valores que cumplan X criterio)</a:t>
            </a:r>
            <a:endParaRPr sz="21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91"/>
          <p:cNvSpPr/>
          <p:nvPr/>
        </p:nvSpPr>
        <p:spPr>
          <a:xfrm rot="10800000">
            <a:off x="2092375" y="1201450"/>
            <a:ext cx="4959300" cy="34218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99" name="Google Shape;1099;p91"/>
          <p:cNvSpPr/>
          <p:nvPr/>
        </p:nvSpPr>
        <p:spPr>
          <a:xfrm rot="10800000">
            <a:off x="2092371" y="520180"/>
            <a:ext cx="4959300" cy="6807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00" name="Google Shape;1100;p91"/>
          <p:cNvSpPr/>
          <p:nvPr/>
        </p:nvSpPr>
        <p:spPr>
          <a:xfrm>
            <a:off x="2316265" y="690495"/>
            <a:ext cx="339900" cy="339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01" name="Google Shape;1101;p91"/>
          <p:cNvSpPr/>
          <p:nvPr/>
        </p:nvSpPr>
        <p:spPr>
          <a:xfrm>
            <a:off x="2819804" y="690495"/>
            <a:ext cx="339900" cy="339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02" name="Google Shape;1102;p91"/>
          <p:cNvSpPr/>
          <p:nvPr/>
        </p:nvSpPr>
        <p:spPr>
          <a:xfrm>
            <a:off x="3323343" y="690495"/>
            <a:ext cx="339900" cy="339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03" name="Google Shape;1103;p91"/>
          <p:cNvSpPr txBox="1"/>
          <p:nvPr/>
        </p:nvSpPr>
        <p:spPr>
          <a:xfrm>
            <a:off x="2294342" y="1230090"/>
            <a:ext cx="4555200" cy="33153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D19A66"/>
                </a:solidFill>
                <a:latin typeface="Arial"/>
                <a:ea typeface="Arial"/>
                <a:cs typeface="Arial"/>
                <a:sym typeface="Arial"/>
              </a:rPr>
              <a:t>false</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if</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v</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5</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6</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D19A66"/>
                </a:solidFill>
                <a:latin typeface="Arial"/>
                <a:ea typeface="Arial"/>
                <a:cs typeface="Arial"/>
                <a:sym typeface="Arial"/>
              </a:rPr>
              <a:t>true</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7</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break</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8</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9</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104" name="Google Shape;1104;p91"/>
          <p:cNvSpPr txBox="1"/>
          <p:nvPr/>
        </p:nvSpPr>
        <p:spPr>
          <a:xfrm>
            <a:off x="3878875" y="592425"/>
            <a:ext cx="2678100" cy="4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s" sz="2200" u="none" cap="none" strike="noStrike">
                <a:solidFill>
                  <a:schemeClr val="accent1"/>
                </a:solidFill>
                <a:latin typeface="Arial"/>
                <a:ea typeface="Arial"/>
                <a:cs typeface="Arial"/>
                <a:sym typeface="Arial"/>
              </a:rPr>
              <a:t>Búsqueda</a:t>
            </a:r>
            <a:endParaRPr b="0" i="0" sz="2200" u="none" cap="none" strike="noStrike">
              <a:solidFill>
                <a:schemeClr val="accent1"/>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92"/>
          <p:cNvSpPr/>
          <p:nvPr/>
        </p:nvSpPr>
        <p:spPr>
          <a:xfrm rot="10800000">
            <a:off x="2092375" y="1201450"/>
            <a:ext cx="4959300" cy="34218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10" name="Google Shape;1110;p92"/>
          <p:cNvSpPr/>
          <p:nvPr/>
        </p:nvSpPr>
        <p:spPr>
          <a:xfrm rot="10800000">
            <a:off x="2092371" y="520180"/>
            <a:ext cx="4959300" cy="6807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11" name="Google Shape;1111;p92"/>
          <p:cNvSpPr/>
          <p:nvPr/>
        </p:nvSpPr>
        <p:spPr>
          <a:xfrm>
            <a:off x="2316265" y="690495"/>
            <a:ext cx="339900" cy="339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12" name="Google Shape;1112;p92"/>
          <p:cNvSpPr/>
          <p:nvPr/>
        </p:nvSpPr>
        <p:spPr>
          <a:xfrm>
            <a:off x="2819804" y="690495"/>
            <a:ext cx="339900" cy="339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13" name="Google Shape;1113;p92"/>
          <p:cNvSpPr/>
          <p:nvPr/>
        </p:nvSpPr>
        <p:spPr>
          <a:xfrm>
            <a:off x="3323343" y="690495"/>
            <a:ext cx="339900" cy="339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14" name="Google Shape;1114;p92"/>
          <p:cNvSpPr txBox="1"/>
          <p:nvPr/>
        </p:nvSpPr>
        <p:spPr>
          <a:xfrm>
            <a:off x="2294342" y="1230090"/>
            <a:ext cx="4555200" cy="33153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if</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v</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5</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6</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7</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break</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8</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9</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115" name="Google Shape;1115;p92"/>
          <p:cNvSpPr txBox="1"/>
          <p:nvPr/>
        </p:nvSpPr>
        <p:spPr>
          <a:xfrm>
            <a:off x="3878875" y="592425"/>
            <a:ext cx="2678100" cy="4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s" sz="2200" u="none" cap="none" strike="noStrike">
                <a:solidFill>
                  <a:schemeClr val="accent1"/>
                </a:solidFill>
                <a:latin typeface="Arial"/>
                <a:ea typeface="Arial"/>
                <a:cs typeface="Arial"/>
                <a:sym typeface="Arial"/>
              </a:rPr>
              <a:t>Búsqueda</a:t>
            </a:r>
            <a:endParaRPr b="0" i="0" sz="2200" u="none" cap="none" strike="noStrike">
              <a:solidFill>
                <a:schemeClr val="accent1"/>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93"/>
          <p:cNvSpPr/>
          <p:nvPr/>
        </p:nvSpPr>
        <p:spPr>
          <a:xfrm rot="10800000">
            <a:off x="2092375" y="1201450"/>
            <a:ext cx="4959300" cy="34218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21" name="Google Shape;1121;p93"/>
          <p:cNvSpPr/>
          <p:nvPr/>
        </p:nvSpPr>
        <p:spPr>
          <a:xfrm rot="10800000">
            <a:off x="2092371" y="520180"/>
            <a:ext cx="4959300" cy="6807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22" name="Google Shape;1122;p93"/>
          <p:cNvSpPr/>
          <p:nvPr/>
        </p:nvSpPr>
        <p:spPr>
          <a:xfrm>
            <a:off x="2316265" y="690495"/>
            <a:ext cx="339900" cy="339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23" name="Google Shape;1123;p93"/>
          <p:cNvSpPr/>
          <p:nvPr/>
        </p:nvSpPr>
        <p:spPr>
          <a:xfrm>
            <a:off x="2819804" y="690495"/>
            <a:ext cx="339900" cy="339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24" name="Google Shape;1124;p93"/>
          <p:cNvSpPr/>
          <p:nvPr/>
        </p:nvSpPr>
        <p:spPr>
          <a:xfrm>
            <a:off x="3323343" y="690495"/>
            <a:ext cx="339900" cy="339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25" name="Google Shape;1125;p93"/>
          <p:cNvSpPr txBox="1"/>
          <p:nvPr/>
        </p:nvSpPr>
        <p:spPr>
          <a:xfrm>
            <a:off x="2294342" y="1230090"/>
            <a:ext cx="4555200" cy="33153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if</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v</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5</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6</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7</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8</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126" name="Google Shape;1126;p93"/>
          <p:cNvSpPr txBox="1"/>
          <p:nvPr/>
        </p:nvSpPr>
        <p:spPr>
          <a:xfrm>
            <a:off x="3878875" y="592425"/>
            <a:ext cx="2678100" cy="4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s" sz="2200" u="none" cap="none" strike="noStrike">
                <a:solidFill>
                  <a:schemeClr val="accent1"/>
                </a:solidFill>
                <a:latin typeface="Arial"/>
                <a:ea typeface="Arial"/>
                <a:cs typeface="Arial"/>
                <a:sym typeface="Arial"/>
              </a:rPr>
              <a:t>Búsqueda</a:t>
            </a:r>
            <a:endParaRPr b="0" i="0" sz="2200" u="none" cap="none" strike="noStrike">
              <a:solidFill>
                <a:schemeClr val="accent1"/>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94"/>
          <p:cNvSpPr/>
          <p:nvPr/>
        </p:nvSpPr>
        <p:spPr>
          <a:xfrm rot="10800000">
            <a:off x="1729400" y="1000800"/>
            <a:ext cx="5685300" cy="39228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32" name="Google Shape;1132;p94"/>
          <p:cNvSpPr/>
          <p:nvPr/>
        </p:nvSpPr>
        <p:spPr>
          <a:xfrm rot="10800000">
            <a:off x="1729396" y="219874"/>
            <a:ext cx="5685300" cy="7803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33" name="Google Shape;1133;p94"/>
          <p:cNvSpPr/>
          <p:nvPr/>
        </p:nvSpPr>
        <p:spPr>
          <a:xfrm>
            <a:off x="1986008" y="415066"/>
            <a:ext cx="389400" cy="3894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34" name="Google Shape;1134;p94"/>
          <p:cNvSpPr/>
          <p:nvPr/>
        </p:nvSpPr>
        <p:spPr>
          <a:xfrm>
            <a:off x="2563267" y="415066"/>
            <a:ext cx="389400" cy="3894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35" name="Google Shape;1135;p94"/>
          <p:cNvSpPr/>
          <p:nvPr/>
        </p:nvSpPr>
        <p:spPr>
          <a:xfrm>
            <a:off x="3140526" y="415066"/>
            <a:ext cx="389400" cy="3894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36" name="Google Shape;1136;p94"/>
          <p:cNvSpPr txBox="1"/>
          <p:nvPr/>
        </p:nvSpPr>
        <p:spPr>
          <a:xfrm>
            <a:off x="1960875" y="1033660"/>
            <a:ext cx="5222100" cy="38007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D19A66"/>
                </a:solidFill>
                <a:latin typeface="Arial"/>
                <a:ea typeface="Arial"/>
                <a:cs typeface="Arial"/>
                <a:sym typeface="Arial"/>
              </a:rPr>
              <a:t>false</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M</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5</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6</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if</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j</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v</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7</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8</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D19A66"/>
                </a:solidFill>
                <a:latin typeface="Arial"/>
                <a:ea typeface="Arial"/>
                <a:cs typeface="Arial"/>
                <a:sym typeface="Arial"/>
              </a:rPr>
              <a:t>true</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9</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break</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929292"/>
                </a:solidFill>
                <a:latin typeface="Arial"/>
                <a:ea typeface="Arial"/>
                <a:cs typeface="Arial"/>
                <a:sym typeface="Arial"/>
              </a:rPr>
              <a:t>10</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929292"/>
                </a:solidFill>
                <a:latin typeface="Arial"/>
                <a:ea typeface="Arial"/>
                <a:cs typeface="Arial"/>
                <a:sym typeface="Arial"/>
              </a:rPr>
              <a:t>11</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929292"/>
                </a:solidFill>
                <a:latin typeface="Arial"/>
                <a:ea typeface="Arial"/>
                <a:cs typeface="Arial"/>
                <a:sym typeface="Arial"/>
              </a:rPr>
              <a:t>12</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137" name="Google Shape;1137;p94"/>
          <p:cNvSpPr txBox="1"/>
          <p:nvPr/>
        </p:nvSpPr>
        <p:spPr>
          <a:xfrm>
            <a:off x="3878875" y="287625"/>
            <a:ext cx="2678100" cy="4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s" sz="2900" u="none" cap="none" strike="noStrike">
                <a:solidFill>
                  <a:schemeClr val="accent1"/>
                </a:solidFill>
                <a:latin typeface="Arial"/>
                <a:ea typeface="Arial"/>
                <a:cs typeface="Arial"/>
                <a:sym typeface="Arial"/>
              </a:rPr>
              <a:t>Búsqueda</a:t>
            </a:r>
            <a:endParaRPr b="0" i="0" sz="2900" u="none" cap="none" strike="noStrike">
              <a:solidFill>
                <a:schemeClr val="accent1"/>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95"/>
          <p:cNvSpPr/>
          <p:nvPr/>
        </p:nvSpPr>
        <p:spPr>
          <a:xfrm rot="10800000">
            <a:off x="2092375" y="1201450"/>
            <a:ext cx="4959300" cy="34218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43" name="Google Shape;1143;p95"/>
          <p:cNvSpPr/>
          <p:nvPr/>
        </p:nvSpPr>
        <p:spPr>
          <a:xfrm rot="10800000">
            <a:off x="2092371" y="520180"/>
            <a:ext cx="4959300" cy="6807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44" name="Google Shape;1144;p95"/>
          <p:cNvSpPr/>
          <p:nvPr/>
        </p:nvSpPr>
        <p:spPr>
          <a:xfrm>
            <a:off x="2316265" y="690495"/>
            <a:ext cx="339900" cy="339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45" name="Google Shape;1145;p95"/>
          <p:cNvSpPr/>
          <p:nvPr/>
        </p:nvSpPr>
        <p:spPr>
          <a:xfrm>
            <a:off x="2819804" y="690495"/>
            <a:ext cx="339900" cy="339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46" name="Google Shape;1146;p95"/>
          <p:cNvSpPr/>
          <p:nvPr/>
        </p:nvSpPr>
        <p:spPr>
          <a:xfrm>
            <a:off x="3323343" y="690495"/>
            <a:ext cx="339900" cy="339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47" name="Google Shape;1147;p95"/>
          <p:cNvSpPr txBox="1"/>
          <p:nvPr/>
        </p:nvSpPr>
        <p:spPr>
          <a:xfrm>
            <a:off x="2294342" y="1230090"/>
            <a:ext cx="4555200" cy="33153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if</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v</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5</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6</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7</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8</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148" name="Google Shape;1148;p95"/>
          <p:cNvSpPr txBox="1"/>
          <p:nvPr/>
        </p:nvSpPr>
        <p:spPr>
          <a:xfrm>
            <a:off x="3821450" y="520175"/>
            <a:ext cx="2678100" cy="4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900"/>
              <a:buFont typeface="Arial"/>
              <a:buNone/>
            </a:pPr>
            <a:r>
              <a:rPr b="0" i="0" lang="es" sz="2900" u="none" cap="none" strike="noStrike">
                <a:solidFill>
                  <a:schemeClr val="accent4"/>
                </a:solidFill>
                <a:latin typeface="Arial"/>
                <a:ea typeface="Arial"/>
                <a:cs typeface="Arial"/>
                <a:sym typeface="Arial"/>
              </a:rPr>
              <a:t>Conteo</a:t>
            </a:r>
            <a:endParaRPr b="0" i="0" sz="2900" u="none" cap="none" strike="noStrike">
              <a:solidFill>
                <a:schemeClr val="accent4"/>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96"/>
          <p:cNvSpPr/>
          <p:nvPr/>
        </p:nvSpPr>
        <p:spPr>
          <a:xfrm rot="10800000">
            <a:off x="1729400" y="1000800"/>
            <a:ext cx="5685300" cy="39228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54" name="Google Shape;1154;p96"/>
          <p:cNvSpPr/>
          <p:nvPr/>
        </p:nvSpPr>
        <p:spPr>
          <a:xfrm rot="10800000">
            <a:off x="1729396" y="219874"/>
            <a:ext cx="5685300" cy="7803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55" name="Google Shape;1155;p96"/>
          <p:cNvSpPr/>
          <p:nvPr/>
        </p:nvSpPr>
        <p:spPr>
          <a:xfrm>
            <a:off x="1986008" y="415066"/>
            <a:ext cx="389400" cy="3894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56" name="Google Shape;1156;p96"/>
          <p:cNvSpPr/>
          <p:nvPr/>
        </p:nvSpPr>
        <p:spPr>
          <a:xfrm>
            <a:off x="2563267" y="415066"/>
            <a:ext cx="389400" cy="3894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57" name="Google Shape;1157;p96"/>
          <p:cNvSpPr/>
          <p:nvPr/>
        </p:nvSpPr>
        <p:spPr>
          <a:xfrm>
            <a:off x="3140526" y="415066"/>
            <a:ext cx="389400" cy="3894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58" name="Google Shape;1158;p96"/>
          <p:cNvSpPr txBox="1"/>
          <p:nvPr/>
        </p:nvSpPr>
        <p:spPr>
          <a:xfrm>
            <a:off x="1960875" y="1033660"/>
            <a:ext cx="5222100" cy="38007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M</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5</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6</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if</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j</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v</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7</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8</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9</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929292"/>
                </a:solidFill>
                <a:latin typeface="Arial"/>
                <a:ea typeface="Arial"/>
                <a:cs typeface="Arial"/>
                <a:sym typeface="Arial"/>
              </a:rPr>
              <a:t>10</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929292"/>
                </a:solidFill>
                <a:latin typeface="Arial"/>
                <a:ea typeface="Arial"/>
                <a:cs typeface="Arial"/>
                <a:sym typeface="Arial"/>
              </a:rPr>
              <a:t>11</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159" name="Google Shape;1159;p96"/>
          <p:cNvSpPr txBox="1"/>
          <p:nvPr/>
        </p:nvSpPr>
        <p:spPr>
          <a:xfrm>
            <a:off x="3884025" y="267600"/>
            <a:ext cx="2678100" cy="4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0" i="0" lang="es" sz="3200" u="none" cap="none" strike="noStrike">
                <a:solidFill>
                  <a:schemeClr val="accent4"/>
                </a:solidFill>
                <a:latin typeface="Arial"/>
                <a:ea typeface="Arial"/>
                <a:cs typeface="Arial"/>
                <a:sym typeface="Arial"/>
              </a:rPr>
              <a:t>Conteo</a:t>
            </a:r>
            <a:endParaRPr b="0" i="0" sz="3200" u="none" cap="none" strike="noStrike">
              <a:solidFill>
                <a:schemeClr val="accent4"/>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97"/>
          <p:cNvSpPr/>
          <p:nvPr/>
        </p:nvSpPr>
        <p:spPr>
          <a:xfrm rot="10800000">
            <a:off x="2784100" y="1583900"/>
            <a:ext cx="3576000" cy="24672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65" name="Google Shape;1165;p97"/>
          <p:cNvSpPr/>
          <p:nvPr/>
        </p:nvSpPr>
        <p:spPr>
          <a:xfrm rot="10800000">
            <a:off x="2784097" y="1092390"/>
            <a:ext cx="3576000" cy="4908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66" name="Google Shape;1166;p97"/>
          <p:cNvSpPr/>
          <p:nvPr/>
        </p:nvSpPr>
        <p:spPr>
          <a:xfrm>
            <a:off x="2945378" y="1215145"/>
            <a:ext cx="245100" cy="2451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67" name="Google Shape;1167;p97"/>
          <p:cNvSpPr/>
          <p:nvPr/>
        </p:nvSpPr>
        <p:spPr>
          <a:xfrm>
            <a:off x="3308482" y="1215145"/>
            <a:ext cx="245100" cy="2451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68" name="Google Shape;1168;p97"/>
          <p:cNvSpPr/>
          <p:nvPr/>
        </p:nvSpPr>
        <p:spPr>
          <a:xfrm>
            <a:off x="3671586" y="1215145"/>
            <a:ext cx="245100" cy="2451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69" name="Google Shape;1169;p97"/>
          <p:cNvSpPr txBox="1"/>
          <p:nvPr/>
        </p:nvSpPr>
        <p:spPr>
          <a:xfrm>
            <a:off x="2929569" y="1604253"/>
            <a:ext cx="3284700" cy="23907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f</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170" name="Google Shape;1170;p97"/>
          <p:cNvSpPr txBox="1"/>
          <p:nvPr/>
        </p:nvSpPr>
        <p:spPr>
          <a:xfrm>
            <a:off x="3671575" y="1092400"/>
            <a:ext cx="2678100" cy="4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s" sz="2100" u="none" cap="none" strike="noStrike">
                <a:solidFill>
                  <a:schemeClr val="accent5"/>
                </a:solidFill>
                <a:latin typeface="Arial"/>
                <a:ea typeface="Arial"/>
                <a:cs typeface="Arial"/>
                <a:sym typeface="Arial"/>
              </a:rPr>
              <a:t>Modificación</a:t>
            </a:r>
            <a:endParaRPr b="0" i="0" sz="2100" u="none" cap="none" strike="noStrike">
              <a:solidFill>
                <a:schemeClr val="accent5"/>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98"/>
          <p:cNvSpPr/>
          <p:nvPr/>
        </p:nvSpPr>
        <p:spPr>
          <a:xfrm rot="10800000">
            <a:off x="2496225" y="1424500"/>
            <a:ext cx="4151700" cy="28647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76" name="Google Shape;1176;p98"/>
          <p:cNvSpPr/>
          <p:nvPr/>
        </p:nvSpPr>
        <p:spPr>
          <a:xfrm rot="10800000">
            <a:off x="2496222" y="854387"/>
            <a:ext cx="4151700" cy="5697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77" name="Google Shape;1177;p98"/>
          <p:cNvSpPr/>
          <p:nvPr/>
        </p:nvSpPr>
        <p:spPr>
          <a:xfrm>
            <a:off x="2683549" y="996806"/>
            <a:ext cx="284400" cy="2844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78" name="Google Shape;1178;p98"/>
          <p:cNvSpPr/>
          <p:nvPr/>
        </p:nvSpPr>
        <p:spPr>
          <a:xfrm>
            <a:off x="3105101" y="996806"/>
            <a:ext cx="284400" cy="2844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79" name="Google Shape;1179;p98"/>
          <p:cNvSpPr/>
          <p:nvPr/>
        </p:nvSpPr>
        <p:spPr>
          <a:xfrm>
            <a:off x="3526652" y="996806"/>
            <a:ext cx="284400" cy="2844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80" name="Google Shape;1180;p98"/>
          <p:cNvSpPr txBox="1"/>
          <p:nvPr/>
        </p:nvSpPr>
        <p:spPr>
          <a:xfrm>
            <a:off x="2665196" y="1448540"/>
            <a:ext cx="3813600" cy="27756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M</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5</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j</a:t>
            </a:r>
            <a:r>
              <a:rPr b="0" i="0" lang="es" sz="2000" u="none" cap="none" strike="noStrike">
                <a:solidFill>
                  <a:srgbClr val="383A42"/>
                </a:solidFill>
                <a:latin typeface="Arial"/>
                <a:ea typeface="Arial"/>
                <a:cs typeface="Arial"/>
                <a:sym typeface="Arial"/>
              </a:rPr>
              <a:t>]</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f</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j</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6</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7</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181" name="Google Shape;1181;p98"/>
          <p:cNvSpPr txBox="1"/>
          <p:nvPr/>
        </p:nvSpPr>
        <p:spPr>
          <a:xfrm>
            <a:off x="3811050" y="854375"/>
            <a:ext cx="2678100" cy="4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s" sz="2300" u="none" cap="none" strike="noStrike">
                <a:solidFill>
                  <a:schemeClr val="accent5"/>
                </a:solidFill>
                <a:latin typeface="Arial"/>
                <a:ea typeface="Arial"/>
                <a:cs typeface="Arial"/>
                <a:sym typeface="Arial"/>
              </a:rPr>
              <a:t>Modificación</a:t>
            </a:r>
            <a:endParaRPr b="0" i="0" sz="2300" u="none" cap="none" strike="noStrike">
              <a:solidFill>
                <a:schemeClr val="accent5"/>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99"/>
          <p:cNvSpPr/>
          <p:nvPr/>
        </p:nvSpPr>
        <p:spPr>
          <a:xfrm rot="10800000">
            <a:off x="2629378" y="1498175"/>
            <a:ext cx="3885300" cy="26808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87" name="Google Shape;1187;p99"/>
          <p:cNvSpPr/>
          <p:nvPr/>
        </p:nvSpPr>
        <p:spPr>
          <a:xfrm rot="10800000">
            <a:off x="2629375" y="964648"/>
            <a:ext cx="3885300" cy="5331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88" name="Google Shape;1188;p99"/>
          <p:cNvSpPr/>
          <p:nvPr/>
        </p:nvSpPr>
        <p:spPr>
          <a:xfrm>
            <a:off x="2804769" y="1097892"/>
            <a:ext cx="266100" cy="2661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89" name="Google Shape;1189;p99"/>
          <p:cNvSpPr/>
          <p:nvPr/>
        </p:nvSpPr>
        <p:spPr>
          <a:xfrm>
            <a:off x="3199262" y="1097892"/>
            <a:ext cx="266100" cy="2661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90" name="Google Shape;1190;p99"/>
          <p:cNvSpPr/>
          <p:nvPr/>
        </p:nvSpPr>
        <p:spPr>
          <a:xfrm>
            <a:off x="3593754" y="1097892"/>
            <a:ext cx="266100" cy="2661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91" name="Google Shape;1191;p99"/>
          <p:cNvSpPr txBox="1"/>
          <p:nvPr/>
        </p:nvSpPr>
        <p:spPr>
          <a:xfrm>
            <a:off x="2787594" y="1520632"/>
            <a:ext cx="3568800" cy="25974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M</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5</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j</a:t>
            </a:r>
            <a:r>
              <a:rPr b="0" i="0" lang="es" sz="2000" u="none" cap="none" strike="noStrike">
                <a:solidFill>
                  <a:srgbClr val="383A42"/>
                </a:solidFill>
                <a:latin typeface="Arial"/>
                <a:ea typeface="Arial"/>
                <a:cs typeface="Arial"/>
                <a:sym typeface="Arial"/>
              </a:rPr>
              <a:t>]</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j</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k</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6</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7</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192" name="Google Shape;1192;p99"/>
          <p:cNvSpPr txBox="1"/>
          <p:nvPr/>
        </p:nvSpPr>
        <p:spPr>
          <a:xfrm>
            <a:off x="3678300" y="964650"/>
            <a:ext cx="2678100" cy="4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s" sz="2100" u="none" cap="none" strike="noStrike">
                <a:solidFill>
                  <a:schemeClr val="accent5"/>
                </a:solidFill>
                <a:latin typeface="Arial"/>
                <a:ea typeface="Arial"/>
                <a:cs typeface="Arial"/>
                <a:sym typeface="Arial"/>
              </a:rPr>
              <a:t>Modificación</a:t>
            </a:r>
            <a:endParaRPr b="0" i="0" sz="2100" u="none" cap="none" strike="noStrike">
              <a:solidFill>
                <a:schemeClr val="accent5"/>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100"/>
          <p:cNvSpPr/>
          <p:nvPr/>
        </p:nvSpPr>
        <p:spPr>
          <a:xfrm rot="10800000">
            <a:off x="2432750" y="1389375"/>
            <a:ext cx="4278600" cy="29523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98" name="Google Shape;1198;p100"/>
          <p:cNvSpPr/>
          <p:nvPr/>
        </p:nvSpPr>
        <p:spPr>
          <a:xfrm rot="10800000">
            <a:off x="2432747" y="801909"/>
            <a:ext cx="4278600" cy="5871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99" name="Google Shape;1199;p100"/>
          <p:cNvSpPr/>
          <p:nvPr/>
        </p:nvSpPr>
        <p:spPr>
          <a:xfrm>
            <a:off x="2625859" y="948672"/>
            <a:ext cx="292800" cy="292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00" name="Google Shape;1200;p100"/>
          <p:cNvSpPr/>
          <p:nvPr/>
        </p:nvSpPr>
        <p:spPr>
          <a:xfrm>
            <a:off x="3060289" y="948672"/>
            <a:ext cx="292800" cy="292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01" name="Google Shape;1201;p100"/>
          <p:cNvSpPr/>
          <p:nvPr/>
        </p:nvSpPr>
        <p:spPr>
          <a:xfrm>
            <a:off x="3494719" y="948672"/>
            <a:ext cx="292800" cy="292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02" name="Google Shape;1202;p100"/>
          <p:cNvSpPr txBox="1"/>
          <p:nvPr/>
        </p:nvSpPr>
        <p:spPr>
          <a:xfrm>
            <a:off x="2606945" y="1414210"/>
            <a:ext cx="3930000" cy="2860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&lt;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&lt;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j</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do</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cin</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&gt;&gt;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j</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5</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while</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j</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&lt;</a:t>
            </a:r>
            <a:r>
              <a:rPr b="0" i="0" lang="es" sz="2000" u="none" cap="none" strike="noStrike">
                <a:solidFill>
                  <a:srgbClr val="383A42"/>
                </a:solidFill>
                <a:latin typeface="Arial"/>
                <a:ea typeface="Arial"/>
                <a:cs typeface="Arial"/>
                <a:sym typeface="Arial"/>
              </a:rPr>
              <a:t> </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6</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7</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203" name="Google Shape;1203;p100"/>
          <p:cNvSpPr txBox="1"/>
          <p:nvPr/>
        </p:nvSpPr>
        <p:spPr>
          <a:xfrm>
            <a:off x="3587824" y="801942"/>
            <a:ext cx="2949000" cy="489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s" sz="2100" u="none" cap="none" strike="noStrike">
                <a:solidFill>
                  <a:schemeClr val="accent5"/>
                </a:solidFill>
                <a:latin typeface="Arial"/>
                <a:ea typeface="Arial"/>
                <a:cs typeface="Arial"/>
                <a:sym typeface="Arial"/>
              </a:rPr>
              <a:t>Modificación</a:t>
            </a:r>
            <a:endParaRPr b="0" i="0" sz="2100" u="none" cap="none" strike="noStrike">
              <a:solidFill>
                <a:schemeClr val="accent5"/>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101"/>
          <p:cNvSpPr/>
          <p:nvPr/>
        </p:nvSpPr>
        <p:spPr>
          <a:xfrm rot="10800000">
            <a:off x="2602550" y="1483824"/>
            <a:ext cx="3939000" cy="27174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09" name="Google Shape;1209;p101"/>
          <p:cNvSpPr/>
          <p:nvPr/>
        </p:nvSpPr>
        <p:spPr>
          <a:xfrm rot="10800000">
            <a:off x="2602547" y="941983"/>
            <a:ext cx="3939000" cy="5409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10" name="Google Shape;1210;p101"/>
          <p:cNvSpPr/>
          <p:nvPr/>
        </p:nvSpPr>
        <p:spPr>
          <a:xfrm>
            <a:off x="2780305" y="1077491"/>
            <a:ext cx="270000" cy="2700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11" name="Google Shape;1211;p101"/>
          <p:cNvSpPr/>
          <p:nvPr/>
        </p:nvSpPr>
        <p:spPr>
          <a:xfrm>
            <a:off x="3180256" y="1077491"/>
            <a:ext cx="270000" cy="2700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12" name="Google Shape;1212;p101"/>
          <p:cNvSpPr/>
          <p:nvPr/>
        </p:nvSpPr>
        <p:spPr>
          <a:xfrm>
            <a:off x="3580207" y="1077491"/>
            <a:ext cx="270000" cy="2700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13" name="Google Shape;1213;p101"/>
          <p:cNvSpPr txBox="1"/>
          <p:nvPr/>
        </p:nvSpPr>
        <p:spPr>
          <a:xfrm>
            <a:off x="2762891" y="1506083"/>
            <a:ext cx="3618000" cy="26331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C</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f</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5</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214" name="Google Shape;1214;p101"/>
          <p:cNvSpPr txBox="1"/>
          <p:nvPr/>
        </p:nvSpPr>
        <p:spPr>
          <a:xfrm>
            <a:off x="3714075" y="931750"/>
            <a:ext cx="2678100" cy="4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s" sz="2100" u="none" cap="none" strike="noStrike">
                <a:solidFill>
                  <a:srgbClr val="9900FF"/>
                </a:solidFill>
                <a:latin typeface="Arial"/>
                <a:ea typeface="Arial"/>
                <a:cs typeface="Arial"/>
                <a:sym typeface="Arial"/>
              </a:rPr>
              <a:t>Acumulación</a:t>
            </a:r>
            <a:endParaRPr b="0" i="0" sz="2100" u="none" cap="none" strike="noStrike">
              <a:solidFill>
                <a:srgbClr val="9900FF"/>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102"/>
          <p:cNvSpPr/>
          <p:nvPr/>
        </p:nvSpPr>
        <p:spPr>
          <a:xfrm rot="10800000">
            <a:off x="2590175" y="1476799"/>
            <a:ext cx="3963900" cy="27348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20" name="Google Shape;1220;p102"/>
          <p:cNvSpPr/>
          <p:nvPr/>
        </p:nvSpPr>
        <p:spPr>
          <a:xfrm rot="10800000">
            <a:off x="2590172" y="931751"/>
            <a:ext cx="3963900" cy="5442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21" name="Google Shape;1221;p102"/>
          <p:cNvSpPr/>
          <p:nvPr/>
        </p:nvSpPr>
        <p:spPr>
          <a:xfrm>
            <a:off x="2768910" y="1067978"/>
            <a:ext cx="271800" cy="271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22" name="Google Shape;1222;p102"/>
          <p:cNvSpPr/>
          <p:nvPr/>
        </p:nvSpPr>
        <p:spPr>
          <a:xfrm>
            <a:off x="3171405" y="1067978"/>
            <a:ext cx="271800" cy="271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23" name="Google Shape;1223;p102"/>
          <p:cNvSpPr/>
          <p:nvPr/>
        </p:nvSpPr>
        <p:spPr>
          <a:xfrm>
            <a:off x="3573900" y="1067978"/>
            <a:ext cx="271800" cy="271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24" name="Google Shape;1224;p102"/>
          <p:cNvSpPr txBox="1"/>
          <p:nvPr/>
        </p:nvSpPr>
        <p:spPr>
          <a:xfrm>
            <a:off x="2751386" y="1499299"/>
            <a:ext cx="3640800" cy="2649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5</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225" name="Google Shape;1225;p102"/>
          <p:cNvSpPr txBox="1"/>
          <p:nvPr/>
        </p:nvSpPr>
        <p:spPr>
          <a:xfrm>
            <a:off x="3714075" y="931750"/>
            <a:ext cx="2678100" cy="4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s" sz="2100" u="none" cap="none" strike="noStrike">
                <a:solidFill>
                  <a:srgbClr val="9900FF"/>
                </a:solidFill>
                <a:latin typeface="Arial"/>
                <a:ea typeface="Arial"/>
                <a:cs typeface="Arial"/>
                <a:sym typeface="Arial"/>
              </a:rPr>
              <a:t>Acumulación</a:t>
            </a:r>
            <a:endParaRPr b="0" i="0" sz="2100" u="none" cap="none" strike="noStrike">
              <a:solidFill>
                <a:srgbClr val="9900FF"/>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103"/>
          <p:cNvSpPr/>
          <p:nvPr/>
        </p:nvSpPr>
        <p:spPr>
          <a:xfrm rot="10800000">
            <a:off x="2590175" y="1476799"/>
            <a:ext cx="3963900" cy="2734800"/>
          </a:xfrm>
          <a:prstGeom prst="round2SameRect">
            <a:avLst>
              <a:gd fmla="val 6272"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31" name="Google Shape;1231;p103"/>
          <p:cNvSpPr/>
          <p:nvPr/>
        </p:nvSpPr>
        <p:spPr>
          <a:xfrm rot="10800000">
            <a:off x="2590172" y="931751"/>
            <a:ext cx="3963900" cy="544200"/>
          </a:xfrm>
          <a:prstGeom prst="round2SameRect">
            <a:avLst>
              <a:gd fmla="val 6272" name="adj1"/>
              <a:gd fmla="val 35447"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32" name="Google Shape;1232;p103"/>
          <p:cNvSpPr/>
          <p:nvPr/>
        </p:nvSpPr>
        <p:spPr>
          <a:xfrm>
            <a:off x="2768910" y="1067978"/>
            <a:ext cx="271800" cy="271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33" name="Google Shape;1233;p103"/>
          <p:cNvSpPr/>
          <p:nvPr/>
        </p:nvSpPr>
        <p:spPr>
          <a:xfrm>
            <a:off x="3171405" y="1067978"/>
            <a:ext cx="271800" cy="271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34" name="Google Shape;1234;p103"/>
          <p:cNvSpPr/>
          <p:nvPr/>
        </p:nvSpPr>
        <p:spPr>
          <a:xfrm>
            <a:off x="3573900" y="1067978"/>
            <a:ext cx="271800" cy="271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35" name="Google Shape;1235;p103"/>
          <p:cNvSpPr txBox="1"/>
          <p:nvPr/>
        </p:nvSpPr>
        <p:spPr>
          <a:xfrm>
            <a:off x="2751386" y="1499299"/>
            <a:ext cx="3640800" cy="2649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1</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lang="es" sz="2000">
                <a:solidFill>
                  <a:srgbClr val="986801"/>
                </a:solidFill>
              </a:rPr>
              <a:t>1</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2</a:t>
            </a:r>
            <a:r>
              <a:rPr b="0" i="0" lang="es" sz="2000" u="none" cap="none" strike="noStrike">
                <a:solidFill>
                  <a:srgbClr val="383A42"/>
                </a:solidFill>
                <a:latin typeface="Arial"/>
                <a:ea typeface="Arial"/>
                <a:cs typeface="Arial"/>
                <a:sym typeface="Arial"/>
              </a:rPr>
              <a:t>  </a:t>
            </a:r>
            <a:r>
              <a:rPr b="0" i="0" lang="es" sz="2000" u="none" cap="none" strike="noStrike">
                <a:solidFill>
                  <a:srgbClr val="A626A4"/>
                </a:solidFill>
                <a:latin typeface="Arial"/>
                <a:ea typeface="Arial"/>
                <a:cs typeface="Arial"/>
                <a:sym typeface="Arial"/>
              </a:rPr>
              <a:t>for</a:t>
            </a:r>
            <a:r>
              <a:rPr b="0" i="0" lang="es" sz="2000" u="none" cap="none" strike="noStrike">
                <a:solidFill>
                  <a:srgbClr val="383A42"/>
                </a:solidFill>
                <a:latin typeface="Arial"/>
                <a:ea typeface="Arial"/>
                <a:cs typeface="Arial"/>
                <a:sym typeface="Arial"/>
              </a:rPr>
              <a:t> (</a:t>
            </a:r>
            <a:r>
              <a:rPr b="0" i="0" lang="es" sz="2000" u="none" cap="none" strike="noStrike">
                <a:solidFill>
                  <a:srgbClr val="27292F"/>
                </a:solidFill>
                <a:latin typeface="Arial"/>
                <a:ea typeface="Arial"/>
                <a:cs typeface="Arial"/>
                <a:sym typeface="Arial"/>
              </a:rPr>
              <a:t>int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986801"/>
                </a:solidFill>
                <a:latin typeface="Arial"/>
                <a:ea typeface="Arial"/>
                <a:cs typeface="Arial"/>
                <a:sym typeface="Arial"/>
              </a:rPr>
              <a:t>0</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&lt;</a:t>
            </a:r>
            <a:r>
              <a:rPr b="0" i="0" lang="es" sz="2000" u="none" cap="none" strike="noStrike">
                <a:solidFill>
                  <a:srgbClr val="E06C75"/>
                </a:solidFill>
                <a:latin typeface="Arial"/>
                <a:ea typeface="Arial"/>
                <a:cs typeface="Arial"/>
                <a:sym typeface="Arial"/>
              </a:rPr>
              <a:t>N</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i</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3</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4</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b="0" i="0" lang="es" sz="2000" u="none" cap="none" strike="noStrike">
                <a:solidFill>
                  <a:srgbClr val="0184BC"/>
                </a:solidFill>
                <a:latin typeface="Arial"/>
                <a:ea typeface="Arial"/>
                <a:cs typeface="Arial"/>
                <a:sym typeface="Aria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res</a:t>
            </a:r>
            <a:r>
              <a:rPr b="0" i="0" lang="es" sz="2000" u="none" cap="none" strike="noStrike">
                <a:solidFill>
                  <a:srgbClr val="383A42"/>
                </a:solidFill>
                <a:latin typeface="Arial"/>
                <a:ea typeface="Arial"/>
                <a:cs typeface="Arial"/>
                <a:sym typeface="Arial"/>
              </a:rPr>
              <a:t> </a:t>
            </a:r>
            <a:r>
              <a:rPr lang="es" sz="2000">
                <a:solidFill>
                  <a:srgbClr val="0184BC"/>
                </a:solidFill>
              </a:rPr>
              <a:t>*</a:t>
            </a:r>
            <a:r>
              <a:rPr b="0" i="0" lang="es" sz="2000" u="none" cap="none" strike="noStrike">
                <a:solidFill>
                  <a:srgbClr val="383A42"/>
                </a:solidFill>
                <a:latin typeface="Arial"/>
                <a:ea typeface="Arial"/>
                <a:cs typeface="Arial"/>
                <a:sym typeface="Arial"/>
              </a:rPr>
              <a:t> </a:t>
            </a:r>
            <a:r>
              <a:rPr b="0" i="0" lang="es" sz="2000" u="none" cap="none" strike="noStrike">
                <a:solidFill>
                  <a:srgbClr val="E06C75"/>
                </a:solidFill>
                <a:latin typeface="Arial"/>
                <a:ea typeface="Arial"/>
                <a:cs typeface="Arial"/>
                <a:sym typeface="Arial"/>
              </a:rPr>
              <a:t>a</a:t>
            </a:r>
            <a:r>
              <a:rPr b="0" i="0" lang="es" sz="2000" u="none" cap="none" strike="noStrike">
                <a:solidFill>
                  <a:srgbClr val="383A42"/>
                </a:solidFill>
                <a:latin typeface="Arial"/>
                <a:ea typeface="Arial"/>
                <a:cs typeface="Arial"/>
                <a:sym typeface="Arial"/>
              </a:rPr>
              <a:t>[</a:t>
            </a:r>
            <a:r>
              <a:rPr b="0" i="0" lang="es" sz="2000" u="none" cap="none" strike="noStrike">
                <a:solidFill>
                  <a:srgbClr val="E06C75"/>
                </a:solidFill>
                <a:latin typeface="Arial"/>
                <a:ea typeface="Arial"/>
                <a:cs typeface="Arial"/>
                <a:sym typeface="Arial"/>
              </a:rPr>
              <a:t>i</a:t>
            </a:r>
            <a:r>
              <a:rPr b="0" i="0" lang="es" sz="2000" u="none" cap="none" strike="noStrike">
                <a:solidFill>
                  <a:srgbClr val="383A42"/>
                </a:solidFill>
                <a:latin typeface="Arial"/>
                <a:ea typeface="Arial"/>
                <a:cs typeface="Arial"/>
                <a:sym typeface="Arial"/>
              </a:rPr>
              <a:t>];</a:t>
            </a:r>
            <a:endParaRPr b="0" i="0" sz="20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383A42"/>
                </a:solidFill>
                <a:latin typeface="Arial"/>
                <a:ea typeface="Arial"/>
                <a:cs typeface="Arial"/>
                <a:sym typeface="Arial"/>
              </a:rPr>
              <a:t>  </a:t>
            </a:r>
            <a:r>
              <a:rPr b="0" i="0" lang="es" sz="2000" u="none" cap="none" strike="noStrike">
                <a:solidFill>
                  <a:srgbClr val="929292"/>
                </a:solidFill>
                <a:latin typeface="Arial"/>
                <a:ea typeface="Arial"/>
                <a:cs typeface="Arial"/>
                <a:sym typeface="Arial"/>
              </a:rPr>
              <a:t>5</a:t>
            </a:r>
            <a:r>
              <a:rPr b="0" i="0" lang="es" sz="2000" u="none" cap="none" strike="noStrike">
                <a:solidFill>
                  <a:srgbClr val="383A42"/>
                </a:solidFill>
                <a:latin typeface="Arial"/>
                <a:ea typeface="Arial"/>
                <a:cs typeface="Arial"/>
                <a:sym typeface="Arial"/>
              </a:rPr>
              <a:t>  }</a:t>
            </a:r>
            <a:endParaRPr b="0" i="0" sz="2000" u="none" cap="none" strike="noStrike">
              <a:solidFill>
                <a:srgbClr val="383A42"/>
              </a:solidFill>
              <a:latin typeface="Arial"/>
              <a:ea typeface="Arial"/>
              <a:cs typeface="Arial"/>
              <a:sym typeface="Arial"/>
            </a:endParaRPr>
          </a:p>
        </p:txBody>
      </p:sp>
      <p:sp>
        <p:nvSpPr>
          <p:cNvPr id="1236" name="Google Shape;1236;p103"/>
          <p:cNvSpPr txBox="1"/>
          <p:nvPr/>
        </p:nvSpPr>
        <p:spPr>
          <a:xfrm>
            <a:off x="3714075" y="931750"/>
            <a:ext cx="2678100" cy="4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s" sz="2100" u="none" cap="none" strike="noStrike">
                <a:solidFill>
                  <a:srgbClr val="9900FF"/>
                </a:solidFill>
                <a:latin typeface="Arial"/>
                <a:ea typeface="Arial"/>
                <a:cs typeface="Arial"/>
                <a:sym typeface="Arial"/>
              </a:rPr>
              <a:t>Acumulación</a:t>
            </a:r>
            <a:endParaRPr b="0" i="0" sz="2100" u="none" cap="none" strike="noStrike">
              <a:solidFill>
                <a:srgbClr val="9900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laro FCEFYN">
  <a:themeElements>
    <a:clrScheme name="Simple Light">
      <a:dk1>
        <a:srgbClr val="1D1D1D"/>
      </a:dk1>
      <a:lt1>
        <a:srgbClr val="FFFFFF"/>
      </a:lt1>
      <a:dk2>
        <a:srgbClr val="595959"/>
      </a:dk2>
      <a:lt2>
        <a:srgbClr val="EEEEEE"/>
      </a:lt2>
      <a:accent1>
        <a:srgbClr val="4285F4"/>
      </a:accent1>
      <a:accent2>
        <a:srgbClr val="212121"/>
      </a:accent2>
      <a:accent3>
        <a:srgbClr val="D88E77"/>
      </a:accent3>
      <a:accent4>
        <a:srgbClr val="D38129"/>
      </a:accent4>
      <a:accent5>
        <a:srgbClr val="1D4036"/>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