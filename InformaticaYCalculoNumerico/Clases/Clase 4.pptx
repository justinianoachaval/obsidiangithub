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embeddedFontLst>
    <p:embeddedFont>
      <p:font typeface="Montserrat SemiBold"/>
      <p:regular r:id="rId48"/>
      <p:bold r:id="rId49"/>
      <p:italic r:id="rId50"/>
      <p:boldItalic r:id="rId51"/>
    </p:embeddedFont>
    <p:embeddedFont>
      <p:font typeface="Roboto Mono Medium"/>
      <p:regular r:id="rId52"/>
      <p:bold r:id="rId53"/>
      <p:italic r:id="rId54"/>
      <p:boldItalic r:id="rId55"/>
    </p:embeddedFont>
    <p:embeddedFont>
      <p:font typeface="Montserrat"/>
      <p:regular r:id="rId56"/>
      <p:bold r:id="rId57"/>
      <p:italic r:id="rId58"/>
      <p:boldItalic r:id="rId59"/>
    </p:embeddedFont>
    <p:embeddedFont>
      <p:font typeface="Montserrat Medium"/>
      <p:regular r:id="rId60"/>
      <p:bold r:id="rId61"/>
      <p:italic r:id="rId62"/>
      <p:boldItalic r:id="rId63"/>
    </p:embeddedFont>
    <p:embeddedFont>
      <p:font typeface="Montserrat Light"/>
      <p:regular r:id="rId64"/>
      <p:bold r:id="rId65"/>
      <p:italic r:id="rId66"/>
      <p:boldItalic r:id="rId67"/>
    </p:embeddedFont>
    <p:embeddedFont>
      <p:font typeface="Fira Code"/>
      <p:regular r:id="rId68"/>
      <p:bold r:id="rId69"/>
    </p:embeddedFont>
    <p:embeddedFont>
      <p:font typeface="Roboto Mono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E1C548-971B-4BD8-80B4-AE22BA86320D}">
  <a:tblStyle styleId="{FAE1C548-971B-4BD8-80B4-AE22BA8632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SemiBold-regular.fntdata"/><Relationship Id="rId47" Type="http://schemas.openxmlformats.org/officeDocument/2006/relationships/slide" Target="slides/slide41.xml"/><Relationship Id="rId49" Type="http://schemas.openxmlformats.org/officeDocument/2006/relationships/font" Target="fonts/Montserrat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Mono-boldItalic.fntdata"/><Relationship Id="rId72" Type="http://schemas.openxmlformats.org/officeDocument/2006/relationships/font" Target="fonts/RobotoMono-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RobotoMono-bold.fntdata"/><Relationship Id="rId70" Type="http://schemas.openxmlformats.org/officeDocument/2006/relationships/font" Target="fonts/RobotoMono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MontserratMedium-italic.fntdata"/><Relationship Id="rId61" Type="http://schemas.openxmlformats.org/officeDocument/2006/relationships/font" Target="fonts/MontserratMedium-bold.fntdata"/><Relationship Id="rId20" Type="http://schemas.openxmlformats.org/officeDocument/2006/relationships/slide" Target="slides/slide14.xml"/><Relationship Id="rId64" Type="http://schemas.openxmlformats.org/officeDocument/2006/relationships/font" Target="fonts/MontserratLight-regular.fntdata"/><Relationship Id="rId63" Type="http://schemas.openxmlformats.org/officeDocument/2006/relationships/font" Target="fonts/MontserratMedium-boldItalic.fntdata"/><Relationship Id="rId22" Type="http://schemas.openxmlformats.org/officeDocument/2006/relationships/slide" Target="slides/slide16.xml"/><Relationship Id="rId66" Type="http://schemas.openxmlformats.org/officeDocument/2006/relationships/font" Target="fonts/MontserratLight-italic.fntdata"/><Relationship Id="rId21" Type="http://schemas.openxmlformats.org/officeDocument/2006/relationships/slide" Target="slides/slide15.xml"/><Relationship Id="rId65" Type="http://schemas.openxmlformats.org/officeDocument/2006/relationships/font" Target="fonts/MontserratLight-bold.fntdata"/><Relationship Id="rId24" Type="http://schemas.openxmlformats.org/officeDocument/2006/relationships/slide" Target="slides/slide18.xml"/><Relationship Id="rId68" Type="http://schemas.openxmlformats.org/officeDocument/2006/relationships/font" Target="fonts/FiraCode-regular.fntdata"/><Relationship Id="rId23" Type="http://schemas.openxmlformats.org/officeDocument/2006/relationships/slide" Target="slides/slide17.xml"/><Relationship Id="rId67" Type="http://schemas.openxmlformats.org/officeDocument/2006/relationships/font" Target="fonts/MontserratLight-boldItalic.fntdata"/><Relationship Id="rId60" Type="http://schemas.openxmlformats.org/officeDocument/2006/relationships/font" Target="fonts/MontserratMedium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FiraCode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SemiBold-boldItalic.fntdata"/><Relationship Id="rId50" Type="http://schemas.openxmlformats.org/officeDocument/2006/relationships/font" Target="fonts/MontserratSemiBold-italic.fntdata"/><Relationship Id="rId53" Type="http://schemas.openxmlformats.org/officeDocument/2006/relationships/font" Target="fonts/RobotoMonoMedium-bold.fntdata"/><Relationship Id="rId52" Type="http://schemas.openxmlformats.org/officeDocument/2006/relationships/font" Target="fonts/RobotoMonoMedium-regular.fntdata"/><Relationship Id="rId11" Type="http://schemas.openxmlformats.org/officeDocument/2006/relationships/slide" Target="slides/slide5.xml"/><Relationship Id="rId55" Type="http://schemas.openxmlformats.org/officeDocument/2006/relationships/font" Target="fonts/RobotoMonoMedium-boldItalic.fntdata"/><Relationship Id="rId10" Type="http://schemas.openxmlformats.org/officeDocument/2006/relationships/slide" Target="slides/slide4.xml"/><Relationship Id="rId54" Type="http://schemas.openxmlformats.org/officeDocument/2006/relationships/font" Target="fonts/RobotoMonoMedium-italic.fntdata"/><Relationship Id="rId13" Type="http://schemas.openxmlformats.org/officeDocument/2006/relationships/slide" Target="slides/slide7.xml"/><Relationship Id="rId57" Type="http://schemas.openxmlformats.org/officeDocument/2006/relationships/font" Target="fonts/Montserrat-bold.fntdata"/><Relationship Id="rId12" Type="http://schemas.openxmlformats.org/officeDocument/2006/relationships/slide" Target="slides/slide6.xml"/><Relationship Id="rId56" Type="http://schemas.openxmlformats.org/officeDocument/2006/relationships/font" Target="fonts/Montserrat-regular.fntdata"/><Relationship Id="rId15" Type="http://schemas.openxmlformats.org/officeDocument/2006/relationships/slide" Target="slides/slide9.xml"/><Relationship Id="rId59" Type="http://schemas.openxmlformats.org/officeDocument/2006/relationships/font" Target="fonts/Montserrat-boldItalic.fntdata"/><Relationship Id="rId14" Type="http://schemas.openxmlformats.org/officeDocument/2006/relationships/slide" Target="slides/slide8.xml"/><Relationship Id="rId58" Type="http://schemas.openxmlformats.org/officeDocument/2006/relationships/font" Target="fonts/Montserrat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682bf054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682bf054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6a3c7c8fb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f6a3c7c8fb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6a3c7c8fb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f6a3c7c8fb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6a3c7c8fb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f6a3c7c8fb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6a3c7c8fb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f6a3c7c8fb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3dfb866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f3dfb866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3dfb8661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f3dfb8661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3dfb86618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3dfb86618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3dfb8661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f3dfb8661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3dfb8661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f3dfb8661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3dfb8661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f3dfb8661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3dfb8661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f3dfb8661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3dfb8661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f3dfb8661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3dfb8661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f3dfb8661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3dfb8661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f3dfb8661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3dfb8661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f3dfb8661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3dfb8661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f3dfb8661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3dfb86618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f3dfb86618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3dfb8661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f3dfb8661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3dfb86618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f3dfb8661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3dfb86618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f3dfb86618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3dfb86618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f3dfb8661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3dfb86618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f3dfb8661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3dfb86618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f3dfb86618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3dfb86618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3f3dfb86618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3dfb86618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f3dfb86618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3dfb86618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g3f3dfb86618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3dfb86618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3f3dfb86618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3dfb86618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f3dfb86618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3dfb86618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3f3dfb86618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3dfb86618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3f3dfb86618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3dfb86618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g3f3dfb86618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f3dfb86618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3f3dfb86618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f3dfb86618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g3f3dfb86618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3dfb86618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3f3dfb86618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3dfb86618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3f3dfb86618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f3dfb86618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f3dfb86618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f3dfb86618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g3f3dfb86618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f3dfb86618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3f3dfb86618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f3dfb86618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g3f3dfb86618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Elementos ornamentales-0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2903" y="-423203"/>
            <a:ext cx="509829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4" name="Google Shape;14;p2" title="1_Isologotipo FCEFyN y UNC- original_Sin 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9" y="-76200"/>
            <a:ext cx="4239831" cy="11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9" name="Google Shape;19;p3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title="Elementos ornamentales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431561"/>
            <a:ext cx="9144003" cy="19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6" name="Google Shape;26;p4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3" name="Google Shape;33;p5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8" name="Google Shape;38;p6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4" name="Google Shape;44;p7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9" name="Google Shape;49;p8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9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2" name="Google Shape;62;p10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8" name="Google Shape;68;p11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2" name="Google Shape;72;p12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FE4D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gif"/><Relationship Id="rId4" Type="http://schemas.openxmlformats.org/officeDocument/2006/relationships/image" Target="../media/image18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gif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Inform</a:t>
            </a:r>
            <a:r>
              <a:rPr lang="es"/>
              <a:t>ática y Cálculo Numérico</a:t>
            </a:r>
            <a:endParaRPr/>
          </a:p>
        </p:txBody>
      </p:sp>
      <p:sp>
        <p:nvSpPr>
          <p:cNvPr id="78" name="Google Shape;78;p13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Comisi</a:t>
            </a:r>
            <a:r>
              <a:rPr lang="es"/>
              <a:t>ón 5 - 2026 - Segundo Semestre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Cómo</a:t>
            </a:r>
            <a:r>
              <a:rPr lang="es"/>
              <a:t> funcionan?</a:t>
            </a:r>
            <a:endParaRPr/>
          </a:p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689925" y="1170925"/>
            <a:ext cx="9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 &amp;&amp; b 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1652025" y="1170925"/>
            <a:ext cx="12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 and b 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87" name="Google Shape;87;p14"/>
          <p:cNvGraphicFramePr/>
          <p:nvPr/>
        </p:nvGraphicFramePr>
        <p:xfrm>
          <a:off x="733850" y="165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{FAE1C548-971B-4BD8-80B4-AE22BA86320D}</a:tableStyleId>
              </a:tblPr>
              <a:tblGrid>
                <a:gridCol w="636350"/>
                <a:gridCol w="615425"/>
                <a:gridCol w="803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b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 &amp;&amp; b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8" name="Google Shape;88;p14"/>
          <p:cNvSpPr txBox="1"/>
          <p:nvPr/>
        </p:nvSpPr>
        <p:spPr>
          <a:xfrm>
            <a:off x="3466650" y="1170925"/>
            <a:ext cx="9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 || b 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4428750" y="1170925"/>
            <a:ext cx="12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 or b 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0" name="Google Shape;90;p14"/>
          <p:cNvGraphicFramePr/>
          <p:nvPr/>
        </p:nvGraphicFramePr>
        <p:xfrm>
          <a:off x="3510575" y="165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{FAE1C548-971B-4BD8-80B4-AE22BA86320D}</a:tableStyleId>
              </a:tblPr>
              <a:tblGrid>
                <a:gridCol w="636350"/>
                <a:gridCol w="615425"/>
                <a:gridCol w="803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b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 || b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1" name="Google Shape;91;p14"/>
          <p:cNvGraphicFramePr/>
          <p:nvPr/>
        </p:nvGraphicFramePr>
        <p:xfrm>
          <a:off x="6555875" y="165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{FAE1C548-971B-4BD8-80B4-AE22BA86320D}</a:tableStyleId>
              </a:tblPr>
              <a:tblGrid>
                <a:gridCol w="636350"/>
                <a:gridCol w="615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!a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2" name="Google Shape;92;p14"/>
          <p:cNvSpPr txBox="1"/>
          <p:nvPr/>
        </p:nvSpPr>
        <p:spPr>
          <a:xfrm>
            <a:off x="6287310" y="1170925"/>
            <a:ext cx="12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not a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6926310" y="1170925"/>
            <a:ext cx="12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7380700" y="3505075"/>
            <a:ext cx="5982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6561350" y="95125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6561350" y="1540975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6561350" y="213070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p15"/>
          <p:cNvCxnSpPr/>
          <p:nvPr/>
        </p:nvCxnSpPr>
        <p:spPr>
          <a:xfrm>
            <a:off x="67715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" name="Google Shape;103;p15"/>
          <p:cNvCxnSpPr>
            <a:endCxn id="99" idx="0"/>
          </p:cNvCxnSpPr>
          <p:nvPr/>
        </p:nvCxnSpPr>
        <p:spPr>
          <a:xfrm>
            <a:off x="67715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" name="Google Shape;104;p15"/>
          <p:cNvCxnSpPr>
            <a:stCxn id="99" idx="4"/>
            <a:endCxn id="100" idx="0"/>
          </p:cNvCxnSpPr>
          <p:nvPr/>
        </p:nvCxnSpPr>
        <p:spPr>
          <a:xfrm>
            <a:off x="67715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" name="Google Shape;105;p15"/>
          <p:cNvCxnSpPr>
            <a:stCxn id="100" idx="4"/>
            <a:endCxn id="101" idx="0"/>
          </p:cNvCxnSpPr>
          <p:nvPr/>
        </p:nvCxnSpPr>
        <p:spPr>
          <a:xfrm>
            <a:off x="67715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" name="Google Shape;106;p15"/>
          <p:cNvSpPr/>
          <p:nvPr/>
        </p:nvSpPr>
        <p:spPr>
          <a:xfrm>
            <a:off x="6510500" y="2820250"/>
            <a:ext cx="522000" cy="522000"/>
          </a:xfrm>
          <a:prstGeom prst="diamond">
            <a:avLst/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6472400" y="4177450"/>
            <a:ext cx="5982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15"/>
          <p:cNvCxnSpPr>
            <a:stCxn id="106" idx="2"/>
            <a:endCxn id="107" idx="0"/>
          </p:cNvCxnSpPr>
          <p:nvPr/>
        </p:nvCxnSpPr>
        <p:spPr>
          <a:xfrm>
            <a:off x="67715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" name="Google Shape;109;p15"/>
          <p:cNvCxnSpPr>
            <a:stCxn id="98" idx="0"/>
            <a:endCxn id="106" idx="3"/>
          </p:cNvCxnSpPr>
          <p:nvPr/>
        </p:nvCxnSpPr>
        <p:spPr>
          <a:xfrm flipH="1" rot="5400000">
            <a:off x="7144150" y="2969425"/>
            <a:ext cx="4239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10" name="Google Shape;110;p15"/>
          <p:cNvCxnSpPr>
            <a:stCxn id="98" idx="4"/>
            <a:endCxn id="107" idx="2"/>
          </p:cNvCxnSpPr>
          <p:nvPr/>
        </p:nvCxnSpPr>
        <p:spPr>
          <a:xfrm rot="5400000">
            <a:off x="7118950" y="3830125"/>
            <a:ext cx="459000" cy="66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" name="Google Shape;111;p15"/>
          <p:cNvCxnSpPr>
            <a:stCxn id="101" idx="4"/>
            <a:endCxn id="106" idx="0"/>
          </p:cNvCxnSpPr>
          <p:nvPr/>
        </p:nvCxnSpPr>
        <p:spPr>
          <a:xfrm>
            <a:off x="67715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" name="Google Shape;112;p15"/>
          <p:cNvSpPr txBox="1"/>
          <p:nvPr/>
        </p:nvSpPr>
        <p:spPr>
          <a:xfrm>
            <a:off x="64724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7131075" y="2803325"/>
            <a:ext cx="5094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b="1" i="0" sz="800" u="none" cap="none" strike="noStrike">
              <a:solidFill>
                <a:srgbClr val="0184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7220375" y="2132200"/>
            <a:ext cx="14628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personas=</a:t>
            </a:r>
            <a:r>
              <a:rPr b="1" i="0" lang="es" sz="16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2098300" y="3505075"/>
            <a:ext cx="6474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1303550" y="95125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1303550" y="1540975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1303550" y="213070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15"/>
          <p:cNvCxnSpPr/>
          <p:nvPr/>
        </p:nvCxnSpPr>
        <p:spPr>
          <a:xfrm>
            <a:off x="15137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0" name="Google Shape;120;p15"/>
          <p:cNvCxnSpPr>
            <a:endCxn id="116" idx="0"/>
          </p:cNvCxnSpPr>
          <p:nvPr/>
        </p:nvCxnSpPr>
        <p:spPr>
          <a:xfrm>
            <a:off x="15137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1" name="Google Shape;121;p15"/>
          <p:cNvCxnSpPr>
            <a:stCxn id="116" idx="4"/>
            <a:endCxn id="117" idx="0"/>
          </p:cNvCxnSpPr>
          <p:nvPr/>
        </p:nvCxnSpPr>
        <p:spPr>
          <a:xfrm>
            <a:off x="15137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" name="Google Shape;122;p15"/>
          <p:cNvCxnSpPr>
            <a:stCxn id="117" idx="4"/>
            <a:endCxn id="118" idx="0"/>
          </p:cNvCxnSpPr>
          <p:nvPr/>
        </p:nvCxnSpPr>
        <p:spPr>
          <a:xfrm>
            <a:off x="15137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" name="Google Shape;123;p15"/>
          <p:cNvSpPr/>
          <p:nvPr/>
        </p:nvSpPr>
        <p:spPr>
          <a:xfrm>
            <a:off x="1252700" y="2820250"/>
            <a:ext cx="522000" cy="522000"/>
          </a:xfrm>
          <a:prstGeom prst="diamond">
            <a:avLst/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1190000" y="4177450"/>
            <a:ext cx="6474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15"/>
          <p:cNvCxnSpPr>
            <a:stCxn id="123" idx="2"/>
            <a:endCxn id="124" idx="0"/>
          </p:cNvCxnSpPr>
          <p:nvPr/>
        </p:nvCxnSpPr>
        <p:spPr>
          <a:xfrm>
            <a:off x="15137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" name="Google Shape;126;p15"/>
          <p:cNvCxnSpPr>
            <a:stCxn id="115" idx="0"/>
            <a:endCxn id="123" idx="3"/>
          </p:cNvCxnSpPr>
          <p:nvPr/>
        </p:nvCxnSpPr>
        <p:spPr>
          <a:xfrm flipH="1" rot="5400000">
            <a:off x="1886350" y="2969425"/>
            <a:ext cx="4239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27" name="Google Shape;127;p15"/>
          <p:cNvCxnSpPr>
            <a:stCxn id="115" idx="4"/>
            <a:endCxn id="124" idx="2"/>
          </p:cNvCxnSpPr>
          <p:nvPr/>
        </p:nvCxnSpPr>
        <p:spPr>
          <a:xfrm rot="5400000">
            <a:off x="1873450" y="3842425"/>
            <a:ext cx="459000" cy="63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" name="Google Shape;128;p15"/>
          <p:cNvCxnSpPr>
            <a:stCxn id="118" idx="4"/>
            <a:endCxn id="123" idx="0"/>
          </p:cNvCxnSpPr>
          <p:nvPr/>
        </p:nvCxnSpPr>
        <p:spPr>
          <a:xfrm>
            <a:off x="15137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" name="Google Shape;129;p15"/>
          <p:cNvSpPr txBox="1"/>
          <p:nvPr/>
        </p:nvSpPr>
        <p:spPr>
          <a:xfrm>
            <a:off x="12146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1962575" y="2132200"/>
            <a:ext cx="14628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personas=0</a:t>
            </a:r>
            <a:endParaRPr b="0" i="0" sz="16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 rot="-5400000">
            <a:off x="1202225" y="3506625"/>
            <a:ext cx="5094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b="1" i="0" sz="800" u="none" cap="none" strike="noStrike">
              <a:solidFill>
                <a:srgbClr val="0184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5"/>
          <p:cNvSpPr txBox="1"/>
          <p:nvPr>
            <p:ph type="title"/>
          </p:nvPr>
        </p:nvSpPr>
        <p:spPr>
          <a:xfrm rot="-5400000">
            <a:off x="-1531900" y="228540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20">
                <a:solidFill>
                  <a:schemeClr val="dk2"/>
                </a:solidFill>
              </a:rPr>
              <a:t>Caso</a:t>
            </a:r>
            <a:r>
              <a:rPr lang="es" sz="2420">
                <a:solidFill>
                  <a:srgbClr val="CCCCCC"/>
                </a:solidFill>
              </a:rPr>
              <a:t> </a:t>
            </a:r>
            <a:r>
              <a:rPr lang="es" sz="2420">
                <a:solidFill>
                  <a:schemeClr val="accent4"/>
                </a:solidFill>
              </a:rPr>
              <a:t>1</a:t>
            </a:r>
            <a:endParaRPr sz="2420">
              <a:solidFill>
                <a:schemeClr val="accent4"/>
              </a:solidFill>
            </a:endParaRPr>
          </a:p>
        </p:txBody>
      </p:sp>
      <p:sp>
        <p:nvSpPr>
          <p:cNvPr id="133" name="Google Shape;133;p15"/>
          <p:cNvSpPr txBox="1"/>
          <p:nvPr>
            <p:ph type="title"/>
          </p:nvPr>
        </p:nvSpPr>
        <p:spPr>
          <a:xfrm rot="-5400000">
            <a:off x="3590525" y="228540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20">
                <a:solidFill>
                  <a:schemeClr val="dk2"/>
                </a:solidFill>
              </a:rPr>
              <a:t>Caso</a:t>
            </a:r>
            <a:r>
              <a:rPr lang="es" sz="2420">
                <a:solidFill>
                  <a:srgbClr val="CCCCCC"/>
                </a:solidFill>
              </a:rPr>
              <a:t> </a:t>
            </a:r>
            <a:r>
              <a:rPr lang="es" sz="2420">
                <a:solidFill>
                  <a:srgbClr val="6D9EEB"/>
                </a:solidFill>
              </a:rPr>
              <a:t>2</a:t>
            </a:r>
            <a:endParaRPr sz="2420">
              <a:solidFill>
                <a:srgbClr val="6D9EEB"/>
              </a:solidFill>
            </a:endParaRPr>
          </a:p>
        </p:txBody>
      </p: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5663" y="1965034"/>
            <a:ext cx="1213450" cy="121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/>
          <p:nvPr/>
        </p:nvSpPr>
        <p:spPr>
          <a:xfrm>
            <a:off x="7469650" y="350507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6561350" y="9512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561350" y="154097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561350" y="213070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16"/>
          <p:cNvCxnSpPr/>
          <p:nvPr/>
        </p:nvCxnSpPr>
        <p:spPr>
          <a:xfrm>
            <a:off x="67715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" name="Google Shape;145;p16"/>
          <p:cNvCxnSpPr>
            <a:endCxn id="141" idx="0"/>
          </p:cNvCxnSpPr>
          <p:nvPr/>
        </p:nvCxnSpPr>
        <p:spPr>
          <a:xfrm>
            <a:off x="67715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" name="Google Shape;146;p16"/>
          <p:cNvCxnSpPr>
            <a:stCxn id="141" idx="2"/>
            <a:endCxn id="142" idx="0"/>
          </p:cNvCxnSpPr>
          <p:nvPr/>
        </p:nvCxnSpPr>
        <p:spPr>
          <a:xfrm>
            <a:off x="67715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" name="Google Shape;147;p16"/>
          <p:cNvCxnSpPr>
            <a:stCxn id="142" idx="2"/>
            <a:endCxn id="143" idx="0"/>
          </p:cNvCxnSpPr>
          <p:nvPr/>
        </p:nvCxnSpPr>
        <p:spPr>
          <a:xfrm>
            <a:off x="67715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" name="Google Shape;148;p16"/>
          <p:cNvSpPr/>
          <p:nvPr/>
        </p:nvSpPr>
        <p:spPr>
          <a:xfrm>
            <a:off x="6510500" y="2820250"/>
            <a:ext cx="522000" cy="522000"/>
          </a:xfrm>
          <a:prstGeom prst="diamond">
            <a:avLst/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561350" y="41774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16"/>
          <p:cNvCxnSpPr>
            <a:stCxn id="148" idx="2"/>
            <a:endCxn id="149" idx="0"/>
          </p:cNvCxnSpPr>
          <p:nvPr/>
        </p:nvCxnSpPr>
        <p:spPr>
          <a:xfrm>
            <a:off x="67715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" name="Google Shape;151;p16"/>
          <p:cNvCxnSpPr>
            <a:stCxn id="140" idx="0"/>
            <a:endCxn id="148" idx="3"/>
          </p:cNvCxnSpPr>
          <p:nvPr/>
        </p:nvCxnSpPr>
        <p:spPr>
          <a:xfrm flipH="1" rot="5400000">
            <a:off x="7144150" y="2969425"/>
            <a:ext cx="4239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52" name="Google Shape;152;p16"/>
          <p:cNvCxnSpPr>
            <a:stCxn id="140" idx="2"/>
            <a:endCxn id="149" idx="3"/>
          </p:cNvCxnSpPr>
          <p:nvPr/>
        </p:nvCxnSpPr>
        <p:spPr>
          <a:xfrm rot="5400000">
            <a:off x="7101250" y="3812425"/>
            <a:ext cx="459000" cy="69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" name="Google Shape;153;p16"/>
          <p:cNvCxnSpPr>
            <a:stCxn id="143" idx="2"/>
            <a:endCxn id="148" idx="0"/>
          </p:cNvCxnSpPr>
          <p:nvPr/>
        </p:nvCxnSpPr>
        <p:spPr>
          <a:xfrm>
            <a:off x="67715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4" name="Google Shape;154;p16"/>
          <p:cNvSpPr txBox="1"/>
          <p:nvPr/>
        </p:nvSpPr>
        <p:spPr>
          <a:xfrm>
            <a:off x="64724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7131075" y="2803325"/>
            <a:ext cx="5094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b="1" i="0" sz="800" u="none" cap="none" strike="noStrike">
              <a:solidFill>
                <a:srgbClr val="0184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7220375" y="2132200"/>
            <a:ext cx="14628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personas=</a:t>
            </a:r>
            <a:r>
              <a:rPr b="1" i="0" lang="es" sz="16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2211850" y="3505075"/>
            <a:ext cx="420300" cy="426900"/>
          </a:xfrm>
          <a:prstGeom prst="roundRect">
            <a:avLst>
              <a:gd fmla="val 794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1303550" y="9512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1303550" y="154097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1303550" y="213070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16"/>
          <p:cNvCxnSpPr/>
          <p:nvPr/>
        </p:nvCxnSpPr>
        <p:spPr>
          <a:xfrm>
            <a:off x="15137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" name="Google Shape;162;p16"/>
          <p:cNvCxnSpPr>
            <a:endCxn id="158" idx="0"/>
          </p:cNvCxnSpPr>
          <p:nvPr/>
        </p:nvCxnSpPr>
        <p:spPr>
          <a:xfrm>
            <a:off x="15137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" name="Google Shape;163;p16"/>
          <p:cNvCxnSpPr>
            <a:stCxn id="158" idx="2"/>
            <a:endCxn id="159" idx="0"/>
          </p:cNvCxnSpPr>
          <p:nvPr/>
        </p:nvCxnSpPr>
        <p:spPr>
          <a:xfrm>
            <a:off x="15137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" name="Google Shape;164;p16"/>
          <p:cNvCxnSpPr>
            <a:stCxn id="159" idx="2"/>
            <a:endCxn id="160" idx="0"/>
          </p:cNvCxnSpPr>
          <p:nvPr/>
        </p:nvCxnSpPr>
        <p:spPr>
          <a:xfrm>
            <a:off x="15137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5" name="Google Shape;165;p16"/>
          <p:cNvSpPr/>
          <p:nvPr/>
        </p:nvSpPr>
        <p:spPr>
          <a:xfrm>
            <a:off x="1252700" y="2820250"/>
            <a:ext cx="522000" cy="522000"/>
          </a:xfrm>
          <a:prstGeom prst="diamond">
            <a:avLst/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1303550" y="41774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16"/>
          <p:cNvCxnSpPr>
            <a:stCxn id="165" idx="2"/>
            <a:endCxn id="166" idx="0"/>
          </p:cNvCxnSpPr>
          <p:nvPr/>
        </p:nvCxnSpPr>
        <p:spPr>
          <a:xfrm>
            <a:off x="15137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p16"/>
          <p:cNvCxnSpPr>
            <a:stCxn id="157" idx="0"/>
            <a:endCxn id="165" idx="3"/>
          </p:cNvCxnSpPr>
          <p:nvPr/>
        </p:nvCxnSpPr>
        <p:spPr>
          <a:xfrm flipH="1" rot="5400000">
            <a:off x="1886350" y="2969425"/>
            <a:ext cx="4239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69" name="Google Shape;169;p16"/>
          <p:cNvCxnSpPr>
            <a:stCxn id="157" idx="2"/>
            <a:endCxn id="166" idx="3"/>
          </p:cNvCxnSpPr>
          <p:nvPr/>
        </p:nvCxnSpPr>
        <p:spPr>
          <a:xfrm rot="5400000">
            <a:off x="1843450" y="3812425"/>
            <a:ext cx="459000" cy="69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16"/>
          <p:cNvCxnSpPr>
            <a:stCxn id="160" idx="2"/>
            <a:endCxn id="165" idx="0"/>
          </p:cNvCxnSpPr>
          <p:nvPr/>
        </p:nvCxnSpPr>
        <p:spPr>
          <a:xfrm>
            <a:off x="15137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" name="Google Shape;171;p16"/>
          <p:cNvSpPr txBox="1"/>
          <p:nvPr/>
        </p:nvSpPr>
        <p:spPr>
          <a:xfrm>
            <a:off x="12146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1962575" y="2132200"/>
            <a:ext cx="14628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personas=0</a:t>
            </a:r>
            <a:endParaRPr b="0" i="0" sz="16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 rot="-5400000">
            <a:off x="1202225" y="3506625"/>
            <a:ext cx="5094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b="1" i="0" sz="800" u="none" cap="none" strike="noStrike">
              <a:solidFill>
                <a:srgbClr val="0184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5663" y="1965034"/>
            <a:ext cx="1213450" cy="121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2923325" y="3499275"/>
            <a:ext cx="28383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¡ Dos posibles trazas de ejecución !</a:t>
            </a:r>
            <a:endParaRPr b="0" i="0" sz="28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77" name="Google Shape;177;p16"/>
          <p:cNvSpPr txBox="1"/>
          <p:nvPr>
            <p:ph type="title"/>
          </p:nvPr>
        </p:nvSpPr>
        <p:spPr>
          <a:xfrm rot="-5400000">
            <a:off x="-1531900" y="228540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20">
                <a:solidFill>
                  <a:schemeClr val="dk2"/>
                </a:solidFill>
              </a:rPr>
              <a:t>Caso</a:t>
            </a:r>
            <a:r>
              <a:rPr lang="es" sz="2420">
                <a:solidFill>
                  <a:srgbClr val="CCCCCC"/>
                </a:solidFill>
              </a:rPr>
              <a:t> </a:t>
            </a:r>
            <a:r>
              <a:rPr lang="es" sz="2420">
                <a:solidFill>
                  <a:schemeClr val="accent4"/>
                </a:solidFill>
              </a:rPr>
              <a:t>1</a:t>
            </a:r>
            <a:endParaRPr sz="2420">
              <a:solidFill>
                <a:schemeClr val="accent4"/>
              </a:solidFill>
            </a:endParaRPr>
          </a:p>
        </p:txBody>
      </p:sp>
      <p:sp>
        <p:nvSpPr>
          <p:cNvPr id="178" name="Google Shape;178;p16"/>
          <p:cNvSpPr txBox="1"/>
          <p:nvPr>
            <p:ph type="title"/>
          </p:nvPr>
        </p:nvSpPr>
        <p:spPr>
          <a:xfrm rot="-5400000">
            <a:off x="3590525" y="228540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20">
                <a:solidFill>
                  <a:schemeClr val="dk2"/>
                </a:solidFill>
              </a:rPr>
              <a:t>Caso</a:t>
            </a:r>
            <a:r>
              <a:rPr lang="es" sz="2420">
                <a:solidFill>
                  <a:srgbClr val="CCCCCC"/>
                </a:solidFill>
              </a:rPr>
              <a:t> </a:t>
            </a:r>
            <a:r>
              <a:rPr lang="es" sz="2420">
                <a:solidFill>
                  <a:srgbClr val="6D9EEB"/>
                </a:solidFill>
              </a:rPr>
              <a:t>2</a:t>
            </a:r>
            <a:endParaRPr sz="2420">
              <a:solidFill>
                <a:srgbClr val="6D9EE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997500" y="14572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6923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if (</a:t>
            </a:r>
            <a:r>
              <a:rPr lang="es" sz="2600">
                <a:solidFill>
                  <a:schemeClr val="accent4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cond</a:t>
            </a: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)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923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{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923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	   </a:t>
            </a:r>
            <a:r>
              <a:rPr lang="es" sz="2600">
                <a:solidFill>
                  <a:schemeClr val="accen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prog1</a:t>
            </a:r>
            <a:endParaRPr sz="2600">
              <a:solidFill>
                <a:schemeClr val="accen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923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923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else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923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{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923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		</a:t>
            </a:r>
            <a:r>
              <a:rPr lang="es" sz="2600">
                <a:solidFill>
                  <a:schemeClr val="accen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prog2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76923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84" name="Google Shape;184;p17"/>
          <p:cNvSpPr txBox="1"/>
          <p:nvPr>
            <p:ph idx="2" type="body"/>
          </p:nvPr>
        </p:nvSpPr>
        <p:spPr>
          <a:xfrm>
            <a:off x="4832400" y="2006400"/>
            <a:ext cx="3999900" cy="2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/>
              <a:t>Si se cumple la condición </a:t>
            </a:r>
            <a:r>
              <a:rPr b="1" lang="es" sz="2000">
                <a:solidFill>
                  <a:schemeClr val="accent4"/>
                </a:solidFill>
              </a:rPr>
              <a:t>cond</a:t>
            </a:r>
            <a:r>
              <a:rPr lang="es" sz="2000"/>
              <a:t>, entonces se ejecuta el programa </a:t>
            </a:r>
            <a:r>
              <a:rPr b="1" lang="es" sz="2000">
                <a:solidFill>
                  <a:schemeClr val="accent1"/>
                </a:solidFill>
              </a:rPr>
              <a:t>prog1</a:t>
            </a:r>
            <a:r>
              <a:rPr lang="es" sz="2000"/>
              <a:t>. Caso contrario (si NO se cumple </a:t>
            </a:r>
            <a:r>
              <a:rPr b="1" lang="es" sz="2000">
                <a:solidFill>
                  <a:schemeClr val="accent4"/>
                </a:solidFill>
              </a:rPr>
              <a:t>cond</a:t>
            </a:r>
            <a:r>
              <a:rPr lang="es" sz="2000"/>
              <a:t>), se ejecuta </a:t>
            </a:r>
            <a:r>
              <a:rPr b="1" lang="es" sz="2000">
                <a:solidFill>
                  <a:schemeClr val="accent1"/>
                </a:solidFill>
              </a:rPr>
              <a:t>prog2</a:t>
            </a:r>
            <a:r>
              <a:rPr lang="es" sz="2000"/>
              <a:t>.</a:t>
            </a:r>
            <a:endParaRPr b="1" sz="2000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/>
          </a:p>
        </p:txBody>
      </p:sp>
      <p:sp>
        <p:nvSpPr>
          <p:cNvPr id="185" name="Google Shape;1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¿Qué más podemos hacer?</a:t>
            </a:r>
            <a:endParaRPr/>
          </a:p>
        </p:txBody>
      </p:sp>
      <p:sp>
        <p:nvSpPr>
          <p:cNvPr id="186" name="Google Shape;186;p1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Condicional Doble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 rot="10800000">
            <a:off x="478900" y="1471875"/>
            <a:ext cx="5609700" cy="3498300"/>
          </a:xfrm>
          <a:prstGeom prst="round2SameRect">
            <a:avLst>
              <a:gd fmla="val 3443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8"/>
          <p:cNvSpPr/>
          <p:nvPr/>
        </p:nvSpPr>
        <p:spPr>
          <a:xfrm rot="10800000">
            <a:off x="478868" y="1080875"/>
            <a:ext cx="56097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22549" y="11810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905581" y="11810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1188612" y="11810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478975" y="1503175"/>
            <a:ext cx="5609700" cy="3297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"Error: division por cero, vuelva a ejecutar con un valor distinto"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"Termina programa"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7990300" y="3581275"/>
            <a:ext cx="5982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7170950" y="951250"/>
            <a:ext cx="4203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7170950" y="1540975"/>
            <a:ext cx="4203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170950" y="2130700"/>
            <a:ext cx="4203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18"/>
          <p:cNvCxnSpPr/>
          <p:nvPr/>
        </p:nvCxnSpPr>
        <p:spPr>
          <a:xfrm>
            <a:off x="73811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" name="Google Shape;203;p18"/>
          <p:cNvCxnSpPr>
            <a:endCxn id="199" idx="0"/>
          </p:cNvCxnSpPr>
          <p:nvPr/>
        </p:nvCxnSpPr>
        <p:spPr>
          <a:xfrm>
            <a:off x="73811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" name="Google Shape;204;p18"/>
          <p:cNvCxnSpPr>
            <a:stCxn id="199" idx="4"/>
            <a:endCxn id="200" idx="0"/>
          </p:cNvCxnSpPr>
          <p:nvPr/>
        </p:nvCxnSpPr>
        <p:spPr>
          <a:xfrm>
            <a:off x="73811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" name="Google Shape;205;p18"/>
          <p:cNvCxnSpPr>
            <a:stCxn id="200" idx="4"/>
            <a:endCxn id="201" idx="0"/>
          </p:cNvCxnSpPr>
          <p:nvPr/>
        </p:nvCxnSpPr>
        <p:spPr>
          <a:xfrm>
            <a:off x="73811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6" name="Google Shape;206;p18"/>
          <p:cNvSpPr/>
          <p:nvPr/>
        </p:nvSpPr>
        <p:spPr>
          <a:xfrm>
            <a:off x="7120100" y="2820250"/>
            <a:ext cx="522000" cy="522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7082000" y="4253650"/>
            <a:ext cx="5982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18"/>
          <p:cNvCxnSpPr>
            <a:stCxn id="206" idx="2"/>
            <a:endCxn id="209" idx="0"/>
          </p:cNvCxnSpPr>
          <p:nvPr/>
        </p:nvCxnSpPr>
        <p:spPr>
          <a:xfrm>
            <a:off x="7381100" y="3342250"/>
            <a:ext cx="0" cy="22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" name="Google Shape;210;p18"/>
          <p:cNvCxnSpPr>
            <a:stCxn id="198" idx="0"/>
            <a:endCxn id="206" idx="3"/>
          </p:cNvCxnSpPr>
          <p:nvPr/>
        </p:nvCxnSpPr>
        <p:spPr>
          <a:xfrm flipH="1" rot="5400000">
            <a:off x="7715650" y="3007525"/>
            <a:ext cx="5001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11" name="Google Shape;211;p18"/>
          <p:cNvCxnSpPr>
            <a:stCxn id="198" idx="4"/>
            <a:endCxn id="207" idx="2"/>
          </p:cNvCxnSpPr>
          <p:nvPr/>
        </p:nvCxnSpPr>
        <p:spPr>
          <a:xfrm rot="5400000">
            <a:off x="7728550" y="3906325"/>
            <a:ext cx="459000" cy="66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" name="Google Shape;212;p18"/>
          <p:cNvCxnSpPr>
            <a:stCxn id="201" idx="4"/>
            <a:endCxn id="206" idx="0"/>
          </p:cNvCxnSpPr>
          <p:nvPr/>
        </p:nvCxnSpPr>
        <p:spPr>
          <a:xfrm>
            <a:off x="73811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" name="Google Shape;213;p18"/>
          <p:cNvSpPr txBox="1"/>
          <p:nvPr/>
        </p:nvSpPr>
        <p:spPr>
          <a:xfrm>
            <a:off x="70820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7082000" y="3562450"/>
            <a:ext cx="5982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18"/>
          <p:cNvCxnSpPr>
            <a:stCxn id="209" idx="4"/>
            <a:endCxn id="207" idx="0"/>
          </p:cNvCxnSpPr>
          <p:nvPr/>
        </p:nvCxnSpPr>
        <p:spPr>
          <a:xfrm>
            <a:off x="7381100" y="3989350"/>
            <a:ext cx="0" cy="26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" name="Google Shape;215;p1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¿Equivalentes?</a:t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 rot="10800000">
            <a:off x="1181983" y="1319425"/>
            <a:ext cx="1839300" cy="2310900"/>
          </a:xfrm>
          <a:prstGeom prst="round2SameRect">
            <a:avLst>
              <a:gd fmla="val 6244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/>
          <p:nvPr/>
        </p:nvSpPr>
        <p:spPr>
          <a:xfrm rot="10800000">
            <a:off x="1181967" y="928475"/>
            <a:ext cx="18393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1325657" y="10286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1608688" y="10286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1891720" y="10286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1182008" y="1350775"/>
            <a:ext cx="1839300" cy="214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cond1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r>
              <a:rPr b="0" i="0" lang="es" sz="1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cond2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		prog2</a:t>
            </a:r>
            <a:endParaRPr b="0" i="0" sz="10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		prog3</a:t>
            </a:r>
            <a:endParaRPr b="0" i="0" sz="10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prog4</a:t>
            </a:r>
            <a:endParaRPr b="0" i="0" sz="10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6740" y="2599309"/>
            <a:ext cx="710550" cy="71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8363" y="1347975"/>
            <a:ext cx="1127300" cy="112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/>
          <p:nvPr/>
        </p:nvSpPr>
        <p:spPr>
          <a:xfrm rot="10800000">
            <a:off x="6122700" y="1319438"/>
            <a:ext cx="1839300" cy="1685100"/>
          </a:xfrm>
          <a:prstGeom prst="round2SameRect">
            <a:avLst>
              <a:gd fmla="val 6244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"/>
          <p:cNvSpPr/>
          <p:nvPr/>
        </p:nvSpPr>
        <p:spPr>
          <a:xfrm rot="10800000">
            <a:off x="6122692" y="928475"/>
            <a:ext cx="18393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6266382" y="10286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549413" y="10286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6832445" y="10286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6122725" y="1342276"/>
            <a:ext cx="1839300" cy="1561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cond1 </a:t>
            </a:r>
            <a:r>
              <a:rPr b="0" i="0" lang="es" sz="1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cond2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		prog2</a:t>
            </a:r>
            <a:endParaRPr b="0" i="0" sz="10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		prog3</a:t>
            </a:r>
            <a:endParaRPr b="0" i="0" sz="10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prog4</a:t>
            </a:r>
            <a:endParaRPr b="0" i="0" sz="10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/>
          <p:nvPr/>
        </p:nvSpPr>
        <p:spPr>
          <a:xfrm rot="10800000">
            <a:off x="1181983" y="1319425"/>
            <a:ext cx="1839300" cy="2310900"/>
          </a:xfrm>
          <a:prstGeom prst="round2SameRect">
            <a:avLst>
              <a:gd fmla="val 6244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"/>
          <p:cNvSpPr/>
          <p:nvPr/>
        </p:nvSpPr>
        <p:spPr>
          <a:xfrm rot="10800000">
            <a:off x="1181967" y="928475"/>
            <a:ext cx="18393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1325657" y="10286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1608688" y="10286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1891720" y="10286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1182008" y="1350775"/>
            <a:ext cx="1839300" cy="214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cond1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r>
              <a:rPr b="0" i="0" lang="es" sz="1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cond2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		prog1</a:t>
            </a:r>
            <a:endParaRPr b="0" i="0" sz="10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		prog2</a:t>
            </a:r>
            <a:endParaRPr b="0" i="0" sz="10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0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/>
          <p:nvPr/>
        </p:nvSpPr>
        <p:spPr>
          <a:xfrm rot="10800000">
            <a:off x="6122700" y="1319438"/>
            <a:ext cx="1839300" cy="1685100"/>
          </a:xfrm>
          <a:prstGeom prst="round2SameRect">
            <a:avLst>
              <a:gd fmla="val 6244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/>
          <p:nvPr/>
        </p:nvSpPr>
        <p:spPr>
          <a:xfrm rot="10800000">
            <a:off x="6122692" y="928475"/>
            <a:ext cx="18393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6266382" y="10286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6549413" y="10286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6832445" y="10286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6122725" y="1342276"/>
            <a:ext cx="1839300" cy="1561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cond1 </a:t>
            </a:r>
            <a:r>
              <a:rPr b="0" i="0" lang="es" sz="1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cond2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		prog1</a:t>
            </a:r>
            <a:endParaRPr b="0" i="0" sz="10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		prog2</a:t>
            </a:r>
            <a:endParaRPr b="0" i="0" sz="10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0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20"/>
          <p:cNvPicPr preferRelativeResize="0"/>
          <p:nvPr/>
        </p:nvPicPr>
        <p:blipFill rotWithShape="1">
          <a:blip r:embed="rId3">
            <a:alphaModFix amt="40000"/>
          </a:blip>
          <a:srcRect b="0" l="0" r="0" t="0"/>
          <a:stretch/>
        </p:blipFill>
        <p:spPr>
          <a:xfrm>
            <a:off x="4216740" y="2599309"/>
            <a:ext cx="710550" cy="71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0"/>
          <p:cNvPicPr preferRelativeResize="0"/>
          <p:nvPr/>
        </p:nvPicPr>
        <p:blipFill rotWithShape="1">
          <a:blip r:embed="rId4">
            <a:alphaModFix amt="40000"/>
          </a:blip>
          <a:srcRect b="0" l="0" r="0" t="0"/>
          <a:stretch/>
        </p:blipFill>
        <p:spPr>
          <a:xfrm>
            <a:off x="4008363" y="1347975"/>
            <a:ext cx="1127300" cy="112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 txBox="1"/>
          <p:nvPr>
            <p:ph idx="1" type="body"/>
          </p:nvPr>
        </p:nvSpPr>
        <p:spPr>
          <a:xfrm>
            <a:off x="311700" y="3826325"/>
            <a:ext cx="39999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0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s" sz="1550"/>
              <a:t>prog1 se ejecuta cuando valen cond1 y cond2</a:t>
            </a:r>
            <a:endParaRPr sz="1550"/>
          </a:p>
          <a:p>
            <a:pPr indent="-3270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s" sz="1550"/>
              <a:t>prog2 se ejecuta cuando no vale cond1 (pero cond2 puede o no valer)</a:t>
            </a:r>
            <a:endParaRPr sz="1550"/>
          </a:p>
        </p:txBody>
      </p:sp>
      <p:sp>
        <p:nvSpPr>
          <p:cNvPr id="254" name="Google Shape;254;p20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¿Equivalentes?</a:t>
            </a:r>
            <a:endParaRPr/>
          </a:p>
        </p:txBody>
      </p:sp>
      <p:sp>
        <p:nvSpPr>
          <p:cNvPr id="255" name="Google Shape;255;p20"/>
          <p:cNvSpPr txBox="1"/>
          <p:nvPr>
            <p:ph idx="1" type="body"/>
          </p:nvPr>
        </p:nvSpPr>
        <p:spPr>
          <a:xfrm>
            <a:off x="5061000" y="3071650"/>
            <a:ext cx="39999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s" sz="1550"/>
              <a:t>prog1 se ejecuta cuando valen cond1 y cond2</a:t>
            </a:r>
            <a:endParaRPr sz="1550"/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s" sz="1550"/>
              <a:t>prog2 se ejecuta cuando o bien no vale cond1 o bien no vale cond2 (o ambas)</a:t>
            </a:r>
            <a:endParaRPr sz="1550"/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50"/>
              <a:buChar char="●"/>
            </a:pPr>
            <a:r>
              <a:rPr lang="es" sz="1550">
                <a:solidFill>
                  <a:schemeClr val="accent4"/>
                </a:solidFill>
              </a:rPr>
              <a:t>Puede ejecutarse cuando no vale cond2 y vale cond1 !</a:t>
            </a:r>
            <a:endParaRPr sz="1550">
              <a:solidFill>
                <a:schemeClr val="accent4"/>
              </a:solidFill>
            </a:endParaRPr>
          </a:p>
        </p:txBody>
      </p:sp>
      <p:pic>
        <p:nvPicPr>
          <p:cNvPr id="256" name="Google Shape;25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29763" y="1282300"/>
            <a:ext cx="1884450" cy="188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Vamo con lo nuevo.!</a:t>
            </a:r>
            <a:endParaRPr/>
          </a:p>
        </p:txBody>
      </p:sp>
      <p:sp>
        <p:nvSpPr>
          <p:cNvPr id="262" name="Google Shape;262;p2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63" name="Google Shape;263;p21" title="itera_resultado_correc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12575"/>
            <a:ext cx="1846051" cy="184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/>
              <a:t>Evaluación con Cortocircuito</a:t>
            </a:r>
            <a:endParaRPr/>
          </a:p>
        </p:txBody>
      </p:sp>
      <p:sp>
        <p:nvSpPr>
          <p:cNvPr id="269" name="Google Shape;269;p2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Evaluación con Cortocircuito</a:t>
            </a:r>
            <a:endParaRPr/>
          </a:p>
        </p:txBody>
      </p:sp>
      <p:sp>
        <p:nvSpPr>
          <p:cNvPr id="275" name="Google Shape;275;p23"/>
          <p:cNvSpPr txBox="1"/>
          <p:nvPr>
            <p:ph idx="1" type="body"/>
          </p:nvPr>
        </p:nvSpPr>
        <p:spPr>
          <a:xfrm>
            <a:off x="4800750" y="1537363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a!=0 and 1/a&gt;0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6" name="Google Shape;276;p23"/>
          <p:cNvSpPr txBox="1"/>
          <p:nvPr>
            <p:ph idx="2" type="body"/>
          </p:nvPr>
        </p:nvSpPr>
        <p:spPr>
          <a:xfrm>
            <a:off x="572100" y="1537350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1/a&gt;0 and a!=0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77" name="Google Shape;277;p23" title="itera_pensem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1500" y="2443375"/>
            <a:ext cx="2227051" cy="222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Evaluación con Cortocircuito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343350" y="2445500"/>
            <a:ext cx="84573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Lógicamente son equivalentes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Conmutatividad de la conjunción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24"/>
          <p:cNvSpPr txBox="1"/>
          <p:nvPr>
            <p:ph idx="1" type="body"/>
          </p:nvPr>
        </p:nvSpPr>
        <p:spPr>
          <a:xfrm>
            <a:off x="4800750" y="1537363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a!=0 and 1/a&gt;0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5" name="Google Shape;285;p24"/>
          <p:cNvSpPr txBox="1"/>
          <p:nvPr>
            <p:ph idx="2" type="body"/>
          </p:nvPr>
        </p:nvSpPr>
        <p:spPr>
          <a:xfrm>
            <a:off x="572100" y="1537350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1/a&gt;0 and a!=0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Evaluación con Cortocircuito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343350" y="2445500"/>
            <a:ext cx="84573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Lógicamente son equivalentes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Conmutatividad de la conjunción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La evaluación de expresiones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25"/>
          <p:cNvSpPr txBox="1"/>
          <p:nvPr>
            <p:ph idx="1" type="body"/>
          </p:nvPr>
        </p:nvSpPr>
        <p:spPr>
          <a:xfrm>
            <a:off x="4800750" y="1537363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a!=0 and 1/a&gt;0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3" name="Google Shape;293;p25"/>
          <p:cNvSpPr txBox="1"/>
          <p:nvPr>
            <p:ph idx="2" type="body"/>
          </p:nvPr>
        </p:nvSpPr>
        <p:spPr>
          <a:xfrm>
            <a:off x="572100" y="1537350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1/a&gt;0 and a!=0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Evaluación con Cortocircuito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343350" y="2445500"/>
            <a:ext cx="84573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Lógicamente son equivalentes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Conmutatividad de la conjunción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La evaluación de expresiones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sigue las reglas de asociatividad y precedencia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26"/>
          <p:cNvSpPr txBox="1"/>
          <p:nvPr>
            <p:ph idx="1" type="body"/>
          </p:nvPr>
        </p:nvSpPr>
        <p:spPr>
          <a:xfrm>
            <a:off x="4800750" y="1537363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a!=0 and 1/a&gt;0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1" name="Google Shape;301;p26"/>
          <p:cNvSpPr txBox="1"/>
          <p:nvPr>
            <p:ph idx="2" type="body"/>
          </p:nvPr>
        </p:nvSpPr>
        <p:spPr>
          <a:xfrm>
            <a:off x="572100" y="1537350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1/a&gt;0 and a!=0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Evaluación con Cortocircuito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343350" y="2445500"/>
            <a:ext cx="84573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Lógicamente son equivalentes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Conmutatividad de la conjunción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La evaluación de expresiones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sigue las reglas de asociatividad y precedencia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solo evalúa lo mínimo necesario</a:t>
            </a:r>
            <a:endParaRPr i="0" sz="2300" u="none" cap="none" strike="noStrike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27"/>
          <p:cNvSpPr txBox="1"/>
          <p:nvPr>
            <p:ph idx="1" type="body"/>
          </p:nvPr>
        </p:nvSpPr>
        <p:spPr>
          <a:xfrm>
            <a:off x="4800750" y="1537363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a!=0 and 1/a&gt;0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9" name="Google Shape;309;p27"/>
          <p:cNvSpPr txBox="1"/>
          <p:nvPr>
            <p:ph idx="2" type="body"/>
          </p:nvPr>
        </p:nvSpPr>
        <p:spPr>
          <a:xfrm>
            <a:off x="572100" y="1537350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1/a&gt;0 and a!=0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Evaluación con Cortocircuito</a:t>
            </a: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343350" y="2445500"/>
            <a:ext cx="84573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Lógicamente son equivalentes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Conmutatividad de la conjunción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La evaluación de expresiones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sigue las reglas de asociatividad y precedencia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solo evalúa lo mínimo necesario</a:t>
            </a:r>
            <a:endParaRPr i="0" sz="2300" u="none" cap="none" strike="noStrike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28"/>
          <p:cNvSpPr txBox="1"/>
          <p:nvPr>
            <p:ph idx="1" type="body"/>
          </p:nvPr>
        </p:nvSpPr>
        <p:spPr>
          <a:xfrm>
            <a:off x="4800750" y="1537363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a!=0 and 1/a&gt;0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7" name="Google Shape;317;p28"/>
          <p:cNvSpPr txBox="1"/>
          <p:nvPr>
            <p:ph idx="2" type="body"/>
          </p:nvPr>
        </p:nvSpPr>
        <p:spPr>
          <a:xfrm>
            <a:off x="572100" y="1537350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1/a&gt;0 and a!=0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572100" y="1537375"/>
            <a:ext cx="943200" cy="498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60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Evaluación con Cortocircuito</a:t>
            </a:r>
            <a:endParaRPr/>
          </a:p>
        </p:txBody>
      </p:sp>
      <p:sp>
        <p:nvSpPr>
          <p:cNvPr id="324" name="Google Shape;324;p29"/>
          <p:cNvSpPr txBox="1"/>
          <p:nvPr/>
        </p:nvSpPr>
        <p:spPr>
          <a:xfrm>
            <a:off x="343350" y="2445500"/>
            <a:ext cx="84573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Lógicamente son equivalentes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Conmutatividad de la conjunción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La evaluación de expresiones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sigue las reglas de asociatividad y precedencia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solo evalúa lo mínimo necesario</a:t>
            </a:r>
            <a:endParaRPr i="0" sz="2300" u="none" cap="none" strike="noStrike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29"/>
          <p:cNvSpPr txBox="1"/>
          <p:nvPr>
            <p:ph idx="1" type="body"/>
          </p:nvPr>
        </p:nvSpPr>
        <p:spPr>
          <a:xfrm>
            <a:off x="4800750" y="1537363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a!=0 and 1/a&gt;0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6" name="Google Shape;326;p29"/>
          <p:cNvSpPr txBox="1"/>
          <p:nvPr>
            <p:ph idx="2" type="body"/>
          </p:nvPr>
        </p:nvSpPr>
        <p:spPr>
          <a:xfrm>
            <a:off x="572100" y="1537350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1/a&gt;0 and a!=0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572100" y="1537375"/>
            <a:ext cx="943200" cy="498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60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9"/>
          <p:cNvSpPr txBox="1"/>
          <p:nvPr/>
        </p:nvSpPr>
        <p:spPr>
          <a:xfrm>
            <a:off x="722700" y="2035675"/>
            <a:ext cx="64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605C"/>
                </a:solidFill>
              </a:rPr>
              <a:t>a=0</a:t>
            </a:r>
            <a:endParaRPr sz="1800">
              <a:solidFill>
                <a:srgbClr val="FF605C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Evaluación con Cortocircuito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43350" y="2445500"/>
            <a:ext cx="84573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Arial"/>
              <a:buChar char="●"/>
            </a:pPr>
            <a:r>
              <a:rPr b="0" i="0" lang="es" sz="2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Lógicamente son equivalentes</a:t>
            </a:r>
            <a:endParaRPr b="0" i="0" sz="23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Arial"/>
              <a:buChar char="○"/>
            </a:pPr>
            <a:r>
              <a:rPr b="0" i="0" lang="es" sz="2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Conmutatividad de la conjunción</a:t>
            </a:r>
            <a:endParaRPr b="0" i="0" sz="23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Arial"/>
              <a:buChar char="●"/>
            </a:pPr>
            <a:r>
              <a:rPr b="0" i="0" lang="es" sz="2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La evaluación de expresiones</a:t>
            </a:r>
            <a:endParaRPr b="0" i="0" sz="23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Arial"/>
              <a:buChar char="○"/>
            </a:pPr>
            <a:r>
              <a:rPr b="0" i="0" lang="es" sz="2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sigue las reglas de asociatividad y precedencia</a:t>
            </a:r>
            <a:endParaRPr b="0" i="0" sz="23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Font typeface="Arial"/>
              <a:buChar char="○"/>
            </a:pPr>
            <a:r>
              <a:rPr b="0" i="0" lang="es" sz="23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solo evalúa lo mínimo necesario</a:t>
            </a:r>
            <a:endParaRPr b="0" i="0" sz="23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0"/>
          <p:cNvSpPr txBox="1"/>
          <p:nvPr>
            <p:ph idx="1" type="body"/>
          </p:nvPr>
        </p:nvSpPr>
        <p:spPr>
          <a:xfrm>
            <a:off x="4800750" y="1537363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a!=0 and 1/a&gt;0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6" name="Google Shape;336;p30"/>
          <p:cNvSpPr txBox="1"/>
          <p:nvPr>
            <p:ph idx="2" type="body"/>
          </p:nvPr>
        </p:nvSpPr>
        <p:spPr>
          <a:xfrm>
            <a:off x="572100" y="1537350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1/a&gt;0 and a!=0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7" name="Google Shape;337;p30"/>
          <p:cNvSpPr/>
          <p:nvPr/>
        </p:nvSpPr>
        <p:spPr>
          <a:xfrm>
            <a:off x="572100" y="1537375"/>
            <a:ext cx="943200" cy="498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60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0"/>
          <p:cNvSpPr txBox="1"/>
          <p:nvPr/>
        </p:nvSpPr>
        <p:spPr>
          <a:xfrm>
            <a:off x="722700" y="2035675"/>
            <a:ext cx="64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605C"/>
                </a:solidFill>
              </a:rPr>
              <a:t>a=0</a:t>
            </a:r>
            <a:endParaRPr sz="1800">
              <a:solidFill>
                <a:srgbClr val="FF605C"/>
              </a:solidFill>
            </a:endParaRPr>
          </a:p>
        </p:txBody>
      </p:sp>
      <p:pic>
        <p:nvPicPr>
          <p:cNvPr id="339" name="Google Shape;339;p30" title="a close up of thanos 's face with his eyes closed and his mouth open . (proporcionado por Tenor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73342"/>
            <a:ext cx="9144000" cy="367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0" title="a close up of a person 's arm with the words stream tumblr on the bottom right (proporcionado por Tenor)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616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Evaluación con Cortocircuito</a:t>
            </a:r>
            <a:endParaRPr/>
          </a:p>
        </p:txBody>
      </p:sp>
      <p:sp>
        <p:nvSpPr>
          <p:cNvPr id="346" name="Google Shape;346;p31"/>
          <p:cNvSpPr txBox="1"/>
          <p:nvPr/>
        </p:nvSpPr>
        <p:spPr>
          <a:xfrm>
            <a:off x="343350" y="2445500"/>
            <a:ext cx="84573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Lógicamente son equivalentes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Conmutatividad de la conjunción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La evaluación de expresiones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sigue las reglas de asociatividad y precedencia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solo evalúa lo mínimo necesario</a:t>
            </a:r>
            <a:endParaRPr i="0" sz="2300" u="none" cap="none" strike="noStrike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31"/>
          <p:cNvSpPr txBox="1"/>
          <p:nvPr>
            <p:ph idx="1" type="body"/>
          </p:nvPr>
        </p:nvSpPr>
        <p:spPr>
          <a:xfrm>
            <a:off x="4800750" y="1537363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a!=0 and 1/a&gt;0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8" name="Google Shape;348;p31"/>
          <p:cNvSpPr txBox="1"/>
          <p:nvPr>
            <p:ph idx="2" type="body"/>
          </p:nvPr>
        </p:nvSpPr>
        <p:spPr>
          <a:xfrm>
            <a:off x="572100" y="1537350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1/a&gt;0 and a!=0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4698700" y="1537375"/>
            <a:ext cx="943200" cy="498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60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Evaluación con Cortocircuito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343350" y="2445500"/>
            <a:ext cx="84573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Lógicamente son equivalentes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Conmutatividad de la conjunción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La evaluación de expresiones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sigue las reglas de asociatividad y precedencia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solo evalúa lo mínimo necesario</a:t>
            </a:r>
            <a:endParaRPr i="0" sz="2300" u="none" cap="none" strike="noStrike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32"/>
          <p:cNvSpPr txBox="1"/>
          <p:nvPr>
            <p:ph idx="1" type="body"/>
          </p:nvPr>
        </p:nvSpPr>
        <p:spPr>
          <a:xfrm>
            <a:off x="4800750" y="1537363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a!=0 and 1/a&gt;0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7" name="Google Shape;357;p32"/>
          <p:cNvSpPr txBox="1"/>
          <p:nvPr>
            <p:ph idx="2" type="body"/>
          </p:nvPr>
        </p:nvSpPr>
        <p:spPr>
          <a:xfrm>
            <a:off x="572100" y="1537350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1/a&gt;0 and a!=0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8" name="Google Shape;358;p32"/>
          <p:cNvSpPr/>
          <p:nvPr/>
        </p:nvSpPr>
        <p:spPr>
          <a:xfrm>
            <a:off x="6179025" y="1537375"/>
            <a:ext cx="943200" cy="498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60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Evaluación con Cortocircuito</a:t>
            </a:r>
            <a:endParaRPr/>
          </a:p>
        </p:txBody>
      </p:sp>
      <p:sp>
        <p:nvSpPr>
          <p:cNvPr id="364" name="Google Shape;364;p33"/>
          <p:cNvSpPr txBox="1"/>
          <p:nvPr/>
        </p:nvSpPr>
        <p:spPr>
          <a:xfrm>
            <a:off x="343350" y="2445500"/>
            <a:ext cx="84573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Lógicamente son equivalentes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Conmutatividad de la conjunción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La evaluación de expresiones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sigue las reglas de asociatividad y precedencia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solo evalúa lo mínimo necesario</a:t>
            </a:r>
            <a:endParaRPr i="0" sz="2300" u="none" cap="none" strike="noStrike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33"/>
          <p:cNvSpPr txBox="1"/>
          <p:nvPr>
            <p:ph idx="1" type="body"/>
          </p:nvPr>
        </p:nvSpPr>
        <p:spPr>
          <a:xfrm>
            <a:off x="4800750" y="1537363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a!=0 and 1/a&gt;0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6" name="Google Shape;366;p33"/>
          <p:cNvSpPr txBox="1"/>
          <p:nvPr>
            <p:ph idx="2" type="body"/>
          </p:nvPr>
        </p:nvSpPr>
        <p:spPr>
          <a:xfrm>
            <a:off x="572100" y="1537350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1/a&gt;0 and a!=0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67" name="Google Shape;36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9943" y="1584932"/>
            <a:ext cx="293350" cy="29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Evaluación con Cortocircuito</a:t>
            </a:r>
            <a:endParaRPr/>
          </a:p>
        </p:txBody>
      </p:sp>
      <p:sp>
        <p:nvSpPr>
          <p:cNvPr id="373" name="Google Shape;373;p34"/>
          <p:cNvSpPr txBox="1"/>
          <p:nvPr/>
        </p:nvSpPr>
        <p:spPr>
          <a:xfrm>
            <a:off x="343350" y="2445500"/>
            <a:ext cx="84573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Lógicamente son equivalentes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Conmutatividad de la conjunción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La evaluación de expresiones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sigue las reglas de asociatividad y precedencia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solo evalúa lo mínimo necesario</a:t>
            </a:r>
            <a:endParaRPr i="0" sz="2300" u="none" cap="none" strike="noStrike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34"/>
          <p:cNvSpPr txBox="1"/>
          <p:nvPr>
            <p:ph idx="1" type="body"/>
          </p:nvPr>
        </p:nvSpPr>
        <p:spPr>
          <a:xfrm>
            <a:off x="4800750" y="1537363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a!=0 and 1/a&gt;0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5" name="Google Shape;375;p34"/>
          <p:cNvSpPr txBox="1"/>
          <p:nvPr>
            <p:ph idx="2" type="body"/>
          </p:nvPr>
        </p:nvSpPr>
        <p:spPr>
          <a:xfrm>
            <a:off x="572100" y="1537350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1/a&gt;0 and a!=0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6" name="Google Shape;376;p34"/>
          <p:cNvSpPr/>
          <p:nvPr/>
        </p:nvSpPr>
        <p:spPr>
          <a:xfrm>
            <a:off x="4715475" y="1537375"/>
            <a:ext cx="943200" cy="498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60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4"/>
          <p:cNvSpPr txBox="1"/>
          <p:nvPr/>
        </p:nvSpPr>
        <p:spPr>
          <a:xfrm>
            <a:off x="4866075" y="2035675"/>
            <a:ext cx="64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605C"/>
                </a:solidFill>
              </a:rPr>
              <a:t>a=0</a:t>
            </a:r>
            <a:endParaRPr sz="1800">
              <a:solidFill>
                <a:srgbClr val="FF605C"/>
              </a:solidFill>
            </a:endParaRPr>
          </a:p>
        </p:txBody>
      </p:sp>
      <p:pic>
        <p:nvPicPr>
          <p:cNvPr id="378" name="Google Shape;3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5750" y="1353975"/>
            <a:ext cx="865100" cy="86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Evaluación con Cortocircuito</a:t>
            </a:r>
            <a:endParaRPr/>
          </a:p>
        </p:txBody>
      </p:sp>
      <p:sp>
        <p:nvSpPr>
          <p:cNvPr id="384" name="Google Shape;384;p35"/>
          <p:cNvSpPr txBox="1"/>
          <p:nvPr/>
        </p:nvSpPr>
        <p:spPr>
          <a:xfrm>
            <a:off x="343350" y="2445500"/>
            <a:ext cx="84573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Lógicamente son equivalentes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Conmutatividad de la conjunción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●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La evaluación de expresiones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sigue las reglas de asociatividad y precedencia</a:t>
            </a:r>
            <a:endParaRPr i="0" sz="2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Font typeface="Montserrat"/>
              <a:buChar char="○"/>
            </a:pPr>
            <a:r>
              <a:rPr i="0" lang="es" sz="2300" u="none" cap="none" strike="noStrik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solo evalúa lo mínimo necesario</a:t>
            </a:r>
            <a:endParaRPr i="0" sz="2300" u="none" cap="none" strike="noStrike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35"/>
          <p:cNvSpPr txBox="1"/>
          <p:nvPr>
            <p:ph idx="1" type="body"/>
          </p:nvPr>
        </p:nvSpPr>
        <p:spPr>
          <a:xfrm>
            <a:off x="4800750" y="1537363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a!=0 and 1/a&gt;0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6" name="Google Shape;386;p35"/>
          <p:cNvSpPr txBox="1"/>
          <p:nvPr>
            <p:ph idx="2" type="body"/>
          </p:nvPr>
        </p:nvSpPr>
        <p:spPr>
          <a:xfrm>
            <a:off x="572100" y="1537350"/>
            <a:ext cx="3999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>
                <a:latin typeface="Roboto Mono"/>
                <a:ea typeface="Roboto Mono"/>
                <a:cs typeface="Roboto Mono"/>
                <a:sym typeface="Roboto Mono"/>
              </a:rPr>
              <a:t>1/a&gt;0 and a!=0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7" name="Google Shape;387;p35"/>
          <p:cNvSpPr/>
          <p:nvPr/>
        </p:nvSpPr>
        <p:spPr>
          <a:xfrm>
            <a:off x="4715475" y="1537375"/>
            <a:ext cx="943200" cy="498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60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5"/>
          <p:cNvSpPr txBox="1"/>
          <p:nvPr/>
        </p:nvSpPr>
        <p:spPr>
          <a:xfrm>
            <a:off x="4866075" y="2035675"/>
            <a:ext cx="64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605C"/>
                </a:solidFill>
              </a:rPr>
              <a:t>a=0</a:t>
            </a:r>
            <a:endParaRPr sz="1800">
              <a:solidFill>
                <a:srgbClr val="FF605C"/>
              </a:solidFill>
            </a:endParaRPr>
          </a:p>
        </p:txBody>
      </p:sp>
      <p:pic>
        <p:nvPicPr>
          <p:cNvPr id="389" name="Google Shape;389;p35" title="a poster for the movie avengers endgame on digital and blu ray (proporcionado por Tenor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0025" y="854625"/>
            <a:ext cx="1863800" cy="186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5750" y="1353975"/>
            <a:ext cx="865100" cy="86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/>
              <a:t>Sentencia Switch</a:t>
            </a:r>
            <a:endParaRPr/>
          </a:p>
        </p:txBody>
      </p:sp>
      <p:sp>
        <p:nvSpPr>
          <p:cNvPr id="396" name="Google Shape;396;p3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"/>
          <p:cNvSpPr/>
          <p:nvPr/>
        </p:nvSpPr>
        <p:spPr>
          <a:xfrm rot="10800000">
            <a:off x="978942" y="940479"/>
            <a:ext cx="2394900" cy="3641700"/>
          </a:xfrm>
          <a:prstGeom prst="round2SameRect">
            <a:avLst>
              <a:gd fmla="val 6244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7"/>
          <p:cNvSpPr/>
          <p:nvPr/>
        </p:nvSpPr>
        <p:spPr>
          <a:xfrm rot="10800000">
            <a:off x="978949" y="561321"/>
            <a:ext cx="2394900" cy="5097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7"/>
          <p:cNvSpPr/>
          <p:nvPr/>
        </p:nvSpPr>
        <p:spPr>
          <a:xfrm>
            <a:off x="1166119" y="691744"/>
            <a:ext cx="248700" cy="2487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7"/>
          <p:cNvSpPr/>
          <p:nvPr/>
        </p:nvSpPr>
        <p:spPr>
          <a:xfrm>
            <a:off x="1534633" y="691744"/>
            <a:ext cx="248700" cy="2487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7"/>
          <p:cNvSpPr/>
          <p:nvPr/>
        </p:nvSpPr>
        <p:spPr>
          <a:xfrm>
            <a:off x="1903148" y="691744"/>
            <a:ext cx="248700" cy="2487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7"/>
          <p:cNvSpPr txBox="1"/>
          <p:nvPr/>
        </p:nvSpPr>
        <p:spPr>
          <a:xfrm>
            <a:off x="979058" y="989991"/>
            <a:ext cx="2394900" cy="3373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==</a:t>
            </a:r>
            <a:r>
              <a:rPr b="0" i="0" lang="es" sz="14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==</a:t>
            </a:r>
            <a:r>
              <a:rPr b="0" i="0" lang="es" sz="14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==</a:t>
            </a:r>
            <a:r>
              <a:rPr b="0" i="0" lang="es" sz="14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endParaRPr b="0" i="0" sz="1400" u="none" cap="none" strike="noStrike">
              <a:solidFill>
                <a:srgbClr val="A626A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7"/>
          <p:cNvSpPr/>
          <p:nvPr/>
        </p:nvSpPr>
        <p:spPr>
          <a:xfrm rot="10800000">
            <a:off x="5770042" y="940479"/>
            <a:ext cx="2394900" cy="3641700"/>
          </a:xfrm>
          <a:prstGeom prst="round2SameRect">
            <a:avLst>
              <a:gd fmla="val 6244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7"/>
          <p:cNvSpPr/>
          <p:nvPr/>
        </p:nvSpPr>
        <p:spPr>
          <a:xfrm rot="10800000">
            <a:off x="5770049" y="561321"/>
            <a:ext cx="2394900" cy="5097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7"/>
          <p:cNvSpPr/>
          <p:nvPr/>
        </p:nvSpPr>
        <p:spPr>
          <a:xfrm>
            <a:off x="5957219" y="691744"/>
            <a:ext cx="248700" cy="2487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7"/>
          <p:cNvSpPr/>
          <p:nvPr/>
        </p:nvSpPr>
        <p:spPr>
          <a:xfrm>
            <a:off x="6325733" y="691744"/>
            <a:ext cx="248700" cy="2487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7"/>
          <p:cNvSpPr/>
          <p:nvPr/>
        </p:nvSpPr>
        <p:spPr>
          <a:xfrm>
            <a:off x="6694248" y="691744"/>
            <a:ext cx="248700" cy="2487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7"/>
          <p:cNvSpPr txBox="1"/>
          <p:nvPr/>
        </p:nvSpPr>
        <p:spPr>
          <a:xfrm>
            <a:off x="5770158" y="989991"/>
            <a:ext cx="2394900" cy="3373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14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case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	</a:t>
            </a:r>
            <a:r>
              <a:rPr b="0" i="0" lang="es" sz="14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//…</a:t>
            </a:r>
            <a:endParaRPr b="0" i="0" sz="14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	</a:t>
            </a:r>
            <a:r>
              <a:rPr b="0" i="0" lang="es" sz="14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break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14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case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	</a:t>
            </a:r>
            <a:r>
              <a:rPr b="0" i="0" lang="es" sz="14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//…</a:t>
            </a:r>
            <a:endParaRPr b="0" i="0" sz="14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	</a:t>
            </a:r>
            <a:r>
              <a:rPr b="0" i="0" lang="es" sz="14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break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14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case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	</a:t>
            </a:r>
            <a:r>
              <a:rPr b="0" i="0" lang="es" sz="14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//…</a:t>
            </a:r>
            <a:endParaRPr b="0" i="0" sz="14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	</a:t>
            </a:r>
            <a:r>
              <a:rPr b="0" i="0" lang="es" sz="14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break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14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default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	</a:t>
            </a:r>
            <a:r>
              <a:rPr b="0" i="0" lang="es" sz="14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//…</a:t>
            </a:r>
            <a:endParaRPr b="0" i="0" sz="14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3" name="Google Shape;41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617" y="2045313"/>
            <a:ext cx="1052875" cy="1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/>
              <a:t>Funciones de Bibliotecas</a:t>
            </a:r>
            <a:endParaRPr/>
          </a:p>
        </p:txBody>
      </p:sp>
      <p:sp>
        <p:nvSpPr>
          <p:cNvPr id="419" name="Google Shape;419;p3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Biblioteca </a:t>
            </a:r>
            <a:r>
              <a:rPr lang="es">
                <a:solidFill>
                  <a:schemeClr val="accent4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cmath</a:t>
            </a:r>
            <a:endParaRPr>
              <a:solidFill>
                <a:schemeClr val="accent4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425" name="Google Shape;4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000" y="1205750"/>
            <a:ext cx="7686001" cy="34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/>
              <a:t>Expresiones con Funciones</a:t>
            </a:r>
            <a:endParaRPr/>
          </a:p>
        </p:txBody>
      </p:sp>
      <p:sp>
        <p:nvSpPr>
          <p:cNvPr id="431" name="Google Shape;431;p4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s" sz="2400">
                <a:latin typeface="Roboto Mono"/>
                <a:ea typeface="Roboto Mono"/>
                <a:cs typeface="Roboto Mono"/>
                <a:sym typeface="Roboto Mono"/>
              </a:rPr>
              <a:t>y or (x+4 &gt; </a:t>
            </a:r>
            <a:r>
              <a:rPr b="1" lang="es" sz="24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sqrt(64)</a:t>
            </a:r>
            <a:r>
              <a:rPr b="1" lang="es" sz="24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7" name="Google Shape;437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438" name="Google Shape;438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Las constantes son expresiones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Las variables son expresiones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operador aplicado a expresiones es una expresión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expresión entre paréntesis es una expresión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es">
                <a:solidFill>
                  <a:schemeClr val="accent4"/>
                </a:solidFill>
              </a:rPr>
              <a:t>Una función aplicada a una expresión es una expresión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s" sz="2400">
                <a:latin typeface="Roboto Mono"/>
                <a:ea typeface="Roboto Mono"/>
                <a:cs typeface="Roboto Mono"/>
                <a:sym typeface="Roboto Mono"/>
              </a:rPr>
              <a:t>y or (x+4 &gt; </a:t>
            </a:r>
            <a:r>
              <a:rPr b="1" lang="es" sz="24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sqrt(</a:t>
            </a:r>
            <a:r>
              <a:rPr b="1" lang="es" sz="24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  <a:t>64</a:t>
            </a:r>
            <a:r>
              <a:rPr b="1" lang="es" sz="24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b="1" lang="es" sz="24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4" name="Google Shape;444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s"/>
              <a:t>Las </a:t>
            </a:r>
            <a:r>
              <a:rPr lang="es">
                <a:solidFill>
                  <a:schemeClr val="accent1"/>
                </a:solidFill>
              </a:rPr>
              <a:t>funciones</a:t>
            </a:r>
            <a:r>
              <a:rPr lang="es"/>
              <a:t> reciben </a:t>
            </a:r>
            <a:r>
              <a:rPr lang="es">
                <a:solidFill>
                  <a:schemeClr val="accent1"/>
                </a:solidFill>
              </a:rPr>
              <a:t>parámetros</a:t>
            </a:r>
            <a:r>
              <a:rPr lang="es"/>
              <a:t>, que son </a:t>
            </a:r>
            <a:r>
              <a:rPr lang="es">
                <a:solidFill>
                  <a:schemeClr val="accent1"/>
                </a:solidFill>
              </a:rPr>
              <a:t>expresiones</a:t>
            </a:r>
            <a:r>
              <a:rPr lang="es"/>
              <a:t>, de un </a:t>
            </a:r>
            <a:r>
              <a:rPr lang="es">
                <a:solidFill>
                  <a:schemeClr val="accent1"/>
                </a:solidFill>
              </a:rPr>
              <a:t>tipo determinado aceptado</a:t>
            </a:r>
            <a:r>
              <a:rPr lang="es"/>
              <a:t> por tal función</a:t>
            </a:r>
            <a:endParaRPr/>
          </a:p>
        </p:txBody>
      </p:sp>
      <p:sp>
        <p:nvSpPr>
          <p:cNvPr id="445" name="Google Shape;445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Las constantes son expresiones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Las variables son expresiones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operador aplicado a expresiones es una expresión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expresión entre paréntesis es una expresión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es">
                <a:solidFill>
                  <a:schemeClr val="accent4"/>
                </a:solidFill>
              </a:rPr>
              <a:t>Una función aplicada a una expresión es una expresión</a:t>
            </a:r>
            <a:endParaRPr>
              <a:solidFill>
                <a:schemeClr val="accent4"/>
              </a:solidFill>
            </a:endParaRPr>
          </a:p>
        </p:txBody>
      </p:sp>
      <p:pic>
        <p:nvPicPr>
          <p:cNvPr id="446" name="Google Shape;446;p42" title="itera_idea_cla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0750" y="3744224"/>
            <a:ext cx="1605600" cy="16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3"/>
          <p:cNvSpPr txBox="1"/>
          <p:nvPr>
            <p:ph idx="1" type="body"/>
          </p:nvPr>
        </p:nvSpPr>
        <p:spPr>
          <a:xfrm>
            <a:off x="311700" y="32860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s" sz="1920">
                <a:latin typeface="Fira Code"/>
                <a:ea typeface="Fira Code"/>
                <a:cs typeface="Fira Code"/>
                <a:sym typeface="Fira Code"/>
              </a:rPr>
              <a:t>área = π r</a:t>
            </a:r>
            <a:r>
              <a:rPr baseline="30000" lang="es" sz="1920"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baseline="30000" sz="1920"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920"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2" name="Google Shape;45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Área y perímetro de un Círculo</a:t>
            </a:r>
            <a:endParaRPr/>
          </a:p>
        </p:txBody>
      </p:sp>
      <p:sp>
        <p:nvSpPr>
          <p:cNvPr id="453" name="Google Shape;453;p43"/>
          <p:cNvSpPr txBox="1"/>
          <p:nvPr>
            <p:ph idx="1" type="body"/>
          </p:nvPr>
        </p:nvSpPr>
        <p:spPr>
          <a:xfrm>
            <a:off x="311700" y="1152475"/>
            <a:ext cx="8520600" cy="19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Escribir un programa que dado un radio ingresado por el usuario, calcule el área y perímetro del Círculo que se puede construir.</a:t>
            </a:r>
            <a:br>
              <a:rPr lang="es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programa debe mostrar por pantalla ambos resultados.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Puede aproximar </a:t>
            </a:r>
            <a:r>
              <a:rPr lang="es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π=3.14159</a:t>
            </a:r>
            <a:endParaRPr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4" name="Google Shape;454;p43"/>
          <p:cNvSpPr txBox="1"/>
          <p:nvPr>
            <p:ph idx="1" type="body"/>
          </p:nvPr>
        </p:nvSpPr>
        <p:spPr>
          <a:xfrm>
            <a:off x="311700" y="4013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s" sz="1920">
                <a:latin typeface="Fira Code"/>
                <a:ea typeface="Fira Code"/>
                <a:cs typeface="Fira Code"/>
                <a:sym typeface="Fira Code"/>
              </a:rPr>
              <a:t>perímetro = 2 π r</a:t>
            </a:r>
            <a:endParaRPr baseline="30000" sz="1920"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920"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455" name="Google Shape;455;p43" title="itera_activid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2400" y="3602250"/>
            <a:ext cx="1846051" cy="184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4"/>
          <p:cNvSpPr/>
          <p:nvPr/>
        </p:nvSpPr>
        <p:spPr>
          <a:xfrm rot="10800000">
            <a:off x="232700" y="727275"/>
            <a:ext cx="5285700" cy="41913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4"/>
          <p:cNvSpPr/>
          <p:nvPr/>
        </p:nvSpPr>
        <p:spPr>
          <a:xfrm rot="10800000">
            <a:off x="232700" y="342100"/>
            <a:ext cx="5285700" cy="3852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4"/>
          <p:cNvSpPr/>
          <p:nvPr/>
        </p:nvSpPr>
        <p:spPr>
          <a:xfrm>
            <a:off x="477746" y="441000"/>
            <a:ext cx="210000" cy="2100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4"/>
          <p:cNvSpPr/>
          <p:nvPr/>
        </p:nvSpPr>
        <p:spPr>
          <a:xfrm>
            <a:off x="789012" y="441000"/>
            <a:ext cx="210000" cy="2100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4"/>
          <p:cNvSpPr/>
          <p:nvPr/>
        </p:nvSpPr>
        <p:spPr>
          <a:xfrm>
            <a:off x="1100277" y="441000"/>
            <a:ext cx="210000" cy="2100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4"/>
          <p:cNvSpPr txBox="1"/>
          <p:nvPr/>
        </p:nvSpPr>
        <p:spPr>
          <a:xfrm>
            <a:off x="718607" y="342093"/>
            <a:ext cx="42720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" sz="1320" u="none" cap="none" strike="noStrike">
                <a:solidFill>
                  <a:srgbClr val="ADADAD"/>
                </a:solidFill>
                <a:latin typeface="Roboto Mono"/>
                <a:ea typeface="Roboto Mono"/>
                <a:cs typeface="Roboto Mono"/>
                <a:sym typeface="Roboto Mono"/>
              </a:rPr>
              <a:t>Círculos</a:t>
            </a:r>
            <a:endParaRPr b="0" i="0" sz="1320" u="none" cap="none" strike="noStrike">
              <a:solidFill>
                <a:srgbClr val="FFAB4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6" name="Google Shape;466;p44"/>
          <p:cNvSpPr txBox="1"/>
          <p:nvPr/>
        </p:nvSpPr>
        <p:spPr>
          <a:xfrm>
            <a:off x="421810" y="884200"/>
            <a:ext cx="5048700" cy="3884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#include &lt;iostream&gt;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#include &lt;cmath&gt;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using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std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3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3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perimetro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radio: "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13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M_PI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perimetro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M_PI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13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"El area del circulo es: "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endl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"El perimetro del circulo es: "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perimetro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endl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13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3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4"/>
          <p:cNvSpPr/>
          <p:nvPr/>
        </p:nvSpPr>
        <p:spPr>
          <a:xfrm>
            <a:off x="757275" y="1170800"/>
            <a:ext cx="1356900" cy="225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4"/>
          <p:cNvSpPr/>
          <p:nvPr/>
        </p:nvSpPr>
        <p:spPr>
          <a:xfrm>
            <a:off x="6155725" y="1087250"/>
            <a:ext cx="26991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Incluimos la biblioteca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9" name="Google Shape;469;p44"/>
          <p:cNvCxnSpPr>
            <a:stCxn id="468" idx="1"/>
            <a:endCxn id="467" idx="3"/>
          </p:cNvCxnSpPr>
          <p:nvPr/>
        </p:nvCxnSpPr>
        <p:spPr>
          <a:xfrm rot="10800000">
            <a:off x="2114125" y="1283300"/>
            <a:ext cx="4041600" cy="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5"/>
          <p:cNvSpPr/>
          <p:nvPr/>
        </p:nvSpPr>
        <p:spPr>
          <a:xfrm rot="10800000">
            <a:off x="232700" y="727275"/>
            <a:ext cx="5285700" cy="41913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5"/>
          <p:cNvSpPr/>
          <p:nvPr/>
        </p:nvSpPr>
        <p:spPr>
          <a:xfrm rot="10800000">
            <a:off x="232700" y="342100"/>
            <a:ext cx="5285700" cy="3852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45"/>
          <p:cNvSpPr/>
          <p:nvPr/>
        </p:nvSpPr>
        <p:spPr>
          <a:xfrm>
            <a:off x="477746" y="441000"/>
            <a:ext cx="210000" cy="2100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5"/>
          <p:cNvSpPr/>
          <p:nvPr/>
        </p:nvSpPr>
        <p:spPr>
          <a:xfrm>
            <a:off x="789012" y="441000"/>
            <a:ext cx="210000" cy="2100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5"/>
          <p:cNvSpPr/>
          <p:nvPr/>
        </p:nvSpPr>
        <p:spPr>
          <a:xfrm>
            <a:off x="1100277" y="441000"/>
            <a:ext cx="210000" cy="2100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5"/>
          <p:cNvSpPr txBox="1"/>
          <p:nvPr/>
        </p:nvSpPr>
        <p:spPr>
          <a:xfrm>
            <a:off x="718607" y="342093"/>
            <a:ext cx="42720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" sz="1320" u="none" cap="none" strike="noStrike">
                <a:solidFill>
                  <a:srgbClr val="ADADAD"/>
                </a:solidFill>
                <a:latin typeface="Roboto Mono"/>
                <a:ea typeface="Roboto Mono"/>
                <a:cs typeface="Roboto Mono"/>
                <a:sym typeface="Roboto Mono"/>
              </a:rPr>
              <a:t>Círculos</a:t>
            </a:r>
            <a:endParaRPr b="0" i="0" sz="1320" u="none" cap="none" strike="noStrike">
              <a:solidFill>
                <a:srgbClr val="FFAB4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0" name="Google Shape;480;p45"/>
          <p:cNvSpPr txBox="1"/>
          <p:nvPr/>
        </p:nvSpPr>
        <p:spPr>
          <a:xfrm>
            <a:off x="421810" y="884200"/>
            <a:ext cx="5048700" cy="3884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#include &lt;iostream&gt;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#include &lt;cmath&gt;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using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std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3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3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perimetro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radio: "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13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M_PI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perimetro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M_PI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13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"El area del circulo es: "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endl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"El perimetro del circulo es: "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perimetro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endl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13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3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3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r>
              <a:rPr b="0" i="0" lang="es" sz="13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3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3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45"/>
          <p:cNvSpPr/>
          <p:nvPr/>
        </p:nvSpPr>
        <p:spPr>
          <a:xfrm>
            <a:off x="757275" y="1170800"/>
            <a:ext cx="1356900" cy="225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5"/>
          <p:cNvSpPr/>
          <p:nvPr/>
        </p:nvSpPr>
        <p:spPr>
          <a:xfrm>
            <a:off x="6155725" y="1087250"/>
            <a:ext cx="26991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Incluimos la biblioteca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83" name="Google Shape;483;p45"/>
          <p:cNvCxnSpPr>
            <a:stCxn id="482" idx="1"/>
            <a:endCxn id="481" idx="3"/>
          </p:cNvCxnSpPr>
          <p:nvPr/>
        </p:nvCxnSpPr>
        <p:spPr>
          <a:xfrm rot="10800000">
            <a:off x="2114125" y="1283300"/>
            <a:ext cx="4041600" cy="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4" name="Google Shape;484;p45"/>
          <p:cNvSpPr/>
          <p:nvPr/>
        </p:nvSpPr>
        <p:spPr>
          <a:xfrm>
            <a:off x="1417075" y="2935300"/>
            <a:ext cx="472500" cy="225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5"/>
          <p:cNvSpPr/>
          <p:nvPr/>
        </p:nvSpPr>
        <p:spPr>
          <a:xfrm>
            <a:off x="6155725" y="1997950"/>
            <a:ext cx="26991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Utilizamos la biblioteca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86" name="Google Shape;486;p45"/>
          <p:cNvCxnSpPr>
            <a:stCxn id="485" idx="1"/>
            <a:endCxn id="484" idx="0"/>
          </p:cNvCxnSpPr>
          <p:nvPr/>
        </p:nvCxnSpPr>
        <p:spPr>
          <a:xfrm flipH="1">
            <a:off x="1653325" y="2194000"/>
            <a:ext cx="4502400" cy="7413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p45"/>
          <p:cNvSpPr/>
          <p:nvPr/>
        </p:nvSpPr>
        <p:spPr>
          <a:xfrm>
            <a:off x="2069375" y="3160300"/>
            <a:ext cx="472500" cy="225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p45"/>
          <p:cNvCxnSpPr>
            <a:stCxn id="487" idx="3"/>
            <a:endCxn id="485" idx="1"/>
          </p:cNvCxnSpPr>
          <p:nvPr/>
        </p:nvCxnSpPr>
        <p:spPr>
          <a:xfrm flipH="1" rot="10800000">
            <a:off x="2541875" y="2194000"/>
            <a:ext cx="3613800" cy="10788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/>
              <a:t>Funciones definidas por el Usuario</a:t>
            </a:r>
            <a:endParaRPr/>
          </a:p>
        </p:txBody>
      </p:sp>
      <p:sp>
        <p:nvSpPr>
          <p:cNvPr id="494" name="Google Shape;494;p4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Especificando las Funciones</a:t>
            </a:r>
            <a:endParaRPr/>
          </a:p>
        </p:txBody>
      </p:sp>
      <p:sp>
        <p:nvSpPr>
          <p:cNvPr id="500" name="Google Shape;500;p47"/>
          <p:cNvSpPr/>
          <p:nvPr/>
        </p:nvSpPr>
        <p:spPr>
          <a:xfrm rot="10800000">
            <a:off x="2709601" y="2359450"/>
            <a:ext cx="3724800" cy="25701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/>
          <p:nvPr/>
        </p:nvSpPr>
        <p:spPr>
          <a:xfrm rot="10800000">
            <a:off x="2709599" y="1847916"/>
            <a:ext cx="3724800" cy="5112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7"/>
          <p:cNvSpPr/>
          <p:nvPr/>
        </p:nvSpPr>
        <p:spPr>
          <a:xfrm>
            <a:off x="2877792" y="1975782"/>
            <a:ext cx="255300" cy="2553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7"/>
          <p:cNvSpPr/>
          <p:nvPr/>
        </p:nvSpPr>
        <p:spPr>
          <a:xfrm>
            <a:off x="3255984" y="1975782"/>
            <a:ext cx="255300" cy="2553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7"/>
          <p:cNvSpPr/>
          <p:nvPr/>
        </p:nvSpPr>
        <p:spPr>
          <a:xfrm>
            <a:off x="3634175" y="1975782"/>
            <a:ext cx="255300" cy="2553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7"/>
          <p:cNvSpPr txBox="1"/>
          <p:nvPr/>
        </p:nvSpPr>
        <p:spPr>
          <a:xfrm>
            <a:off x="2861326" y="2381054"/>
            <a:ext cx="3421200" cy="249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20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20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2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7"/>
          <p:cNvSpPr/>
          <p:nvPr/>
        </p:nvSpPr>
        <p:spPr>
          <a:xfrm>
            <a:off x="3893551" y="2476625"/>
            <a:ext cx="11007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7"/>
          <p:cNvSpPr/>
          <p:nvPr/>
        </p:nvSpPr>
        <p:spPr>
          <a:xfrm>
            <a:off x="4770400" y="1239650"/>
            <a:ext cx="13704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Nombre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8" name="Google Shape;508;p47"/>
          <p:cNvCxnSpPr>
            <a:stCxn id="507" idx="2"/>
            <a:endCxn id="506" idx="0"/>
          </p:cNvCxnSpPr>
          <p:nvPr/>
        </p:nvCxnSpPr>
        <p:spPr>
          <a:xfrm flipH="1">
            <a:off x="4444000" y="1631750"/>
            <a:ext cx="1011600" cy="8448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Especificando las Funciones</a:t>
            </a:r>
            <a:endParaRPr/>
          </a:p>
        </p:txBody>
      </p:sp>
      <p:sp>
        <p:nvSpPr>
          <p:cNvPr id="514" name="Google Shape;514;p48"/>
          <p:cNvSpPr/>
          <p:nvPr/>
        </p:nvSpPr>
        <p:spPr>
          <a:xfrm rot="10800000">
            <a:off x="2709601" y="2359450"/>
            <a:ext cx="3724800" cy="25701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8"/>
          <p:cNvSpPr/>
          <p:nvPr/>
        </p:nvSpPr>
        <p:spPr>
          <a:xfrm rot="10800000">
            <a:off x="2709599" y="1847916"/>
            <a:ext cx="3724800" cy="5112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8"/>
          <p:cNvSpPr/>
          <p:nvPr/>
        </p:nvSpPr>
        <p:spPr>
          <a:xfrm>
            <a:off x="2877792" y="1975782"/>
            <a:ext cx="255300" cy="2553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8"/>
          <p:cNvSpPr/>
          <p:nvPr/>
        </p:nvSpPr>
        <p:spPr>
          <a:xfrm>
            <a:off x="3255984" y="1975782"/>
            <a:ext cx="255300" cy="2553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8"/>
          <p:cNvSpPr/>
          <p:nvPr/>
        </p:nvSpPr>
        <p:spPr>
          <a:xfrm>
            <a:off x="3634175" y="1975782"/>
            <a:ext cx="255300" cy="2553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8"/>
          <p:cNvSpPr txBox="1"/>
          <p:nvPr/>
        </p:nvSpPr>
        <p:spPr>
          <a:xfrm>
            <a:off x="2861326" y="2381054"/>
            <a:ext cx="3421200" cy="249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20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20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2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8"/>
          <p:cNvSpPr/>
          <p:nvPr/>
        </p:nvSpPr>
        <p:spPr>
          <a:xfrm>
            <a:off x="3893551" y="2476625"/>
            <a:ext cx="11007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8"/>
          <p:cNvSpPr/>
          <p:nvPr/>
        </p:nvSpPr>
        <p:spPr>
          <a:xfrm>
            <a:off x="4770400" y="1239650"/>
            <a:ext cx="13704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Nombre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22" name="Google Shape;522;p48"/>
          <p:cNvCxnSpPr>
            <a:stCxn id="521" idx="2"/>
            <a:endCxn id="520" idx="0"/>
          </p:cNvCxnSpPr>
          <p:nvPr/>
        </p:nvCxnSpPr>
        <p:spPr>
          <a:xfrm flipH="1">
            <a:off x="4444000" y="1631750"/>
            <a:ext cx="1011600" cy="8448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3" name="Google Shape;523;p48"/>
          <p:cNvSpPr/>
          <p:nvPr/>
        </p:nvSpPr>
        <p:spPr>
          <a:xfrm>
            <a:off x="5046976" y="2476625"/>
            <a:ext cx="7419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8"/>
          <p:cNvSpPr/>
          <p:nvPr/>
        </p:nvSpPr>
        <p:spPr>
          <a:xfrm>
            <a:off x="6543450" y="1236775"/>
            <a:ext cx="22512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Parámetros Formales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25" name="Google Shape;525;p48"/>
          <p:cNvCxnSpPr>
            <a:stCxn id="524" idx="2"/>
            <a:endCxn id="523" idx="0"/>
          </p:cNvCxnSpPr>
          <p:nvPr/>
        </p:nvCxnSpPr>
        <p:spPr>
          <a:xfrm flipH="1">
            <a:off x="5417850" y="1628875"/>
            <a:ext cx="2251200" cy="8478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Especificando las Funciones</a:t>
            </a:r>
            <a:endParaRPr/>
          </a:p>
        </p:txBody>
      </p:sp>
      <p:sp>
        <p:nvSpPr>
          <p:cNvPr id="531" name="Google Shape;531;p49"/>
          <p:cNvSpPr/>
          <p:nvPr/>
        </p:nvSpPr>
        <p:spPr>
          <a:xfrm rot="10800000">
            <a:off x="2709601" y="2359450"/>
            <a:ext cx="3724800" cy="25701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9"/>
          <p:cNvSpPr/>
          <p:nvPr/>
        </p:nvSpPr>
        <p:spPr>
          <a:xfrm rot="10800000">
            <a:off x="2709599" y="1847916"/>
            <a:ext cx="3724800" cy="5112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9"/>
          <p:cNvSpPr/>
          <p:nvPr/>
        </p:nvSpPr>
        <p:spPr>
          <a:xfrm>
            <a:off x="2877792" y="1975782"/>
            <a:ext cx="255300" cy="2553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49"/>
          <p:cNvSpPr/>
          <p:nvPr/>
        </p:nvSpPr>
        <p:spPr>
          <a:xfrm>
            <a:off x="3255984" y="1975782"/>
            <a:ext cx="255300" cy="2553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9"/>
          <p:cNvSpPr/>
          <p:nvPr/>
        </p:nvSpPr>
        <p:spPr>
          <a:xfrm>
            <a:off x="3634175" y="1975782"/>
            <a:ext cx="255300" cy="2553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9"/>
          <p:cNvSpPr txBox="1"/>
          <p:nvPr/>
        </p:nvSpPr>
        <p:spPr>
          <a:xfrm>
            <a:off x="2861326" y="2381054"/>
            <a:ext cx="3421200" cy="249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20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20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2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49"/>
          <p:cNvSpPr/>
          <p:nvPr/>
        </p:nvSpPr>
        <p:spPr>
          <a:xfrm>
            <a:off x="3893551" y="2476625"/>
            <a:ext cx="11007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9"/>
          <p:cNvSpPr/>
          <p:nvPr/>
        </p:nvSpPr>
        <p:spPr>
          <a:xfrm>
            <a:off x="4770400" y="1239650"/>
            <a:ext cx="13704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Nombre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9" name="Google Shape;539;p49"/>
          <p:cNvCxnSpPr>
            <a:stCxn id="538" idx="2"/>
            <a:endCxn id="537" idx="0"/>
          </p:cNvCxnSpPr>
          <p:nvPr/>
        </p:nvCxnSpPr>
        <p:spPr>
          <a:xfrm flipH="1">
            <a:off x="4444000" y="1631750"/>
            <a:ext cx="1011600" cy="8448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0" name="Google Shape;540;p49"/>
          <p:cNvSpPr/>
          <p:nvPr/>
        </p:nvSpPr>
        <p:spPr>
          <a:xfrm>
            <a:off x="5046976" y="2476625"/>
            <a:ext cx="7419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9"/>
          <p:cNvSpPr/>
          <p:nvPr/>
        </p:nvSpPr>
        <p:spPr>
          <a:xfrm>
            <a:off x="6543450" y="1236775"/>
            <a:ext cx="22512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Parámetros Formales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2" name="Google Shape;542;p49"/>
          <p:cNvCxnSpPr>
            <a:stCxn id="541" idx="2"/>
            <a:endCxn id="540" idx="0"/>
          </p:cNvCxnSpPr>
          <p:nvPr/>
        </p:nvCxnSpPr>
        <p:spPr>
          <a:xfrm flipH="1">
            <a:off x="5417850" y="1628875"/>
            <a:ext cx="2251200" cy="8478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p49"/>
          <p:cNvSpPr/>
          <p:nvPr/>
        </p:nvSpPr>
        <p:spPr>
          <a:xfrm>
            <a:off x="3691101" y="3006525"/>
            <a:ext cx="1542900" cy="1417200"/>
          </a:xfrm>
          <a:prstGeom prst="roundRect">
            <a:avLst>
              <a:gd fmla="val 8353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9"/>
          <p:cNvSpPr/>
          <p:nvPr/>
        </p:nvSpPr>
        <p:spPr>
          <a:xfrm>
            <a:off x="7289550" y="3519075"/>
            <a:ext cx="13704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Cuerpo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5" name="Google Shape;545;p49"/>
          <p:cNvCxnSpPr>
            <a:stCxn id="544" idx="1"/>
            <a:endCxn id="543" idx="3"/>
          </p:cNvCxnSpPr>
          <p:nvPr/>
        </p:nvCxnSpPr>
        <p:spPr>
          <a:xfrm rot="10800000">
            <a:off x="5233950" y="3715125"/>
            <a:ext cx="2055600" cy="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Especificando las Funciones</a:t>
            </a:r>
            <a:endParaRPr/>
          </a:p>
        </p:txBody>
      </p:sp>
      <p:sp>
        <p:nvSpPr>
          <p:cNvPr id="551" name="Google Shape;551;p50"/>
          <p:cNvSpPr/>
          <p:nvPr/>
        </p:nvSpPr>
        <p:spPr>
          <a:xfrm rot="10800000">
            <a:off x="2709601" y="2359450"/>
            <a:ext cx="3724800" cy="25701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50"/>
          <p:cNvSpPr/>
          <p:nvPr/>
        </p:nvSpPr>
        <p:spPr>
          <a:xfrm rot="10800000">
            <a:off x="2709599" y="1847916"/>
            <a:ext cx="3724800" cy="5112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50"/>
          <p:cNvSpPr/>
          <p:nvPr/>
        </p:nvSpPr>
        <p:spPr>
          <a:xfrm>
            <a:off x="2877792" y="1975782"/>
            <a:ext cx="255300" cy="2553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0"/>
          <p:cNvSpPr/>
          <p:nvPr/>
        </p:nvSpPr>
        <p:spPr>
          <a:xfrm>
            <a:off x="3255984" y="1975782"/>
            <a:ext cx="255300" cy="2553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50"/>
          <p:cNvSpPr/>
          <p:nvPr/>
        </p:nvSpPr>
        <p:spPr>
          <a:xfrm>
            <a:off x="3634175" y="1975782"/>
            <a:ext cx="255300" cy="2553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50"/>
          <p:cNvSpPr txBox="1"/>
          <p:nvPr/>
        </p:nvSpPr>
        <p:spPr>
          <a:xfrm>
            <a:off x="2861326" y="2381054"/>
            <a:ext cx="3421200" cy="249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20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20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2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50"/>
          <p:cNvSpPr/>
          <p:nvPr/>
        </p:nvSpPr>
        <p:spPr>
          <a:xfrm>
            <a:off x="3269548" y="2462500"/>
            <a:ext cx="6240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0"/>
          <p:cNvSpPr/>
          <p:nvPr/>
        </p:nvSpPr>
        <p:spPr>
          <a:xfrm>
            <a:off x="1300700" y="1236775"/>
            <a:ext cx="23904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Tipo del valor de retorno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59" name="Google Shape;559;p50"/>
          <p:cNvCxnSpPr>
            <a:stCxn id="558" idx="2"/>
            <a:endCxn id="557" idx="0"/>
          </p:cNvCxnSpPr>
          <p:nvPr/>
        </p:nvCxnSpPr>
        <p:spPr>
          <a:xfrm>
            <a:off x="2495900" y="1628875"/>
            <a:ext cx="1085700" cy="8337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0" name="Google Shape;560;p50"/>
          <p:cNvSpPr/>
          <p:nvPr/>
        </p:nvSpPr>
        <p:spPr>
          <a:xfrm>
            <a:off x="3893551" y="2476625"/>
            <a:ext cx="11007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50"/>
          <p:cNvSpPr/>
          <p:nvPr/>
        </p:nvSpPr>
        <p:spPr>
          <a:xfrm>
            <a:off x="4770400" y="1239650"/>
            <a:ext cx="13704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Nombre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62" name="Google Shape;562;p50"/>
          <p:cNvCxnSpPr>
            <a:stCxn id="561" idx="2"/>
            <a:endCxn id="560" idx="0"/>
          </p:cNvCxnSpPr>
          <p:nvPr/>
        </p:nvCxnSpPr>
        <p:spPr>
          <a:xfrm flipH="1">
            <a:off x="4444000" y="1631750"/>
            <a:ext cx="1011600" cy="8448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3" name="Google Shape;563;p50"/>
          <p:cNvSpPr/>
          <p:nvPr/>
        </p:nvSpPr>
        <p:spPr>
          <a:xfrm>
            <a:off x="5046976" y="2476625"/>
            <a:ext cx="7419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50"/>
          <p:cNvSpPr/>
          <p:nvPr/>
        </p:nvSpPr>
        <p:spPr>
          <a:xfrm>
            <a:off x="6543450" y="1236775"/>
            <a:ext cx="22512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Parámetros Formales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65" name="Google Shape;565;p50"/>
          <p:cNvCxnSpPr>
            <a:stCxn id="564" idx="2"/>
            <a:endCxn id="563" idx="0"/>
          </p:cNvCxnSpPr>
          <p:nvPr/>
        </p:nvCxnSpPr>
        <p:spPr>
          <a:xfrm flipH="1">
            <a:off x="5417850" y="1628875"/>
            <a:ext cx="2251200" cy="8478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6" name="Google Shape;566;p50"/>
          <p:cNvSpPr/>
          <p:nvPr/>
        </p:nvSpPr>
        <p:spPr>
          <a:xfrm>
            <a:off x="3691101" y="3006525"/>
            <a:ext cx="1542900" cy="1417200"/>
          </a:xfrm>
          <a:prstGeom prst="roundRect">
            <a:avLst>
              <a:gd fmla="val 8353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0"/>
          <p:cNvSpPr/>
          <p:nvPr/>
        </p:nvSpPr>
        <p:spPr>
          <a:xfrm>
            <a:off x="7289550" y="3519075"/>
            <a:ext cx="13704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Cuerpo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68" name="Google Shape;568;p50"/>
          <p:cNvCxnSpPr>
            <a:stCxn id="567" idx="1"/>
            <a:endCxn id="566" idx="3"/>
          </p:cNvCxnSpPr>
          <p:nvPr/>
        </p:nvCxnSpPr>
        <p:spPr>
          <a:xfrm rot="10800000">
            <a:off x="5233950" y="3715125"/>
            <a:ext cx="2055600" cy="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Especificando las Funciones</a:t>
            </a:r>
            <a:endParaRPr/>
          </a:p>
        </p:txBody>
      </p:sp>
      <p:sp>
        <p:nvSpPr>
          <p:cNvPr id="574" name="Google Shape;574;p51"/>
          <p:cNvSpPr/>
          <p:nvPr/>
        </p:nvSpPr>
        <p:spPr>
          <a:xfrm rot="10800000">
            <a:off x="2709601" y="2359450"/>
            <a:ext cx="3724800" cy="25701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51"/>
          <p:cNvSpPr/>
          <p:nvPr/>
        </p:nvSpPr>
        <p:spPr>
          <a:xfrm rot="10800000">
            <a:off x="2709599" y="1847916"/>
            <a:ext cx="3724800" cy="5112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51"/>
          <p:cNvSpPr/>
          <p:nvPr/>
        </p:nvSpPr>
        <p:spPr>
          <a:xfrm>
            <a:off x="2877792" y="1975782"/>
            <a:ext cx="255300" cy="2553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51"/>
          <p:cNvSpPr/>
          <p:nvPr/>
        </p:nvSpPr>
        <p:spPr>
          <a:xfrm>
            <a:off x="3255984" y="1975782"/>
            <a:ext cx="255300" cy="2553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1"/>
          <p:cNvSpPr/>
          <p:nvPr/>
        </p:nvSpPr>
        <p:spPr>
          <a:xfrm>
            <a:off x="3634175" y="1975782"/>
            <a:ext cx="255300" cy="2553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51"/>
          <p:cNvSpPr txBox="1"/>
          <p:nvPr/>
        </p:nvSpPr>
        <p:spPr>
          <a:xfrm>
            <a:off x="2861326" y="2381054"/>
            <a:ext cx="3421200" cy="249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20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20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		</a:t>
            </a:r>
            <a:r>
              <a:rPr b="0" i="0" lang="es" sz="20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20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20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20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20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51"/>
          <p:cNvSpPr/>
          <p:nvPr/>
        </p:nvSpPr>
        <p:spPr>
          <a:xfrm>
            <a:off x="3269548" y="2462500"/>
            <a:ext cx="6240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51"/>
          <p:cNvSpPr/>
          <p:nvPr/>
        </p:nvSpPr>
        <p:spPr>
          <a:xfrm>
            <a:off x="3691101" y="3006525"/>
            <a:ext cx="1542900" cy="1417200"/>
          </a:xfrm>
          <a:prstGeom prst="roundRect">
            <a:avLst>
              <a:gd fmla="val 8353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1"/>
          <p:cNvSpPr/>
          <p:nvPr/>
        </p:nvSpPr>
        <p:spPr>
          <a:xfrm>
            <a:off x="1300700" y="1236775"/>
            <a:ext cx="23904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Tipo del valor de retorno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83" name="Google Shape;583;p51"/>
          <p:cNvCxnSpPr>
            <a:stCxn id="582" idx="2"/>
            <a:endCxn id="580" idx="0"/>
          </p:cNvCxnSpPr>
          <p:nvPr/>
        </p:nvCxnSpPr>
        <p:spPr>
          <a:xfrm>
            <a:off x="2495900" y="1628875"/>
            <a:ext cx="1085700" cy="8337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4" name="Google Shape;584;p51"/>
          <p:cNvSpPr/>
          <p:nvPr/>
        </p:nvSpPr>
        <p:spPr>
          <a:xfrm>
            <a:off x="4572000" y="4024625"/>
            <a:ext cx="5340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51"/>
          <p:cNvSpPr/>
          <p:nvPr/>
        </p:nvSpPr>
        <p:spPr>
          <a:xfrm>
            <a:off x="491650" y="4423725"/>
            <a:ext cx="17991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Valor de retorno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86" name="Google Shape;586;p51"/>
          <p:cNvCxnSpPr>
            <a:stCxn id="585" idx="3"/>
            <a:endCxn id="584" idx="1"/>
          </p:cNvCxnSpPr>
          <p:nvPr/>
        </p:nvCxnSpPr>
        <p:spPr>
          <a:xfrm flipH="1" rot="10800000">
            <a:off x="2290750" y="4180875"/>
            <a:ext cx="2281200" cy="4389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7" name="Google Shape;587;p51"/>
          <p:cNvSpPr/>
          <p:nvPr/>
        </p:nvSpPr>
        <p:spPr>
          <a:xfrm>
            <a:off x="3893551" y="2476625"/>
            <a:ext cx="11007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1"/>
          <p:cNvSpPr/>
          <p:nvPr/>
        </p:nvSpPr>
        <p:spPr>
          <a:xfrm>
            <a:off x="4770400" y="1239650"/>
            <a:ext cx="13704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Nombre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89" name="Google Shape;589;p51"/>
          <p:cNvCxnSpPr>
            <a:stCxn id="588" idx="2"/>
            <a:endCxn id="587" idx="0"/>
          </p:cNvCxnSpPr>
          <p:nvPr/>
        </p:nvCxnSpPr>
        <p:spPr>
          <a:xfrm flipH="1">
            <a:off x="4444000" y="1631750"/>
            <a:ext cx="1011600" cy="8448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0" name="Google Shape;590;p51"/>
          <p:cNvSpPr/>
          <p:nvPr/>
        </p:nvSpPr>
        <p:spPr>
          <a:xfrm>
            <a:off x="5046976" y="2476625"/>
            <a:ext cx="7419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51"/>
          <p:cNvSpPr/>
          <p:nvPr/>
        </p:nvSpPr>
        <p:spPr>
          <a:xfrm>
            <a:off x="6543450" y="1236775"/>
            <a:ext cx="22512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Parámetros Formales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92" name="Google Shape;592;p51"/>
          <p:cNvCxnSpPr>
            <a:stCxn id="591" idx="2"/>
            <a:endCxn id="590" idx="0"/>
          </p:cNvCxnSpPr>
          <p:nvPr/>
        </p:nvCxnSpPr>
        <p:spPr>
          <a:xfrm flipH="1">
            <a:off x="5417850" y="1628875"/>
            <a:ext cx="2251200" cy="8478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3" name="Google Shape;593;p51"/>
          <p:cNvSpPr/>
          <p:nvPr/>
        </p:nvSpPr>
        <p:spPr>
          <a:xfrm>
            <a:off x="7289550" y="3519075"/>
            <a:ext cx="13704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Cuerpo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94" name="Google Shape;594;p51"/>
          <p:cNvCxnSpPr>
            <a:stCxn id="593" idx="1"/>
            <a:endCxn id="581" idx="3"/>
          </p:cNvCxnSpPr>
          <p:nvPr/>
        </p:nvCxnSpPr>
        <p:spPr>
          <a:xfrm rot="10800000">
            <a:off x="5233950" y="3715125"/>
            <a:ext cx="2055600" cy="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Invocación/Llamado a Funciones</a:t>
            </a:r>
            <a:endParaRPr/>
          </a:p>
        </p:txBody>
      </p:sp>
      <p:sp>
        <p:nvSpPr>
          <p:cNvPr id="600" name="Google Shape;600;p52"/>
          <p:cNvSpPr/>
          <p:nvPr/>
        </p:nvSpPr>
        <p:spPr>
          <a:xfrm rot="10800000">
            <a:off x="325175" y="1394126"/>
            <a:ext cx="4491300" cy="35616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52"/>
          <p:cNvSpPr/>
          <p:nvPr/>
        </p:nvSpPr>
        <p:spPr>
          <a:xfrm rot="10800000">
            <a:off x="325175" y="1066950"/>
            <a:ext cx="4491300" cy="3273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52"/>
          <p:cNvSpPr/>
          <p:nvPr/>
        </p:nvSpPr>
        <p:spPr>
          <a:xfrm>
            <a:off x="533249" y="1150971"/>
            <a:ext cx="178500" cy="178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52"/>
          <p:cNvSpPr/>
          <p:nvPr/>
        </p:nvSpPr>
        <p:spPr>
          <a:xfrm>
            <a:off x="797743" y="1150971"/>
            <a:ext cx="178500" cy="178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2"/>
          <p:cNvSpPr/>
          <p:nvPr/>
        </p:nvSpPr>
        <p:spPr>
          <a:xfrm>
            <a:off x="1062237" y="1150971"/>
            <a:ext cx="178500" cy="178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52"/>
          <p:cNvSpPr txBox="1"/>
          <p:nvPr/>
        </p:nvSpPr>
        <p:spPr>
          <a:xfrm>
            <a:off x="737918" y="1066926"/>
            <a:ext cx="36300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" sz="1320" u="none" cap="none" strike="noStrike">
                <a:solidFill>
                  <a:srgbClr val="ADADAD"/>
                </a:solidFill>
                <a:latin typeface="Roboto Mono"/>
                <a:ea typeface="Roboto Mono"/>
                <a:cs typeface="Roboto Mono"/>
                <a:sym typeface="Roboto Mono"/>
              </a:rPr>
              <a:t>Círculos</a:t>
            </a:r>
            <a:endParaRPr b="0" i="0" sz="1320" u="none" cap="none" strike="noStrike">
              <a:solidFill>
                <a:srgbClr val="FFAB4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06" name="Google Shape;606;p52"/>
          <p:cNvSpPr txBox="1"/>
          <p:nvPr/>
        </p:nvSpPr>
        <p:spPr>
          <a:xfrm>
            <a:off x="485719" y="1527574"/>
            <a:ext cx="4290000" cy="3300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#include &lt;iostream&gt;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#include &lt;cmath&gt;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using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std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1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1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perimetro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radio: "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11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M_PI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perimetro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M_PI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11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"El area del circulo es: "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endl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"El perimetro del circulo es: "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perimetro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endl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11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1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52"/>
          <p:cNvSpPr txBox="1"/>
          <p:nvPr>
            <p:ph idx="1" type="body"/>
          </p:nvPr>
        </p:nvSpPr>
        <p:spPr>
          <a:xfrm>
            <a:off x="5038525" y="1152475"/>
            <a:ext cx="3793800" cy="3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3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s" sz="1650"/>
              <a:t>Una función aplicada a una expresión es una expresión.</a:t>
            </a:r>
            <a:endParaRPr sz="1650"/>
          </a:p>
          <a:p>
            <a:pPr indent="-3333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s" sz="1650">
                <a:solidFill>
                  <a:schemeClr val="accent4"/>
                </a:solidFill>
              </a:rPr>
              <a:t>El resultado</a:t>
            </a:r>
            <a:r>
              <a:rPr lang="es" sz="1650"/>
              <a:t> de invocar a una función es obtener el </a:t>
            </a:r>
            <a:r>
              <a:rPr lang="es" sz="1650">
                <a:solidFill>
                  <a:schemeClr val="accent4"/>
                </a:solidFill>
              </a:rPr>
              <a:t>valor de retorno</a:t>
            </a:r>
            <a:r>
              <a:rPr lang="es" sz="1650"/>
              <a:t>.</a:t>
            </a:r>
            <a:endParaRPr sz="165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Invocación/Llamado a Funciones</a:t>
            </a:r>
            <a:endParaRPr/>
          </a:p>
        </p:txBody>
      </p:sp>
      <p:sp>
        <p:nvSpPr>
          <p:cNvPr id="613" name="Google Shape;613;p53"/>
          <p:cNvSpPr txBox="1"/>
          <p:nvPr>
            <p:ph idx="1" type="body"/>
          </p:nvPr>
        </p:nvSpPr>
        <p:spPr>
          <a:xfrm>
            <a:off x="5038525" y="1152475"/>
            <a:ext cx="3793800" cy="3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Una función aplicada a una expresión es una expresión.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accent4"/>
                </a:solidFill>
              </a:rPr>
              <a:t>El resultado</a:t>
            </a:r>
            <a:r>
              <a:rPr lang="es"/>
              <a:t> de invocar a una función es obtener el </a:t>
            </a:r>
            <a:r>
              <a:rPr lang="es">
                <a:solidFill>
                  <a:schemeClr val="accent4"/>
                </a:solidFill>
              </a:rPr>
              <a:t>valor de retorno</a:t>
            </a:r>
            <a:r>
              <a:rPr lang="es"/>
              <a:t>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Los parámetros actuales son los valores con los que se llaman a la función.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El parámetro puede ser </a:t>
            </a:r>
            <a:r>
              <a:rPr lang="es">
                <a:solidFill>
                  <a:schemeClr val="accent4"/>
                </a:solidFill>
              </a:rPr>
              <a:t>cualquier expresión</a:t>
            </a:r>
            <a:r>
              <a:rPr lang="es"/>
              <a:t>, siempre que al ser evaluada resulte en el </a:t>
            </a:r>
            <a:r>
              <a:rPr lang="es">
                <a:solidFill>
                  <a:schemeClr val="accent4"/>
                </a:solidFill>
              </a:rPr>
              <a:t>tipo apropiado</a:t>
            </a:r>
            <a:r>
              <a:rPr lang="es"/>
              <a:t>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Su valor se </a:t>
            </a:r>
            <a:r>
              <a:rPr lang="es">
                <a:solidFill>
                  <a:schemeClr val="accent4"/>
                </a:solidFill>
              </a:rPr>
              <a:t>copia</a:t>
            </a:r>
            <a:r>
              <a:rPr lang="es"/>
              <a:t> en la variable definida por el parámetro formal. (salvo algunos casos que veremos luego)</a:t>
            </a:r>
            <a:endParaRPr/>
          </a:p>
        </p:txBody>
      </p:sp>
      <p:sp>
        <p:nvSpPr>
          <p:cNvPr id="614" name="Google Shape;614;p53"/>
          <p:cNvSpPr/>
          <p:nvPr/>
        </p:nvSpPr>
        <p:spPr>
          <a:xfrm rot="10800000">
            <a:off x="325175" y="1394126"/>
            <a:ext cx="4491300" cy="35616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53"/>
          <p:cNvSpPr/>
          <p:nvPr/>
        </p:nvSpPr>
        <p:spPr>
          <a:xfrm rot="10800000">
            <a:off x="325175" y="1066950"/>
            <a:ext cx="4491300" cy="3273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53"/>
          <p:cNvSpPr/>
          <p:nvPr/>
        </p:nvSpPr>
        <p:spPr>
          <a:xfrm>
            <a:off x="533249" y="1150971"/>
            <a:ext cx="178500" cy="178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3"/>
          <p:cNvSpPr/>
          <p:nvPr/>
        </p:nvSpPr>
        <p:spPr>
          <a:xfrm>
            <a:off x="797743" y="1150971"/>
            <a:ext cx="178500" cy="178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3"/>
          <p:cNvSpPr/>
          <p:nvPr/>
        </p:nvSpPr>
        <p:spPr>
          <a:xfrm>
            <a:off x="1062237" y="1150971"/>
            <a:ext cx="178500" cy="178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53"/>
          <p:cNvSpPr txBox="1"/>
          <p:nvPr/>
        </p:nvSpPr>
        <p:spPr>
          <a:xfrm>
            <a:off x="737918" y="1066926"/>
            <a:ext cx="36300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" sz="1320" u="none" cap="none" strike="noStrike">
                <a:solidFill>
                  <a:srgbClr val="ADADAD"/>
                </a:solidFill>
                <a:latin typeface="Roboto Mono"/>
                <a:ea typeface="Roboto Mono"/>
                <a:cs typeface="Roboto Mono"/>
                <a:sym typeface="Roboto Mono"/>
              </a:rPr>
              <a:t>Círculos</a:t>
            </a:r>
            <a:endParaRPr b="0" i="0" sz="1320" u="none" cap="none" strike="noStrike">
              <a:solidFill>
                <a:srgbClr val="FFAB4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20" name="Google Shape;620;p53"/>
          <p:cNvSpPr txBox="1"/>
          <p:nvPr/>
        </p:nvSpPr>
        <p:spPr>
          <a:xfrm>
            <a:off x="485719" y="1527574"/>
            <a:ext cx="4290000" cy="3300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#include &lt;iostream&gt;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#include &lt;cmath&gt;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using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std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1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1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perimetro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radio: "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11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M_PI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perimetro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M_PI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11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"El area del circulo es: "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endl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"El perimetro del circulo es: "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perimetro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endl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1100" u="none" cap="none" strike="noStrike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1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1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r>
              <a:rPr b="0" i="0" lang="es" sz="1100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1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1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3"/>
          <p:cNvSpPr/>
          <p:nvPr/>
        </p:nvSpPr>
        <p:spPr>
          <a:xfrm>
            <a:off x="2407750" y="3241825"/>
            <a:ext cx="463800" cy="25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3"/>
          <p:cNvSpPr/>
          <p:nvPr/>
        </p:nvSpPr>
        <p:spPr>
          <a:xfrm>
            <a:off x="2609900" y="1619525"/>
            <a:ext cx="2140500" cy="614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Parámetro Actual / Argumento / Entrada</a:t>
            </a:r>
            <a:endParaRPr i="0" sz="1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23" name="Google Shape;623;p53"/>
          <p:cNvCxnSpPr>
            <a:stCxn id="622" idx="2"/>
            <a:endCxn id="621" idx="0"/>
          </p:cNvCxnSpPr>
          <p:nvPr/>
        </p:nvCxnSpPr>
        <p:spPr>
          <a:xfrm flipH="1">
            <a:off x="2639750" y="2234225"/>
            <a:ext cx="1040400" cy="10077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aro FCEFYN">
  <a:themeElements>
    <a:clrScheme name="Simple Light">
      <a:dk1>
        <a:srgbClr val="1D1D1D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D88E77"/>
      </a:accent3>
      <a:accent4>
        <a:srgbClr val="D38129"/>
      </a:accent4>
      <a:accent5>
        <a:srgbClr val="1D4036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