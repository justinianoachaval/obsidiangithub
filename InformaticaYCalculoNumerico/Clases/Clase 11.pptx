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embeddedFontLst>
    <p:embeddedFont>
      <p:font typeface="Montserrat SemiBold"/>
      <p:regular r:id="rId39"/>
      <p:bold r:id="rId40"/>
      <p:italic r:id="rId41"/>
      <p:boldItalic r:id="rId42"/>
    </p:embeddedFont>
    <p:embeddedFont>
      <p:font typeface="Montserrat"/>
      <p:regular r:id="rId43"/>
      <p:bold r:id="rId44"/>
      <p:italic r:id="rId45"/>
      <p:boldItalic r:id="rId46"/>
    </p:embeddedFont>
    <p:embeddedFont>
      <p:font typeface="Montserrat Medium"/>
      <p:regular r:id="rId47"/>
      <p:bold r:id="rId48"/>
      <p:italic r:id="rId49"/>
      <p:boldItalic r:id="rId50"/>
    </p:embeddedFont>
    <p:embeddedFont>
      <p:font typeface="Montserrat Light"/>
      <p:regular r:id="rId51"/>
      <p:bold r:id="rId52"/>
      <p:italic r:id="rId53"/>
      <p:boldItalic r:id="rId54"/>
    </p:embeddedFont>
    <p:embeddedFont>
      <p:font typeface="Old Standard TT"/>
      <p:regular r:id="rId55"/>
      <p:bold r:id="rId56"/>
      <p: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bold.fntdata"/><Relationship Id="rId42" Type="http://schemas.openxmlformats.org/officeDocument/2006/relationships/font" Target="fonts/MontserratSemiBold-boldItalic.fntdata"/><Relationship Id="rId41" Type="http://schemas.openxmlformats.org/officeDocument/2006/relationships/font" Target="fonts/MontserratSemiBold-italic.fntdata"/><Relationship Id="rId44" Type="http://schemas.openxmlformats.org/officeDocument/2006/relationships/font" Target="fonts/Montserrat-bold.fntdata"/><Relationship Id="rId43" Type="http://schemas.openxmlformats.org/officeDocument/2006/relationships/font" Target="fonts/Montserrat-regular.fntdata"/><Relationship Id="rId46" Type="http://schemas.openxmlformats.org/officeDocument/2006/relationships/font" Target="fonts/Montserrat-boldItalic.fntdata"/><Relationship Id="rId45"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Medium-bold.fntdata"/><Relationship Id="rId47" Type="http://schemas.openxmlformats.org/officeDocument/2006/relationships/font" Target="fonts/MontserratMedium-regular.fntdata"/><Relationship Id="rId49" Type="http://schemas.openxmlformats.org/officeDocument/2006/relationships/font" Target="fonts/MontserratMedium-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font" Target="fonts/MontserratSemiBold-regular.fntdata"/><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Light-regular.fntdata"/><Relationship Id="rId50" Type="http://schemas.openxmlformats.org/officeDocument/2006/relationships/font" Target="fonts/MontserratMedium-boldItalic.fntdata"/><Relationship Id="rId53" Type="http://schemas.openxmlformats.org/officeDocument/2006/relationships/font" Target="fonts/MontserratLight-italic.fntdata"/><Relationship Id="rId52" Type="http://schemas.openxmlformats.org/officeDocument/2006/relationships/font" Target="fonts/MontserratLight-bold.fntdata"/><Relationship Id="rId11" Type="http://schemas.openxmlformats.org/officeDocument/2006/relationships/slide" Target="slides/slide6.xml"/><Relationship Id="rId55" Type="http://schemas.openxmlformats.org/officeDocument/2006/relationships/font" Target="fonts/OldStandardTT-regular.fntdata"/><Relationship Id="rId10" Type="http://schemas.openxmlformats.org/officeDocument/2006/relationships/slide" Target="slides/slide5.xml"/><Relationship Id="rId54" Type="http://schemas.openxmlformats.org/officeDocument/2006/relationships/font" Target="fonts/MontserratLight-boldItalic.fntdata"/><Relationship Id="rId13" Type="http://schemas.openxmlformats.org/officeDocument/2006/relationships/slide" Target="slides/slide8.xml"/><Relationship Id="rId57" Type="http://schemas.openxmlformats.org/officeDocument/2006/relationships/font" Target="fonts/OldStandardTT-italic.fntdata"/><Relationship Id="rId12" Type="http://schemas.openxmlformats.org/officeDocument/2006/relationships/slide" Target="slides/slide7.xml"/><Relationship Id="rId56" Type="http://schemas.openxmlformats.org/officeDocument/2006/relationships/font" Target="fonts/OldStandardTT-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rPr>
              <a:t>«Antes de comenzar con raíces de ecuaciones, quiero recuperar exactamente el punto donde terminamos la clase anterior. Hablamos de error de redondeo y de error de truncamiento. El primero aparece porque una computadora no guarda cualquier número real con infinitas cifras. Almacena una representación finita y, cuando el valor que necesitamos no cabe exactamente, guarda uno cercano. El segundo aparece cuando sustituimos un procedimiento matemático ideal por uno finito: tomamos una cantidad limitada de términos, de pasos o de operaciones para obtener una aproximación. Estas dos ideas van a acompañarnos durante toda la clase de hoy.</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s">
                <a:solidFill>
                  <a:schemeClr val="dk1"/>
                </a:solidFill>
              </a:rPr>
              <a:t>En un problema de búsqueda de raíces queremos hallar un número que satisface una ecuación. Es posible que exista una solución exacta, pero eso no implica que podamos escribirla fácilmente ni que la computadora pueda representarla sin error. Nuestro programa producirá una sucesión de valores. Cada uno será una aproximación. Habrá que distinguir dos preguntas: ¿estamos avanzando hacia la raíz? y ¿es suficientemente bueno el valor que vamos a entregar? La primera nos lleva al diseño del método. La segunda nos lleva a las tolerancias y a los criterios de paro.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s">
                <a:solidFill>
                  <a:schemeClr val="dk1"/>
                </a:solidFill>
              </a:rPr>
              <a:t>Para tener una imagen simple desde el principio, piensen en la ecuación x al cuadrado igual a dos. Su raíz positiva es raíz de dos. Sabemos que está entre uno y dos, porque uno al cuadrado vale uno y dos al cuadrado vale cuatro. Si sólo pudiéramos hacer operaciones sencillas, podríamos aproximarla probando valores en ese intervalo. Uno coma cinco da dos coma veinticinco: nos pasamos. Uno coma veinticinco da uno coma cinco mil seiscientos veinticinco: nos quedamos cortos. Ya tenemos una estrategia intuitiva: usar lo que sabemos para ir achicando la zona posible. Hoy vamos a convertir esa intuición en un algoritmo.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s">
                <a:solidFill>
                  <a:schemeClr val="dk1"/>
                </a:solidFill>
              </a:rPr>
              <a:t>La clase seguirá un recorrido. Primero veremos por qué aparecen ecuaciones difíciles de despejar. Después entenderemos qué quiere decir encontrar una raíz y qué condición nos permite encerrarla. Por último estudiaremos bisección, su error, su criterio de detención y el código en C++. Mientras miramos las diapositivas, recuerden que el resultado numérico siempre debe venir acompañado de una explicación de cómo se obtuvo y de qué tan confiable es».</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8b832367b20c96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h18b832367b20c962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18b832367b20c962_1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h18b832367b20c962_1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h18b832367b20c962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h18b832367b20c962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18b832367b20c962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h18b832367b20c962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h18b832367b20c962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h18b832367b20c962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18b832367b20c962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h18b832367b20c962_1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18b832367b20c962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h18b832367b20c962_1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18b832367b20c962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h18b832367b20c962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h18b832367b20c962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h18b832367b20c962_1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h18b832367b20c96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h18b832367b20c962_1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18b832367b20c962_1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18b832367b20c962_1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18b832367b20c962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h18b832367b20c962_1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h18b832367b20c962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h18b832367b20c962_1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18b832367b20c962_1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h18b832367b20c962_1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18b832367b20c962_1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h18b832367b20c962_1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18b832367b20c962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h18b832367b20c962_1_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h18b832367b20c962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h18b832367b20c962_1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h18b832367b20c962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h18b832367b20c962_1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8b832367b20c962_1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18b832367b20c962_1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18b832367b20c962_1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h18b832367b20c962_1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h18b832367b20c962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h18b832367b20c962_1_1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18b832367b20c962_1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h18b832367b20c962_1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18b832367b20c962_1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0" name="Google Shape;260;h18b832367b20c962_1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h18b832367b20c962_1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h18b832367b20c962_1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h18b832367b20c962_1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6" name="Google Shape;276;h18b832367b20c962_1_1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h18b832367b20c962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h18b832367b20c962_1_1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18b832367b20c962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h18b832367b20c962_1_1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h18b832367b20c962_1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h18b832367b20c962_1_1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h18b832367b20c962_1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h18b832367b20c962_1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h18b832367b20c962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h18b832367b20c962_1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h18b832367b20c962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h18b832367b20c962_1_1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18b832367b20c962_1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h18b832367b20c962_1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id="10" name="Google Shape;10;p2" title="Elementos ornamentales-03.png"/>
          <p:cNvPicPr preferRelativeResize="0"/>
          <p:nvPr/>
        </p:nvPicPr>
        <p:blipFill>
          <a:blip r:embed="rId2">
            <a:alphaModFix/>
          </a:blip>
          <a:stretch>
            <a:fillRect/>
          </a:stretch>
        </p:blipFill>
        <p:spPr>
          <a:xfrm>
            <a:off x="4502903" y="-423203"/>
            <a:ext cx="5098294" cy="5143501"/>
          </a:xfrm>
          <a:prstGeom prst="rect">
            <a:avLst/>
          </a:prstGeom>
          <a:noFill/>
          <a:ln>
            <a:noFill/>
          </a:ln>
        </p:spPr>
      </p:pic>
      <p:sp>
        <p:nvSpPr>
          <p:cNvPr id="11" name="Google Shape;11;p2"/>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1pPr>
            <a:lvl2pPr lvl="1"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2pPr>
            <a:lvl3pPr lvl="2"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3pPr>
            <a:lvl4pPr lvl="3"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4pPr>
            <a:lvl5pPr lvl="4"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5pPr>
            <a:lvl6pPr lvl="5"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6pPr>
            <a:lvl7pPr lvl="6"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7pPr>
            <a:lvl8pPr lvl="7"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8pPr>
            <a:lvl9pPr lvl="8" algn="ctr">
              <a:spcBef>
                <a:spcPts val="0"/>
              </a:spcBef>
              <a:spcAft>
                <a:spcPts val="0"/>
              </a:spcAft>
              <a:buSzPts val="5200"/>
              <a:buFont typeface="Montserrat SemiBold"/>
              <a:buNone/>
              <a:defRPr sz="5200">
                <a:latin typeface="Montserrat SemiBold"/>
                <a:ea typeface="Montserrat SemiBold"/>
                <a:cs typeface="Montserrat SemiBold"/>
                <a:sym typeface="Montserrat SemiBold"/>
              </a:defRPr>
            </a:lvl9pPr>
          </a:lstStyle>
          <a:p/>
        </p:txBody>
      </p:sp>
      <p:sp>
        <p:nvSpPr>
          <p:cNvPr id="12" name="Google Shape;12;p2"/>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1pPr>
            <a:lvl2pPr lvl="1"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2pPr>
            <a:lvl3pPr lvl="2"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3pPr>
            <a:lvl4pPr lvl="3"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4pPr>
            <a:lvl5pPr lvl="4"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5pPr>
            <a:lvl6pPr lvl="5"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6pPr>
            <a:lvl7pPr lvl="6"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7pPr>
            <a:lvl8pPr lvl="7"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8pPr>
            <a:lvl9pPr lvl="8" algn="ctr">
              <a:lnSpc>
                <a:spcPct val="100000"/>
              </a:lnSpc>
              <a:spcBef>
                <a:spcPts val="0"/>
              </a:spcBef>
              <a:spcAft>
                <a:spcPts val="0"/>
              </a:spcAft>
              <a:buSzPts val="2800"/>
              <a:buFont typeface="Montserrat Light"/>
              <a:buNone/>
              <a:defRPr sz="2800">
                <a:latin typeface="Montserrat Light"/>
                <a:ea typeface="Montserrat Light"/>
                <a:cs typeface="Montserrat Light"/>
                <a:sym typeface="Montserrat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14" name="Google Shape;14;p2" title="1_Isologotipo FCEFyN y UNC- original_Sin fondo.png"/>
          <p:cNvPicPr preferRelativeResize="0"/>
          <p:nvPr/>
        </p:nvPicPr>
        <p:blipFill>
          <a:blip r:embed="rId3">
            <a:alphaModFix/>
          </a:blip>
          <a:stretch>
            <a:fillRect/>
          </a:stretch>
        </p:blipFill>
        <p:spPr>
          <a:xfrm>
            <a:off x="78159" y="-76200"/>
            <a:ext cx="4239831" cy="11676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 name="Google Shape;17;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8" name="Google Shape;18;p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19" name="Google Shape;19;p3"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pic>
        <p:nvPicPr>
          <p:cNvPr id="20" name="Google Shape;20;p3" title="Elementos ornamentales-05.png"/>
          <p:cNvPicPr preferRelativeResize="0"/>
          <p:nvPr/>
        </p:nvPicPr>
        <p:blipFill>
          <a:blip r:embed="rId3">
            <a:alphaModFix/>
          </a:blip>
          <a:stretch>
            <a:fillRect/>
          </a:stretch>
        </p:blipFill>
        <p:spPr>
          <a:xfrm>
            <a:off x="0" y="-1431561"/>
            <a:ext cx="9144003" cy="19913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 name="Google Shape;23;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26" name="Google Shape;26;p4"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9" name="Google Shape;29;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 name="Google Shape;3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7" name="Google Shape;37;p6"/>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38" name="Google Shape;38;p6"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 name="Google Shape;4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4" name="Google Shape;44;p7"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5" name="Shape 45"/>
        <p:cNvGrpSpPr/>
        <p:nvPr/>
      </p:nvGrpSpPr>
      <p:grpSpPr>
        <a:xfrm>
          <a:off x="0" y="0"/>
          <a:ext cx="0" cy="0"/>
          <a:chOff x="0" y="0"/>
          <a:chExt cx="0" cy="0"/>
        </a:xfrm>
      </p:grpSpPr>
      <p:sp>
        <p:nvSpPr>
          <p:cNvPr id="46" name="Google Shape;46;p8"/>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 name="Google Shape;47;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8" name="Google Shape;48;p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49" name="Google Shape;49;p8"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0" name="Shape 50"/>
        <p:cNvGrpSpPr/>
        <p:nvPr/>
      </p:nvGrpSpPr>
      <p:grpSpPr>
        <a:xfrm>
          <a:off x="0" y="0"/>
          <a:ext cx="0" cy="0"/>
          <a:chOff x="0" y="0"/>
          <a:chExt cx="0" cy="0"/>
        </a:xfrm>
      </p:grpSpPr>
      <p:sp>
        <p:nvSpPr>
          <p:cNvPr id="51" name="Google Shape;51;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9"/>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6" name="Google Shape;56;p9"/>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57" name="Google Shape;57;p9"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61" name="Google Shape;61;p10"/>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2" name="Google Shape;62;p10"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6" name="Google Shape;6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7" name="Google Shape;67;p11"/>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68" name="Google Shape;68;p11"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9" name="Shape 69"/>
        <p:cNvGrpSpPr/>
        <p:nvPr/>
      </p:nvGrpSpPr>
      <p:grpSpPr>
        <a:xfrm>
          <a:off x="0" y="0"/>
          <a:ext cx="0" cy="0"/>
          <a:chOff x="0" y="0"/>
          <a:chExt cx="0" cy="0"/>
        </a:xfrm>
      </p:grpSpPr>
      <p:sp>
        <p:nvSpPr>
          <p:cNvPr id="70" name="Google Shape;70;p12"/>
          <p:cNvSpPr/>
          <p:nvPr/>
        </p:nvSpPr>
        <p:spPr>
          <a:xfrm>
            <a:off x="8648650" y="4582200"/>
            <a:ext cx="934800" cy="9348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2"/>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lvl1pPr lvl="0">
              <a:buNone/>
              <a:defRPr>
                <a:solidFill>
                  <a:schemeClr val="lt2"/>
                </a:solidFill>
              </a:defRPr>
            </a:lvl1pPr>
            <a:lvl2pPr lvl="1">
              <a:buNone/>
              <a:defRPr>
                <a:solidFill>
                  <a:schemeClr val="lt2"/>
                </a:solidFill>
              </a:defRPr>
            </a:lvl2pPr>
            <a:lvl3pPr lvl="2">
              <a:buNone/>
              <a:defRPr>
                <a:solidFill>
                  <a:schemeClr val="lt2"/>
                </a:solidFill>
              </a:defRPr>
            </a:lvl3pPr>
            <a:lvl4pPr lvl="3">
              <a:buNone/>
              <a:defRPr>
                <a:solidFill>
                  <a:schemeClr val="lt2"/>
                </a:solidFill>
              </a:defRPr>
            </a:lvl4pPr>
            <a:lvl5pPr lvl="4">
              <a:buNone/>
              <a:defRPr>
                <a:solidFill>
                  <a:schemeClr val="lt2"/>
                </a:solidFill>
              </a:defRPr>
            </a:lvl5pPr>
            <a:lvl6pPr lvl="5">
              <a:buNone/>
              <a:defRPr>
                <a:solidFill>
                  <a:schemeClr val="lt2"/>
                </a:solidFill>
              </a:defRPr>
            </a:lvl6pPr>
            <a:lvl7pPr lvl="6">
              <a:buNone/>
              <a:defRPr>
                <a:solidFill>
                  <a:schemeClr val="lt2"/>
                </a:solidFill>
              </a:defRPr>
            </a:lvl7pPr>
            <a:lvl8pPr lvl="7">
              <a:buNone/>
              <a:defRPr>
                <a:solidFill>
                  <a:schemeClr val="lt2"/>
                </a:solidFill>
              </a:defRPr>
            </a:lvl8pPr>
            <a:lvl9pPr lvl="8">
              <a:buNone/>
              <a:defRPr>
                <a:solidFill>
                  <a:schemeClr val="lt2"/>
                </a:solidFill>
              </a:defRPr>
            </a:lvl9pPr>
          </a:lstStyle>
          <a:p>
            <a:pPr indent="0" lvl="0" marL="0" rtl="0" algn="r">
              <a:spcBef>
                <a:spcPts val="0"/>
              </a:spcBef>
              <a:spcAft>
                <a:spcPts val="0"/>
              </a:spcAft>
              <a:buNone/>
            </a:pPr>
            <a:fld id="{00000000-1234-1234-1234-123412341234}" type="slidenum">
              <a:rPr lang="es"/>
              <a:t>‹#›</a:t>
            </a:fld>
            <a:endParaRPr/>
          </a:p>
        </p:txBody>
      </p:sp>
      <p:pic>
        <p:nvPicPr>
          <p:cNvPr id="72" name="Google Shape;72;p12" title="1_Isologotipo FCEFyN y UNC- original_Sin fondo.png"/>
          <p:cNvPicPr preferRelativeResize="0"/>
          <p:nvPr/>
        </p:nvPicPr>
        <p:blipFill rotWithShape="1">
          <a:blip r:embed="rId2">
            <a:alphaModFix/>
          </a:blip>
          <a:srcRect b="0" l="36669" r="0" t="0"/>
          <a:stretch/>
        </p:blipFill>
        <p:spPr>
          <a:xfrm>
            <a:off x="7060911" y="4581782"/>
            <a:ext cx="1587748" cy="690411"/>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73" name="Shape 73"/>
        <p:cNvGrpSpPr/>
        <p:nvPr/>
      </p:nvGrpSpPr>
      <p:grpSpPr>
        <a:xfrm>
          <a:off x="0" y="0"/>
          <a:ext cx="0" cy="0"/>
          <a:chOff x="0" y="0"/>
          <a:chExt cx="0" cy="0"/>
        </a:xfrm>
      </p:grpSpPr>
      <p:sp>
        <p:nvSpPr>
          <p:cNvPr id="74" name="Google Shape;74;p13"/>
          <p:cNvSpPr txBox="1"/>
          <p:nvPr>
            <p:ph type="title"/>
          </p:nvPr>
        </p:nvSpPr>
        <p:spPr>
          <a:xfrm>
            <a:off x="1752791" y="377766"/>
            <a:ext cx="5628000" cy="4737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700">
                <a:solidFill>
                  <a:schemeClr val="dk1"/>
                </a:solidFill>
                <a:latin typeface="Arial"/>
                <a:ea typeface="Arial"/>
                <a:cs typeface="Arial"/>
                <a:sym typeface="Aria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 name="Google Shape;75;p13"/>
          <p:cNvSpPr txBox="1"/>
          <p:nvPr>
            <p:ph idx="1" type="body"/>
          </p:nvPr>
        </p:nvSpPr>
        <p:spPr>
          <a:xfrm>
            <a:off x="837239" y="1051052"/>
            <a:ext cx="7835100" cy="22047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700">
                <a:solidFill>
                  <a:schemeClr val="dk1"/>
                </a:solidFill>
                <a:latin typeface="Arial"/>
                <a:ea typeface="Arial"/>
                <a:cs typeface="Arial"/>
                <a:sym typeface="Aria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76" name="Google Shape;76;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77" name="Google Shape;77;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200"/>
              <a:buNone/>
              <a:defRPr sz="1200">
                <a:solidFill>
                  <a:srgbClr val="888888"/>
                </a:solidFill>
              </a:defRPr>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78" name="Google Shape;78;p13"/>
          <p:cNvSpPr txBox="1"/>
          <p:nvPr>
            <p:ph idx="12" type="sldNum"/>
          </p:nvPr>
        </p:nvSpPr>
        <p:spPr>
          <a:xfrm>
            <a:off x="6583680" y="4783455"/>
            <a:ext cx="2103000" cy="153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s"/>
              <a:t>‹#›</a:t>
            </a:fld>
            <a:endParaRPr>
              <a:solidFill>
                <a:schemeClr val="dk2"/>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E4D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2pPr>
            <a:lvl3pPr lvl="2">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3pPr>
            <a:lvl4pPr lvl="3">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4pPr>
            <a:lvl5pPr lvl="4">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5pPr>
            <a:lvl6pPr lvl="5">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6pPr>
            <a:lvl7pPr lvl="6">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7pPr>
            <a:lvl8pPr lvl="7">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8pPr>
            <a:lvl9pPr lvl="8">
              <a:spcBef>
                <a:spcPts val="0"/>
              </a:spcBef>
              <a:spcAft>
                <a:spcPts val="0"/>
              </a:spcAft>
              <a:buClr>
                <a:schemeClr val="dk1"/>
              </a:buClr>
              <a:buSzPts val="2800"/>
              <a:buFont typeface="Montserrat Medium"/>
              <a:buNone/>
              <a:defRPr sz="2800">
                <a:solidFill>
                  <a:schemeClr val="dk1"/>
                </a:solidFill>
                <a:latin typeface="Montserrat Medium"/>
                <a:ea typeface="Montserrat Medium"/>
                <a:cs typeface="Montserrat Medium"/>
                <a:sym typeface="Montserrat Medium"/>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Montserrat"/>
                <a:ea typeface="Montserrat"/>
                <a:cs typeface="Montserrat"/>
                <a:sym typeface="Montserrat"/>
              </a:defRPr>
            </a:lvl1pPr>
            <a:lvl2pPr lvl="1" algn="r">
              <a:buNone/>
              <a:defRPr sz="1000">
                <a:solidFill>
                  <a:schemeClr val="dk2"/>
                </a:solidFill>
                <a:latin typeface="Montserrat"/>
                <a:ea typeface="Montserrat"/>
                <a:cs typeface="Montserrat"/>
                <a:sym typeface="Montserrat"/>
              </a:defRPr>
            </a:lvl2pPr>
            <a:lvl3pPr lvl="2" algn="r">
              <a:buNone/>
              <a:defRPr sz="1000">
                <a:solidFill>
                  <a:schemeClr val="dk2"/>
                </a:solidFill>
                <a:latin typeface="Montserrat"/>
                <a:ea typeface="Montserrat"/>
                <a:cs typeface="Montserrat"/>
                <a:sym typeface="Montserrat"/>
              </a:defRPr>
            </a:lvl3pPr>
            <a:lvl4pPr lvl="3" algn="r">
              <a:buNone/>
              <a:defRPr sz="1000">
                <a:solidFill>
                  <a:schemeClr val="dk2"/>
                </a:solidFill>
                <a:latin typeface="Montserrat"/>
                <a:ea typeface="Montserrat"/>
                <a:cs typeface="Montserrat"/>
                <a:sym typeface="Montserrat"/>
              </a:defRPr>
            </a:lvl4pPr>
            <a:lvl5pPr lvl="4" algn="r">
              <a:buNone/>
              <a:defRPr sz="1000">
                <a:solidFill>
                  <a:schemeClr val="dk2"/>
                </a:solidFill>
                <a:latin typeface="Montserrat"/>
                <a:ea typeface="Montserrat"/>
                <a:cs typeface="Montserrat"/>
                <a:sym typeface="Montserrat"/>
              </a:defRPr>
            </a:lvl5pPr>
            <a:lvl6pPr lvl="5" algn="r">
              <a:buNone/>
              <a:defRPr sz="1000">
                <a:solidFill>
                  <a:schemeClr val="dk2"/>
                </a:solidFill>
                <a:latin typeface="Montserrat"/>
                <a:ea typeface="Montserrat"/>
                <a:cs typeface="Montserrat"/>
                <a:sym typeface="Montserrat"/>
              </a:defRPr>
            </a:lvl6pPr>
            <a:lvl7pPr lvl="6" algn="r">
              <a:buNone/>
              <a:defRPr sz="1000">
                <a:solidFill>
                  <a:schemeClr val="dk2"/>
                </a:solidFill>
                <a:latin typeface="Montserrat"/>
                <a:ea typeface="Montserrat"/>
                <a:cs typeface="Montserrat"/>
                <a:sym typeface="Montserrat"/>
              </a:defRPr>
            </a:lvl7pPr>
            <a:lvl8pPr lvl="7" algn="r">
              <a:buNone/>
              <a:defRPr sz="1000">
                <a:solidFill>
                  <a:schemeClr val="dk2"/>
                </a:solidFill>
                <a:latin typeface="Montserrat"/>
                <a:ea typeface="Montserrat"/>
                <a:cs typeface="Montserrat"/>
                <a:sym typeface="Montserrat"/>
              </a:defRPr>
            </a:lvl8pPr>
            <a:lvl9pPr lvl="8" algn="r">
              <a:buNone/>
              <a:defRPr sz="1000">
                <a:solidFill>
                  <a:schemeClr val="dk2"/>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30.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gist.github.com/hmendoza977/dec840f3b83c5d17e44ff2a87fa0a2cb" TargetMode="External"/><Relationship Id="rId4" Type="http://schemas.openxmlformats.org/officeDocument/2006/relationships/hyperlink" Target="https://onlinegdb.com/VP5GCzrny" TargetMode="External"/><Relationship Id="rId5" Type="http://schemas.openxmlformats.org/officeDocument/2006/relationships/hyperlink" Target="https://www.desmos.com/calculator/68ksbkulfw"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3.png"/><Relationship Id="rId4" Type="http://schemas.openxmlformats.org/officeDocument/2006/relationships/hyperlink" Target="https://gist.github.com/hmendoza977/998a1c4bd5fc0a4146003d9479183f6a"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gist.github.com/hmendoza977/c28a6e4848c54766de7593b56a002586" TargetMode="Externa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gist.github.com/hmendoza977/074fa71a641f81d2e9d5c4d9c48ff27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txBox="1"/>
          <p:nvPr>
            <p:ph type="ctrTitle"/>
          </p:nvPr>
        </p:nvSpPr>
        <p:spPr>
          <a:xfrm>
            <a:off x="311701" y="1506575"/>
            <a:ext cx="70668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Inform</a:t>
            </a:r>
            <a:r>
              <a:rPr lang="es"/>
              <a:t>ática y Cálculo Numérico</a:t>
            </a:r>
            <a:endParaRPr/>
          </a:p>
        </p:txBody>
      </p:sp>
      <p:sp>
        <p:nvSpPr>
          <p:cNvPr id="84" name="Google Shape;84;p14"/>
          <p:cNvSpPr txBox="1"/>
          <p:nvPr>
            <p:ph idx="1" type="subTitle"/>
          </p:nvPr>
        </p:nvSpPr>
        <p:spPr>
          <a:xfrm>
            <a:off x="311700" y="3596125"/>
            <a:ext cx="70668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Comisi</a:t>
            </a:r>
            <a:r>
              <a:rPr lang="es"/>
              <a:t>ón 5 - 2026 - Segundo Semestre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5" title="image20.png"/>
          <p:cNvPicPr preferRelativeResize="0"/>
          <p:nvPr/>
        </p:nvPicPr>
        <p:blipFill>
          <a:blip r:embed="rId3">
            <a:alphaModFix/>
          </a:blip>
          <a:stretch>
            <a:fillRect/>
          </a:stretch>
        </p:blipFill>
        <p:spPr>
          <a:xfrm>
            <a:off x="4824713" y="496977"/>
            <a:ext cx="4335949" cy="2364597"/>
          </a:xfrm>
          <a:prstGeom prst="rect">
            <a:avLst/>
          </a:prstGeom>
          <a:noFill/>
          <a:ln>
            <a:noFill/>
          </a:ln>
        </p:spPr>
      </p:pic>
      <p:sp>
        <p:nvSpPr>
          <p:cNvPr id="90" name="Google Shape;90;p15"/>
          <p:cNvSpPr txBox="1"/>
          <p:nvPr/>
        </p:nvSpPr>
        <p:spPr>
          <a:xfrm>
            <a:off x="361475" y="1093925"/>
            <a:ext cx="45270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Un cable de energía eléctrica está suspendido (de puntos de igual altura) de dos torres que están a una distancia de 100 metros. El cable cuelga 10 metros a la mitad. ¿Cuán largo es el cable?</a:t>
            </a:r>
            <a:endParaRPr b="0" i="0" sz="1800" u="none" cap="none" strike="noStrike">
              <a:solidFill>
                <a:srgbClr val="000000"/>
              </a:solidFill>
              <a:latin typeface="Arial"/>
              <a:ea typeface="Arial"/>
              <a:cs typeface="Arial"/>
              <a:sym typeface="Arial"/>
            </a:endParaRPr>
          </a:p>
        </p:txBody>
      </p:sp>
      <p:sp>
        <p:nvSpPr>
          <p:cNvPr id="91" name="Google Shape;9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Raíces de ecuaciones - Motivación</a:t>
            </a:r>
            <a:endParaRPr/>
          </a:p>
          <a:p>
            <a:pPr indent="0" lvl="0" marL="0" rtl="0" algn="l">
              <a:lnSpc>
                <a:spcPct val="100000"/>
              </a:lnSpc>
              <a:spcBef>
                <a:spcPts val="0"/>
              </a:spcBef>
              <a:spcAft>
                <a:spcPts val="0"/>
              </a:spcAft>
              <a:buSzPct val="111111"/>
              <a:buNone/>
            </a:pPr>
            <a:r>
              <a:t/>
            </a:r>
            <a:endParaRPr/>
          </a:p>
          <a:p>
            <a:pPr indent="0" lvl="0" marL="914400" rtl="0" algn="l">
              <a:lnSpc>
                <a:spcPct val="100000"/>
              </a:lnSpc>
              <a:spcBef>
                <a:spcPts val="0"/>
              </a:spcBef>
              <a:spcAft>
                <a:spcPts val="1000"/>
              </a:spcAft>
              <a:buSzPct val="153863"/>
              <a:buNone/>
            </a:pPr>
            <a:r>
              <a:t/>
            </a:r>
            <a:endParaRPr sz="2022"/>
          </a:p>
        </p:txBody>
      </p:sp>
      <p:sp>
        <p:nvSpPr>
          <p:cNvPr id="92" name="Google Shape;92;p15"/>
          <p:cNvSpPr txBox="1"/>
          <p:nvPr/>
        </p:nvSpPr>
        <p:spPr>
          <a:xfrm>
            <a:off x="361475" y="2784175"/>
            <a:ext cx="85614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Se sabe que la curva hecha por un cable suspendido es una catenaria. Cuando el eje y pasa por el punto mínimo, podemos suponer una ecuación de la forma: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highlight>
                  <a:schemeClr val="accent6"/>
                </a:highlight>
                <a:latin typeface="Arial"/>
                <a:ea typeface="Arial"/>
                <a:cs typeface="Arial"/>
                <a:sym typeface="Arial"/>
              </a:rPr>
              <a:t>y = λ cosh(x/ λ) </a:t>
            </a:r>
            <a:r>
              <a:rPr b="0" i="0" lang="es" sz="1800" u="none" cap="none" strike="noStrike">
                <a:solidFill>
                  <a:srgbClr val="000000"/>
                </a:solidFill>
                <a:latin typeface="Arial"/>
                <a:ea typeface="Arial"/>
                <a:cs typeface="Arial"/>
                <a:sym typeface="Arial"/>
              </a:rPr>
              <a:t>Aquí</a:t>
            </a:r>
            <a:r>
              <a:rPr b="0" i="0" lang="es" sz="1800" u="none" cap="none" strike="noStrike">
                <a:solidFill>
                  <a:srgbClr val="000000"/>
                </a:solidFill>
                <a:highlight>
                  <a:schemeClr val="accent6"/>
                </a:highlight>
                <a:latin typeface="Arial"/>
                <a:ea typeface="Arial"/>
                <a:cs typeface="Arial"/>
                <a:sym typeface="Arial"/>
              </a:rPr>
              <a:t> λ</a:t>
            </a:r>
            <a:r>
              <a:rPr b="0" i="0" lang="es" sz="1800" u="none" cap="none" strike="noStrike">
                <a:solidFill>
                  <a:srgbClr val="000000"/>
                </a:solidFill>
                <a:latin typeface="Arial"/>
                <a:ea typeface="Arial"/>
                <a:cs typeface="Arial"/>
                <a:sym typeface="Arial"/>
              </a:rPr>
              <a:t> es un parámetro que debe ser determinado. Las condiciones del problema son que y(50) = y(0) + 10. Por tanto, obtenemos:</a:t>
            </a:r>
            <a:endParaRPr b="0" i="0" sz="1800" u="none" cap="none" strike="noStrike">
              <a:solidFill>
                <a:srgbClr val="000000"/>
              </a:solidFill>
              <a:latin typeface="Arial"/>
              <a:ea typeface="Arial"/>
              <a:cs typeface="Arial"/>
              <a:sym typeface="Arial"/>
            </a:endParaRPr>
          </a:p>
        </p:txBody>
      </p:sp>
      <p:pic>
        <p:nvPicPr>
          <p:cNvPr id="93" name="Google Shape;93;p15" title="image01.png"/>
          <p:cNvPicPr preferRelativeResize="0"/>
          <p:nvPr/>
        </p:nvPicPr>
        <p:blipFill>
          <a:blip r:embed="rId4">
            <a:alphaModFix/>
          </a:blip>
          <a:stretch>
            <a:fillRect/>
          </a:stretch>
        </p:blipFill>
        <p:spPr>
          <a:xfrm>
            <a:off x="3036750" y="4051733"/>
            <a:ext cx="3070500" cy="1025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6" title="image20.png"/>
          <p:cNvPicPr preferRelativeResize="0"/>
          <p:nvPr/>
        </p:nvPicPr>
        <p:blipFill>
          <a:blip r:embed="rId3">
            <a:alphaModFix/>
          </a:blip>
          <a:stretch>
            <a:fillRect/>
          </a:stretch>
        </p:blipFill>
        <p:spPr>
          <a:xfrm>
            <a:off x="4824713" y="496977"/>
            <a:ext cx="4335949" cy="2364597"/>
          </a:xfrm>
          <a:prstGeom prst="rect">
            <a:avLst/>
          </a:prstGeom>
          <a:noFill/>
          <a:ln>
            <a:noFill/>
          </a:ln>
        </p:spPr>
      </p:pic>
      <p:sp>
        <p:nvSpPr>
          <p:cNvPr id="99" name="Google Shape;99;p16"/>
          <p:cNvSpPr txBox="1"/>
          <p:nvPr/>
        </p:nvSpPr>
        <p:spPr>
          <a:xfrm>
            <a:off x="361475" y="1093925"/>
            <a:ext cx="45270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Un cable de energía eléctrica está suspendido (de puntos de igual altura) de dos torres que están a una distancia de 100 metros. El cable cuelga 10 metros a la mitad. ¿Cuán largo es el cable?</a:t>
            </a:r>
            <a:endParaRPr b="0" i="0" sz="1800" u="none" cap="none" strike="noStrike">
              <a:solidFill>
                <a:srgbClr val="000000"/>
              </a:solidFill>
              <a:latin typeface="Arial"/>
              <a:ea typeface="Arial"/>
              <a:cs typeface="Arial"/>
              <a:sym typeface="Arial"/>
            </a:endParaRPr>
          </a:p>
        </p:txBody>
      </p:sp>
      <p:sp>
        <p:nvSpPr>
          <p:cNvPr id="100" name="Google Shape;100;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Raíces de ecuaciones - Motivación</a:t>
            </a:r>
            <a:endParaRPr/>
          </a:p>
          <a:p>
            <a:pPr indent="0" lvl="0" marL="0" rtl="0" algn="l">
              <a:lnSpc>
                <a:spcPct val="100000"/>
              </a:lnSpc>
              <a:spcBef>
                <a:spcPts val="0"/>
              </a:spcBef>
              <a:spcAft>
                <a:spcPts val="0"/>
              </a:spcAft>
              <a:buSzPct val="111111"/>
              <a:buNone/>
            </a:pPr>
            <a:r>
              <a:t/>
            </a:r>
            <a:endParaRPr/>
          </a:p>
          <a:p>
            <a:pPr indent="0" lvl="0" marL="914400" rtl="0" algn="l">
              <a:lnSpc>
                <a:spcPct val="100000"/>
              </a:lnSpc>
              <a:spcBef>
                <a:spcPts val="0"/>
              </a:spcBef>
              <a:spcAft>
                <a:spcPts val="1000"/>
              </a:spcAft>
              <a:buSzPct val="153863"/>
              <a:buNone/>
            </a:pPr>
            <a:r>
              <a:t/>
            </a:r>
            <a:endParaRPr sz="2022"/>
          </a:p>
        </p:txBody>
      </p:sp>
      <p:sp>
        <p:nvSpPr>
          <p:cNvPr id="101" name="Google Shape;101;p16"/>
          <p:cNvSpPr txBox="1"/>
          <p:nvPr/>
        </p:nvSpPr>
        <p:spPr>
          <a:xfrm>
            <a:off x="361475" y="2784175"/>
            <a:ext cx="85614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Se sabe que la curva hecha por un cable suspendido es una catenaria. Cuando el eje y pasa por el punto mínimo, podemos suponer una ecuación de la forma:</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highlight>
                  <a:schemeClr val="accent6"/>
                </a:highlight>
                <a:latin typeface="Arial"/>
                <a:ea typeface="Arial"/>
                <a:cs typeface="Arial"/>
                <a:sym typeface="Arial"/>
              </a:rPr>
              <a:t>y = λ cosh(x/ λ) </a:t>
            </a:r>
            <a:r>
              <a:rPr b="0" i="0" lang="es" sz="1800" u="none" cap="none" strike="noStrike">
                <a:solidFill>
                  <a:srgbClr val="000000"/>
                </a:solidFill>
                <a:latin typeface="Arial"/>
                <a:ea typeface="Arial"/>
                <a:cs typeface="Arial"/>
                <a:sym typeface="Arial"/>
              </a:rPr>
              <a:t>Aquí</a:t>
            </a:r>
            <a:r>
              <a:rPr b="0" i="0" lang="es" sz="1800" u="none" cap="none" strike="noStrike">
                <a:solidFill>
                  <a:srgbClr val="000000"/>
                </a:solidFill>
                <a:highlight>
                  <a:schemeClr val="accent6"/>
                </a:highlight>
                <a:latin typeface="Arial"/>
                <a:ea typeface="Arial"/>
                <a:cs typeface="Arial"/>
                <a:sym typeface="Arial"/>
              </a:rPr>
              <a:t> λ</a:t>
            </a:r>
            <a:r>
              <a:rPr b="0" i="0" lang="es" sz="1800" u="none" cap="none" strike="noStrike">
                <a:solidFill>
                  <a:srgbClr val="000000"/>
                </a:solidFill>
                <a:latin typeface="Arial"/>
                <a:ea typeface="Arial"/>
                <a:cs typeface="Arial"/>
                <a:sym typeface="Arial"/>
              </a:rPr>
              <a:t> es un parámetro que debe ser determinado. Las condiciones del problema son que y(50) = y(0) + 10. Por tanto, obtenemos:</a:t>
            </a:r>
            <a:endParaRPr b="0" i="0" sz="1800" u="none" cap="none" strike="noStrike">
              <a:solidFill>
                <a:srgbClr val="000000"/>
              </a:solidFill>
              <a:latin typeface="Arial"/>
              <a:ea typeface="Arial"/>
              <a:cs typeface="Arial"/>
              <a:sym typeface="Arial"/>
            </a:endParaRPr>
          </a:p>
        </p:txBody>
      </p:sp>
      <p:pic>
        <p:nvPicPr>
          <p:cNvPr id="102" name="Google Shape;102;p16" title="image01.png"/>
          <p:cNvPicPr preferRelativeResize="0"/>
          <p:nvPr/>
        </p:nvPicPr>
        <p:blipFill>
          <a:blip r:embed="rId4">
            <a:alphaModFix/>
          </a:blip>
          <a:stretch>
            <a:fillRect/>
          </a:stretch>
        </p:blipFill>
        <p:spPr>
          <a:xfrm>
            <a:off x="3036750" y="4051733"/>
            <a:ext cx="3070500" cy="1025501"/>
          </a:xfrm>
          <a:prstGeom prst="rect">
            <a:avLst/>
          </a:prstGeom>
          <a:noFill/>
          <a:ln>
            <a:noFill/>
          </a:ln>
        </p:spPr>
      </p:pic>
      <p:sp>
        <p:nvSpPr>
          <p:cNvPr id="103" name="Google Shape;103;p16"/>
          <p:cNvSpPr/>
          <p:nvPr/>
        </p:nvSpPr>
        <p:spPr>
          <a:xfrm>
            <a:off x="1117750" y="4398213"/>
            <a:ext cx="909300" cy="606300"/>
          </a:xfrm>
          <a:prstGeom prst="wedgeRoundRectCallout">
            <a:avLst>
              <a:gd fmla="val 138711" name="adj1"/>
              <a:gd fmla="val -21336" name="adj2"/>
              <a:gd fmla="val 0" name="adj3"/>
            </a:avLst>
          </a:prstGeom>
          <a:solidFill>
            <a:srgbClr val="FF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Hallar lambda.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00000"/>
              </a:lnSpc>
              <a:spcBef>
                <a:spcPts val="0"/>
              </a:spcBef>
              <a:spcAft>
                <a:spcPts val="0"/>
              </a:spcAft>
              <a:buClr>
                <a:schemeClr val="dk1"/>
              </a:buClr>
              <a:buSzPts val="1800"/>
              <a:buFont typeface="Montserrat Medium"/>
              <a:buChar char="●"/>
            </a:pPr>
            <a:r>
              <a:rPr lang="es">
                <a:solidFill>
                  <a:schemeClr val="dk1"/>
                </a:solidFill>
                <a:latin typeface="Montserrat Medium"/>
                <a:ea typeface="Montserrat Medium"/>
                <a:cs typeface="Montserrat Medium"/>
                <a:sym typeface="Montserrat Medium"/>
              </a:rPr>
              <a:t>Con frecuencia, la solución a problema es un número del que tenemos poca información y sólo sabemos que satisface cierta ecuación.</a:t>
            </a:r>
            <a:endParaRPr>
              <a:solidFill>
                <a:schemeClr val="dk1"/>
              </a:solidFill>
              <a:latin typeface="Montserrat Medium"/>
              <a:ea typeface="Montserrat Medium"/>
              <a:cs typeface="Montserrat Medium"/>
              <a:sym typeface="Montserrat Medium"/>
            </a:endParaRPr>
          </a:p>
          <a:p>
            <a:pPr indent="-342900" lvl="0" marL="457200" rtl="0" algn="l">
              <a:lnSpc>
                <a:spcPct val="100000"/>
              </a:lnSpc>
              <a:spcBef>
                <a:spcPts val="0"/>
              </a:spcBef>
              <a:spcAft>
                <a:spcPts val="0"/>
              </a:spcAft>
              <a:buClr>
                <a:schemeClr val="dk1"/>
              </a:buClr>
              <a:buSzPts val="1800"/>
              <a:buFont typeface="Montserrat Medium"/>
              <a:buChar char="●"/>
            </a:pPr>
            <a:r>
              <a:rPr lang="es">
                <a:solidFill>
                  <a:schemeClr val="dk1"/>
                </a:solidFill>
                <a:latin typeface="Montserrat Medium"/>
                <a:ea typeface="Montserrat Medium"/>
                <a:cs typeface="Montserrat Medium"/>
                <a:sym typeface="Montserrat Medium"/>
              </a:rPr>
              <a:t>Puesto que toda ecuación puede escribirse de tal manera que la función se encuentre en un miembro y cero en el otro, el número que se quiere determinar debe ser un cero de la función. Ej. en el problema anterior:</a:t>
            </a:r>
            <a:endParaRPr>
              <a:solidFill>
                <a:schemeClr val="dk1"/>
              </a:solidFill>
              <a:latin typeface="Montserrat Medium"/>
              <a:ea typeface="Montserrat Medium"/>
              <a:cs typeface="Montserrat Medium"/>
              <a:sym typeface="Montserrat Medium"/>
            </a:endParaRPr>
          </a:p>
          <a:p>
            <a:pPr indent="0" lvl="0" marL="457200" rtl="0" algn="l">
              <a:lnSpc>
                <a:spcPct val="100000"/>
              </a:lnSpc>
              <a:spcBef>
                <a:spcPts val="1000"/>
              </a:spcBef>
              <a:spcAft>
                <a:spcPts val="0"/>
              </a:spcAft>
              <a:buNone/>
            </a:pPr>
            <a:r>
              <a:t/>
            </a:r>
            <a:endParaRPr>
              <a:solidFill>
                <a:schemeClr val="dk1"/>
              </a:solidFill>
              <a:latin typeface="Montserrat Medium"/>
              <a:ea typeface="Montserrat Medium"/>
              <a:cs typeface="Montserrat Medium"/>
              <a:sym typeface="Montserrat Medium"/>
            </a:endParaRPr>
          </a:p>
          <a:p>
            <a:pPr indent="0" lvl="0" marL="457200" rtl="0" algn="l">
              <a:lnSpc>
                <a:spcPct val="100000"/>
              </a:lnSpc>
              <a:spcBef>
                <a:spcPts val="1000"/>
              </a:spcBef>
              <a:spcAft>
                <a:spcPts val="0"/>
              </a:spcAft>
              <a:buNone/>
            </a:pPr>
            <a:r>
              <a:t/>
            </a:r>
            <a:endParaRPr>
              <a:solidFill>
                <a:schemeClr val="dk1"/>
              </a:solidFill>
              <a:latin typeface="Montserrat Medium"/>
              <a:ea typeface="Montserrat Medium"/>
              <a:cs typeface="Montserrat Medium"/>
              <a:sym typeface="Montserrat Medium"/>
            </a:endParaRPr>
          </a:p>
          <a:p>
            <a:pPr indent="-342900" lvl="0" marL="457200" rtl="0" algn="l">
              <a:lnSpc>
                <a:spcPct val="100000"/>
              </a:lnSpc>
              <a:spcBef>
                <a:spcPts val="1000"/>
              </a:spcBef>
              <a:spcAft>
                <a:spcPts val="0"/>
              </a:spcAft>
              <a:buClr>
                <a:schemeClr val="dk1"/>
              </a:buClr>
              <a:buSzPts val="1800"/>
              <a:buFont typeface="Montserrat Medium"/>
              <a:buChar char="●"/>
            </a:pPr>
            <a:r>
              <a:rPr lang="es">
                <a:solidFill>
                  <a:schemeClr val="dk1"/>
                </a:solidFill>
                <a:latin typeface="Montserrat Medium"/>
                <a:ea typeface="Montserrat Medium"/>
                <a:cs typeface="Montserrat Medium"/>
                <a:sym typeface="Montserrat Medium"/>
              </a:rPr>
              <a:t>Así, si tenemos un conjunto de métodos para localizar ceros de funciones podremos resolver dichos problemas.</a:t>
            </a:r>
            <a:endParaRPr/>
          </a:p>
        </p:txBody>
      </p:sp>
      <p:sp>
        <p:nvSpPr>
          <p:cNvPr id="109" name="Google Shape;109;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None/>
            </a:pPr>
            <a:r>
              <a:rPr lang="es"/>
              <a:t>¿Por qué es importante localizar raíces?</a:t>
            </a:r>
            <a:endParaRPr sz="2022"/>
          </a:p>
        </p:txBody>
      </p:sp>
      <p:sp>
        <p:nvSpPr>
          <p:cNvPr id="110" name="Google Shape;110;p17"/>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pic>
        <p:nvPicPr>
          <p:cNvPr id="111" name="Google Shape;111;p17" title="image23.png"/>
          <p:cNvPicPr preferRelativeResize="0"/>
          <p:nvPr/>
        </p:nvPicPr>
        <p:blipFill>
          <a:blip r:embed="rId3">
            <a:alphaModFix/>
          </a:blip>
          <a:stretch>
            <a:fillRect/>
          </a:stretch>
        </p:blipFill>
        <p:spPr>
          <a:xfrm>
            <a:off x="2667000" y="2960350"/>
            <a:ext cx="3810002" cy="1270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idx="4294967295"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 Funciones</a:t>
            </a:r>
            <a:endParaRPr/>
          </a:p>
          <a:p>
            <a:pPr indent="0" lvl="0" marL="0" rtl="0" algn="l">
              <a:lnSpc>
                <a:spcPct val="100000"/>
              </a:lnSpc>
              <a:spcBef>
                <a:spcPts val="0"/>
              </a:spcBef>
              <a:spcAft>
                <a:spcPts val="0"/>
              </a:spcAft>
              <a:buSzPct val="111111"/>
              <a:buNone/>
            </a:pPr>
            <a:r>
              <a:t/>
            </a:r>
            <a:endParaRPr/>
          </a:p>
          <a:p>
            <a:pPr indent="0" lvl="0" marL="914400" rtl="0" algn="l">
              <a:lnSpc>
                <a:spcPct val="100000"/>
              </a:lnSpc>
              <a:spcBef>
                <a:spcPts val="0"/>
              </a:spcBef>
              <a:spcAft>
                <a:spcPts val="1000"/>
              </a:spcAft>
              <a:buSzPct val="153863"/>
              <a:buNone/>
            </a:pPr>
            <a:r>
              <a:t/>
            </a:r>
            <a:endParaRPr sz="2022"/>
          </a:p>
        </p:txBody>
      </p:sp>
      <p:sp>
        <p:nvSpPr>
          <p:cNvPr id="117" name="Google Shape;117;p18"/>
          <p:cNvSpPr txBox="1"/>
          <p:nvPr/>
        </p:nvSpPr>
        <p:spPr>
          <a:xfrm>
            <a:off x="482650" y="1209638"/>
            <a:ext cx="8453700" cy="305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Una función dada por </a:t>
            </a:r>
            <a:r>
              <a:rPr b="1" i="1" lang="es" sz="1800" u="none" cap="none" strike="noStrike">
                <a:solidFill>
                  <a:schemeClr val="dk2"/>
                </a:solidFill>
                <a:latin typeface="Old Standard TT"/>
                <a:ea typeface="Old Standard TT"/>
                <a:cs typeface="Old Standard TT"/>
                <a:sym typeface="Old Standard TT"/>
              </a:rPr>
              <a:t>y = f(x)</a:t>
            </a:r>
            <a:r>
              <a:rPr b="0" i="0" lang="es" sz="1800" u="none" cap="none" strike="noStrike">
                <a:solidFill>
                  <a:schemeClr val="dk2"/>
                </a:solidFill>
                <a:latin typeface="Arial"/>
                <a:ea typeface="Arial"/>
                <a:cs typeface="Arial"/>
                <a:sym typeface="Arial"/>
              </a:rPr>
              <a:t> es </a:t>
            </a:r>
            <a:r>
              <a:rPr b="1" i="0" lang="es" sz="1800" u="none" cap="none" strike="noStrike">
                <a:solidFill>
                  <a:schemeClr val="dk2"/>
                </a:solidFill>
                <a:latin typeface="Arial"/>
                <a:ea typeface="Arial"/>
                <a:cs typeface="Arial"/>
                <a:sym typeface="Arial"/>
              </a:rPr>
              <a:t>algebraica</a:t>
            </a:r>
            <a:r>
              <a:rPr b="0" i="0" lang="es" sz="1800" u="none" cap="none" strike="noStrike">
                <a:solidFill>
                  <a:schemeClr val="dk2"/>
                </a:solidFill>
                <a:latin typeface="Arial"/>
                <a:ea typeface="Arial"/>
                <a:cs typeface="Arial"/>
                <a:sym typeface="Arial"/>
              </a:rPr>
              <a:t> si se expresa de la forma:</a:t>
            </a:r>
            <a:endParaRPr b="0" i="0" sz="1800" u="none" cap="none" strike="noStrike">
              <a:solidFill>
                <a:schemeClr val="dk2"/>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2100"/>
              <a:buFont typeface="Arial"/>
              <a:buNone/>
            </a:pPr>
            <a:r>
              <a:rPr b="1" i="1" lang="es" sz="2100" u="none" cap="none" strike="noStrike">
                <a:solidFill>
                  <a:schemeClr val="dk2"/>
                </a:solidFill>
                <a:latin typeface="Old Standard TT"/>
                <a:ea typeface="Old Standard TT"/>
                <a:cs typeface="Old Standard TT"/>
                <a:sym typeface="Old Standard TT"/>
              </a:rPr>
              <a:t>f</a:t>
            </a:r>
            <a:r>
              <a:rPr b="1" baseline="-25000" i="1" lang="es" sz="2100" u="none" cap="none" strike="noStrike">
                <a:solidFill>
                  <a:schemeClr val="dk2"/>
                </a:solidFill>
                <a:latin typeface="Old Standard TT"/>
                <a:ea typeface="Old Standard TT"/>
                <a:cs typeface="Old Standard TT"/>
                <a:sym typeface="Old Standard TT"/>
              </a:rPr>
              <a:t>n</a:t>
            </a:r>
            <a:r>
              <a:rPr b="1" i="1" lang="es" sz="2100" u="none" cap="none" strike="noStrike">
                <a:solidFill>
                  <a:schemeClr val="dk2"/>
                </a:solidFill>
                <a:latin typeface="Old Standard TT"/>
                <a:ea typeface="Old Standard TT"/>
                <a:cs typeface="Old Standard TT"/>
                <a:sym typeface="Old Standard TT"/>
              </a:rPr>
              <a:t>y</a:t>
            </a:r>
            <a:r>
              <a:rPr b="1" baseline="-25000" i="1" lang="es" sz="2100" u="none" cap="none" strike="noStrike">
                <a:solidFill>
                  <a:schemeClr val="dk2"/>
                </a:solidFill>
                <a:latin typeface="Old Standard TT"/>
                <a:ea typeface="Old Standard TT"/>
                <a:cs typeface="Old Standard TT"/>
                <a:sym typeface="Old Standard TT"/>
              </a:rPr>
              <a:t>n</a:t>
            </a:r>
            <a:r>
              <a:rPr b="1" i="1" lang="es" sz="2100" u="none" cap="none" strike="noStrike">
                <a:solidFill>
                  <a:schemeClr val="dk2"/>
                </a:solidFill>
                <a:latin typeface="Old Standard TT"/>
                <a:ea typeface="Old Standard TT"/>
                <a:cs typeface="Old Standard TT"/>
                <a:sym typeface="Old Standard TT"/>
              </a:rPr>
              <a:t> + f</a:t>
            </a:r>
            <a:r>
              <a:rPr b="1" baseline="-25000" i="1" lang="es" sz="2100" u="none" cap="none" strike="noStrike">
                <a:solidFill>
                  <a:schemeClr val="dk2"/>
                </a:solidFill>
                <a:latin typeface="Old Standard TT"/>
                <a:ea typeface="Old Standard TT"/>
                <a:cs typeface="Old Standard TT"/>
                <a:sym typeface="Old Standard TT"/>
              </a:rPr>
              <a:t>n–1</a:t>
            </a:r>
            <a:r>
              <a:rPr b="1" i="1" lang="es" sz="2100" u="none" cap="none" strike="noStrike">
                <a:solidFill>
                  <a:schemeClr val="dk2"/>
                </a:solidFill>
                <a:latin typeface="Old Standard TT"/>
                <a:ea typeface="Old Standard TT"/>
                <a:cs typeface="Old Standard TT"/>
                <a:sym typeface="Old Standard TT"/>
              </a:rPr>
              <a:t>y</a:t>
            </a:r>
            <a:r>
              <a:rPr b="1" baseline="-25000" i="1" lang="es" sz="2100" u="none" cap="none" strike="noStrike">
                <a:solidFill>
                  <a:schemeClr val="dk2"/>
                </a:solidFill>
                <a:latin typeface="Old Standard TT"/>
                <a:ea typeface="Old Standard TT"/>
                <a:cs typeface="Old Standard TT"/>
                <a:sym typeface="Old Standard TT"/>
              </a:rPr>
              <a:t>n–1</a:t>
            </a:r>
            <a:r>
              <a:rPr b="1" i="1" lang="es" sz="2100" u="none" cap="none" strike="noStrike">
                <a:solidFill>
                  <a:schemeClr val="dk2"/>
                </a:solidFill>
                <a:latin typeface="Old Standard TT"/>
                <a:ea typeface="Old Standard TT"/>
                <a:cs typeface="Old Standard TT"/>
                <a:sym typeface="Old Standard TT"/>
              </a:rPr>
              <a:t> + … + f</a:t>
            </a:r>
            <a:r>
              <a:rPr b="1" baseline="-25000" i="1" lang="es" sz="2100" u="none" cap="none" strike="noStrike">
                <a:solidFill>
                  <a:schemeClr val="dk2"/>
                </a:solidFill>
                <a:latin typeface="Old Standard TT"/>
                <a:ea typeface="Old Standard TT"/>
                <a:cs typeface="Old Standard TT"/>
                <a:sym typeface="Old Standard TT"/>
              </a:rPr>
              <a:t>1</a:t>
            </a:r>
            <a:r>
              <a:rPr b="1" i="1" lang="es" sz="2100" u="none" cap="none" strike="noStrike">
                <a:solidFill>
                  <a:schemeClr val="dk2"/>
                </a:solidFill>
                <a:latin typeface="Old Standard TT"/>
                <a:ea typeface="Old Standard TT"/>
                <a:cs typeface="Old Standard TT"/>
                <a:sym typeface="Old Standard TT"/>
              </a:rPr>
              <a:t>y + f</a:t>
            </a:r>
            <a:r>
              <a:rPr b="1" baseline="-25000" i="1" lang="es" sz="2100" u="none" cap="none" strike="noStrike">
                <a:solidFill>
                  <a:schemeClr val="dk2"/>
                </a:solidFill>
                <a:latin typeface="Old Standard TT"/>
                <a:ea typeface="Old Standard TT"/>
                <a:cs typeface="Old Standard TT"/>
                <a:sym typeface="Old Standard TT"/>
              </a:rPr>
              <a:t>0</a:t>
            </a:r>
            <a:r>
              <a:rPr b="1" i="1" lang="es" sz="2100" u="none" cap="none" strike="noStrike">
                <a:solidFill>
                  <a:schemeClr val="dk2"/>
                </a:solidFill>
                <a:latin typeface="Old Standard TT"/>
                <a:ea typeface="Old Standard TT"/>
                <a:cs typeface="Old Standard TT"/>
                <a:sym typeface="Old Standard TT"/>
              </a:rPr>
              <a:t> = 0</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Los </a:t>
            </a:r>
            <a:r>
              <a:rPr b="1" i="0" lang="es" sz="1800" u="none" cap="none" strike="noStrike">
                <a:solidFill>
                  <a:schemeClr val="dk2"/>
                </a:solidFill>
                <a:latin typeface="Arial"/>
                <a:ea typeface="Arial"/>
                <a:cs typeface="Arial"/>
                <a:sym typeface="Arial"/>
              </a:rPr>
              <a:t>polinomios</a:t>
            </a:r>
            <a:r>
              <a:rPr b="0" i="0" lang="es" sz="1800" u="none" cap="none" strike="noStrike">
                <a:solidFill>
                  <a:schemeClr val="dk2"/>
                </a:solidFill>
                <a:latin typeface="Arial"/>
                <a:ea typeface="Arial"/>
                <a:cs typeface="Arial"/>
                <a:sym typeface="Arial"/>
              </a:rPr>
              <a:t> son un tipo de funciones algebraicas que generalmente se representan como:</a:t>
            </a:r>
            <a:endParaRPr b="0" i="0" sz="1800" u="none" cap="none" strike="noStrike">
              <a:solidFill>
                <a:schemeClr val="dk2"/>
              </a:solidFill>
              <a:latin typeface="Arial"/>
              <a:ea typeface="Arial"/>
              <a:cs typeface="Arial"/>
              <a:sym typeface="Arial"/>
            </a:endParaRPr>
          </a:p>
          <a:p>
            <a:pPr indent="0" lvl="0" marL="0" marR="0" rtl="0" algn="ctr">
              <a:lnSpc>
                <a:spcPct val="100000"/>
              </a:lnSpc>
              <a:spcBef>
                <a:spcPts val="1000"/>
              </a:spcBef>
              <a:spcAft>
                <a:spcPts val="0"/>
              </a:spcAft>
              <a:buClr>
                <a:srgbClr val="000000"/>
              </a:buClr>
              <a:buSzPts val="2100"/>
              <a:buFont typeface="Arial"/>
              <a:buNone/>
            </a:pPr>
            <a:r>
              <a:rPr b="1" i="1" lang="es" sz="2100" u="none" cap="none" strike="noStrike">
                <a:solidFill>
                  <a:schemeClr val="dk2"/>
                </a:solidFill>
                <a:latin typeface="Old Standard TT"/>
                <a:ea typeface="Old Standard TT"/>
                <a:cs typeface="Old Standard TT"/>
                <a:sym typeface="Old Standard TT"/>
              </a:rPr>
              <a:t>f</a:t>
            </a:r>
            <a:r>
              <a:rPr b="1" baseline="-25000" i="1" lang="es" sz="2100" u="none" cap="none" strike="noStrike">
                <a:solidFill>
                  <a:schemeClr val="dk2"/>
                </a:solidFill>
                <a:latin typeface="Old Standard TT"/>
                <a:ea typeface="Old Standard TT"/>
                <a:cs typeface="Old Standard TT"/>
                <a:sym typeface="Old Standard TT"/>
              </a:rPr>
              <a:t>n</a:t>
            </a:r>
            <a:r>
              <a:rPr b="1" i="1" lang="es" sz="2100" u="none" cap="none" strike="noStrike">
                <a:solidFill>
                  <a:schemeClr val="dk2"/>
                </a:solidFill>
                <a:latin typeface="Old Standard TT"/>
                <a:ea typeface="Old Standard TT"/>
                <a:cs typeface="Old Standard TT"/>
                <a:sym typeface="Old Standard TT"/>
              </a:rPr>
              <a:t>(x) = a + a</a:t>
            </a:r>
            <a:r>
              <a:rPr b="1" baseline="-25000" i="1" lang="es" sz="2100" u="none" cap="none" strike="noStrike">
                <a:solidFill>
                  <a:schemeClr val="dk2"/>
                </a:solidFill>
                <a:latin typeface="Old Standard TT"/>
                <a:ea typeface="Old Standard TT"/>
                <a:cs typeface="Old Standard TT"/>
                <a:sym typeface="Old Standard TT"/>
              </a:rPr>
              <a:t>1</a:t>
            </a:r>
            <a:r>
              <a:rPr b="1" i="1" lang="es" sz="2100" u="none" cap="none" strike="noStrike">
                <a:solidFill>
                  <a:schemeClr val="dk2"/>
                </a:solidFill>
                <a:latin typeface="Old Standard TT"/>
                <a:ea typeface="Old Standard TT"/>
                <a:cs typeface="Old Standard TT"/>
                <a:sym typeface="Old Standard TT"/>
              </a:rPr>
              <a:t>x + a</a:t>
            </a:r>
            <a:r>
              <a:rPr b="1" baseline="-25000" i="1" lang="es" sz="2100" u="none" cap="none" strike="noStrike">
                <a:solidFill>
                  <a:schemeClr val="dk2"/>
                </a:solidFill>
                <a:latin typeface="Old Standard TT"/>
                <a:ea typeface="Old Standard TT"/>
                <a:cs typeface="Old Standard TT"/>
                <a:sym typeface="Old Standard TT"/>
              </a:rPr>
              <a:t>2</a:t>
            </a:r>
            <a:r>
              <a:rPr b="1" i="1" lang="es" sz="2100" u="none" cap="none" strike="noStrike">
                <a:solidFill>
                  <a:schemeClr val="dk2"/>
                </a:solidFill>
                <a:latin typeface="Old Standard TT"/>
                <a:ea typeface="Old Standard TT"/>
                <a:cs typeface="Old Standard TT"/>
                <a:sym typeface="Old Standard TT"/>
              </a:rPr>
              <a:t>x</a:t>
            </a:r>
            <a:r>
              <a:rPr b="1" baseline="30000" i="1" lang="es" sz="2100" u="none" cap="none" strike="noStrike">
                <a:solidFill>
                  <a:schemeClr val="dk2"/>
                </a:solidFill>
                <a:latin typeface="Old Standard TT"/>
                <a:ea typeface="Old Standard TT"/>
                <a:cs typeface="Old Standard TT"/>
                <a:sym typeface="Old Standard TT"/>
              </a:rPr>
              <a:t>2</a:t>
            </a:r>
            <a:r>
              <a:rPr b="1" i="1" lang="es" sz="2100" u="none" cap="none" strike="noStrike">
                <a:solidFill>
                  <a:schemeClr val="dk2"/>
                </a:solidFill>
                <a:latin typeface="Old Standard TT"/>
                <a:ea typeface="Old Standard TT"/>
                <a:cs typeface="Old Standard TT"/>
                <a:sym typeface="Old Standard TT"/>
              </a:rPr>
              <a:t> + … + a</a:t>
            </a:r>
            <a:r>
              <a:rPr b="1" baseline="-25000" i="1" lang="es" sz="2100" u="none" cap="none" strike="noStrike">
                <a:solidFill>
                  <a:schemeClr val="dk2"/>
                </a:solidFill>
                <a:latin typeface="Old Standard TT"/>
                <a:ea typeface="Old Standard TT"/>
                <a:cs typeface="Old Standard TT"/>
                <a:sym typeface="Old Standard TT"/>
              </a:rPr>
              <a:t>n</a:t>
            </a:r>
            <a:r>
              <a:rPr b="1" i="1" lang="es" sz="2100" u="none" cap="none" strike="noStrike">
                <a:solidFill>
                  <a:schemeClr val="dk2"/>
                </a:solidFill>
                <a:latin typeface="Old Standard TT"/>
                <a:ea typeface="Old Standard TT"/>
                <a:cs typeface="Old Standard TT"/>
                <a:sym typeface="Old Standard TT"/>
              </a:rPr>
              <a:t>x</a:t>
            </a:r>
            <a:r>
              <a:rPr b="1" baseline="30000" i="1" lang="es" sz="2100" u="none" cap="none" strike="noStrike">
                <a:solidFill>
                  <a:schemeClr val="dk2"/>
                </a:solidFill>
                <a:latin typeface="Old Standard TT"/>
                <a:ea typeface="Old Standard TT"/>
                <a:cs typeface="Old Standard TT"/>
                <a:sym typeface="Old Standard TT"/>
              </a:rPr>
              <a:t>n</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donde </a:t>
            </a:r>
            <a:r>
              <a:rPr b="1" i="1" lang="es" sz="1800" u="none" cap="none" strike="noStrike">
                <a:solidFill>
                  <a:schemeClr val="dk2"/>
                </a:solidFill>
                <a:latin typeface="Old Standard TT"/>
                <a:ea typeface="Old Standard TT"/>
                <a:cs typeface="Old Standard TT"/>
                <a:sym typeface="Old Standard TT"/>
              </a:rPr>
              <a:t>n</a:t>
            </a:r>
            <a:r>
              <a:rPr b="0" i="0" lang="es" sz="1800" u="none" cap="none" strike="noStrike">
                <a:solidFill>
                  <a:schemeClr val="dk2"/>
                </a:solidFill>
                <a:latin typeface="Arial"/>
                <a:ea typeface="Arial"/>
                <a:cs typeface="Arial"/>
                <a:sym typeface="Arial"/>
              </a:rPr>
              <a:t> es el orden del polinomio y las </a:t>
            </a:r>
            <a:r>
              <a:rPr b="1" i="1" lang="es" sz="1800" u="none" cap="none" strike="noStrike">
                <a:solidFill>
                  <a:schemeClr val="dk2"/>
                </a:solidFill>
                <a:latin typeface="Old Standard TT"/>
                <a:ea typeface="Old Standard TT"/>
                <a:cs typeface="Old Standard TT"/>
                <a:sym typeface="Old Standard TT"/>
              </a:rPr>
              <a:t>a</a:t>
            </a:r>
            <a:r>
              <a:rPr b="0" i="0" lang="es" sz="1800" u="none" cap="none" strike="noStrike">
                <a:solidFill>
                  <a:schemeClr val="dk2"/>
                </a:solidFill>
                <a:latin typeface="Arial"/>
                <a:ea typeface="Arial"/>
                <a:cs typeface="Arial"/>
                <a:sym typeface="Arial"/>
              </a:rPr>
              <a:t> son constantes.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Las funciones </a:t>
            </a:r>
            <a:r>
              <a:rPr b="1" i="0" lang="es" sz="1800" u="none" cap="none" strike="noStrike">
                <a:solidFill>
                  <a:schemeClr val="dk2"/>
                </a:solidFill>
                <a:latin typeface="Arial"/>
                <a:ea typeface="Arial"/>
                <a:cs typeface="Arial"/>
                <a:sym typeface="Arial"/>
              </a:rPr>
              <a:t>trascendentes</a:t>
            </a:r>
            <a:r>
              <a:rPr b="0" i="0" lang="es" sz="1800" u="none" cap="none" strike="noStrike">
                <a:solidFill>
                  <a:schemeClr val="dk2"/>
                </a:solidFill>
                <a:latin typeface="Arial"/>
                <a:ea typeface="Arial"/>
                <a:cs typeface="Arial"/>
                <a:sym typeface="Arial"/>
              </a:rPr>
              <a:t> son funciones que no son algebraicas. (trigonométricas, exponenciales, logarítmicas y otras</a:t>
            </a:r>
            <a:r>
              <a:rPr b="0" i="0" lang="es" sz="2100" u="none" cap="none" strike="noStrike">
                <a:solidFill>
                  <a:schemeClr val="dk2"/>
                </a:solidFill>
                <a:latin typeface="Old Standard TT"/>
                <a:ea typeface="Old Standard TT"/>
                <a:cs typeface="Old Standard TT"/>
                <a:sym typeface="Old Standard TT"/>
              </a:rPr>
              <a:t>.)</a:t>
            </a:r>
            <a:endParaRPr b="0" i="0" sz="2100" u="none" cap="none" strike="noStrike">
              <a:solidFill>
                <a:schemeClr val="dk2"/>
              </a:solidFill>
              <a:latin typeface="Old Standard TT"/>
              <a:ea typeface="Old Standard TT"/>
              <a:cs typeface="Old Standard TT"/>
              <a:sym typeface="Old Standard TT"/>
            </a:endParaRPr>
          </a:p>
          <a:p>
            <a:pPr indent="0" lvl="0" marL="0" marR="0" rtl="0" algn="l">
              <a:lnSpc>
                <a:spcPct val="100000"/>
              </a:lnSpc>
              <a:spcBef>
                <a:spcPts val="1000"/>
              </a:spcBef>
              <a:spcAft>
                <a:spcPts val="0"/>
              </a:spcAft>
              <a:buClr>
                <a:srgbClr val="000000"/>
              </a:buClr>
              <a:buSzPts val="2100"/>
              <a:buFont typeface="Arial"/>
              <a:buNone/>
            </a:pPr>
            <a:r>
              <a:t/>
            </a:r>
            <a:endParaRPr b="0" i="0" sz="2100" u="none" cap="none" strike="noStrike">
              <a:solidFill>
                <a:schemeClr val="dk2"/>
              </a:solidFill>
              <a:latin typeface="Old Standard TT"/>
              <a:ea typeface="Old Standard TT"/>
              <a:cs typeface="Old Standard TT"/>
              <a:sym typeface="Old Standard TT"/>
            </a:endParaRPr>
          </a:p>
        </p:txBody>
      </p:sp>
      <p:sp>
        <p:nvSpPr>
          <p:cNvPr id="118" name="Google Shape;118;p18"/>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Raíces de ecuaciones</a:t>
            </a:r>
            <a:endParaRPr/>
          </a:p>
          <a:p>
            <a:pPr indent="0" lvl="0" marL="0" rtl="0" algn="l">
              <a:lnSpc>
                <a:spcPct val="100000"/>
              </a:lnSpc>
              <a:spcBef>
                <a:spcPts val="0"/>
              </a:spcBef>
              <a:spcAft>
                <a:spcPts val="0"/>
              </a:spcAft>
              <a:buSzPct val="111111"/>
              <a:buNone/>
            </a:pPr>
            <a:r>
              <a:t/>
            </a:r>
            <a:endParaRPr/>
          </a:p>
          <a:p>
            <a:pPr indent="0" lvl="0" marL="914400" rtl="0" algn="l">
              <a:lnSpc>
                <a:spcPct val="100000"/>
              </a:lnSpc>
              <a:spcBef>
                <a:spcPts val="0"/>
              </a:spcBef>
              <a:spcAft>
                <a:spcPts val="1000"/>
              </a:spcAft>
              <a:buSzPct val="153863"/>
              <a:buNone/>
            </a:pPr>
            <a:r>
              <a:t/>
            </a:r>
            <a:endParaRPr sz="2022"/>
          </a:p>
        </p:txBody>
      </p:sp>
      <p:sp>
        <p:nvSpPr>
          <p:cNvPr id="124" name="Google Shape;124;p19"/>
          <p:cNvSpPr txBox="1"/>
          <p:nvPr/>
        </p:nvSpPr>
        <p:spPr>
          <a:xfrm>
            <a:off x="472650" y="1017725"/>
            <a:ext cx="8198700" cy="293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Las raíces de las ecuaciones pueden ser reales o complejas. Los métodos numéricos para hallarlas, se agrupan en:</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1000"/>
              </a:spcBef>
              <a:spcAft>
                <a:spcPts val="0"/>
              </a:spcAft>
              <a:buClr>
                <a:schemeClr val="dk2"/>
              </a:buClr>
              <a:buSzPts val="1800"/>
              <a:buFont typeface="Arial"/>
              <a:buAutoNum type="arabicPeriod"/>
            </a:pPr>
            <a:r>
              <a:rPr b="0" i="0" lang="es" sz="1800" u="none" cap="none" strike="noStrike">
                <a:solidFill>
                  <a:schemeClr val="dk2"/>
                </a:solidFill>
                <a:latin typeface="Arial"/>
                <a:ea typeface="Arial"/>
                <a:cs typeface="Arial"/>
                <a:sym typeface="Arial"/>
              </a:rPr>
              <a:t>La determinación de raíces reales de ecuaciones algebraicas y trascendentes. Determinan el valor de una sola raíz real basándose en un conocimiento previo de su posición aproximada.</a:t>
            </a:r>
            <a:endParaRPr b="0" i="0" sz="1800" u="none" cap="none" strike="noStrike">
              <a:solidFill>
                <a:schemeClr val="dk2"/>
              </a:solidFill>
              <a:latin typeface="Arial"/>
              <a:ea typeface="Arial"/>
              <a:cs typeface="Arial"/>
              <a:sym typeface="Arial"/>
            </a:endParaRPr>
          </a:p>
          <a:p>
            <a:pPr indent="-342900" lvl="0" marL="457200" marR="0" rtl="0" algn="l">
              <a:lnSpc>
                <a:spcPct val="100000"/>
              </a:lnSpc>
              <a:spcBef>
                <a:spcPts val="1000"/>
              </a:spcBef>
              <a:spcAft>
                <a:spcPts val="1000"/>
              </a:spcAft>
              <a:buClr>
                <a:schemeClr val="dk2"/>
              </a:buClr>
              <a:buSzPts val="1800"/>
              <a:buFont typeface="Arial"/>
              <a:buAutoNum type="arabicPeriod"/>
            </a:pPr>
            <a:r>
              <a:rPr b="0" i="0" lang="es" sz="1800" u="none" cap="none" strike="noStrike">
                <a:solidFill>
                  <a:schemeClr val="dk2"/>
                </a:solidFill>
                <a:latin typeface="Arial"/>
                <a:ea typeface="Arial"/>
                <a:cs typeface="Arial"/>
                <a:sym typeface="Arial"/>
              </a:rPr>
              <a:t>La determinación de todas las raíces reales y complejas de polinomios. Estos métodos están diseñados especialmente para polinomios; determinan sistemáticamente todas las raíces del polinomio en lugar de sólo una raíz real dada una posición aproximada.</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title="image03.png"/>
          <p:cNvPicPr preferRelativeResize="0"/>
          <p:nvPr/>
        </p:nvPicPr>
        <p:blipFill>
          <a:blip r:embed="rId3">
            <a:alphaModFix/>
          </a:blip>
          <a:stretch>
            <a:fillRect/>
          </a:stretch>
        </p:blipFill>
        <p:spPr>
          <a:xfrm>
            <a:off x="7130323" y="2649300"/>
            <a:ext cx="1804455" cy="1674176"/>
          </a:xfrm>
          <a:prstGeom prst="rect">
            <a:avLst/>
          </a:prstGeom>
          <a:noFill/>
          <a:ln>
            <a:noFill/>
          </a:ln>
        </p:spPr>
      </p:pic>
      <p:pic>
        <p:nvPicPr>
          <p:cNvPr id="130" name="Google Shape;130;p20" title="image08.png"/>
          <p:cNvPicPr preferRelativeResize="0"/>
          <p:nvPr/>
        </p:nvPicPr>
        <p:blipFill>
          <a:blip r:embed="rId4">
            <a:alphaModFix/>
          </a:blip>
          <a:stretch>
            <a:fillRect/>
          </a:stretch>
        </p:blipFill>
        <p:spPr>
          <a:xfrm>
            <a:off x="4713725" y="743137"/>
            <a:ext cx="2065651" cy="1724125"/>
          </a:xfrm>
          <a:prstGeom prst="rect">
            <a:avLst/>
          </a:prstGeom>
          <a:noFill/>
          <a:ln>
            <a:noFill/>
          </a:ln>
        </p:spPr>
      </p:pic>
      <p:pic>
        <p:nvPicPr>
          <p:cNvPr id="131" name="Google Shape;131;p20" title="image16.png"/>
          <p:cNvPicPr preferRelativeResize="0"/>
          <p:nvPr/>
        </p:nvPicPr>
        <p:blipFill>
          <a:blip r:embed="rId5">
            <a:alphaModFix/>
          </a:blip>
          <a:stretch>
            <a:fillRect/>
          </a:stretch>
        </p:blipFill>
        <p:spPr>
          <a:xfrm>
            <a:off x="4691275" y="2649305"/>
            <a:ext cx="2065648" cy="1674166"/>
          </a:xfrm>
          <a:prstGeom prst="rect">
            <a:avLst/>
          </a:prstGeom>
          <a:noFill/>
          <a:ln>
            <a:noFill/>
          </a:ln>
        </p:spPr>
      </p:pic>
      <p:sp>
        <p:nvSpPr>
          <p:cNvPr id="132" name="Google Shape;13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Raíces de ecuaciones</a:t>
            </a:r>
            <a:endParaRPr/>
          </a:p>
          <a:p>
            <a:pPr indent="0" lvl="0" marL="0" rtl="0" algn="l">
              <a:lnSpc>
                <a:spcPct val="100000"/>
              </a:lnSpc>
              <a:spcBef>
                <a:spcPts val="0"/>
              </a:spcBef>
              <a:spcAft>
                <a:spcPts val="0"/>
              </a:spcAft>
              <a:buSzPct val="111111"/>
              <a:buNone/>
            </a:pPr>
            <a:r>
              <a:t/>
            </a:r>
            <a:endParaRPr/>
          </a:p>
          <a:p>
            <a:pPr indent="0" lvl="0" marL="914400" rtl="0" algn="l">
              <a:lnSpc>
                <a:spcPct val="100000"/>
              </a:lnSpc>
              <a:spcBef>
                <a:spcPts val="0"/>
              </a:spcBef>
              <a:spcAft>
                <a:spcPts val="1000"/>
              </a:spcAft>
              <a:buSzPct val="153863"/>
              <a:buNone/>
            </a:pPr>
            <a:r>
              <a:t/>
            </a:r>
            <a:endParaRPr sz="2022"/>
          </a:p>
        </p:txBody>
      </p:sp>
      <p:pic>
        <p:nvPicPr>
          <p:cNvPr id="133" name="Google Shape;133;p20"/>
          <p:cNvPicPr preferRelativeResize="0"/>
          <p:nvPr/>
        </p:nvPicPr>
        <p:blipFill rotWithShape="1">
          <a:blip r:embed="rId6">
            <a:alphaModFix/>
          </a:blip>
          <a:srcRect b="0" l="0" r="0" t="0"/>
          <a:stretch/>
        </p:blipFill>
        <p:spPr>
          <a:xfrm>
            <a:off x="152400" y="1170125"/>
            <a:ext cx="4545900" cy="405225"/>
          </a:xfrm>
          <a:prstGeom prst="rect">
            <a:avLst/>
          </a:prstGeom>
          <a:noFill/>
          <a:ln>
            <a:noFill/>
          </a:ln>
        </p:spPr>
      </p:pic>
      <p:sp>
        <p:nvSpPr>
          <p:cNvPr id="134" name="Google Shape;134;p20"/>
          <p:cNvSpPr txBox="1"/>
          <p:nvPr/>
        </p:nvSpPr>
        <p:spPr>
          <a:xfrm>
            <a:off x="606250" y="1885000"/>
            <a:ext cx="3965700" cy="2323200"/>
          </a:xfrm>
          <a:prstGeom prst="rect">
            <a:avLst/>
          </a:prstGeom>
          <a:noFill/>
          <a:ln>
            <a:noFill/>
          </a:ln>
        </p:spPr>
        <p:txBody>
          <a:bodyPr anchorCtr="0" anchor="t" bIns="91425" lIns="91425" spcFirstLastPara="1" rIns="91425" wrap="square" tIns="91425">
            <a:spAutoFit/>
          </a:bodyPr>
          <a:lstStyle/>
          <a:p>
            <a:pPr indent="0" lvl="0" marL="152400" marR="0" rtl="0" algn="l">
              <a:lnSpc>
                <a:spcPct val="115000"/>
              </a:lnSpc>
              <a:spcBef>
                <a:spcPts val="0"/>
              </a:spcBef>
              <a:spcAft>
                <a:spcPts val="0"/>
              </a:spcAft>
              <a:buClr>
                <a:srgbClr val="000000"/>
              </a:buClr>
              <a:buSzPts val="1850"/>
              <a:buFont typeface="Arial"/>
              <a:buNone/>
            </a:pPr>
            <a:r>
              <a:rPr b="0" i="0" lang="es" sz="1850" u="none" cap="none" strike="noStrike">
                <a:solidFill>
                  <a:schemeClr val="dk1"/>
                </a:solidFill>
                <a:latin typeface="Times New Roman"/>
                <a:ea typeface="Times New Roman"/>
                <a:cs typeface="Times New Roman"/>
                <a:sym typeface="Times New Roman"/>
              </a:rPr>
              <a:t>Generalmente si:</a:t>
            </a:r>
            <a:endParaRPr b="0" i="0" sz="1850" u="none" cap="none" strike="noStrike">
              <a:solidFill>
                <a:schemeClr val="dk1"/>
              </a:solidFill>
              <a:latin typeface="Times New Roman"/>
              <a:ea typeface="Times New Roman"/>
              <a:cs typeface="Times New Roman"/>
              <a:sym typeface="Times New Roman"/>
            </a:endParaRPr>
          </a:p>
          <a:p>
            <a:pPr indent="-323850" lvl="0" marL="457200" marR="0" rtl="0" algn="l">
              <a:lnSpc>
                <a:spcPct val="150000"/>
              </a:lnSpc>
              <a:spcBef>
                <a:spcPts val="1400"/>
              </a:spcBef>
              <a:spcAft>
                <a:spcPts val="0"/>
              </a:spcAft>
              <a:buClr>
                <a:srgbClr val="FF0000"/>
              </a:buClr>
              <a:buSzPts val="1500"/>
              <a:buFont typeface="Times New Roman"/>
              <a:buChar char="●"/>
            </a:pPr>
            <a:r>
              <a:rPr b="1" i="1" lang="es" sz="1700" u="none" cap="none" strike="noStrike">
                <a:solidFill>
                  <a:srgbClr val="FF0000"/>
                </a:solidFill>
                <a:latin typeface="Times New Roman"/>
                <a:ea typeface="Times New Roman"/>
                <a:cs typeface="Times New Roman"/>
                <a:sym typeface="Times New Roman"/>
              </a:rPr>
              <a:t>f</a:t>
            </a:r>
            <a:r>
              <a:rPr b="1" i="0" lang="es" sz="1700" u="none" cap="none" strike="noStrike">
                <a:solidFill>
                  <a:srgbClr val="FF0000"/>
                </a:solidFill>
                <a:latin typeface="Times New Roman"/>
                <a:ea typeface="Times New Roman"/>
                <a:cs typeface="Times New Roman"/>
                <a:sym typeface="Times New Roman"/>
              </a:rPr>
              <a:t>(</a:t>
            </a:r>
            <a:r>
              <a:rPr b="1" i="1" lang="es" sz="1700" u="none" cap="none" strike="noStrike">
                <a:solidFill>
                  <a:srgbClr val="FF0000"/>
                </a:solidFill>
                <a:latin typeface="Times New Roman"/>
                <a:ea typeface="Times New Roman"/>
                <a:cs typeface="Times New Roman"/>
                <a:sym typeface="Times New Roman"/>
              </a:rPr>
              <a:t>x</a:t>
            </a:r>
            <a:r>
              <a:rPr b="1" i="1" lang="es" sz="1050" u="none" cap="none" strike="noStrike">
                <a:solidFill>
                  <a:srgbClr val="FF0000"/>
                </a:solidFill>
                <a:latin typeface="Times New Roman"/>
                <a:ea typeface="Times New Roman"/>
                <a:cs typeface="Times New Roman"/>
                <a:sym typeface="Times New Roman"/>
              </a:rPr>
              <a:t>l</a:t>
            </a:r>
            <a:r>
              <a:rPr b="1" i="0" lang="es" sz="1700" u="none" cap="none" strike="noStrike">
                <a:solidFill>
                  <a:srgbClr val="FF0000"/>
                </a:solidFill>
                <a:latin typeface="Times New Roman"/>
                <a:ea typeface="Times New Roman"/>
                <a:cs typeface="Times New Roman"/>
                <a:sym typeface="Times New Roman"/>
              </a:rPr>
              <a:t>) </a:t>
            </a:r>
            <a:r>
              <a:rPr b="0" i="0" lang="es" sz="1700" u="none" cap="none" strike="noStrike">
                <a:solidFill>
                  <a:schemeClr val="dk1"/>
                </a:solidFill>
                <a:latin typeface="Times New Roman"/>
                <a:ea typeface="Times New Roman"/>
                <a:cs typeface="Times New Roman"/>
                <a:sym typeface="Times New Roman"/>
              </a:rPr>
              <a:t>y </a:t>
            </a:r>
            <a:r>
              <a:rPr b="1" i="1" lang="es" sz="1700" u="none" cap="none" strike="noStrike">
                <a:solidFill>
                  <a:srgbClr val="FF0000"/>
                </a:solidFill>
                <a:latin typeface="Times New Roman"/>
                <a:ea typeface="Times New Roman"/>
                <a:cs typeface="Times New Roman"/>
                <a:sym typeface="Times New Roman"/>
              </a:rPr>
              <a:t>f</a:t>
            </a:r>
            <a:r>
              <a:rPr b="1" i="0" lang="es" sz="1700" u="none" cap="none" strike="noStrike">
                <a:solidFill>
                  <a:srgbClr val="FF0000"/>
                </a:solidFill>
                <a:latin typeface="Times New Roman"/>
                <a:ea typeface="Times New Roman"/>
                <a:cs typeface="Times New Roman"/>
                <a:sym typeface="Times New Roman"/>
              </a:rPr>
              <a:t>(</a:t>
            </a:r>
            <a:r>
              <a:rPr b="1" i="1" lang="es" sz="1700" u="none" cap="none" strike="noStrike">
                <a:solidFill>
                  <a:srgbClr val="FF0000"/>
                </a:solidFill>
                <a:latin typeface="Times New Roman"/>
                <a:ea typeface="Times New Roman"/>
                <a:cs typeface="Times New Roman"/>
                <a:sym typeface="Times New Roman"/>
              </a:rPr>
              <a:t>x</a:t>
            </a:r>
            <a:r>
              <a:rPr b="1" i="1" lang="es" sz="1050" u="none" cap="none" strike="noStrike">
                <a:solidFill>
                  <a:srgbClr val="FF0000"/>
                </a:solidFill>
                <a:latin typeface="Times New Roman"/>
                <a:ea typeface="Times New Roman"/>
                <a:cs typeface="Times New Roman"/>
                <a:sym typeface="Times New Roman"/>
              </a:rPr>
              <a:t>u</a:t>
            </a:r>
            <a:r>
              <a:rPr b="1" i="0" lang="es" sz="1700" u="none" cap="none" strike="noStrike">
                <a:solidFill>
                  <a:srgbClr val="FF0000"/>
                </a:solidFill>
                <a:latin typeface="Times New Roman"/>
                <a:ea typeface="Times New Roman"/>
                <a:cs typeface="Times New Roman"/>
                <a:sym typeface="Times New Roman"/>
              </a:rPr>
              <a:t>) </a:t>
            </a:r>
            <a:r>
              <a:rPr b="0" i="0" lang="es" sz="1700" u="none" cap="none" strike="noStrike">
                <a:solidFill>
                  <a:schemeClr val="dk1"/>
                </a:solidFill>
                <a:latin typeface="Times New Roman"/>
                <a:ea typeface="Times New Roman"/>
                <a:cs typeface="Times New Roman"/>
                <a:sym typeface="Times New Roman"/>
              </a:rPr>
              <a:t>tienen </a:t>
            </a:r>
            <a:r>
              <a:rPr b="1" i="0" lang="es" sz="1700" u="none" cap="none" strike="noStrike">
                <a:solidFill>
                  <a:srgbClr val="FF0000"/>
                </a:solidFill>
                <a:latin typeface="Times New Roman"/>
                <a:ea typeface="Times New Roman"/>
                <a:cs typeface="Times New Roman"/>
                <a:sym typeface="Times New Roman"/>
              </a:rPr>
              <a:t>signos opuestos</a:t>
            </a:r>
            <a:r>
              <a:rPr b="0" i="0" lang="es" sz="1700" u="none" cap="none" strike="noStrike">
                <a:solidFill>
                  <a:schemeClr val="dk1"/>
                </a:solidFill>
                <a:latin typeface="Times New Roman"/>
                <a:ea typeface="Times New Roman"/>
                <a:cs typeface="Times New Roman"/>
                <a:sym typeface="Times New Roman"/>
              </a:rPr>
              <a:t>: número </a:t>
            </a:r>
            <a:r>
              <a:rPr b="1" i="0" lang="es" sz="1700" u="none" cap="none" strike="noStrike">
                <a:solidFill>
                  <a:srgbClr val="FF0000"/>
                </a:solidFill>
                <a:latin typeface="Times New Roman"/>
                <a:ea typeface="Times New Roman"/>
                <a:cs typeface="Times New Roman"/>
                <a:sym typeface="Times New Roman"/>
              </a:rPr>
              <a:t>impar </a:t>
            </a:r>
            <a:r>
              <a:rPr b="0" i="0" lang="es" sz="1700" u="none" cap="none" strike="noStrike">
                <a:solidFill>
                  <a:schemeClr val="dk1"/>
                </a:solidFill>
                <a:latin typeface="Times New Roman"/>
                <a:ea typeface="Times New Roman"/>
                <a:cs typeface="Times New Roman"/>
                <a:sym typeface="Times New Roman"/>
              </a:rPr>
              <a:t>de raíces</a:t>
            </a:r>
            <a:endParaRPr b="0" i="0" sz="1700" u="none" cap="none" strike="noStrike">
              <a:solidFill>
                <a:schemeClr val="dk1"/>
              </a:solidFill>
              <a:latin typeface="Times New Roman"/>
              <a:ea typeface="Times New Roman"/>
              <a:cs typeface="Times New Roman"/>
              <a:sym typeface="Times New Roman"/>
            </a:endParaRPr>
          </a:p>
          <a:p>
            <a:pPr indent="-323850" lvl="0" marL="457200" marR="0" rtl="0" algn="l">
              <a:lnSpc>
                <a:spcPct val="150000"/>
              </a:lnSpc>
              <a:spcBef>
                <a:spcPts val="1500"/>
              </a:spcBef>
              <a:spcAft>
                <a:spcPts val="1000"/>
              </a:spcAft>
              <a:buClr>
                <a:srgbClr val="FF0000"/>
              </a:buClr>
              <a:buSzPts val="1500"/>
              <a:buFont typeface="Times New Roman"/>
              <a:buChar char="●"/>
            </a:pPr>
            <a:r>
              <a:rPr b="1" i="1" lang="es" sz="1700" u="none" cap="none" strike="noStrike">
                <a:solidFill>
                  <a:srgbClr val="FF0000"/>
                </a:solidFill>
                <a:latin typeface="Times New Roman"/>
                <a:ea typeface="Times New Roman"/>
                <a:cs typeface="Times New Roman"/>
                <a:sym typeface="Times New Roman"/>
              </a:rPr>
              <a:t>f</a:t>
            </a:r>
            <a:r>
              <a:rPr b="1" i="0" lang="es" sz="1700" u="none" cap="none" strike="noStrike">
                <a:solidFill>
                  <a:srgbClr val="FF0000"/>
                </a:solidFill>
                <a:latin typeface="Times New Roman"/>
                <a:ea typeface="Times New Roman"/>
                <a:cs typeface="Times New Roman"/>
                <a:sym typeface="Times New Roman"/>
              </a:rPr>
              <a:t>(</a:t>
            </a:r>
            <a:r>
              <a:rPr b="1" i="1" lang="es" sz="1700" u="none" cap="none" strike="noStrike">
                <a:solidFill>
                  <a:srgbClr val="FF0000"/>
                </a:solidFill>
                <a:latin typeface="Times New Roman"/>
                <a:ea typeface="Times New Roman"/>
                <a:cs typeface="Times New Roman"/>
                <a:sym typeface="Times New Roman"/>
              </a:rPr>
              <a:t>x</a:t>
            </a:r>
            <a:r>
              <a:rPr b="1" i="1" lang="es" sz="1050" u="none" cap="none" strike="noStrike">
                <a:solidFill>
                  <a:srgbClr val="FF0000"/>
                </a:solidFill>
                <a:latin typeface="Times New Roman"/>
                <a:ea typeface="Times New Roman"/>
                <a:cs typeface="Times New Roman"/>
                <a:sym typeface="Times New Roman"/>
              </a:rPr>
              <a:t>l</a:t>
            </a:r>
            <a:r>
              <a:rPr b="1" i="0" lang="es" sz="1700" u="none" cap="none" strike="noStrike">
                <a:solidFill>
                  <a:srgbClr val="FF0000"/>
                </a:solidFill>
                <a:latin typeface="Times New Roman"/>
                <a:ea typeface="Times New Roman"/>
                <a:cs typeface="Times New Roman"/>
                <a:sym typeface="Times New Roman"/>
              </a:rPr>
              <a:t>) </a:t>
            </a:r>
            <a:r>
              <a:rPr b="0" i="0" lang="es" sz="1700" u="none" cap="none" strike="noStrike">
                <a:solidFill>
                  <a:schemeClr val="dk1"/>
                </a:solidFill>
                <a:latin typeface="Times New Roman"/>
                <a:ea typeface="Times New Roman"/>
                <a:cs typeface="Times New Roman"/>
                <a:sym typeface="Times New Roman"/>
              </a:rPr>
              <a:t>y </a:t>
            </a:r>
            <a:r>
              <a:rPr b="1" i="1" lang="es" sz="1700" u="none" cap="none" strike="noStrike">
                <a:solidFill>
                  <a:srgbClr val="FF0000"/>
                </a:solidFill>
                <a:latin typeface="Times New Roman"/>
                <a:ea typeface="Times New Roman"/>
                <a:cs typeface="Times New Roman"/>
                <a:sym typeface="Times New Roman"/>
              </a:rPr>
              <a:t>f</a:t>
            </a:r>
            <a:r>
              <a:rPr b="1" i="0" lang="es" sz="1700" u="none" cap="none" strike="noStrike">
                <a:solidFill>
                  <a:srgbClr val="FF0000"/>
                </a:solidFill>
                <a:latin typeface="Times New Roman"/>
                <a:ea typeface="Times New Roman"/>
                <a:cs typeface="Times New Roman"/>
                <a:sym typeface="Times New Roman"/>
              </a:rPr>
              <a:t>(</a:t>
            </a:r>
            <a:r>
              <a:rPr b="1" i="1" lang="es" sz="1700" u="none" cap="none" strike="noStrike">
                <a:solidFill>
                  <a:srgbClr val="FF0000"/>
                </a:solidFill>
                <a:latin typeface="Times New Roman"/>
                <a:ea typeface="Times New Roman"/>
                <a:cs typeface="Times New Roman"/>
                <a:sym typeface="Times New Roman"/>
              </a:rPr>
              <a:t>x</a:t>
            </a:r>
            <a:r>
              <a:rPr b="1" i="1" lang="es" sz="1050" u="none" cap="none" strike="noStrike">
                <a:solidFill>
                  <a:srgbClr val="FF0000"/>
                </a:solidFill>
                <a:latin typeface="Times New Roman"/>
                <a:ea typeface="Times New Roman"/>
                <a:cs typeface="Times New Roman"/>
                <a:sym typeface="Times New Roman"/>
              </a:rPr>
              <a:t>u</a:t>
            </a:r>
            <a:r>
              <a:rPr b="1" i="0" lang="es" sz="1700" u="none" cap="none" strike="noStrike">
                <a:solidFill>
                  <a:srgbClr val="FF0000"/>
                </a:solidFill>
                <a:latin typeface="Times New Roman"/>
                <a:ea typeface="Times New Roman"/>
                <a:cs typeface="Times New Roman"/>
                <a:sym typeface="Times New Roman"/>
              </a:rPr>
              <a:t>) </a:t>
            </a:r>
            <a:r>
              <a:rPr b="0" i="0" lang="es" sz="1700" u="none" cap="none" strike="noStrike">
                <a:solidFill>
                  <a:schemeClr val="dk1"/>
                </a:solidFill>
                <a:latin typeface="Times New Roman"/>
                <a:ea typeface="Times New Roman"/>
                <a:cs typeface="Times New Roman"/>
                <a:sym typeface="Times New Roman"/>
              </a:rPr>
              <a:t>tienen el </a:t>
            </a:r>
            <a:r>
              <a:rPr b="1" i="0" lang="es" sz="1700" u="none" cap="none" strike="noStrike">
                <a:solidFill>
                  <a:srgbClr val="FF0000"/>
                </a:solidFill>
                <a:latin typeface="Times New Roman"/>
                <a:ea typeface="Times New Roman"/>
                <a:cs typeface="Times New Roman"/>
                <a:sym typeface="Times New Roman"/>
              </a:rPr>
              <a:t>mismo signo</a:t>
            </a:r>
            <a:r>
              <a:rPr b="0" i="0" lang="es" sz="1700" u="none" cap="none" strike="noStrike">
                <a:solidFill>
                  <a:schemeClr val="dk1"/>
                </a:solidFill>
                <a:latin typeface="Times New Roman"/>
                <a:ea typeface="Times New Roman"/>
                <a:cs typeface="Times New Roman"/>
                <a:sym typeface="Times New Roman"/>
              </a:rPr>
              <a:t>: </a:t>
            </a:r>
            <a:r>
              <a:rPr b="1" i="0" lang="es" sz="1700" u="none" cap="none" strike="noStrike">
                <a:solidFill>
                  <a:srgbClr val="FF0000"/>
                </a:solidFill>
                <a:latin typeface="Times New Roman"/>
                <a:ea typeface="Times New Roman"/>
                <a:cs typeface="Times New Roman"/>
                <a:sym typeface="Times New Roman"/>
              </a:rPr>
              <a:t>cero </a:t>
            </a:r>
            <a:r>
              <a:rPr b="0" i="0" lang="es" sz="1700" u="none" cap="none" strike="noStrike">
                <a:solidFill>
                  <a:schemeClr val="dk1"/>
                </a:solidFill>
                <a:latin typeface="Times New Roman"/>
                <a:ea typeface="Times New Roman"/>
                <a:cs typeface="Times New Roman"/>
                <a:sym typeface="Times New Roman"/>
              </a:rPr>
              <a:t>o un número </a:t>
            </a:r>
            <a:r>
              <a:rPr b="1" i="0" lang="es" sz="1700" u="none" cap="none" strike="noStrike">
                <a:solidFill>
                  <a:srgbClr val="FF0000"/>
                </a:solidFill>
                <a:latin typeface="Times New Roman"/>
                <a:ea typeface="Times New Roman"/>
                <a:cs typeface="Times New Roman"/>
                <a:sym typeface="Times New Roman"/>
              </a:rPr>
              <a:t>par </a:t>
            </a:r>
            <a:r>
              <a:rPr b="0" i="0" lang="es" sz="1700" u="none" cap="none" strike="noStrike">
                <a:solidFill>
                  <a:schemeClr val="dk1"/>
                </a:solidFill>
                <a:latin typeface="Times New Roman"/>
                <a:ea typeface="Times New Roman"/>
                <a:cs typeface="Times New Roman"/>
                <a:sym typeface="Times New Roman"/>
              </a:rPr>
              <a:t>de raíces</a:t>
            </a:r>
            <a:endParaRPr b="0" i="0" sz="1700" u="none" cap="none" strike="noStrike">
              <a:solidFill>
                <a:schemeClr val="dk1"/>
              </a:solidFill>
              <a:latin typeface="Times New Roman"/>
              <a:ea typeface="Times New Roman"/>
              <a:cs typeface="Times New Roman"/>
              <a:sym typeface="Times New Roman"/>
            </a:endParaRPr>
          </a:p>
        </p:txBody>
      </p:sp>
      <p:pic>
        <p:nvPicPr>
          <p:cNvPr id="135" name="Google Shape;135;p20" title="image21.png"/>
          <p:cNvPicPr preferRelativeResize="0"/>
          <p:nvPr/>
        </p:nvPicPr>
        <p:blipFill rotWithShape="1">
          <a:blip r:embed="rId7">
            <a:alphaModFix/>
          </a:blip>
          <a:srcRect b="0" l="5325" r="5334" t="0"/>
          <a:stretch/>
        </p:blipFill>
        <p:spPr>
          <a:xfrm>
            <a:off x="6999725" y="698775"/>
            <a:ext cx="2065651" cy="18011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231450" y="199075"/>
            <a:ext cx="8681100" cy="625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
              <a:t>Métodos de raíces de ecuaciones</a:t>
            </a:r>
            <a:endParaRPr sz="2022"/>
          </a:p>
        </p:txBody>
      </p:sp>
      <p:sp>
        <p:nvSpPr>
          <p:cNvPr id="141" name="Google Shape;141;p21"/>
          <p:cNvSpPr txBox="1"/>
          <p:nvPr/>
        </p:nvSpPr>
        <p:spPr>
          <a:xfrm>
            <a:off x="231450" y="897050"/>
            <a:ext cx="5895900" cy="394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11"/>
              <a:buFont typeface="Arial"/>
              <a:buNone/>
            </a:pPr>
            <a:r>
              <a:rPr b="0" i="0" lang="es" sz="1511" u="none" cap="none" strike="noStrike">
                <a:solidFill>
                  <a:schemeClr val="dk1"/>
                </a:solidFill>
                <a:latin typeface="Arial"/>
                <a:ea typeface="Arial"/>
                <a:cs typeface="Arial"/>
                <a:sym typeface="Arial"/>
              </a:rPr>
              <a:t>Técnicas numéricas para encontrar Raíces reales de ecuaciones algebraicas y trascendentes.</a:t>
            </a:r>
            <a:endParaRPr b="0"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Grupo 1 - Cerrados: determinan sólo una raíz real. Son métodos iterativos y cerrados.</a:t>
            </a:r>
            <a:endParaRPr b="1" i="0" sz="1511" u="none" cap="none" strike="noStrike">
              <a:solidFill>
                <a:schemeClr val="dk1"/>
              </a:solidFill>
              <a:latin typeface="Arial"/>
              <a:ea typeface="Arial"/>
              <a:cs typeface="Arial"/>
              <a:sym typeface="Arial"/>
            </a:endParaRPr>
          </a:p>
          <a:p>
            <a:pPr indent="-324555" lvl="1" marL="914400" marR="0" rtl="0" algn="l">
              <a:lnSpc>
                <a:spcPct val="100000"/>
              </a:lnSpc>
              <a:spcBef>
                <a:spcPts val="1000"/>
              </a:spcBef>
              <a:spcAft>
                <a:spcPts val="0"/>
              </a:spcAft>
              <a:buClr>
                <a:schemeClr val="dk1"/>
              </a:buClr>
              <a:buSzPts val="1511"/>
              <a:buFont typeface="Arial"/>
              <a:buChar char="○"/>
            </a:pPr>
            <a:r>
              <a:rPr b="0" i="0" lang="es" sz="1511" u="none" cap="none" strike="noStrike">
                <a:solidFill>
                  <a:schemeClr val="dk1"/>
                </a:solidFill>
                <a:latin typeface="Arial"/>
                <a:ea typeface="Arial"/>
                <a:cs typeface="Arial"/>
                <a:sym typeface="Arial"/>
              </a:rPr>
              <a:t>Necesita de un intervalo que contenga la raíz buscada.</a:t>
            </a:r>
            <a:endParaRPr b="0" i="0" sz="1511" u="none" cap="none" strike="noStrike">
              <a:solidFill>
                <a:schemeClr val="dk1"/>
              </a:solidFill>
              <a:latin typeface="Arial"/>
              <a:ea typeface="Arial"/>
              <a:cs typeface="Arial"/>
              <a:sym typeface="Arial"/>
            </a:endParaRPr>
          </a:p>
          <a:p>
            <a:pPr indent="-324555" lvl="1" marL="914400" marR="0" rtl="0" algn="l">
              <a:lnSpc>
                <a:spcPct val="100000"/>
              </a:lnSpc>
              <a:spcBef>
                <a:spcPts val="1000"/>
              </a:spcBef>
              <a:spcAft>
                <a:spcPts val="0"/>
              </a:spcAft>
              <a:buClr>
                <a:schemeClr val="dk1"/>
              </a:buClr>
              <a:buSzPts val="1511"/>
              <a:buFont typeface="Arial"/>
              <a:buChar char="○"/>
            </a:pPr>
            <a:r>
              <a:rPr b="0" i="0" lang="es" sz="1511" u="none" cap="none" strike="noStrike">
                <a:solidFill>
                  <a:schemeClr val="dk1"/>
                </a:solidFill>
                <a:latin typeface="Arial"/>
                <a:ea typeface="Arial"/>
                <a:cs typeface="Arial"/>
                <a:sym typeface="Arial"/>
              </a:rPr>
              <a:t>En general reducen el intervalo para converger a la raíz buscada.</a:t>
            </a:r>
            <a:endParaRPr b="0"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Grupo 1 - Abiertos: determinan sólo una raíz real.</a:t>
            </a:r>
            <a:endParaRPr b="1" i="0" sz="1511" u="none" cap="none" strike="noStrike">
              <a:solidFill>
                <a:schemeClr val="dk1"/>
              </a:solidFill>
              <a:latin typeface="Arial"/>
              <a:ea typeface="Arial"/>
              <a:cs typeface="Arial"/>
              <a:sym typeface="Arial"/>
            </a:endParaRPr>
          </a:p>
          <a:p>
            <a:pPr indent="-331611" lvl="1" marL="914400" marR="0" rtl="0" algn="l">
              <a:lnSpc>
                <a:spcPct val="100000"/>
              </a:lnSpc>
              <a:spcBef>
                <a:spcPts val="1000"/>
              </a:spcBef>
              <a:spcAft>
                <a:spcPts val="0"/>
              </a:spcAft>
              <a:buClr>
                <a:schemeClr val="dk1"/>
              </a:buClr>
              <a:buSzPts val="1622"/>
              <a:buFont typeface="Arial"/>
              <a:buChar char="○"/>
            </a:pPr>
            <a:r>
              <a:rPr b="0" i="0" lang="es" sz="1622" u="none" cap="none" strike="noStrike">
                <a:solidFill>
                  <a:schemeClr val="dk1"/>
                </a:solidFill>
                <a:latin typeface="Arial"/>
                <a:ea typeface="Arial"/>
                <a:cs typeface="Arial"/>
                <a:sym typeface="Arial"/>
              </a:rPr>
              <a:t>Requiere un punto inicial.</a:t>
            </a:r>
            <a:endParaRPr b="0" i="0" sz="1622" u="none" cap="none" strike="noStrike">
              <a:solidFill>
                <a:schemeClr val="dk1"/>
              </a:solidFill>
              <a:latin typeface="Arial"/>
              <a:ea typeface="Arial"/>
              <a:cs typeface="Arial"/>
              <a:sym typeface="Arial"/>
            </a:endParaRPr>
          </a:p>
          <a:p>
            <a:pPr indent="-331611" lvl="1" marL="914400" marR="0" rtl="0" algn="l">
              <a:lnSpc>
                <a:spcPct val="100000"/>
              </a:lnSpc>
              <a:spcBef>
                <a:spcPts val="1000"/>
              </a:spcBef>
              <a:spcAft>
                <a:spcPts val="0"/>
              </a:spcAft>
              <a:buClr>
                <a:schemeClr val="dk1"/>
              </a:buClr>
              <a:buSzPts val="1622"/>
              <a:buFont typeface="Arial"/>
              <a:buChar char="○"/>
            </a:pPr>
            <a:r>
              <a:rPr b="0" i="0" lang="es" sz="1622" u="none" cap="none" strike="noStrike">
                <a:solidFill>
                  <a:schemeClr val="dk1"/>
                </a:solidFill>
                <a:latin typeface="Arial"/>
                <a:ea typeface="Arial"/>
                <a:cs typeface="Arial"/>
                <a:sym typeface="Arial"/>
              </a:rPr>
              <a:t>En general más eficientes que los métodos cerrados.</a:t>
            </a:r>
            <a:endParaRPr b="0" i="0" sz="1622" u="none" cap="none" strike="noStrike">
              <a:solidFill>
                <a:schemeClr val="dk1"/>
              </a:solidFill>
              <a:latin typeface="Arial"/>
              <a:ea typeface="Arial"/>
              <a:cs typeface="Arial"/>
              <a:sym typeface="Arial"/>
            </a:endParaRPr>
          </a:p>
          <a:p>
            <a:pPr indent="-331611" lvl="1" marL="914400" marR="0" rtl="0" algn="l">
              <a:lnSpc>
                <a:spcPct val="100000"/>
              </a:lnSpc>
              <a:spcBef>
                <a:spcPts val="1000"/>
              </a:spcBef>
              <a:spcAft>
                <a:spcPts val="1000"/>
              </a:spcAft>
              <a:buClr>
                <a:schemeClr val="dk1"/>
              </a:buClr>
              <a:buSzPts val="1622"/>
              <a:buFont typeface="Arial"/>
              <a:buChar char="○"/>
            </a:pPr>
            <a:r>
              <a:rPr b="0" i="0" lang="es" sz="1622" u="none" cap="none" strike="noStrike">
                <a:solidFill>
                  <a:schemeClr val="dk1"/>
                </a:solidFill>
                <a:latin typeface="Arial"/>
                <a:ea typeface="Arial"/>
                <a:cs typeface="Arial"/>
                <a:sym typeface="Arial"/>
              </a:rPr>
              <a:t>Aplican para sistemas de ecuaciones no lineales.</a:t>
            </a:r>
            <a:endParaRPr b="0" i="0" sz="1000" u="none" cap="none" strike="noStrike">
              <a:solidFill>
                <a:srgbClr val="000000"/>
              </a:solidFill>
              <a:latin typeface="Arial"/>
              <a:ea typeface="Arial"/>
              <a:cs typeface="Arial"/>
              <a:sym typeface="Arial"/>
            </a:endParaRPr>
          </a:p>
        </p:txBody>
      </p:sp>
      <p:sp>
        <p:nvSpPr>
          <p:cNvPr id="142" name="Google Shape;142;p21"/>
          <p:cNvSpPr/>
          <p:nvPr/>
        </p:nvSpPr>
        <p:spPr>
          <a:xfrm>
            <a:off x="6127350" y="1613214"/>
            <a:ext cx="282000" cy="1352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1"/>
          <p:cNvSpPr txBox="1"/>
          <p:nvPr/>
        </p:nvSpPr>
        <p:spPr>
          <a:xfrm>
            <a:off x="6561900" y="1613214"/>
            <a:ext cx="2451900" cy="778200"/>
          </a:xfrm>
          <a:prstGeom prst="rect">
            <a:avLst/>
          </a:prstGeom>
          <a:noFill/>
          <a:ln>
            <a:noFill/>
          </a:ln>
        </p:spPr>
        <p:txBody>
          <a:bodyPr anchorCtr="0" anchor="t" bIns="91425" lIns="91425" spcFirstLastPara="1" rIns="91425" wrap="square" tIns="91425">
            <a:spAutoFit/>
          </a:bodyPr>
          <a:lstStyle/>
          <a:p>
            <a:pPr indent="-324555" lvl="0" marL="457200" marR="0" rtl="0" algn="l">
              <a:lnSpc>
                <a:spcPct val="100000"/>
              </a:lnSpc>
              <a:spcBef>
                <a:spcPts val="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Bisección</a:t>
            </a:r>
            <a:endParaRPr b="1"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1000"/>
              </a:spcAft>
              <a:buClr>
                <a:schemeClr val="dk1"/>
              </a:buClr>
              <a:buSzPts val="1511"/>
              <a:buFont typeface="Arial"/>
              <a:buChar char="●"/>
            </a:pPr>
            <a:r>
              <a:rPr b="1" i="0" lang="es" sz="1511" u="none" cap="none" strike="noStrike">
                <a:solidFill>
                  <a:schemeClr val="dk1"/>
                </a:solidFill>
                <a:latin typeface="Arial"/>
                <a:ea typeface="Arial"/>
                <a:cs typeface="Arial"/>
                <a:sym typeface="Arial"/>
              </a:rPr>
              <a:t>Falsa posición</a:t>
            </a:r>
            <a:endParaRPr b="1" i="0" sz="1511" u="none" cap="none" strike="noStrike">
              <a:solidFill>
                <a:schemeClr val="dk1"/>
              </a:solidFill>
              <a:latin typeface="Arial"/>
              <a:ea typeface="Arial"/>
              <a:cs typeface="Arial"/>
              <a:sym typeface="Arial"/>
            </a:endParaRPr>
          </a:p>
        </p:txBody>
      </p:sp>
      <p:sp>
        <p:nvSpPr>
          <p:cNvPr id="144" name="Google Shape;144;p21"/>
          <p:cNvSpPr/>
          <p:nvPr/>
        </p:nvSpPr>
        <p:spPr>
          <a:xfrm>
            <a:off x="6127375" y="3219664"/>
            <a:ext cx="282000" cy="17214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1"/>
          <p:cNvSpPr txBox="1"/>
          <p:nvPr/>
        </p:nvSpPr>
        <p:spPr>
          <a:xfrm>
            <a:off x="6561900" y="3082239"/>
            <a:ext cx="2451900" cy="1499700"/>
          </a:xfrm>
          <a:prstGeom prst="rect">
            <a:avLst/>
          </a:prstGeom>
          <a:noFill/>
          <a:ln>
            <a:noFill/>
          </a:ln>
        </p:spPr>
        <p:txBody>
          <a:bodyPr anchorCtr="0" anchor="t" bIns="91425" lIns="91425" spcFirstLastPara="1" rIns="91425" wrap="square" tIns="91425">
            <a:spAutoFit/>
          </a:bodyPr>
          <a:lstStyle/>
          <a:p>
            <a:pPr indent="-324555" lvl="0" marL="457200" marR="0" rtl="0" algn="l">
              <a:lnSpc>
                <a:spcPct val="100000"/>
              </a:lnSpc>
              <a:spcBef>
                <a:spcPts val="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Iteración punto fijo</a:t>
            </a:r>
            <a:endParaRPr b="1"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Newton-Raphson</a:t>
            </a:r>
            <a:endParaRPr b="1"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Secante</a:t>
            </a:r>
            <a:endParaRPr b="1"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1000"/>
              </a:spcAft>
              <a:buClr>
                <a:schemeClr val="dk1"/>
              </a:buClr>
              <a:buSzPts val="1511"/>
              <a:buFont typeface="Arial"/>
              <a:buChar char="●"/>
            </a:pPr>
            <a:r>
              <a:rPr b="1" i="0" lang="es" sz="1511" u="none" cap="none" strike="noStrike">
                <a:solidFill>
                  <a:schemeClr val="dk1"/>
                </a:solidFill>
                <a:latin typeface="Arial"/>
                <a:ea typeface="Arial"/>
                <a:cs typeface="Arial"/>
                <a:sym typeface="Arial"/>
              </a:rPr>
              <a:t>Brent</a:t>
            </a:r>
            <a:endParaRPr b="1" i="0" sz="1511" u="none" cap="none" strike="noStrik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231450" y="199075"/>
            <a:ext cx="8681100" cy="625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s"/>
              <a:t>Métodos de raíces de ecuaciones</a:t>
            </a:r>
            <a:endParaRPr sz="2022"/>
          </a:p>
        </p:txBody>
      </p:sp>
      <p:sp>
        <p:nvSpPr>
          <p:cNvPr id="151" name="Google Shape;151;p22"/>
          <p:cNvSpPr txBox="1"/>
          <p:nvPr/>
        </p:nvSpPr>
        <p:spPr>
          <a:xfrm>
            <a:off x="231450" y="897050"/>
            <a:ext cx="5515500" cy="2163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11"/>
              <a:buFont typeface="Arial"/>
              <a:buNone/>
            </a:pPr>
            <a:r>
              <a:rPr b="1" i="0" lang="es" sz="1511" u="none" cap="none" strike="noStrike">
                <a:solidFill>
                  <a:schemeClr val="dk1"/>
                </a:solidFill>
                <a:latin typeface="Arial"/>
                <a:ea typeface="Arial"/>
                <a:cs typeface="Arial"/>
                <a:sym typeface="Arial"/>
              </a:rPr>
              <a:t>Grupo 2: determinan todas las raíces (tanto reales como complejas).</a:t>
            </a:r>
            <a:endParaRPr b="1" i="0" sz="1511" u="none" cap="none" strike="noStrike">
              <a:solidFill>
                <a:schemeClr val="dk1"/>
              </a:solidFill>
              <a:latin typeface="Arial"/>
              <a:ea typeface="Arial"/>
              <a:cs typeface="Arial"/>
              <a:sym typeface="Arial"/>
            </a:endParaRPr>
          </a:p>
          <a:p>
            <a:pPr indent="-331611" lvl="1" marL="914400" marR="0" rtl="0" algn="l">
              <a:lnSpc>
                <a:spcPct val="100000"/>
              </a:lnSpc>
              <a:spcBef>
                <a:spcPts val="1000"/>
              </a:spcBef>
              <a:spcAft>
                <a:spcPts val="1000"/>
              </a:spcAft>
              <a:buClr>
                <a:schemeClr val="dk1"/>
              </a:buClr>
              <a:buSzPts val="1622"/>
              <a:buFont typeface="Arial"/>
              <a:buChar char="○"/>
            </a:pPr>
            <a:r>
              <a:rPr b="0" i="0" lang="es" sz="1800" u="none" cap="none" strike="noStrike">
                <a:solidFill>
                  <a:schemeClr val="dk2"/>
                </a:solidFill>
                <a:latin typeface="Arial"/>
                <a:ea typeface="Arial"/>
                <a:cs typeface="Arial"/>
                <a:sym typeface="Arial"/>
              </a:rPr>
              <a:t>Estos métodos están diseñados especialmente para polinomios; determinan sistemáticamente todas las raíces del polinomio en lugar de sólo una raíz real dada una posición aproximada.</a:t>
            </a:r>
            <a:endParaRPr b="0" i="0" sz="1000" u="none" cap="none" strike="noStrike">
              <a:solidFill>
                <a:srgbClr val="000000"/>
              </a:solidFill>
              <a:latin typeface="Arial"/>
              <a:ea typeface="Arial"/>
              <a:cs typeface="Arial"/>
              <a:sym typeface="Arial"/>
            </a:endParaRPr>
          </a:p>
        </p:txBody>
      </p:sp>
      <p:sp>
        <p:nvSpPr>
          <p:cNvPr id="152" name="Google Shape;152;p22"/>
          <p:cNvSpPr/>
          <p:nvPr/>
        </p:nvSpPr>
        <p:spPr>
          <a:xfrm>
            <a:off x="6091400" y="1667164"/>
            <a:ext cx="282000" cy="13527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2"/>
          <p:cNvSpPr txBox="1"/>
          <p:nvPr/>
        </p:nvSpPr>
        <p:spPr>
          <a:xfrm>
            <a:off x="6534925" y="1996439"/>
            <a:ext cx="2451900" cy="778200"/>
          </a:xfrm>
          <a:prstGeom prst="rect">
            <a:avLst/>
          </a:prstGeom>
          <a:noFill/>
          <a:ln>
            <a:noFill/>
          </a:ln>
        </p:spPr>
        <p:txBody>
          <a:bodyPr anchorCtr="0" anchor="t" bIns="91425" lIns="91425" spcFirstLastPara="1" rIns="91425" wrap="square" tIns="91425">
            <a:spAutoFit/>
          </a:bodyPr>
          <a:lstStyle/>
          <a:p>
            <a:pPr indent="-324555" lvl="0" marL="457200" marR="0" rtl="0" algn="l">
              <a:lnSpc>
                <a:spcPct val="100000"/>
              </a:lnSpc>
              <a:spcBef>
                <a:spcPts val="0"/>
              </a:spcBef>
              <a:spcAft>
                <a:spcPts val="0"/>
              </a:spcAft>
              <a:buClr>
                <a:schemeClr val="dk1"/>
              </a:buClr>
              <a:buSzPts val="1511"/>
              <a:buFont typeface="Arial"/>
              <a:buChar char="●"/>
            </a:pPr>
            <a:r>
              <a:rPr b="1" i="0" lang="es" sz="1511" u="none" cap="none" strike="noStrike">
                <a:solidFill>
                  <a:schemeClr val="dk1"/>
                </a:solidFill>
                <a:latin typeface="Arial"/>
                <a:ea typeface="Arial"/>
                <a:cs typeface="Arial"/>
                <a:sym typeface="Arial"/>
              </a:rPr>
              <a:t>Müller</a:t>
            </a:r>
            <a:endParaRPr b="1" i="0" sz="1511" u="none" cap="none" strike="noStrike">
              <a:solidFill>
                <a:schemeClr val="dk1"/>
              </a:solidFill>
              <a:latin typeface="Arial"/>
              <a:ea typeface="Arial"/>
              <a:cs typeface="Arial"/>
              <a:sym typeface="Arial"/>
            </a:endParaRPr>
          </a:p>
          <a:p>
            <a:pPr indent="-324555" lvl="0" marL="457200" marR="0" rtl="0" algn="l">
              <a:lnSpc>
                <a:spcPct val="100000"/>
              </a:lnSpc>
              <a:spcBef>
                <a:spcPts val="1000"/>
              </a:spcBef>
              <a:spcAft>
                <a:spcPts val="1000"/>
              </a:spcAft>
              <a:buClr>
                <a:schemeClr val="dk1"/>
              </a:buClr>
              <a:buSzPts val="1511"/>
              <a:buFont typeface="Arial"/>
              <a:buChar char="●"/>
            </a:pPr>
            <a:r>
              <a:rPr b="1" i="0" lang="es" sz="1511" u="none" cap="none" strike="noStrike">
                <a:solidFill>
                  <a:schemeClr val="dk1"/>
                </a:solidFill>
                <a:latin typeface="Arial"/>
                <a:ea typeface="Arial"/>
                <a:cs typeface="Arial"/>
                <a:sym typeface="Arial"/>
              </a:rPr>
              <a:t>Bairstow</a:t>
            </a:r>
            <a:endParaRPr b="1" i="0" sz="1511"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type="title"/>
          </p:nvPr>
        </p:nvSpPr>
        <p:spPr>
          <a:xfrm>
            <a:off x="528725" y="879075"/>
            <a:ext cx="43038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Métodos Cerrados de búsquedas de raíces</a:t>
            </a:r>
            <a:endParaRPr/>
          </a:p>
        </p:txBody>
      </p:sp>
      <p:pic>
        <p:nvPicPr>
          <p:cNvPr id="159" name="Google Shape;159;p23" title="image21.png"/>
          <p:cNvPicPr preferRelativeResize="0"/>
          <p:nvPr/>
        </p:nvPicPr>
        <p:blipFill rotWithShape="1">
          <a:blip r:embed="rId3">
            <a:alphaModFix/>
          </a:blip>
          <a:srcRect b="20" l="0" r="0" t="10"/>
          <a:stretch/>
        </p:blipFill>
        <p:spPr>
          <a:xfrm>
            <a:off x="4087800" y="1199075"/>
            <a:ext cx="4133849" cy="32194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4"/>
          <p:cNvSpPr txBox="1"/>
          <p:nvPr/>
        </p:nvSpPr>
        <p:spPr>
          <a:xfrm>
            <a:off x="247975" y="1840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a:t>
            </a:r>
            <a:endParaRPr b="0" i="0" sz="2700" u="none" cap="none" strike="noStrike">
              <a:solidFill>
                <a:schemeClr val="dk1"/>
              </a:solidFill>
              <a:latin typeface="Arial"/>
              <a:ea typeface="Arial"/>
              <a:cs typeface="Arial"/>
              <a:sym typeface="Arial"/>
            </a:endParaRPr>
          </a:p>
        </p:txBody>
      </p:sp>
      <p:pic>
        <p:nvPicPr>
          <p:cNvPr id="165" name="Google Shape;165;p24" title="image21.png"/>
          <p:cNvPicPr preferRelativeResize="0"/>
          <p:nvPr/>
        </p:nvPicPr>
        <p:blipFill rotWithShape="1">
          <a:blip r:embed="rId3">
            <a:alphaModFix/>
          </a:blip>
          <a:srcRect b="0" l="1635" r="1625" t="0"/>
          <a:stretch/>
        </p:blipFill>
        <p:spPr>
          <a:xfrm>
            <a:off x="5427675" y="900150"/>
            <a:ext cx="3309275" cy="2664975"/>
          </a:xfrm>
          <a:prstGeom prst="rect">
            <a:avLst/>
          </a:prstGeom>
          <a:noFill/>
          <a:ln>
            <a:noFill/>
          </a:ln>
        </p:spPr>
      </p:pic>
      <p:sp>
        <p:nvSpPr>
          <p:cNvPr id="166" name="Google Shape;166;p24"/>
          <p:cNvSpPr txBox="1"/>
          <p:nvPr/>
        </p:nvSpPr>
        <p:spPr>
          <a:xfrm>
            <a:off x="161025" y="947100"/>
            <a:ext cx="5010900" cy="3249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dk1"/>
                </a:solidFill>
                <a:latin typeface="Arial"/>
                <a:ea typeface="Arial"/>
                <a:cs typeface="Arial"/>
                <a:sym typeface="Arial"/>
              </a:rPr>
              <a:t>En general, si f(x) es real y continua en el intervalo [xl , xu] y f(xl) y f(xu) tienen signos opuestos, es decir:</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2200"/>
              <a:buFont typeface="Arial"/>
              <a:buNone/>
            </a:pPr>
            <a:r>
              <a:rPr b="0" i="0" lang="es" sz="2200" u="none" cap="none" strike="noStrike">
                <a:solidFill>
                  <a:srgbClr val="FF0000"/>
                </a:solidFill>
                <a:latin typeface="Arial"/>
                <a:ea typeface="Arial"/>
                <a:cs typeface="Arial"/>
                <a:sym typeface="Arial"/>
              </a:rPr>
              <a:t>f(xl).f(xu)&lt;0</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200"/>
              <a:buFont typeface="Arial"/>
              <a:buNone/>
            </a:pPr>
            <a:r>
              <a:rPr b="0" i="0" lang="es" sz="2200" u="none" cap="none" strike="noStrike">
                <a:solidFill>
                  <a:schemeClr val="dk1"/>
                </a:solidFill>
                <a:latin typeface="Arial"/>
                <a:ea typeface="Arial"/>
                <a:cs typeface="Arial"/>
                <a:sym typeface="Arial"/>
              </a:rPr>
              <a:t>entonces hay al menos una raíz entre xl y xu.</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Pausa…</a:t>
            </a:r>
            <a:endParaRPr/>
          </a:p>
        </p:txBody>
      </p:sp>
      <p:sp>
        <p:nvSpPr>
          <p:cNvPr id="172" name="Google Shape;172;p25"/>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26" title="image21.png"/>
          <p:cNvPicPr preferRelativeResize="0"/>
          <p:nvPr/>
        </p:nvPicPr>
        <p:blipFill rotWithShape="1">
          <a:blip r:embed="rId3">
            <a:alphaModFix/>
          </a:blip>
          <a:srcRect b="0" l="1635" r="1625" t="0"/>
          <a:stretch/>
        </p:blipFill>
        <p:spPr>
          <a:xfrm>
            <a:off x="7740750" y="1277875"/>
            <a:ext cx="1215626" cy="978951"/>
          </a:xfrm>
          <a:prstGeom prst="rect">
            <a:avLst/>
          </a:prstGeom>
          <a:noFill/>
          <a:ln>
            <a:noFill/>
          </a:ln>
        </p:spPr>
      </p:pic>
      <p:sp>
        <p:nvSpPr>
          <p:cNvPr id="178" name="Google Shape;178;p26"/>
          <p:cNvSpPr txBox="1"/>
          <p:nvPr/>
        </p:nvSpPr>
        <p:spPr>
          <a:xfrm>
            <a:off x="400375" y="3364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a:t>
            </a:r>
            <a:endParaRPr b="0" i="0" sz="2700" u="none" cap="none" strike="noStrike">
              <a:solidFill>
                <a:schemeClr val="dk1"/>
              </a:solidFill>
              <a:latin typeface="Arial"/>
              <a:ea typeface="Arial"/>
              <a:cs typeface="Arial"/>
              <a:sym typeface="Arial"/>
            </a:endParaRPr>
          </a:p>
        </p:txBody>
      </p:sp>
      <p:pic>
        <p:nvPicPr>
          <p:cNvPr id="179" name="Google Shape;179;p26" title="image10.png"/>
          <p:cNvPicPr preferRelativeResize="0"/>
          <p:nvPr/>
        </p:nvPicPr>
        <p:blipFill rotWithShape="1">
          <a:blip r:embed="rId4">
            <a:alphaModFix/>
          </a:blip>
          <a:srcRect b="10" l="0" r="0" t="0"/>
          <a:stretch/>
        </p:blipFill>
        <p:spPr>
          <a:xfrm>
            <a:off x="110900" y="1107000"/>
            <a:ext cx="7563650" cy="3639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7"/>
          <p:cNvSpPr txBox="1"/>
          <p:nvPr/>
        </p:nvSpPr>
        <p:spPr>
          <a:xfrm>
            <a:off x="247975" y="1242400"/>
            <a:ext cx="4562700" cy="3754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Detalles Paso 3 : seleccionar aquel subintervalo en que f(x) cambie de signo</a:t>
            </a:r>
            <a:endParaRPr b="0" i="1" sz="1800" u="none" cap="none" strike="noStrike">
              <a:solidFill>
                <a:schemeClr val="dk1"/>
              </a:solidFill>
              <a:latin typeface="Arial"/>
              <a:ea typeface="Arial"/>
              <a:cs typeface="Arial"/>
              <a:sym typeface="Arial"/>
            </a:endParaRPr>
          </a:p>
          <a:p>
            <a:pPr indent="-317500" lvl="0" marL="457200" marR="0" rtl="0" algn="l">
              <a:lnSpc>
                <a:spcPct val="115000"/>
              </a:lnSpc>
              <a:spcBef>
                <a:spcPts val="0"/>
              </a:spcBef>
              <a:spcAft>
                <a:spcPts val="0"/>
              </a:spcAft>
              <a:buClr>
                <a:srgbClr val="000000"/>
              </a:buClr>
              <a:buSzPts val="1400"/>
              <a:buFont typeface="Arial"/>
              <a:buChar char="●"/>
            </a:pPr>
            <a:r>
              <a:rPr b="0" i="1" lang="es" sz="1800" u="none" cap="none" strike="noStrike">
                <a:solidFill>
                  <a:schemeClr val="dk1"/>
                </a:solidFill>
                <a:latin typeface="Arial"/>
                <a:ea typeface="Arial"/>
                <a:cs typeface="Arial"/>
                <a:sym typeface="Arial"/>
              </a:rPr>
              <a:t>Si </a:t>
            </a:r>
            <a:r>
              <a:rPr b="0" i="1" lang="es" sz="2100" u="none" cap="none" strike="noStrike">
                <a:solidFill>
                  <a:srgbClr val="0000FF"/>
                </a:solidFill>
                <a:latin typeface="Arial"/>
                <a:ea typeface="Arial"/>
                <a:cs typeface="Arial"/>
                <a:sym typeface="Arial"/>
              </a:rPr>
              <a:t>f(x</a:t>
            </a:r>
            <a:r>
              <a:rPr b="0" i="1" lang="es" sz="1200" u="none" cap="none" strike="noStrike">
                <a:solidFill>
                  <a:srgbClr val="0000FF"/>
                </a:solidFill>
                <a:latin typeface="Arial"/>
                <a:ea typeface="Arial"/>
                <a:cs typeface="Arial"/>
                <a:sym typeface="Arial"/>
              </a:rPr>
              <a:t>l</a:t>
            </a:r>
            <a:r>
              <a:rPr b="0" i="1" lang="es" sz="2100" u="none" cap="none" strike="noStrike">
                <a:solidFill>
                  <a:srgbClr val="0000FF"/>
                </a:solidFill>
                <a:latin typeface="Arial"/>
                <a:ea typeface="Arial"/>
                <a:cs typeface="Arial"/>
                <a:sym typeface="Arial"/>
              </a:rPr>
              <a:t>).f(x</a:t>
            </a:r>
            <a:r>
              <a:rPr b="0" i="1" lang="es" sz="1200" u="none" cap="none" strike="noStrike">
                <a:solidFill>
                  <a:srgbClr val="0000FF"/>
                </a:solidFill>
                <a:latin typeface="Arial"/>
                <a:ea typeface="Arial"/>
                <a:cs typeface="Arial"/>
                <a:sym typeface="Arial"/>
              </a:rPr>
              <a:t>r</a:t>
            </a:r>
            <a:r>
              <a:rPr b="0" i="1" lang="es" sz="2100" u="none" cap="none" strike="noStrike">
                <a:solidFill>
                  <a:srgbClr val="0000FF"/>
                </a:solidFill>
                <a:latin typeface="Arial"/>
                <a:ea typeface="Arial"/>
                <a:cs typeface="Arial"/>
                <a:sym typeface="Arial"/>
              </a:rPr>
              <a:t>)&lt;0 </a:t>
            </a:r>
            <a:r>
              <a:rPr b="0" i="1" lang="es" sz="2100" u="none" cap="none" strike="noStrike">
                <a:solidFill>
                  <a:schemeClr val="dk1"/>
                </a:solidFill>
                <a:latin typeface="Arial"/>
                <a:ea typeface="Arial"/>
                <a:cs typeface="Arial"/>
                <a:sym typeface="Arial"/>
              </a:rPr>
              <a:t>, </a:t>
            </a:r>
            <a:r>
              <a:rPr b="0" i="1" lang="es" sz="1800" u="none" cap="none" strike="noStrike">
                <a:solidFill>
                  <a:schemeClr val="dk1"/>
                </a:solidFill>
                <a:latin typeface="Arial"/>
                <a:ea typeface="Arial"/>
                <a:cs typeface="Arial"/>
                <a:sym typeface="Arial"/>
              </a:rPr>
              <a:t>la raíz está en el subintervalo </a:t>
            </a:r>
            <a:r>
              <a:rPr b="0" i="1" lang="es" sz="1800" u="none" cap="none" strike="noStrike">
                <a:solidFill>
                  <a:srgbClr val="0000FF"/>
                </a:solidFill>
                <a:latin typeface="Arial"/>
                <a:ea typeface="Arial"/>
                <a:cs typeface="Arial"/>
                <a:sym typeface="Arial"/>
              </a:rPr>
              <a:t>izquierdo. </a:t>
            </a:r>
            <a:endParaRPr b="0" i="1" sz="1800" u="none" cap="none" strike="noStrike">
              <a:solidFill>
                <a:srgbClr val="0000FF"/>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a:p>
            <a:pPr indent="-342900" lvl="0" marL="457200" marR="0" rtl="0" algn="l">
              <a:lnSpc>
                <a:spcPct val="115000"/>
              </a:lnSpc>
              <a:spcBef>
                <a:spcPts val="0"/>
              </a:spcBef>
              <a:spcAft>
                <a:spcPts val="0"/>
              </a:spcAft>
              <a:buClr>
                <a:srgbClr val="0000FF"/>
              </a:buClr>
              <a:buSzPts val="1800"/>
              <a:buFont typeface="Arial"/>
              <a:buChar char="●"/>
            </a:pPr>
            <a:r>
              <a:rPr b="0" i="1" lang="es" sz="1800" u="none" cap="none" strike="noStrike">
                <a:solidFill>
                  <a:schemeClr val="dk1"/>
                </a:solidFill>
                <a:latin typeface="Arial"/>
                <a:ea typeface="Arial"/>
                <a:cs typeface="Arial"/>
                <a:sym typeface="Arial"/>
              </a:rPr>
              <a:t>Si </a:t>
            </a:r>
            <a:r>
              <a:rPr b="0" i="1" lang="es" sz="2100" u="none" cap="none" strike="noStrike">
                <a:solidFill>
                  <a:srgbClr val="0000FF"/>
                </a:solidFill>
                <a:latin typeface="Arial"/>
                <a:ea typeface="Arial"/>
                <a:cs typeface="Arial"/>
                <a:sym typeface="Arial"/>
              </a:rPr>
              <a:t>f(x</a:t>
            </a:r>
            <a:r>
              <a:rPr b="0" i="1" lang="es" sz="1200" u="none" cap="none" strike="noStrike">
                <a:solidFill>
                  <a:srgbClr val="0000FF"/>
                </a:solidFill>
                <a:latin typeface="Arial"/>
                <a:ea typeface="Arial"/>
                <a:cs typeface="Arial"/>
                <a:sym typeface="Arial"/>
              </a:rPr>
              <a:t>l</a:t>
            </a:r>
            <a:r>
              <a:rPr b="0" i="1" lang="es" sz="2100" u="none" cap="none" strike="noStrike">
                <a:solidFill>
                  <a:srgbClr val="0000FF"/>
                </a:solidFill>
                <a:latin typeface="Arial"/>
                <a:ea typeface="Arial"/>
                <a:cs typeface="Arial"/>
                <a:sym typeface="Arial"/>
              </a:rPr>
              <a:t>).f(x</a:t>
            </a:r>
            <a:r>
              <a:rPr b="0" i="1" lang="es" sz="1200" u="none" cap="none" strike="noStrike">
                <a:solidFill>
                  <a:srgbClr val="0000FF"/>
                </a:solidFill>
                <a:latin typeface="Arial"/>
                <a:ea typeface="Arial"/>
                <a:cs typeface="Arial"/>
                <a:sym typeface="Arial"/>
              </a:rPr>
              <a:t>r</a:t>
            </a:r>
            <a:r>
              <a:rPr b="0" i="1" lang="es" sz="2100" u="none" cap="none" strike="noStrike">
                <a:solidFill>
                  <a:srgbClr val="0000FF"/>
                </a:solidFill>
                <a:latin typeface="Arial"/>
                <a:ea typeface="Arial"/>
                <a:cs typeface="Arial"/>
                <a:sym typeface="Arial"/>
              </a:rPr>
              <a:t>)&gt;0</a:t>
            </a:r>
            <a:r>
              <a:rPr b="0" i="1" lang="es" sz="2100" u="none" cap="none" strike="noStrike">
                <a:solidFill>
                  <a:schemeClr val="dk1"/>
                </a:solidFill>
                <a:latin typeface="Arial"/>
                <a:ea typeface="Arial"/>
                <a:cs typeface="Arial"/>
                <a:sym typeface="Arial"/>
              </a:rPr>
              <a:t>, </a:t>
            </a:r>
            <a:r>
              <a:rPr b="0" i="1" lang="es" sz="1800" u="none" cap="none" strike="noStrike">
                <a:solidFill>
                  <a:schemeClr val="dk1"/>
                </a:solidFill>
                <a:latin typeface="Arial"/>
                <a:ea typeface="Arial"/>
                <a:cs typeface="Arial"/>
                <a:sym typeface="Arial"/>
              </a:rPr>
              <a:t>la raíz está en el subintervalo </a:t>
            </a:r>
            <a:r>
              <a:rPr b="0" i="1" lang="es" sz="1800" u="none" cap="none" strike="noStrike">
                <a:solidFill>
                  <a:srgbClr val="0000FF"/>
                </a:solidFill>
                <a:latin typeface="Arial"/>
                <a:ea typeface="Arial"/>
                <a:cs typeface="Arial"/>
                <a:sym typeface="Arial"/>
              </a:rPr>
              <a:t>derecho.</a:t>
            </a:r>
            <a:endParaRPr b="0" i="1" sz="1800" u="none" cap="none" strike="noStrike">
              <a:solidFill>
                <a:srgbClr val="0000FF"/>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800"/>
              <a:buFont typeface="Arial"/>
              <a:buNone/>
            </a:pPr>
            <a:r>
              <a:t/>
            </a:r>
            <a:endParaRPr b="0" i="1" sz="1800" u="none" cap="none" strike="noStrike">
              <a:solidFill>
                <a:srgbClr val="0000FF"/>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volver al paso 2.</a:t>
            </a:r>
            <a:endParaRPr b="0" i="1" sz="1800" u="none" cap="none" strike="noStrike">
              <a:solidFill>
                <a:schemeClr val="dk1"/>
              </a:solidFill>
              <a:latin typeface="Arial"/>
              <a:ea typeface="Arial"/>
              <a:cs typeface="Arial"/>
              <a:sym typeface="Arial"/>
            </a:endParaRPr>
          </a:p>
        </p:txBody>
      </p:sp>
      <p:sp>
        <p:nvSpPr>
          <p:cNvPr id="185" name="Google Shape;185;p27"/>
          <p:cNvSpPr txBox="1"/>
          <p:nvPr/>
        </p:nvSpPr>
        <p:spPr>
          <a:xfrm>
            <a:off x="400375" y="3364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a:t>
            </a:r>
            <a:endParaRPr b="0" i="0" sz="2700" u="none" cap="none" strike="noStrike">
              <a:solidFill>
                <a:schemeClr val="dk1"/>
              </a:solidFill>
              <a:latin typeface="Arial"/>
              <a:ea typeface="Arial"/>
              <a:cs typeface="Arial"/>
              <a:sym typeface="Arial"/>
            </a:endParaRPr>
          </a:p>
        </p:txBody>
      </p:sp>
      <p:pic>
        <p:nvPicPr>
          <p:cNvPr id="186" name="Google Shape;186;p27" title="image05.png"/>
          <p:cNvPicPr preferRelativeResize="0"/>
          <p:nvPr/>
        </p:nvPicPr>
        <p:blipFill rotWithShape="1">
          <a:blip r:embed="rId3">
            <a:alphaModFix/>
          </a:blip>
          <a:srcRect b="12115" l="0" r="0" t="12115"/>
          <a:stretch/>
        </p:blipFill>
        <p:spPr>
          <a:xfrm>
            <a:off x="1223075" y="2720050"/>
            <a:ext cx="1628923" cy="412201"/>
          </a:xfrm>
          <a:prstGeom prst="rect">
            <a:avLst/>
          </a:prstGeom>
          <a:noFill/>
          <a:ln>
            <a:noFill/>
          </a:ln>
        </p:spPr>
      </p:pic>
      <p:pic>
        <p:nvPicPr>
          <p:cNvPr id="187" name="Google Shape;187;p27" title="image07.png"/>
          <p:cNvPicPr preferRelativeResize="0"/>
          <p:nvPr/>
        </p:nvPicPr>
        <p:blipFill rotWithShape="1">
          <a:blip r:embed="rId4">
            <a:alphaModFix/>
          </a:blip>
          <a:srcRect b="15321" l="0" r="0" t="15321"/>
          <a:stretch/>
        </p:blipFill>
        <p:spPr>
          <a:xfrm>
            <a:off x="1223075" y="4132114"/>
            <a:ext cx="1525898" cy="353975"/>
          </a:xfrm>
          <a:prstGeom prst="rect">
            <a:avLst/>
          </a:prstGeom>
          <a:noFill/>
          <a:ln>
            <a:noFill/>
          </a:ln>
        </p:spPr>
      </p:pic>
      <p:pic>
        <p:nvPicPr>
          <p:cNvPr id="188" name="Google Shape;188;p27" title="image11.png"/>
          <p:cNvPicPr preferRelativeResize="0"/>
          <p:nvPr/>
        </p:nvPicPr>
        <p:blipFill rotWithShape="1">
          <a:blip r:embed="rId5">
            <a:alphaModFix/>
          </a:blip>
          <a:srcRect b="0" l="20" r="20" t="0"/>
          <a:stretch/>
        </p:blipFill>
        <p:spPr>
          <a:xfrm>
            <a:off x="4572000" y="472375"/>
            <a:ext cx="4418171" cy="40137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8"/>
          <p:cNvSpPr txBox="1"/>
          <p:nvPr/>
        </p:nvSpPr>
        <p:spPr>
          <a:xfrm>
            <a:off x="400375" y="336400"/>
            <a:ext cx="83241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 - Criterio de paro</a:t>
            </a:r>
            <a:endParaRPr b="0" i="0" sz="2700" u="none" cap="none" strike="noStrike">
              <a:solidFill>
                <a:schemeClr val="dk1"/>
              </a:solidFill>
              <a:latin typeface="Arial"/>
              <a:ea typeface="Arial"/>
              <a:cs typeface="Arial"/>
              <a:sym typeface="Arial"/>
            </a:endParaRPr>
          </a:p>
        </p:txBody>
      </p:sp>
      <p:sp>
        <p:nvSpPr>
          <p:cNvPr id="194" name="Google Shape;194;p28"/>
          <p:cNvSpPr txBox="1"/>
          <p:nvPr/>
        </p:nvSpPr>
        <p:spPr>
          <a:xfrm>
            <a:off x="434100" y="936700"/>
            <a:ext cx="8275800" cy="2716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A través de las sucesivas iteraciones los subintervalos se acercan al valor de la raíz buscada, entonces ¿Cuándo dejar de iterar?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Tener en cuenta el error:</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y definir un umbral de tolerancia </a:t>
            </a:r>
            <a:r>
              <a:rPr b="0" i="1" lang="es" sz="2050" u="none" cap="none" strike="noStrike">
                <a:solidFill>
                  <a:srgbClr val="810000"/>
                </a:solidFill>
                <a:latin typeface="Arial"/>
                <a:ea typeface="Arial"/>
                <a:cs typeface="Arial"/>
                <a:sym typeface="Arial"/>
              </a:rPr>
              <a:t>ε</a:t>
            </a:r>
            <a:r>
              <a:rPr b="0" i="1" lang="es" sz="1250" u="none" cap="none" strike="noStrike">
                <a:solidFill>
                  <a:srgbClr val="810000"/>
                </a:solidFill>
                <a:latin typeface="Arial"/>
                <a:ea typeface="Arial"/>
                <a:cs typeface="Arial"/>
                <a:sym typeface="Arial"/>
              </a:rPr>
              <a:t>s</a:t>
            </a:r>
            <a:endParaRPr b="0" i="0" sz="1800" u="none" cap="none" strike="noStrike">
              <a:solidFill>
                <a:srgbClr val="000000"/>
              </a:solidFill>
              <a:latin typeface="Arial"/>
              <a:ea typeface="Arial"/>
              <a:cs typeface="Arial"/>
              <a:sym typeface="Arial"/>
            </a:endParaRPr>
          </a:p>
        </p:txBody>
      </p:sp>
      <p:pic>
        <p:nvPicPr>
          <p:cNvPr id="195" name="Google Shape;195;p28" title="image02.png"/>
          <p:cNvPicPr preferRelativeResize="0"/>
          <p:nvPr/>
        </p:nvPicPr>
        <p:blipFill rotWithShape="1">
          <a:blip r:embed="rId3">
            <a:alphaModFix/>
          </a:blip>
          <a:srcRect b="1296" l="0" r="0" t="1296"/>
          <a:stretch/>
        </p:blipFill>
        <p:spPr>
          <a:xfrm>
            <a:off x="3414575" y="1631106"/>
            <a:ext cx="2517023" cy="817676"/>
          </a:xfrm>
          <a:prstGeom prst="rect">
            <a:avLst/>
          </a:prstGeom>
          <a:noFill/>
          <a:ln>
            <a:noFill/>
          </a:ln>
        </p:spPr>
      </p:pic>
      <p:sp>
        <p:nvSpPr>
          <p:cNvPr id="196" name="Google Shape;196;p28"/>
          <p:cNvSpPr/>
          <p:nvPr/>
        </p:nvSpPr>
        <p:spPr>
          <a:xfrm>
            <a:off x="3197525" y="2499400"/>
            <a:ext cx="1815900" cy="462900"/>
          </a:xfrm>
          <a:prstGeom prst="wedgeRoundRectCallout">
            <a:avLst>
              <a:gd fmla="val -25302" name="adj1"/>
              <a:gd fmla="val -129704" name="adj2"/>
              <a:gd fmla="val 0" name="adj3"/>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Error relativo porcentual</a:t>
            </a:r>
            <a:endParaRPr b="0" i="0" sz="1400" u="none" cap="none" strike="noStrike">
              <a:solidFill>
                <a:srgbClr val="000000"/>
              </a:solidFill>
              <a:latin typeface="Arial"/>
              <a:ea typeface="Arial"/>
              <a:cs typeface="Arial"/>
              <a:sym typeface="Arial"/>
            </a:endParaRPr>
          </a:p>
        </p:txBody>
      </p:sp>
      <p:pic>
        <p:nvPicPr>
          <p:cNvPr id="197" name="Google Shape;197;p28" title="image27.png"/>
          <p:cNvPicPr preferRelativeResize="0"/>
          <p:nvPr/>
        </p:nvPicPr>
        <p:blipFill rotWithShape="1">
          <a:blip r:embed="rId4">
            <a:alphaModFix/>
          </a:blip>
          <a:srcRect b="32426" l="0" r="0" t="32423"/>
          <a:stretch/>
        </p:blipFill>
        <p:spPr>
          <a:xfrm>
            <a:off x="470275" y="4089400"/>
            <a:ext cx="5497498" cy="645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nvSpPr>
        <p:spPr>
          <a:xfrm>
            <a:off x="400375" y="336400"/>
            <a:ext cx="83241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 - análisis de la convergencia</a:t>
            </a:r>
            <a:endParaRPr b="0" i="0" sz="2700" u="none" cap="none" strike="noStrike">
              <a:solidFill>
                <a:schemeClr val="dk1"/>
              </a:solidFill>
              <a:latin typeface="Arial"/>
              <a:ea typeface="Arial"/>
              <a:cs typeface="Arial"/>
              <a:sym typeface="Arial"/>
            </a:endParaRPr>
          </a:p>
        </p:txBody>
      </p:sp>
      <p:sp>
        <p:nvSpPr>
          <p:cNvPr id="203" name="Google Shape;203;p29"/>
          <p:cNvSpPr txBox="1"/>
          <p:nvPr/>
        </p:nvSpPr>
        <p:spPr>
          <a:xfrm>
            <a:off x="434100" y="936700"/>
            <a:ext cx="8275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Investiguemos la exactitud con la que el método de bisección determina una raíz de una función.</a:t>
            </a:r>
            <a:endParaRPr b="0" i="0" sz="1800" u="none" cap="none" strike="noStrike">
              <a:solidFill>
                <a:srgbClr val="000000"/>
              </a:solidFill>
              <a:latin typeface="Arial"/>
              <a:ea typeface="Arial"/>
              <a:cs typeface="Arial"/>
              <a:sym typeface="Arial"/>
            </a:endParaRPr>
          </a:p>
        </p:txBody>
      </p:sp>
      <p:pic>
        <p:nvPicPr>
          <p:cNvPr id="204" name="Google Shape;204;p29" title="image25.png"/>
          <p:cNvPicPr preferRelativeResize="0"/>
          <p:nvPr/>
        </p:nvPicPr>
        <p:blipFill rotWithShape="1">
          <a:blip r:embed="rId3">
            <a:alphaModFix/>
          </a:blip>
          <a:srcRect b="0" l="90" r="90" t="0"/>
          <a:stretch/>
        </p:blipFill>
        <p:spPr>
          <a:xfrm>
            <a:off x="480750" y="1711150"/>
            <a:ext cx="4004451" cy="3182548"/>
          </a:xfrm>
          <a:prstGeom prst="rect">
            <a:avLst/>
          </a:prstGeom>
          <a:noFill/>
          <a:ln>
            <a:noFill/>
          </a:ln>
        </p:spPr>
      </p:pic>
      <p:sp>
        <p:nvSpPr>
          <p:cNvPr id="205" name="Google Shape;205;p29"/>
          <p:cNvSpPr txBox="1"/>
          <p:nvPr/>
        </p:nvSpPr>
        <p:spPr>
          <a:xfrm>
            <a:off x="4774575" y="1711150"/>
            <a:ext cx="3703800" cy="1899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50"/>
              <a:buFont typeface="Arial"/>
              <a:buNone/>
            </a:pPr>
            <a:r>
              <a:rPr b="0" i="1" lang="es" sz="1650" u="none" cap="none" strike="noStrike">
                <a:solidFill>
                  <a:schemeClr val="dk1"/>
                </a:solidFill>
                <a:latin typeface="Arial"/>
                <a:ea typeface="Arial"/>
                <a:cs typeface="Arial"/>
                <a:sym typeface="Arial"/>
              </a:rPr>
              <a:t>Sea </a:t>
            </a:r>
            <a:r>
              <a:rPr b="0" i="1" lang="es" sz="1650" u="none" cap="none" strike="noStrike">
                <a:solidFill>
                  <a:srgbClr val="0000FF"/>
                </a:solidFill>
                <a:latin typeface="Arial"/>
                <a:ea typeface="Arial"/>
                <a:cs typeface="Arial"/>
                <a:sym typeface="Arial"/>
              </a:rPr>
              <a:t>E</a:t>
            </a:r>
            <a:r>
              <a:rPr b="0" i="1" lang="es" sz="1000" u="none" cap="none" strike="noStrike">
                <a:solidFill>
                  <a:srgbClr val="0000FF"/>
                </a:solidFill>
                <a:latin typeface="Arial"/>
                <a:ea typeface="Arial"/>
                <a:cs typeface="Arial"/>
                <a:sym typeface="Arial"/>
              </a:rPr>
              <a:t>a,d </a:t>
            </a:r>
            <a:r>
              <a:rPr b="0" i="1" lang="es" sz="1650" u="none" cap="none" strike="noStrike">
                <a:solidFill>
                  <a:schemeClr val="dk1"/>
                </a:solidFill>
                <a:latin typeface="Arial"/>
                <a:ea typeface="Arial"/>
                <a:cs typeface="Arial"/>
                <a:sym typeface="Arial"/>
              </a:rPr>
              <a:t>el </a:t>
            </a:r>
            <a:r>
              <a:rPr b="0" i="1" lang="es" sz="1650" u="none" cap="none" strike="noStrike">
                <a:solidFill>
                  <a:srgbClr val="0000FF"/>
                </a:solidFill>
                <a:latin typeface="Arial"/>
                <a:ea typeface="Arial"/>
                <a:cs typeface="Arial"/>
                <a:sym typeface="Arial"/>
              </a:rPr>
              <a:t>error absoluto deseado </a:t>
            </a:r>
            <a:r>
              <a:rPr b="0" i="1" lang="es" sz="1650" u="none" cap="none" strike="noStrike">
                <a:solidFill>
                  <a:schemeClr val="dk1"/>
                </a:solidFill>
                <a:latin typeface="Arial"/>
                <a:ea typeface="Arial"/>
                <a:cs typeface="Arial"/>
                <a:sym typeface="Arial"/>
              </a:rPr>
              <a:t>en el cálculo y delta </a:t>
            </a:r>
            <a:r>
              <a:rPr b="0" i="1" lang="es" sz="1650" u="none" cap="none" strike="noStrike">
                <a:solidFill>
                  <a:srgbClr val="0000FF"/>
                </a:solidFill>
                <a:latin typeface="Arial"/>
                <a:ea typeface="Arial"/>
                <a:cs typeface="Arial"/>
                <a:sym typeface="Arial"/>
              </a:rPr>
              <a:t>x</a:t>
            </a:r>
            <a:r>
              <a:rPr b="0" i="1" lang="es" sz="1000" u="none" cap="none" strike="noStrike">
                <a:solidFill>
                  <a:srgbClr val="0000FF"/>
                </a:solidFill>
                <a:latin typeface="Arial"/>
                <a:ea typeface="Arial"/>
                <a:cs typeface="Arial"/>
                <a:sym typeface="Arial"/>
              </a:rPr>
              <a:t>0 </a:t>
            </a:r>
            <a:r>
              <a:rPr b="0" i="1" lang="es" sz="1650" u="none" cap="none" strike="noStrike">
                <a:solidFill>
                  <a:schemeClr val="dk1"/>
                </a:solidFill>
                <a:latin typeface="Arial"/>
                <a:ea typeface="Arial"/>
                <a:cs typeface="Arial"/>
                <a:sym typeface="Arial"/>
              </a:rPr>
              <a:t>el </a:t>
            </a:r>
            <a:r>
              <a:rPr b="0" i="1" lang="es" sz="1650" u="none" cap="none" strike="noStrike">
                <a:solidFill>
                  <a:srgbClr val="0000FF"/>
                </a:solidFill>
                <a:latin typeface="Arial"/>
                <a:ea typeface="Arial"/>
                <a:cs typeface="Arial"/>
                <a:sym typeface="Arial"/>
              </a:rPr>
              <a:t>intervalo</a:t>
            </a:r>
            <a:endParaRPr b="0" i="1" sz="1650" u="none" cap="none" strike="noStrike">
              <a:solidFill>
                <a:srgbClr val="0000FF"/>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50"/>
              <a:buFont typeface="Arial"/>
              <a:buNone/>
            </a:pPr>
            <a:r>
              <a:rPr b="0" i="1" lang="es" sz="1650" u="none" cap="none" strike="noStrike">
                <a:solidFill>
                  <a:srgbClr val="0000FF"/>
                </a:solidFill>
                <a:latin typeface="Arial"/>
                <a:ea typeface="Arial"/>
                <a:cs typeface="Arial"/>
                <a:sym typeface="Arial"/>
              </a:rPr>
              <a:t>inicial de búsqueda</a:t>
            </a:r>
            <a:r>
              <a:rPr b="0" i="1" lang="es" sz="1650" u="none" cap="none" strike="noStrike">
                <a:solidFill>
                  <a:schemeClr val="dk1"/>
                </a:solidFill>
                <a:latin typeface="Arial"/>
                <a:ea typeface="Arial"/>
                <a:cs typeface="Arial"/>
                <a:sym typeface="Arial"/>
              </a:rPr>
              <a:t>. El </a:t>
            </a:r>
            <a:r>
              <a:rPr b="0" i="1" lang="es" sz="1650" u="none" cap="none" strike="noStrike">
                <a:solidFill>
                  <a:srgbClr val="FF0000"/>
                </a:solidFill>
                <a:latin typeface="Arial"/>
                <a:ea typeface="Arial"/>
                <a:cs typeface="Arial"/>
                <a:sym typeface="Arial"/>
              </a:rPr>
              <a:t>número de iteraciones n </a:t>
            </a:r>
            <a:r>
              <a:rPr b="0" i="1" lang="es" sz="1650" u="none" cap="none" strike="noStrike">
                <a:solidFill>
                  <a:schemeClr val="dk1"/>
                </a:solidFill>
                <a:latin typeface="Arial"/>
                <a:ea typeface="Arial"/>
                <a:cs typeface="Arial"/>
                <a:sym typeface="Arial"/>
              </a:rPr>
              <a:t>que deben realizarse</a:t>
            </a:r>
            <a:endParaRPr b="0" i="1" sz="16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50"/>
              <a:buFont typeface="Arial"/>
              <a:buNone/>
            </a:pPr>
            <a:r>
              <a:rPr b="0" i="1" lang="es" sz="1650" u="none" cap="none" strike="noStrike">
                <a:solidFill>
                  <a:schemeClr val="dk1"/>
                </a:solidFill>
                <a:latin typeface="Arial"/>
                <a:ea typeface="Arial"/>
                <a:cs typeface="Arial"/>
                <a:sym typeface="Arial"/>
              </a:rPr>
              <a:t>para determinar la raíz con ese error especificado es :</a:t>
            </a:r>
            <a:endParaRPr b="0" i="1" sz="1650" u="none" cap="none" strike="noStrike">
              <a:solidFill>
                <a:schemeClr val="dk1"/>
              </a:solidFill>
              <a:latin typeface="Arial"/>
              <a:ea typeface="Arial"/>
              <a:cs typeface="Arial"/>
              <a:sym typeface="Arial"/>
            </a:endParaRPr>
          </a:p>
        </p:txBody>
      </p:sp>
      <p:pic>
        <p:nvPicPr>
          <p:cNvPr id="206" name="Google Shape;206;p29"/>
          <p:cNvPicPr preferRelativeResize="0"/>
          <p:nvPr/>
        </p:nvPicPr>
        <p:blipFill rotWithShape="1">
          <a:blip r:embed="rId4">
            <a:alphaModFix/>
          </a:blip>
          <a:srcRect b="0" l="0" r="0" t="0"/>
          <a:stretch/>
        </p:blipFill>
        <p:spPr>
          <a:xfrm>
            <a:off x="5845849" y="3732850"/>
            <a:ext cx="1965675" cy="779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nvSpPr>
        <p:spPr>
          <a:xfrm>
            <a:off x="359975" y="784300"/>
            <a:ext cx="6863400" cy="39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chemeClr val="dk1"/>
                </a:solidFill>
                <a:latin typeface="Courier New"/>
                <a:ea typeface="Courier New"/>
                <a:cs typeface="Courier New"/>
                <a:sym typeface="Courier New"/>
              </a:rPr>
              <a:t>iniciar xl, xu // Paso 1</a:t>
            </a:r>
            <a:endParaRPr b="1" i="0" sz="135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chemeClr val="dk1"/>
                </a:solidFill>
                <a:latin typeface="Courier New"/>
                <a:ea typeface="Courier New"/>
                <a:cs typeface="Courier New"/>
                <a:sym typeface="Courier New"/>
              </a:rPr>
              <a:t>iniciar iter=0, imax, es, xr = xu</a:t>
            </a:r>
            <a:endParaRPr b="1" i="0" sz="135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chemeClr val="dk1"/>
                </a:solidFill>
                <a:latin typeface="Courier New"/>
                <a:ea typeface="Courier New"/>
                <a:cs typeface="Courier New"/>
                <a:sym typeface="Courier New"/>
              </a:rPr>
              <a:t>definir funcion f</a:t>
            </a:r>
            <a:endParaRPr b="1" i="0" sz="135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0000FF"/>
                </a:solidFill>
                <a:latin typeface="Courier New"/>
                <a:ea typeface="Courier New"/>
                <a:cs typeface="Courier New"/>
                <a:sym typeface="Courier New"/>
              </a:rPr>
              <a:t>repetir:</a:t>
            </a:r>
            <a:endParaRPr b="1" i="0" sz="1350" u="none" cap="none" strike="noStrike">
              <a:solidFill>
                <a:srgbClr val="0000FF"/>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350" u="none" cap="none" strike="noStrike">
                <a:solidFill>
                  <a:schemeClr val="dk1"/>
                </a:solidFill>
                <a:latin typeface="Courier New"/>
                <a:ea typeface="Courier New"/>
                <a:cs typeface="Courier New"/>
                <a:sym typeface="Courier New"/>
              </a:rPr>
              <a:t>xv = xr </a:t>
            </a:r>
            <a:r>
              <a:rPr b="1" i="0" lang="es" sz="1200" u="none" cap="none" strike="noStrike">
                <a:solidFill>
                  <a:schemeClr val="dk1"/>
                </a:solidFill>
                <a:latin typeface="Courier New"/>
                <a:ea typeface="Courier New"/>
                <a:cs typeface="Courier New"/>
                <a:sym typeface="Courier New"/>
              </a:rPr>
              <a:t>// Para calcular ea</a:t>
            </a:r>
            <a:endParaRPr b="1" i="0" sz="1350" u="none" cap="none" strike="noStrike">
              <a:solidFill>
                <a:srgbClr val="006600"/>
              </a:solidFill>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006600"/>
                </a:solidFill>
                <a:latin typeface="Courier New"/>
                <a:ea typeface="Courier New"/>
                <a:cs typeface="Courier New"/>
                <a:sym typeface="Courier New"/>
              </a:rPr>
              <a:t>xr = (xl + xu)/2 // Paso 2</a:t>
            </a:r>
            <a:endParaRPr b="1" i="0" sz="1350" u="none" cap="none" strike="noStrike">
              <a:solidFill>
                <a:srgbClr val="006600"/>
              </a:solidFill>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1350"/>
              <a:buFont typeface="Arial"/>
              <a:buNone/>
            </a:pPr>
            <a:r>
              <a:rPr b="1" i="0" lang="es" sz="1350" u="none" cap="none" strike="noStrike">
                <a:solidFill>
                  <a:schemeClr val="dk1"/>
                </a:solidFill>
                <a:latin typeface="Courier New"/>
                <a:ea typeface="Courier New"/>
                <a:cs typeface="Courier New"/>
                <a:sym typeface="Courier New"/>
              </a:rPr>
              <a:t>si xr != 0:</a:t>
            </a:r>
            <a:endParaRPr b="1" i="0" sz="1350" u="none" cap="none" strike="noStrike">
              <a:solidFill>
                <a:schemeClr val="dk1"/>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rgbClr val="000000"/>
              </a:buClr>
              <a:buSzPts val="1350"/>
              <a:buFont typeface="Arial"/>
              <a:buNone/>
            </a:pPr>
            <a:r>
              <a:rPr b="1" i="0" lang="es" sz="1350" u="none" cap="none" strike="noStrike">
                <a:solidFill>
                  <a:srgbClr val="FF0000"/>
                </a:solidFill>
                <a:latin typeface="Courier New"/>
                <a:ea typeface="Courier New"/>
                <a:cs typeface="Courier New"/>
                <a:sym typeface="Courier New"/>
              </a:rPr>
              <a:t>ea = abs((xr- xv)/xr)*100</a:t>
            </a:r>
            <a:endParaRPr b="1" i="0" sz="1350" u="none" cap="none" strike="noStrike">
              <a:solidFill>
                <a:srgbClr val="FF0000"/>
              </a:solidFill>
              <a:latin typeface="Courier New"/>
              <a:ea typeface="Courier New"/>
              <a:cs typeface="Courier New"/>
              <a:sym typeface="Courier New"/>
            </a:endParaRPr>
          </a:p>
          <a:p>
            <a:pPr indent="0" lvl="0" marL="457200" marR="0" rtl="0" algn="l">
              <a:lnSpc>
                <a:spcPct val="115000"/>
              </a:lnSpc>
              <a:spcBef>
                <a:spcPts val="0"/>
              </a:spcBef>
              <a:spcAft>
                <a:spcPts val="0"/>
              </a:spcAft>
              <a:buClr>
                <a:srgbClr val="000000"/>
              </a:buClr>
              <a:buSzPts val="1350"/>
              <a:buFont typeface="Arial"/>
              <a:buNone/>
            </a:pPr>
            <a:r>
              <a:rPr b="1" i="0" lang="es" sz="1350" u="none" cap="none" strike="noStrike">
                <a:solidFill>
                  <a:srgbClr val="FF0000"/>
                </a:solidFill>
                <a:latin typeface="Courier New"/>
                <a:ea typeface="Courier New"/>
                <a:cs typeface="Courier New"/>
                <a:sym typeface="Courier New"/>
              </a:rPr>
              <a:t>iter = iter + 1</a:t>
            </a:r>
            <a:endParaRPr b="1" i="0" sz="1350" u="none" cap="none" strike="noStrike">
              <a:solidFill>
                <a:srgbClr val="FF0000"/>
              </a:solidFill>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660066"/>
                </a:solidFill>
                <a:latin typeface="Courier New"/>
                <a:ea typeface="Courier New"/>
                <a:cs typeface="Courier New"/>
                <a:sym typeface="Courier New"/>
              </a:rPr>
              <a:t>prueba = f(xl) * f(xr) // Paso 3</a:t>
            </a:r>
            <a:endParaRPr b="1" i="0" sz="1350" u="none" cap="none" strike="noStrike">
              <a:solidFill>
                <a:srgbClr val="660066"/>
              </a:solidFill>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660066"/>
                </a:solidFill>
                <a:latin typeface="Courier New"/>
                <a:ea typeface="Courier New"/>
                <a:cs typeface="Courier New"/>
                <a:sym typeface="Courier New"/>
              </a:rPr>
              <a:t>si prueba &lt; 0:</a:t>
            </a:r>
            <a:endParaRPr b="1" i="0" sz="135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rgbClr val="000000"/>
              </a:buClr>
              <a:buSzPts val="1350"/>
              <a:buFont typeface="Arial"/>
              <a:buNone/>
            </a:pPr>
            <a:r>
              <a:rPr b="1" i="0" lang="es" sz="1350" u="none" cap="none" strike="noStrike">
                <a:solidFill>
                  <a:srgbClr val="660066"/>
                </a:solidFill>
                <a:latin typeface="Courier New"/>
                <a:ea typeface="Courier New"/>
                <a:cs typeface="Courier New"/>
                <a:sym typeface="Courier New"/>
              </a:rPr>
              <a:t>xu = xr</a:t>
            </a:r>
            <a:endParaRPr b="1" i="0" sz="1350" u="none" cap="none" strike="noStrike">
              <a:solidFill>
                <a:srgbClr val="660066"/>
              </a:solidFill>
              <a:latin typeface="Courier New"/>
              <a:ea typeface="Courier New"/>
              <a:cs typeface="Courier New"/>
              <a:sym typeface="Courier New"/>
            </a:endParaRPr>
          </a:p>
          <a:p>
            <a:pPr indent="45720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660066"/>
                </a:solidFill>
                <a:latin typeface="Courier New"/>
                <a:ea typeface="Courier New"/>
                <a:cs typeface="Courier New"/>
                <a:sym typeface="Courier New"/>
              </a:rPr>
              <a:t>en caso contrario:</a:t>
            </a:r>
            <a:endParaRPr b="1" i="0" sz="135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rgbClr val="000000"/>
              </a:buClr>
              <a:buSzPts val="1350"/>
              <a:buFont typeface="Arial"/>
              <a:buNone/>
            </a:pPr>
            <a:r>
              <a:rPr b="1" i="0" lang="es" sz="1350" u="none" cap="none" strike="noStrike">
                <a:solidFill>
                  <a:srgbClr val="660066"/>
                </a:solidFill>
                <a:latin typeface="Courier New"/>
                <a:ea typeface="Courier New"/>
                <a:cs typeface="Courier New"/>
                <a:sym typeface="Courier New"/>
              </a:rPr>
              <a:t>xl = xr</a:t>
            </a:r>
            <a:endParaRPr b="1" i="0" sz="1350" u="none" cap="none" strike="noStrike">
              <a:solidFill>
                <a:srgbClr val="660066"/>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rgbClr val="0000FF"/>
                </a:solidFill>
                <a:latin typeface="Courier New"/>
                <a:ea typeface="Courier New"/>
                <a:cs typeface="Courier New"/>
                <a:sym typeface="Courier New"/>
              </a:rPr>
              <a:t>hasta que </a:t>
            </a:r>
            <a:r>
              <a:rPr b="1" i="0" lang="es" sz="1350" u="none" cap="none" strike="noStrike">
                <a:solidFill>
                  <a:schemeClr val="dk1"/>
                </a:solidFill>
                <a:latin typeface="Courier New"/>
                <a:ea typeface="Courier New"/>
                <a:cs typeface="Courier New"/>
                <a:sym typeface="Courier New"/>
              </a:rPr>
              <a:t>(</a:t>
            </a:r>
            <a:r>
              <a:rPr b="1" i="0" lang="es" sz="1350" u="none" cap="none" strike="noStrike">
                <a:solidFill>
                  <a:srgbClr val="FF0000"/>
                </a:solidFill>
                <a:latin typeface="Courier New"/>
                <a:ea typeface="Courier New"/>
                <a:cs typeface="Courier New"/>
                <a:sym typeface="Courier New"/>
              </a:rPr>
              <a:t>ea&lt;es </a:t>
            </a:r>
            <a:r>
              <a:rPr b="1" i="0" lang="es" sz="1350" u="none" cap="none" strike="noStrike">
                <a:solidFill>
                  <a:schemeClr val="dk1"/>
                </a:solidFill>
                <a:latin typeface="Courier New"/>
                <a:ea typeface="Courier New"/>
                <a:cs typeface="Courier New"/>
                <a:sym typeface="Courier New"/>
              </a:rPr>
              <a:t>or </a:t>
            </a:r>
            <a:r>
              <a:rPr b="1" i="0" lang="es" sz="1350" u="none" cap="none" strike="noStrike">
                <a:solidFill>
                  <a:srgbClr val="FF0000"/>
                </a:solidFill>
                <a:latin typeface="Courier New"/>
                <a:ea typeface="Courier New"/>
                <a:cs typeface="Courier New"/>
                <a:sym typeface="Courier New"/>
              </a:rPr>
              <a:t>iter&gt;=imax</a:t>
            </a:r>
            <a:r>
              <a:rPr b="1" i="0" lang="es" sz="1350" u="none" cap="none" strike="noStrike">
                <a:solidFill>
                  <a:schemeClr val="dk1"/>
                </a:solidFill>
                <a:latin typeface="Courier New"/>
                <a:ea typeface="Courier New"/>
                <a:cs typeface="Courier New"/>
                <a:sym typeface="Courier New"/>
              </a:rPr>
              <a:t>)</a:t>
            </a:r>
            <a:endParaRPr b="1" i="0" sz="135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350"/>
              <a:buFont typeface="Arial"/>
              <a:buNone/>
            </a:pPr>
            <a:r>
              <a:rPr b="1" i="0" lang="es" sz="1350" u="none" cap="none" strike="noStrike">
                <a:solidFill>
                  <a:schemeClr val="dk1"/>
                </a:solidFill>
                <a:latin typeface="Courier New"/>
                <a:ea typeface="Courier New"/>
                <a:cs typeface="Courier New"/>
                <a:sym typeface="Courier New"/>
              </a:rPr>
              <a:t>mostrar xr</a:t>
            </a:r>
            <a:endParaRPr b="1" i="0" sz="1350" u="none" cap="none" strike="noStrike">
              <a:solidFill>
                <a:schemeClr val="dk1"/>
              </a:solidFill>
              <a:latin typeface="Courier New"/>
              <a:ea typeface="Courier New"/>
              <a:cs typeface="Courier New"/>
              <a:sym typeface="Courier New"/>
            </a:endParaRPr>
          </a:p>
        </p:txBody>
      </p:sp>
      <p:sp>
        <p:nvSpPr>
          <p:cNvPr id="212" name="Google Shape;212;p30"/>
          <p:cNvSpPr txBox="1"/>
          <p:nvPr/>
        </p:nvSpPr>
        <p:spPr>
          <a:xfrm>
            <a:off x="247975" y="1840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bisección</a:t>
            </a:r>
            <a:endParaRPr b="0" i="0" sz="27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1"/>
          <p:cNvSpPr txBox="1"/>
          <p:nvPr/>
        </p:nvSpPr>
        <p:spPr>
          <a:xfrm>
            <a:off x="199950" y="784300"/>
            <a:ext cx="5967300" cy="561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50"/>
              <a:buFont typeface="Arial"/>
              <a:buNone/>
            </a:pPr>
            <a:r>
              <a:rPr b="0" i="0" lang="es" sz="1850" u="none" cap="none" strike="noStrike">
                <a:solidFill>
                  <a:srgbClr val="008100"/>
                </a:solidFill>
                <a:latin typeface="Arial"/>
                <a:ea typeface="Arial"/>
                <a:cs typeface="Arial"/>
                <a:sym typeface="Arial"/>
              </a:rPr>
              <a:t>f ( x ) = 667.38 / x </a:t>
            </a:r>
            <a:r>
              <a:rPr b="0" i="0" lang="es" sz="2450" u="none" cap="none" strike="noStrike">
                <a:solidFill>
                  <a:srgbClr val="008100"/>
                </a:solidFill>
                <a:latin typeface="Arial"/>
                <a:ea typeface="Arial"/>
                <a:cs typeface="Arial"/>
                <a:sym typeface="Arial"/>
              </a:rPr>
              <a:t>(</a:t>
            </a:r>
            <a:r>
              <a:rPr b="0" i="0" lang="es" sz="1850" u="none" cap="none" strike="noStrike">
                <a:solidFill>
                  <a:srgbClr val="008100"/>
                </a:solidFill>
                <a:latin typeface="Arial"/>
                <a:ea typeface="Arial"/>
                <a:cs typeface="Arial"/>
                <a:sym typeface="Arial"/>
              </a:rPr>
              <a:t>1−e </a:t>
            </a:r>
            <a:r>
              <a:rPr b="0" baseline="30000" i="0" lang="es" sz="2150" u="none" cap="none" strike="noStrike">
                <a:solidFill>
                  <a:srgbClr val="008100"/>
                </a:solidFill>
                <a:latin typeface="Arial"/>
                <a:ea typeface="Arial"/>
                <a:cs typeface="Arial"/>
                <a:sym typeface="Arial"/>
              </a:rPr>
              <a:t>−0.146843x</a:t>
            </a:r>
            <a:r>
              <a:rPr b="0" i="0" lang="es" sz="950" u="none" cap="none" strike="noStrike">
                <a:solidFill>
                  <a:srgbClr val="008100"/>
                </a:solidFill>
                <a:latin typeface="Arial"/>
                <a:ea typeface="Arial"/>
                <a:cs typeface="Arial"/>
                <a:sym typeface="Arial"/>
              </a:rPr>
              <a:t> </a:t>
            </a:r>
            <a:r>
              <a:rPr b="0" i="0" lang="es" sz="2450" u="none" cap="none" strike="noStrike">
                <a:solidFill>
                  <a:srgbClr val="008100"/>
                </a:solidFill>
                <a:latin typeface="Arial"/>
                <a:ea typeface="Arial"/>
                <a:cs typeface="Arial"/>
                <a:sym typeface="Arial"/>
              </a:rPr>
              <a:t>) </a:t>
            </a:r>
            <a:r>
              <a:rPr b="0" i="0" lang="es" sz="1850" u="none" cap="none" strike="noStrike">
                <a:solidFill>
                  <a:srgbClr val="008100"/>
                </a:solidFill>
                <a:latin typeface="Arial"/>
                <a:ea typeface="Arial"/>
                <a:cs typeface="Arial"/>
                <a:sym typeface="Arial"/>
              </a:rPr>
              <a:t>− 40</a:t>
            </a:r>
            <a:endParaRPr b="0" i="0" sz="1850" u="none" cap="none" strike="noStrike">
              <a:solidFill>
                <a:srgbClr val="008100"/>
              </a:solidFill>
              <a:latin typeface="Arial"/>
              <a:ea typeface="Arial"/>
              <a:cs typeface="Arial"/>
              <a:sym typeface="Arial"/>
            </a:endParaRPr>
          </a:p>
        </p:txBody>
      </p:sp>
      <p:sp>
        <p:nvSpPr>
          <p:cNvPr id="218" name="Google Shape;218;p31"/>
          <p:cNvSpPr txBox="1"/>
          <p:nvPr/>
        </p:nvSpPr>
        <p:spPr>
          <a:xfrm>
            <a:off x="287950" y="1346200"/>
            <a:ext cx="4863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1" lang="es" sz="1700" u="none" cap="none" strike="noStrike">
                <a:solidFill>
                  <a:schemeClr val="dk1"/>
                </a:solidFill>
                <a:latin typeface="Arial"/>
                <a:ea typeface="Arial"/>
                <a:cs typeface="Arial"/>
                <a:sym typeface="Arial"/>
              </a:rPr>
              <a:t>Comenzar por el intervalo [12,16]</a:t>
            </a:r>
            <a:endParaRPr b="0" i="1" sz="1700" u="none" cap="none" strike="noStrike">
              <a:solidFill>
                <a:schemeClr val="dk1"/>
              </a:solidFill>
              <a:latin typeface="Arial"/>
              <a:ea typeface="Arial"/>
              <a:cs typeface="Arial"/>
              <a:sym typeface="Arial"/>
            </a:endParaRPr>
          </a:p>
        </p:txBody>
      </p:sp>
      <p:pic>
        <p:nvPicPr>
          <p:cNvPr id="219" name="Google Shape;219;p31" title="image29.png"/>
          <p:cNvPicPr preferRelativeResize="0"/>
          <p:nvPr/>
        </p:nvPicPr>
        <p:blipFill rotWithShape="1">
          <a:blip r:embed="rId3">
            <a:alphaModFix/>
          </a:blip>
          <a:srcRect b="0" l="30" r="40" t="0"/>
          <a:stretch/>
        </p:blipFill>
        <p:spPr>
          <a:xfrm>
            <a:off x="4471575" y="887900"/>
            <a:ext cx="4520024" cy="3548798"/>
          </a:xfrm>
          <a:prstGeom prst="rect">
            <a:avLst/>
          </a:prstGeom>
          <a:noFill/>
          <a:ln>
            <a:noFill/>
          </a:ln>
        </p:spPr>
      </p:pic>
      <p:sp>
        <p:nvSpPr>
          <p:cNvPr id="220" name="Google Shape;220;p31"/>
          <p:cNvSpPr txBox="1"/>
          <p:nvPr/>
        </p:nvSpPr>
        <p:spPr>
          <a:xfrm>
            <a:off x="247975" y="1840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Problema: Encontrar la Raíz de una Ecuación</a:t>
            </a:r>
            <a:endParaRPr b="0" i="0" sz="27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nvSpPr>
        <p:spPr>
          <a:xfrm>
            <a:off x="247975" y="184000"/>
            <a:ext cx="74154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Problema: Encontrar la Raíz de una Ecuación</a:t>
            </a:r>
            <a:endParaRPr b="0" i="0" sz="2700" u="none" cap="none" strike="noStrike">
              <a:solidFill>
                <a:schemeClr val="dk1"/>
              </a:solidFill>
              <a:latin typeface="Arial"/>
              <a:ea typeface="Arial"/>
              <a:cs typeface="Arial"/>
              <a:sym typeface="Arial"/>
            </a:endParaRPr>
          </a:p>
        </p:txBody>
      </p:sp>
      <p:sp>
        <p:nvSpPr>
          <p:cNvPr id="226" name="Google Shape;226;p32"/>
          <p:cNvSpPr txBox="1"/>
          <p:nvPr/>
        </p:nvSpPr>
        <p:spPr>
          <a:xfrm>
            <a:off x="247975" y="991875"/>
            <a:ext cx="6329400" cy="3909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 xr = xu; // inicializamos xr con xu</a:t>
            </a:r>
            <a:endParaRPr b="1" i="0" sz="11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    </a:t>
            </a:r>
            <a:r>
              <a:rPr b="1" i="0" lang="es" sz="1100" u="none" cap="none" strike="noStrike">
                <a:solidFill>
                  <a:srgbClr val="008100"/>
                </a:solidFill>
                <a:latin typeface="Courier New"/>
                <a:ea typeface="Courier New"/>
                <a:cs typeface="Courier New"/>
                <a:sym typeface="Courier New"/>
              </a:rPr>
              <a:t>// Repetir hasta condición de parada</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do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xv = xr; // Guardar xr previo para calcular error aproximado</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xr = (xl + xu) / 2.0; // Paso 2: punto medio</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if (xr != 0)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ea = abs((xr - xv) / xr) * 100.0; // error aproximado en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iter++;</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double prueba = f(xl) * f(xr); // Paso 3: verificar signo</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if (prueba &lt; 0)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xu = xr;</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 else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xl = xr;</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cout &lt;&lt; "Iteracion " &lt;&lt; iter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&lt;&lt; ": xr = " &lt;&lt; xr </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&lt;&lt; ", ea = " &lt;&lt; ea &lt;&lt; "%" &lt;&lt; endl;</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rgbClr val="008100"/>
                </a:solidFill>
                <a:latin typeface="Courier New"/>
                <a:ea typeface="Courier New"/>
                <a:cs typeface="Courier New"/>
                <a:sym typeface="Courier New"/>
              </a:rPr>
              <a:t>    } while (ea &gt; es &amp;&amp; iter &lt; imax);</a:t>
            </a:r>
            <a:endParaRPr b="1" i="0" sz="1100" u="none" cap="none" strike="noStrike">
              <a:solidFill>
                <a:srgbClr val="008100"/>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    cout &lt;&lt; "\nLa raiz aproximada es: " &lt;&lt; xr &lt;&lt; endl;</a:t>
            </a:r>
            <a:endParaRPr b="1" i="0" sz="11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    return 0;</a:t>
            </a:r>
            <a:endParaRPr b="1" i="0" sz="1100" u="none" cap="none" strike="noStrike">
              <a:solidFill>
                <a:schemeClr val="dk1"/>
              </a:solidFill>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a:t>
            </a:r>
            <a:endParaRPr b="1" i="0" sz="1100" u="none" cap="none" strike="noStrike">
              <a:solidFill>
                <a:schemeClr val="dk1"/>
              </a:solidFill>
              <a:latin typeface="Courier New"/>
              <a:ea typeface="Courier New"/>
              <a:cs typeface="Courier New"/>
              <a:sym typeface="Courier New"/>
            </a:endParaRPr>
          </a:p>
        </p:txBody>
      </p:sp>
      <p:sp>
        <p:nvSpPr>
          <p:cNvPr id="227" name="Google Shape;227;p32">
            <a:hlinkClick r:id="rId3"/>
          </p:cNvPr>
          <p:cNvSpPr txBox="1"/>
          <p:nvPr/>
        </p:nvSpPr>
        <p:spPr>
          <a:xfrm>
            <a:off x="6642875" y="1467600"/>
            <a:ext cx="23046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s" u="sng">
                <a:solidFill>
                  <a:schemeClr val="hlink"/>
                </a:solidFill>
                <a:hlinkClick r:id="rId4"/>
              </a:rPr>
              <a:t>https://onlinegdb.com/VP5GCzrny</a:t>
            </a:r>
            <a:endParaRPr/>
          </a:p>
          <a:p>
            <a:pPr indent="0" lvl="0" marL="0" marR="0" rtl="0" algn="l">
              <a:lnSpc>
                <a:spcPct val="100000"/>
              </a:lnSpc>
              <a:spcBef>
                <a:spcPts val="0"/>
              </a:spcBef>
              <a:spcAft>
                <a:spcPts val="0"/>
              </a:spcAft>
              <a:buClr>
                <a:srgbClr val="000000"/>
              </a:buClr>
              <a:buSzPts val="1400"/>
              <a:buFont typeface="Arial"/>
              <a:buNone/>
            </a:pPr>
            <a:r>
              <a:rPr lang="es"/>
              <a:t>Biseccion con X^2 - 2</a:t>
            </a:r>
            <a:endParaRPr/>
          </a:p>
          <a:p>
            <a:pPr indent="0" lvl="0" marL="0" marR="0" rtl="0" algn="l">
              <a:lnSpc>
                <a:spcPct val="100000"/>
              </a:lnSpc>
              <a:spcBef>
                <a:spcPts val="0"/>
              </a:spcBef>
              <a:spcAft>
                <a:spcPts val="0"/>
              </a:spcAft>
              <a:buClr>
                <a:srgbClr val="000000"/>
              </a:buClr>
              <a:buSzPts val="1400"/>
              <a:buFont typeface="Arial"/>
              <a:buNone/>
            </a:pPr>
            <a:r>
              <a:t/>
            </a:r>
            <a:endParaRPr/>
          </a:p>
          <a:p>
            <a:pPr indent="0" lvl="0" marL="0" marR="0" rtl="0" algn="l">
              <a:lnSpc>
                <a:spcPct val="100000"/>
              </a:lnSpc>
              <a:spcBef>
                <a:spcPts val="0"/>
              </a:spcBef>
              <a:spcAft>
                <a:spcPts val="0"/>
              </a:spcAft>
              <a:buClr>
                <a:srgbClr val="000000"/>
              </a:buClr>
              <a:buSzPts val="1400"/>
              <a:buFont typeface="Arial"/>
              <a:buNone/>
            </a:pPr>
            <a:r>
              <a:rPr b="1" lang="es" u="sng">
                <a:solidFill>
                  <a:schemeClr val="hlink"/>
                </a:solidFill>
                <a:hlinkClick r:id="rId5"/>
              </a:rPr>
              <a:t>https://www.desmos.com/calculator/68ksbkulfw</a:t>
            </a:r>
            <a:br>
              <a:rPr b="1" lang="es"/>
            </a:br>
            <a:br>
              <a:rPr b="1" lang="es"/>
            </a:br>
            <a:r>
              <a:rPr b="1" lang="es"/>
              <a:t>proyecto grafico</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
              <a:t>Es todo por hoy…</a:t>
            </a:r>
            <a:endParaRPr/>
          </a:p>
        </p:txBody>
      </p:sp>
      <p:sp>
        <p:nvSpPr>
          <p:cNvPr id="233" name="Google Shape;233;p33"/>
          <p:cNvSpPr txBox="1"/>
          <p:nvPr>
            <p:ph idx="12" type="sldNum"/>
          </p:nvPr>
        </p:nvSpPr>
        <p:spPr>
          <a:xfrm>
            <a:off x="8520083" y="4734654"/>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4"/>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a:t>
            </a:r>
            <a:endParaRPr b="0" i="0" sz="2000" u="none" cap="none" strike="noStrike">
              <a:solidFill>
                <a:schemeClr val="dk1"/>
              </a:solidFill>
              <a:latin typeface="Arial"/>
              <a:ea typeface="Arial"/>
              <a:cs typeface="Arial"/>
              <a:sym typeface="Arial"/>
            </a:endParaRPr>
          </a:p>
        </p:txBody>
      </p:sp>
      <p:pic>
        <p:nvPicPr>
          <p:cNvPr id="239" name="Google Shape;239;p34" title="Screenshot 2025-08-27 at 06.27.26.png"/>
          <p:cNvPicPr preferRelativeResize="0"/>
          <p:nvPr/>
        </p:nvPicPr>
        <p:blipFill rotWithShape="1">
          <a:blip r:embed="rId3">
            <a:alphaModFix/>
          </a:blip>
          <a:srcRect b="0" l="0" r="0" t="0"/>
          <a:stretch/>
        </p:blipFill>
        <p:spPr>
          <a:xfrm>
            <a:off x="341350" y="1207150"/>
            <a:ext cx="3769225" cy="3439500"/>
          </a:xfrm>
          <a:prstGeom prst="rect">
            <a:avLst/>
          </a:prstGeom>
          <a:noFill/>
          <a:ln>
            <a:noFill/>
          </a:ln>
        </p:spPr>
      </p:pic>
      <p:sp>
        <p:nvSpPr>
          <p:cNvPr id="240" name="Google Shape;240;p34"/>
          <p:cNvSpPr txBox="1"/>
          <p:nvPr/>
        </p:nvSpPr>
        <p:spPr>
          <a:xfrm>
            <a:off x="4184800" y="1641025"/>
            <a:ext cx="4632600" cy="2210700"/>
          </a:xfrm>
          <a:prstGeom prst="rect">
            <a:avLst/>
          </a:prstGeom>
          <a:noFill/>
          <a:ln>
            <a:noFill/>
          </a:ln>
        </p:spPr>
        <p:txBody>
          <a:bodyPr anchorCtr="0" anchor="t" bIns="91425" lIns="91425" spcFirstLastPara="1" rIns="91425" wrap="square" tIns="91425">
            <a:spAutoFit/>
          </a:bodyPr>
          <a:lstStyle/>
          <a:p>
            <a:pPr indent="-352425" lvl="0" marL="457200" marR="0" rtl="0" algn="l">
              <a:lnSpc>
                <a:spcPct val="115000"/>
              </a:lnSpc>
              <a:spcBef>
                <a:spcPts val="0"/>
              </a:spcBef>
              <a:spcAft>
                <a:spcPts val="0"/>
              </a:spcAft>
              <a:buClr>
                <a:schemeClr val="dk1"/>
              </a:buClr>
              <a:buSzPts val="1950"/>
              <a:buFont typeface="Arial"/>
              <a:buChar char="-"/>
            </a:pPr>
            <a:r>
              <a:rPr b="0" i="1" lang="es" sz="1950" u="none" cap="none" strike="noStrike">
                <a:solidFill>
                  <a:schemeClr val="dk1"/>
                </a:solidFill>
                <a:latin typeface="Arial"/>
                <a:ea typeface="Arial"/>
                <a:cs typeface="Arial"/>
                <a:sym typeface="Arial"/>
              </a:rPr>
              <a:t>Idea central: aproximar la raíz como la intersección de la recta con el eje x.</a:t>
            </a:r>
            <a:endParaRPr b="0" i="1" sz="19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950"/>
              <a:buFont typeface="Arial"/>
              <a:buNone/>
            </a:pPr>
            <a:r>
              <a:t/>
            </a:r>
            <a:endParaRPr b="0" i="1" sz="1950" u="none" cap="none" strike="noStrike">
              <a:solidFill>
                <a:schemeClr val="dk1"/>
              </a:solidFill>
              <a:latin typeface="Arial"/>
              <a:ea typeface="Arial"/>
              <a:cs typeface="Arial"/>
              <a:sym typeface="Arial"/>
            </a:endParaRPr>
          </a:p>
          <a:p>
            <a:pPr indent="-352425" lvl="0" marL="457200" marR="0" rtl="0" algn="l">
              <a:lnSpc>
                <a:spcPct val="115000"/>
              </a:lnSpc>
              <a:spcBef>
                <a:spcPts val="0"/>
              </a:spcBef>
              <a:spcAft>
                <a:spcPts val="0"/>
              </a:spcAft>
              <a:buClr>
                <a:schemeClr val="dk1"/>
              </a:buClr>
              <a:buSzPts val="1950"/>
              <a:buFont typeface="Arial"/>
              <a:buChar char="-"/>
            </a:pPr>
            <a:r>
              <a:rPr b="0" i="1" lang="es" sz="1950" u="none" cap="none" strike="noStrike">
                <a:solidFill>
                  <a:schemeClr val="dk1"/>
                </a:solidFill>
                <a:latin typeface="Arial"/>
                <a:ea typeface="Arial"/>
                <a:cs typeface="Arial"/>
                <a:sym typeface="Arial"/>
              </a:rPr>
              <a:t>Hacer uso de una mayor cantidad de información disponible.</a:t>
            </a:r>
            <a:endParaRPr b="0" i="1" sz="1950" u="none" cap="none" strike="noStrike">
              <a:solidFill>
                <a:schemeClr val="dk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5"/>
          <p:cNvSpPr txBox="1"/>
          <p:nvPr/>
        </p:nvSpPr>
        <p:spPr>
          <a:xfrm>
            <a:off x="3338025" y="1892950"/>
            <a:ext cx="4632600" cy="80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050"/>
              <a:buFont typeface="Arial"/>
              <a:buNone/>
            </a:pPr>
            <a:r>
              <a:rPr b="0" i="1" lang="es" sz="2050" u="none" cap="none" strike="noStrike">
                <a:solidFill>
                  <a:schemeClr val="dk1"/>
                </a:solidFill>
                <a:latin typeface="Arial"/>
                <a:ea typeface="Arial"/>
                <a:cs typeface="Arial"/>
                <a:sym typeface="Arial"/>
              </a:rPr>
              <a:t>tan α = f (x</a:t>
            </a:r>
            <a:r>
              <a:rPr b="0" i="1" lang="es" sz="1250" u="none" cap="none" strike="noStrike">
                <a:solidFill>
                  <a:schemeClr val="dk1"/>
                </a:solidFill>
                <a:latin typeface="Arial"/>
                <a:ea typeface="Arial"/>
                <a:cs typeface="Arial"/>
                <a:sym typeface="Arial"/>
              </a:rPr>
              <a:t>l </a:t>
            </a:r>
            <a:r>
              <a:rPr b="0" i="1" lang="es" sz="2050" u="none" cap="none" strike="noStrike">
                <a:solidFill>
                  <a:schemeClr val="dk1"/>
                </a:solidFill>
                <a:latin typeface="Arial"/>
                <a:ea typeface="Arial"/>
                <a:cs typeface="Arial"/>
                <a:sym typeface="Arial"/>
              </a:rPr>
              <a:t>) / (x</a:t>
            </a:r>
            <a:r>
              <a:rPr b="0" i="1" lang="es" sz="1250" u="none" cap="none" strike="noStrike">
                <a:solidFill>
                  <a:schemeClr val="dk1"/>
                </a:solidFill>
                <a:latin typeface="Arial"/>
                <a:ea typeface="Arial"/>
                <a:cs typeface="Arial"/>
                <a:sym typeface="Arial"/>
              </a:rPr>
              <a:t>r</a:t>
            </a:r>
            <a:r>
              <a:rPr b="0" i="1" lang="es" sz="2050" u="none" cap="none" strike="noStrike">
                <a:solidFill>
                  <a:schemeClr val="dk1"/>
                </a:solidFill>
                <a:latin typeface="Arial"/>
                <a:ea typeface="Arial"/>
                <a:cs typeface="Arial"/>
                <a:sym typeface="Arial"/>
              </a:rPr>
              <a:t>−x</a:t>
            </a:r>
            <a:r>
              <a:rPr b="0" i="1" lang="es" sz="1250" u="none" cap="none" strike="noStrike">
                <a:solidFill>
                  <a:schemeClr val="dk1"/>
                </a:solidFill>
                <a:latin typeface="Arial"/>
                <a:ea typeface="Arial"/>
                <a:cs typeface="Arial"/>
                <a:sym typeface="Arial"/>
              </a:rPr>
              <a:t>l </a:t>
            </a:r>
            <a:r>
              <a:rPr b="0" i="1" lang="es" sz="1650" u="none" cap="none" strike="noStrike">
                <a:solidFill>
                  <a:schemeClr val="dk1"/>
                </a:solidFill>
                <a:latin typeface="Arial"/>
                <a:ea typeface="Arial"/>
                <a:cs typeface="Arial"/>
                <a:sym typeface="Arial"/>
              </a:rPr>
              <a:t>)</a:t>
            </a:r>
            <a:r>
              <a:rPr b="0" i="1" lang="es" sz="2050" u="none" cap="none" strike="noStrike">
                <a:solidFill>
                  <a:schemeClr val="dk1"/>
                </a:solidFill>
                <a:latin typeface="Arial"/>
                <a:ea typeface="Arial"/>
                <a:cs typeface="Arial"/>
                <a:sym typeface="Arial"/>
              </a:rPr>
              <a:t>= f (x</a:t>
            </a:r>
            <a:r>
              <a:rPr b="0" i="1" lang="es" sz="1250" u="none" cap="none" strike="noStrike">
                <a:solidFill>
                  <a:schemeClr val="dk1"/>
                </a:solidFill>
                <a:latin typeface="Arial"/>
                <a:ea typeface="Arial"/>
                <a:cs typeface="Arial"/>
                <a:sym typeface="Arial"/>
              </a:rPr>
              <a:t>u</a:t>
            </a:r>
            <a:r>
              <a:rPr b="0" i="1" lang="es" sz="2050" u="none" cap="none" strike="noStrike">
                <a:solidFill>
                  <a:schemeClr val="dk1"/>
                </a:solidFill>
                <a:latin typeface="Arial"/>
                <a:ea typeface="Arial"/>
                <a:cs typeface="Arial"/>
                <a:sym typeface="Arial"/>
              </a:rPr>
              <a:t>) / (x</a:t>
            </a:r>
            <a:r>
              <a:rPr b="0" i="1" lang="es" sz="1250" u="none" cap="none" strike="noStrike">
                <a:solidFill>
                  <a:schemeClr val="dk1"/>
                </a:solidFill>
                <a:latin typeface="Arial"/>
                <a:ea typeface="Arial"/>
                <a:cs typeface="Arial"/>
                <a:sym typeface="Arial"/>
              </a:rPr>
              <a:t>r</a:t>
            </a:r>
            <a:r>
              <a:rPr b="0" i="1" lang="es" sz="2050" u="none" cap="none" strike="noStrike">
                <a:solidFill>
                  <a:schemeClr val="dk1"/>
                </a:solidFill>
                <a:latin typeface="Arial"/>
                <a:ea typeface="Arial"/>
                <a:cs typeface="Arial"/>
                <a:sym typeface="Arial"/>
              </a:rPr>
              <a:t>−x</a:t>
            </a:r>
            <a:r>
              <a:rPr b="0" i="1" lang="es" sz="1250" u="none" cap="none" strike="noStrike">
                <a:solidFill>
                  <a:schemeClr val="dk1"/>
                </a:solidFill>
                <a:latin typeface="Arial"/>
                <a:ea typeface="Arial"/>
                <a:cs typeface="Arial"/>
                <a:sym typeface="Arial"/>
              </a:rPr>
              <a:t>u</a:t>
            </a:r>
            <a:r>
              <a:rPr b="0" i="1" lang="es" sz="1750" u="none" cap="none" strike="noStrike">
                <a:solidFill>
                  <a:schemeClr val="dk1"/>
                </a:solidFill>
                <a:latin typeface="Arial"/>
                <a:ea typeface="Arial"/>
                <a:cs typeface="Arial"/>
                <a:sym typeface="Arial"/>
              </a:rPr>
              <a:t>)</a:t>
            </a:r>
            <a:endParaRPr b="0" i="1" sz="175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50"/>
              <a:buFont typeface="Arial"/>
              <a:buNone/>
            </a:pPr>
            <a:r>
              <a:t/>
            </a:r>
            <a:endParaRPr b="0" i="1" sz="1650" u="none" cap="none" strike="noStrike">
              <a:solidFill>
                <a:schemeClr val="dk1"/>
              </a:solidFill>
              <a:latin typeface="Arial"/>
              <a:ea typeface="Arial"/>
              <a:cs typeface="Arial"/>
              <a:sym typeface="Arial"/>
            </a:endParaRPr>
          </a:p>
        </p:txBody>
      </p:sp>
      <p:pic>
        <p:nvPicPr>
          <p:cNvPr id="246" name="Google Shape;246;p35"/>
          <p:cNvPicPr preferRelativeResize="0"/>
          <p:nvPr/>
        </p:nvPicPr>
        <p:blipFill rotWithShape="1">
          <a:blip r:embed="rId3">
            <a:alphaModFix/>
          </a:blip>
          <a:srcRect b="0" l="0" r="1874" t="0"/>
          <a:stretch/>
        </p:blipFill>
        <p:spPr>
          <a:xfrm>
            <a:off x="166400" y="1257600"/>
            <a:ext cx="3024675" cy="2900749"/>
          </a:xfrm>
          <a:prstGeom prst="rect">
            <a:avLst/>
          </a:prstGeom>
          <a:noFill/>
          <a:ln>
            <a:noFill/>
          </a:ln>
        </p:spPr>
      </p:pic>
      <p:sp>
        <p:nvSpPr>
          <p:cNvPr id="247" name="Google Shape;247;p35"/>
          <p:cNvSpPr txBox="1"/>
          <p:nvPr/>
        </p:nvSpPr>
        <p:spPr>
          <a:xfrm>
            <a:off x="3338025" y="1257600"/>
            <a:ext cx="5367300" cy="484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50"/>
              <a:buFont typeface="Arial"/>
              <a:buNone/>
            </a:pPr>
            <a:r>
              <a:rPr b="0" i="1" lang="es" sz="1950" u="none" cap="none" strike="noStrike">
                <a:solidFill>
                  <a:srgbClr val="6666FF"/>
                </a:solidFill>
                <a:latin typeface="Arial"/>
                <a:ea typeface="Arial"/>
                <a:cs typeface="Arial"/>
                <a:sym typeface="Arial"/>
              </a:rPr>
              <a:t>Triángulos semejantes </a:t>
            </a:r>
            <a:r>
              <a:rPr b="0" i="1" lang="es" sz="1950" u="none" cap="none" strike="noStrike">
                <a:solidFill>
                  <a:schemeClr val="dk1"/>
                </a:solidFill>
                <a:latin typeface="Arial"/>
                <a:ea typeface="Arial"/>
                <a:cs typeface="Arial"/>
                <a:sym typeface="Arial"/>
              </a:rPr>
              <a:t>, </a:t>
            </a:r>
            <a:r>
              <a:rPr b="0" i="1" lang="es" sz="1950" u="none" cap="none" strike="noStrike">
                <a:solidFill>
                  <a:srgbClr val="00CD00"/>
                </a:solidFill>
                <a:latin typeface="Arial"/>
                <a:ea typeface="Arial"/>
                <a:cs typeface="Arial"/>
                <a:sym typeface="Arial"/>
              </a:rPr>
              <a:t>ángulos iguales</a:t>
            </a:r>
            <a:endParaRPr b="0" i="1" sz="1950" u="none" cap="none" strike="noStrike">
              <a:solidFill>
                <a:srgbClr val="00CD00"/>
              </a:solidFill>
              <a:latin typeface="Arial"/>
              <a:ea typeface="Arial"/>
              <a:cs typeface="Arial"/>
              <a:sym typeface="Arial"/>
            </a:endParaRPr>
          </a:p>
        </p:txBody>
      </p:sp>
      <p:pic>
        <p:nvPicPr>
          <p:cNvPr id="248" name="Google Shape;248;p35"/>
          <p:cNvPicPr preferRelativeResize="0"/>
          <p:nvPr/>
        </p:nvPicPr>
        <p:blipFill rotWithShape="1">
          <a:blip r:embed="rId4">
            <a:alphaModFix/>
          </a:blip>
          <a:srcRect b="0" l="0" r="0" t="0"/>
          <a:stretch/>
        </p:blipFill>
        <p:spPr>
          <a:xfrm>
            <a:off x="3490450" y="2637000"/>
            <a:ext cx="3640500" cy="912275"/>
          </a:xfrm>
          <a:prstGeom prst="rect">
            <a:avLst/>
          </a:prstGeom>
          <a:noFill/>
          <a:ln cap="flat" cmpd="sng" w="28575">
            <a:solidFill>
              <a:schemeClr val="dk2"/>
            </a:solidFill>
            <a:prstDash val="solid"/>
            <a:round/>
            <a:headEnd len="sm" w="sm" type="none"/>
            <a:tailEnd len="sm" w="sm" type="none"/>
          </a:ln>
        </p:spPr>
      </p:pic>
      <p:sp>
        <p:nvSpPr>
          <p:cNvPr id="249" name="Google Shape;249;p35"/>
          <p:cNvSpPr/>
          <p:nvPr/>
        </p:nvSpPr>
        <p:spPr>
          <a:xfrm>
            <a:off x="3490450" y="3972875"/>
            <a:ext cx="1946100" cy="801600"/>
          </a:xfrm>
          <a:prstGeom prst="wedgeRectCallout">
            <a:avLst>
              <a:gd fmla="val -6692" name="adj1"/>
              <a:gd fmla="val -88969"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Fórmula de la falsa posición</a:t>
            </a:r>
            <a:endParaRPr b="0" i="0" sz="1400" u="none" cap="none" strike="noStrike">
              <a:solidFill>
                <a:srgbClr val="000000"/>
              </a:solidFill>
              <a:latin typeface="Arial"/>
              <a:ea typeface="Arial"/>
              <a:cs typeface="Arial"/>
              <a:sym typeface="Arial"/>
            </a:endParaRPr>
          </a:p>
        </p:txBody>
      </p:sp>
      <p:sp>
        <p:nvSpPr>
          <p:cNvPr id="250" name="Google Shape;250;p35"/>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6"/>
          <p:cNvPicPr preferRelativeResize="0"/>
          <p:nvPr/>
        </p:nvPicPr>
        <p:blipFill rotWithShape="1">
          <a:blip r:embed="rId3">
            <a:alphaModFix/>
          </a:blip>
          <a:srcRect b="0" l="0" r="0" t="0"/>
          <a:stretch/>
        </p:blipFill>
        <p:spPr>
          <a:xfrm>
            <a:off x="5983825" y="1295875"/>
            <a:ext cx="2582625" cy="2079800"/>
          </a:xfrm>
          <a:prstGeom prst="rect">
            <a:avLst/>
          </a:prstGeom>
          <a:noFill/>
          <a:ln>
            <a:noFill/>
          </a:ln>
        </p:spPr>
      </p:pic>
      <p:sp>
        <p:nvSpPr>
          <p:cNvPr id="256" name="Google Shape;256;p36"/>
          <p:cNvSpPr txBox="1"/>
          <p:nvPr/>
        </p:nvSpPr>
        <p:spPr>
          <a:xfrm>
            <a:off x="247975" y="1242400"/>
            <a:ext cx="5519400" cy="396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Paso 1: se elige intervalo [x</a:t>
            </a:r>
            <a:r>
              <a:rPr b="0" i="1" lang="es" sz="1050" u="none" cap="none" strike="noStrike">
                <a:solidFill>
                  <a:schemeClr val="dk1"/>
                </a:solidFill>
                <a:latin typeface="Arial"/>
                <a:ea typeface="Arial"/>
                <a:cs typeface="Arial"/>
                <a:sym typeface="Arial"/>
              </a:rPr>
              <a:t>l </a:t>
            </a:r>
            <a:r>
              <a:rPr b="0" i="1" lang="es" sz="1800" u="none" cap="none" strike="noStrike">
                <a:solidFill>
                  <a:schemeClr val="dk1"/>
                </a:solidFill>
                <a:latin typeface="Arial"/>
                <a:ea typeface="Arial"/>
                <a:cs typeface="Arial"/>
                <a:sym typeface="Arial"/>
              </a:rPr>
              <a:t>, x</a:t>
            </a:r>
            <a:r>
              <a:rPr b="0" i="1" lang="es" sz="1050" u="none" cap="none" strike="noStrike">
                <a:solidFill>
                  <a:schemeClr val="dk1"/>
                </a:solidFill>
                <a:latin typeface="Arial"/>
                <a:ea typeface="Arial"/>
                <a:cs typeface="Arial"/>
                <a:sym typeface="Arial"/>
              </a:rPr>
              <a:t>u</a:t>
            </a:r>
            <a:r>
              <a:rPr b="0" i="1" lang="es" sz="1800" u="none" cap="none" strike="noStrike">
                <a:solidFill>
                  <a:schemeClr val="dk1"/>
                </a:solidFill>
                <a:latin typeface="Arial"/>
                <a:ea typeface="Arial"/>
                <a:cs typeface="Arial"/>
                <a:sym typeface="Arial"/>
              </a:rPr>
              <a:t>] donde haya cambio de signo de la función.</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 </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Paso 2: se aproxima la raíz ahora de la nueva forma.</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Paso 3: seleccionar aquel subintervalo en que f(x) cambie de signo</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Paso 4: redefinir los límites del intérvalo y volver al paso 2.</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800"/>
              <a:buFont typeface="Arial"/>
              <a:buNone/>
            </a:pPr>
            <a:r>
              <a:t/>
            </a:r>
            <a:endParaRPr b="0" i="1" sz="1800" u="none" cap="none" strike="noStrike">
              <a:solidFill>
                <a:schemeClr val="dk1"/>
              </a:solidFill>
              <a:latin typeface="Arial"/>
              <a:ea typeface="Arial"/>
              <a:cs typeface="Arial"/>
              <a:sym typeface="Arial"/>
            </a:endParaRPr>
          </a:p>
        </p:txBody>
      </p:sp>
      <p:sp>
        <p:nvSpPr>
          <p:cNvPr id="257" name="Google Shape;257;p36"/>
          <p:cNvSpPr txBox="1"/>
          <p:nvPr/>
        </p:nvSpPr>
        <p:spPr>
          <a:xfrm>
            <a:off x="247975" y="184000"/>
            <a:ext cx="8317500" cy="538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300"/>
              <a:buFont typeface="Arial"/>
              <a:buNone/>
            </a:pPr>
            <a:r>
              <a:rPr b="0" i="0" lang="es" sz="2300" u="none" cap="none" strike="noStrike">
                <a:solidFill>
                  <a:schemeClr val="dk1"/>
                </a:solidFill>
                <a:latin typeface="Arial"/>
                <a:ea typeface="Arial"/>
                <a:cs typeface="Arial"/>
                <a:sym typeface="Arial"/>
              </a:rPr>
              <a:t>Método de la falsa posición - Regula falsi - Interpolación lineal</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37"/>
          <p:cNvPicPr preferRelativeResize="0"/>
          <p:nvPr/>
        </p:nvPicPr>
        <p:blipFill rotWithShape="1">
          <a:blip r:embed="rId3">
            <a:alphaModFix/>
          </a:blip>
          <a:srcRect b="0" l="0" r="0" t="0"/>
          <a:stretch/>
        </p:blipFill>
        <p:spPr>
          <a:xfrm>
            <a:off x="3" y="-59950"/>
            <a:ext cx="5756440" cy="5143500"/>
          </a:xfrm>
          <a:prstGeom prst="rect">
            <a:avLst/>
          </a:prstGeom>
          <a:noFill/>
          <a:ln>
            <a:noFill/>
          </a:ln>
        </p:spPr>
      </p:pic>
      <p:sp>
        <p:nvSpPr>
          <p:cNvPr id="263" name="Google Shape;263;p37"/>
          <p:cNvSpPr txBox="1"/>
          <p:nvPr/>
        </p:nvSpPr>
        <p:spPr>
          <a:xfrm>
            <a:off x="6138150" y="1764275"/>
            <a:ext cx="2611200" cy="1078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 - Casos</a:t>
            </a:r>
            <a:endParaRPr b="0" i="0" sz="2000" u="none" cap="none" strike="noStrike">
              <a:solidFill>
                <a:schemeClr val="dk1"/>
              </a:solidFill>
              <a:latin typeface="Arial"/>
              <a:ea typeface="Arial"/>
              <a:cs typeface="Arial"/>
              <a:sym typeface="Arial"/>
            </a:endParaRPr>
          </a:p>
        </p:txBody>
      </p:sp>
      <p:sp>
        <p:nvSpPr>
          <p:cNvPr id="269" name="Google Shape;269;p38"/>
          <p:cNvSpPr txBox="1"/>
          <p:nvPr/>
        </p:nvSpPr>
        <p:spPr>
          <a:xfrm>
            <a:off x="247975" y="784300"/>
            <a:ext cx="5772900" cy="484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1" lang="es" sz="1800" u="none" cap="none" strike="noStrike">
                <a:solidFill>
                  <a:schemeClr val="dk1"/>
                </a:solidFill>
                <a:latin typeface="Old Standard TT"/>
                <a:ea typeface="Old Standard TT"/>
                <a:cs typeface="Old Standard TT"/>
                <a:sym typeface="Old Standard TT"/>
              </a:rPr>
              <a:t>f(x)</a:t>
            </a:r>
            <a:r>
              <a:rPr b="0" i="1" lang="es" sz="1800" u="none" cap="none" strike="noStrike">
                <a:solidFill>
                  <a:schemeClr val="dk1"/>
                </a:solidFill>
                <a:latin typeface="Arial"/>
                <a:ea typeface="Arial"/>
                <a:cs typeface="Arial"/>
                <a:sym typeface="Arial"/>
              </a:rPr>
              <a:t> </a:t>
            </a:r>
            <a:r>
              <a:rPr b="0" i="0" lang="es" sz="1800" u="none" cap="none" strike="noStrike">
                <a:solidFill>
                  <a:schemeClr val="dk1"/>
                </a:solidFill>
                <a:latin typeface="Arial"/>
                <a:ea typeface="Arial"/>
                <a:cs typeface="Arial"/>
                <a:sym typeface="Arial"/>
              </a:rPr>
              <a:t>no tiene un punto de inflexión en </a:t>
            </a:r>
            <a:r>
              <a:rPr b="0" i="0" lang="es" sz="1900" u="none" cap="none" strike="noStrike">
                <a:solidFill>
                  <a:schemeClr val="dk1"/>
                </a:solidFill>
                <a:latin typeface="Old Standard TT"/>
                <a:ea typeface="Old Standard TT"/>
                <a:cs typeface="Old Standard TT"/>
                <a:sym typeface="Old Standard TT"/>
              </a:rPr>
              <a:t>[x</a:t>
            </a:r>
            <a:r>
              <a:rPr b="0" baseline="-25000" i="0" lang="es" sz="1950" u="none" cap="none" strike="noStrike">
                <a:solidFill>
                  <a:schemeClr val="dk1"/>
                </a:solidFill>
                <a:latin typeface="Old Standard TT"/>
                <a:ea typeface="Old Standard TT"/>
                <a:cs typeface="Old Standard TT"/>
                <a:sym typeface="Old Standard TT"/>
              </a:rPr>
              <a:t>l</a:t>
            </a:r>
            <a:r>
              <a:rPr b="0" i="0" lang="es" sz="1150" u="none" cap="none" strike="noStrike">
                <a:solidFill>
                  <a:schemeClr val="dk1"/>
                </a:solidFill>
                <a:latin typeface="Old Standard TT"/>
                <a:ea typeface="Old Standard TT"/>
                <a:cs typeface="Old Standard TT"/>
                <a:sym typeface="Old Standard TT"/>
              </a:rPr>
              <a:t> </a:t>
            </a:r>
            <a:r>
              <a:rPr b="0" i="0" lang="es" sz="1900" u="none" cap="none" strike="noStrike">
                <a:solidFill>
                  <a:schemeClr val="dk1"/>
                </a:solidFill>
                <a:latin typeface="Old Standard TT"/>
                <a:ea typeface="Old Standard TT"/>
                <a:cs typeface="Old Standard TT"/>
                <a:sym typeface="Old Standard TT"/>
              </a:rPr>
              <a:t>, x</a:t>
            </a:r>
            <a:r>
              <a:rPr b="0" baseline="-25000" i="0" lang="es" sz="1950" u="none" cap="none" strike="noStrike">
                <a:solidFill>
                  <a:schemeClr val="dk1"/>
                </a:solidFill>
                <a:latin typeface="Old Standard TT"/>
                <a:ea typeface="Old Standard TT"/>
                <a:cs typeface="Old Standard TT"/>
                <a:sym typeface="Old Standard TT"/>
              </a:rPr>
              <a:t>u</a:t>
            </a:r>
            <a:r>
              <a:rPr b="0" i="0" lang="es" sz="1900" u="none" cap="none" strike="noStrike">
                <a:solidFill>
                  <a:schemeClr val="dk1"/>
                </a:solidFill>
                <a:latin typeface="Old Standard TT"/>
                <a:ea typeface="Old Standard TT"/>
                <a:cs typeface="Old Standard TT"/>
                <a:sym typeface="Old Standard TT"/>
              </a:rPr>
              <a:t>]</a:t>
            </a:r>
            <a:endParaRPr b="0" i="0" sz="1900" u="none" cap="none" strike="noStrike">
              <a:solidFill>
                <a:schemeClr val="dk1"/>
              </a:solidFill>
              <a:latin typeface="Old Standard TT"/>
              <a:ea typeface="Old Standard TT"/>
              <a:cs typeface="Old Standard TT"/>
              <a:sym typeface="Old Standard TT"/>
            </a:endParaRPr>
          </a:p>
        </p:txBody>
      </p:sp>
      <p:pic>
        <p:nvPicPr>
          <p:cNvPr id="270" name="Google Shape;270;p38"/>
          <p:cNvPicPr preferRelativeResize="0"/>
          <p:nvPr/>
        </p:nvPicPr>
        <p:blipFill rotWithShape="1">
          <a:blip r:embed="rId3">
            <a:alphaModFix/>
          </a:blip>
          <a:srcRect b="0" l="0" r="0" t="0"/>
          <a:stretch/>
        </p:blipFill>
        <p:spPr>
          <a:xfrm>
            <a:off x="408550" y="1300950"/>
            <a:ext cx="3706325" cy="3447178"/>
          </a:xfrm>
          <a:prstGeom prst="rect">
            <a:avLst/>
          </a:prstGeom>
          <a:noFill/>
          <a:ln>
            <a:noFill/>
          </a:ln>
        </p:spPr>
      </p:pic>
      <p:sp>
        <p:nvSpPr>
          <p:cNvPr id="271" name="Google Shape;271;p38"/>
          <p:cNvSpPr txBox="1"/>
          <p:nvPr/>
        </p:nvSpPr>
        <p:spPr>
          <a:xfrm>
            <a:off x="1989375" y="1728975"/>
            <a:ext cx="190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a) </a:t>
            </a:r>
            <a:r>
              <a:rPr b="1" i="1" lang="es" sz="1800" u="none" cap="none" strike="noStrike">
                <a:solidFill>
                  <a:srgbClr val="0000FF"/>
                </a:solidFill>
                <a:latin typeface="Old Standard TT"/>
                <a:ea typeface="Old Standard TT"/>
                <a:cs typeface="Old Standard TT"/>
                <a:sym typeface="Old Standard TT"/>
              </a:rPr>
              <a:t>f(x</a:t>
            </a:r>
            <a:r>
              <a:rPr b="1" i="1" lang="es" sz="1050" u="none" cap="none" strike="noStrike">
                <a:solidFill>
                  <a:srgbClr val="0000FF"/>
                </a:solidFill>
                <a:latin typeface="Old Standard TT"/>
                <a:ea typeface="Old Standard TT"/>
                <a:cs typeface="Old Standard TT"/>
                <a:sym typeface="Old Standard TT"/>
              </a:rPr>
              <a:t>l</a:t>
            </a:r>
            <a:r>
              <a:rPr b="1" i="1" lang="es" sz="1800" u="none" cap="none" strike="noStrike">
                <a:solidFill>
                  <a:srgbClr val="0000FF"/>
                </a:solidFill>
                <a:latin typeface="Old Standard TT"/>
                <a:ea typeface="Old Standard TT"/>
                <a:cs typeface="Old Standard TT"/>
                <a:sym typeface="Old Standard TT"/>
              </a:rPr>
              <a:t>)· f(x</a:t>
            </a:r>
            <a:r>
              <a:rPr b="1" i="1" lang="es" sz="1050" u="none" cap="none" strike="noStrike">
                <a:solidFill>
                  <a:srgbClr val="0000FF"/>
                </a:solidFill>
                <a:latin typeface="Old Standard TT"/>
                <a:ea typeface="Old Standard TT"/>
                <a:cs typeface="Old Standard TT"/>
                <a:sym typeface="Old Standard TT"/>
              </a:rPr>
              <a:t>r</a:t>
            </a:r>
            <a:r>
              <a:rPr b="1" i="1" lang="es" sz="1800" u="none" cap="none" strike="noStrike">
                <a:solidFill>
                  <a:srgbClr val="0000FF"/>
                </a:solidFill>
                <a:latin typeface="Old Standard TT"/>
                <a:ea typeface="Old Standard TT"/>
                <a:cs typeface="Old Standard TT"/>
                <a:sym typeface="Old Standard TT"/>
              </a:rPr>
              <a:t>)&lt;0</a:t>
            </a:r>
            <a:endParaRPr b="1" i="1" sz="1800" u="none" cap="none" strike="noStrike">
              <a:solidFill>
                <a:srgbClr val="0000FF"/>
              </a:solidFill>
              <a:latin typeface="Old Standard TT"/>
              <a:ea typeface="Old Standard TT"/>
              <a:cs typeface="Old Standard TT"/>
              <a:sym typeface="Old Standard TT"/>
            </a:endParaRPr>
          </a:p>
        </p:txBody>
      </p:sp>
      <p:pic>
        <p:nvPicPr>
          <p:cNvPr id="272" name="Google Shape;272;p38"/>
          <p:cNvPicPr preferRelativeResize="0"/>
          <p:nvPr/>
        </p:nvPicPr>
        <p:blipFill rotWithShape="1">
          <a:blip r:embed="rId4">
            <a:alphaModFix/>
          </a:blip>
          <a:srcRect b="0" l="0" r="0" t="0"/>
          <a:stretch/>
        </p:blipFill>
        <p:spPr>
          <a:xfrm>
            <a:off x="4940950" y="1300950"/>
            <a:ext cx="3706324" cy="3429275"/>
          </a:xfrm>
          <a:prstGeom prst="rect">
            <a:avLst/>
          </a:prstGeom>
          <a:noFill/>
          <a:ln>
            <a:noFill/>
          </a:ln>
        </p:spPr>
      </p:pic>
      <p:sp>
        <p:nvSpPr>
          <p:cNvPr id="273" name="Google Shape;273;p38"/>
          <p:cNvSpPr txBox="1"/>
          <p:nvPr/>
        </p:nvSpPr>
        <p:spPr>
          <a:xfrm>
            <a:off x="5565225" y="1728975"/>
            <a:ext cx="1813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0" i="1" lang="es" sz="1800" u="none" cap="none" strike="noStrike">
                <a:solidFill>
                  <a:schemeClr val="dk1"/>
                </a:solidFill>
                <a:latin typeface="Arial"/>
                <a:ea typeface="Arial"/>
                <a:cs typeface="Arial"/>
                <a:sym typeface="Arial"/>
              </a:rPr>
              <a:t>b) </a:t>
            </a:r>
            <a:r>
              <a:rPr b="1" i="1" lang="es" sz="1800" u="none" cap="none" strike="noStrike">
                <a:solidFill>
                  <a:srgbClr val="0000FF"/>
                </a:solidFill>
                <a:latin typeface="Old Standard TT"/>
                <a:ea typeface="Old Standard TT"/>
                <a:cs typeface="Old Standard TT"/>
                <a:sym typeface="Old Standard TT"/>
              </a:rPr>
              <a:t>f(x</a:t>
            </a:r>
            <a:r>
              <a:rPr b="1" i="1" lang="es" sz="1050" u="none" cap="none" strike="noStrike">
                <a:solidFill>
                  <a:srgbClr val="0000FF"/>
                </a:solidFill>
                <a:latin typeface="Old Standard TT"/>
                <a:ea typeface="Old Standard TT"/>
                <a:cs typeface="Old Standard TT"/>
                <a:sym typeface="Old Standard TT"/>
              </a:rPr>
              <a:t>l</a:t>
            </a:r>
            <a:r>
              <a:rPr b="1" i="1" lang="es" sz="1800" u="none" cap="none" strike="noStrike">
                <a:solidFill>
                  <a:srgbClr val="0000FF"/>
                </a:solidFill>
                <a:latin typeface="Old Standard TT"/>
                <a:ea typeface="Old Standard TT"/>
                <a:cs typeface="Old Standard TT"/>
                <a:sym typeface="Old Standard TT"/>
              </a:rPr>
              <a:t>)·f(x</a:t>
            </a:r>
            <a:r>
              <a:rPr b="1" i="1" lang="es" sz="1050" u="none" cap="none" strike="noStrike">
                <a:solidFill>
                  <a:srgbClr val="0000FF"/>
                </a:solidFill>
                <a:latin typeface="Old Standard TT"/>
                <a:ea typeface="Old Standard TT"/>
                <a:cs typeface="Old Standard TT"/>
                <a:sym typeface="Old Standard TT"/>
              </a:rPr>
              <a:t>r</a:t>
            </a:r>
            <a:r>
              <a:rPr b="1" i="1" lang="es" sz="1800" u="none" cap="none" strike="noStrike">
                <a:solidFill>
                  <a:srgbClr val="0000FF"/>
                </a:solidFill>
                <a:latin typeface="Old Standard TT"/>
                <a:ea typeface="Old Standard TT"/>
                <a:cs typeface="Old Standard TT"/>
                <a:sym typeface="Old Standard TT"/>
              </a:rPr>
              <a:t>)&gt;0</a:t>
            </a:r>
            <a:endParaRPr b="1" i="1" sz="1800" u="none" cap="none" strike="noStrike">
              <a:solidFill>
                <a:srgbClr val="0000FF"/>
              </a:solidFill>
              <a:latin typeface="Old Standard TT"/>
              <a:ea typeface="Old Standard TT"/>
              <a:cs typeface="Old Standard TT"/>
              <a:sym typeface="Old Standard T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 - Casos</a:t>
            </a:r>
            <a:endParaRPr b="0" i="0" sz="2000" u="none" cap="none" strike="noStrike">
              <a:solidFill>
                <a:schemeClr val="dk1"/>
              </a:solidFill>
              <a:latin typeface="Arial"/>
              <a:ea typeface="Arial"/>
              <a:cs typeface="Arial"/>
              <a:sym typeface="Arial"/>
            </a:endParaRPr>
          </a:p>
        </p:txBody>
      </p:sp>
      <p:sp>
        <p:nvSpPr>
          <p:cNvPr id="279" name="Google Shape;279;p39"/>
          <p:cNvSpPr txBox="1"/>
          <p:nvPr/>
        </p:nvSpPr>
        <p:spPr>
          <a:xfrm>
            <a:off x="5049450" y="2170050"/>
            <a:ext cx="3076500" cy="80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00"/>
              <a:buFont typeface="Arial"/>
              <a:buNone/>
            </a:pPr>
            <a:r>
              <a:rPr b="1" i="1" lang="es" sz="1800" u="none" cap="none" strike="noStrike">
                <a:solidFill>
                  <a:schemeClr val="dk1"/>
                </a:solidFill>
                <a:latin typeface="Old Standard TT"/>
                <a:ea typeface="Old Standard TT"/>
                <a:cs typeface="Old Standard TT"/>
                <a:sym typeface="Old Standard TT"/>
              </a:rPr>
              <a:t>f(x)</a:t>
            </a:r>
            <a:r>
              <a:rPr b="0" i="1" lang="es" sz="1800" u="none" cap="none" strike="noStrike">
                <a:solidFill>
                  <a:schemeClr val="dk1"/>
                </a:solidFill>
                <a:latin typeface="Arial"/>
                <a:ea typeface="Arial"/>
                <a:cs typeface="Arial"/>
                <a:sym typeface="Arial"/>
              </a:rPr>
              <a:t> </a:t>
            </a:r>
            <a:r>
              <a:rPr b="0" i="0" lang="es" sz="1800" u="none" cap="none" strike="noStrike">
                <a:solidFill>
                  <a:schemeClr val="dk1"/>
                </a:solidFill>
                <a:latin typeface="Arial"/>
                <a:ea typeface="Arial"/>
                <a:cs typeface="Arial"/>
                <a:sym typeface="Arial"/>
              </a:rPr>
              <a:t>tiene un punto de inflexión en </a:t>
            </a:r>
            <a:r>
              <a:rPr b="0" i="0" lang="es" sz="1900" u="none" cap="none" strike="noStrike">
                <a:solidFill>
                  <a:schemeClr val="dk1"/>
                </a:solidFill>
                <a:latin typeface="Old Standard TT"/>
                <a:ea typeface="Old Standard TT"/>
                <a:cs typeface="Old Standard TT"/>
                <a:sym typeface="Old Standard TT"/>
              </a:rPr>
              <a:t>[x</a:t>
            </a:r>
            <a:r>
              <a:rPr b="0" baseline="-25000" i="0" lang="es" sz="1950" u="none" cap="none" strike="noStrike">
                <a:solidFill>
                  <a:schemeClr val="dk1"/>
                </a:solidFill>
                <a:latin typeface="Old Standard TT"/>
                <a:ea typeface="Old Standard TT"/>
                <a:cs typeface="Old Standard TT"/>
                <a:sym typeface="Old Standard TT"/>
              </a:rPr>
              <a:t>l</a:t>
            </a:r>
            <a:r>
              <a:rPr b="0" i="0" lang="es" sz="1150" u="none" cap="none" strike="noStrike">
                <a:solidFill>
                  <a:schemeClr val="dk1"/>
                </a:solidFill>
                <a:latin typeface="Old Standard TT"/>
                <a:ea typeface="Old Standard TT"/>
                <a:cs typeface="Old Standard TT"/>
                <a:sym typeface="Old Standard TT"/>
              </a:rPr>
              <a:t> </a:t>
            </a:r>
            <a:r>
              <a:rPr b="0" i="0" lang="es" sz="1900" u="none" cap="none" strike="noStrike">
                <a:solidFill>
                  <a:schemeClr val="dk1"/>
                </a:solidFill>
                <a:latin typeface="Old Standard TT"/>
                <a:ea typeface="Old Standard TT"/>
                <a:cs typeface="Old Standard TT"/>
                <a:sym typeface="Old Standard TT"/>
              </a:rPr>
              <a:t>, x</a:t>
            </a:r>
            <a:r>
              <a:rPr b="0" baseline="-25000" i="0" lang="es" sz="1950" u="none" cap="none" strike="noStrike">
                <a:solidFill>
                  <a:schemeClr val="dk1"/>
                </a:solidFill>
                <a:latin typeface="Old Standard TT"/>
                <a:ea typeface="Old Standard TT"/>
                <a:cs typeface="Old Standard TT"/>
                <a:sym typeface="Old Standard TT"/>
              </a:rPr>
              <a:t>u</a:t>
            </a:r>
            <a:r>
              <a:rPr b="0" i="0" lang="es" sz="1900" u="none" cap="none" strike="noStrike">
                <a:solidFill>
                  <a:schemeClr val="dk1"/>
                </a:solidFill>
                <a:latin typeface="Old Standard TT"/>
                <a:ea typeface="Old Standard TT"/>
                <a:cs typeface="Old Standard TT"/>
                <a:sym typeface="Old Standard TT"/>
              </a:rPr>
              <a:t>]</a:t>
            </a:r>
            <a:endParaRPr b="0" i="0" sz="1900" u="none" cap="none" strike="noStrike">
              <a:solidFill>
                <a:schemeClr val="dk1"/>
              </a:solidFill>
              <a:latin typeface="Old Standard TT"/>
              <a:ea typeface="Old Standard TT"/>
              <a:cs typeface="Old Standard TT"/>
              <a:sym typeface="Old Standard TT"/>
            </a:endParaRPr>
          </a:p>
        </p:txBody>
      </p:sp>
      <p:pic>
        <p:nvPicPr>
          <p:cNvPr id="280" name="Google Shape;280;p39"/>
          <p:cNvPicPr preferRelativeResize="0"/>
          <p:nvPr/>
        </p:nvPicPr>
        <p:blipFill rotWithShape="1">
          <a:blip r:embed="rId3">
            <a:alphaModFix/>
          </a:blip>
          <a:srcRect b="0" l="0" r="0" t="0"/>
          <a:stretch/>
        </p:blipFill>
        <p:spPr>
          <a:xfrm>
            <a:off x="152400" y="784300"/>
            <a:ext cx="4609054" cy="4206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nvSpPr>
        <p:spPr>
          <a:xfrm>
            <a:off x="352975" y="1050225"/>
            <a:ext cx="6863400" cy="405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iniciar xl, xu 						// Paso 1</a:t>
            </a:r>
            <a:endParaRPr b="1" i="0" sz="11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iniciar iter=0, imax, es, xr = xu</a:t>
            </a:r>
            <a:endParaRPr b="1" i="0" sz="11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definir funcion f</a:t>
            </a:r>
            <a:endParaRPr b="1" i="0" sz="11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rgbClr val="0000FF"/>
                </a:solidFill>
                <a:latin typeface="Courier New"/>
                <a:ea typeface="Courier New"/>
                <a:cs typeface="Courier New"/>
                <a:sym typeface="Courier New"/>
              </a:rPr>
              <a:t>fl = f(xl)</a:t>
            </a:r>
            <a:r>
              <a:rPr b="1" i="0" lang="es" sz="1100" u="none" cap="none" strike="noStrike">
                <a:solidFill>
                  <a:schemeClr val="dk1"/>
                </a:solidFill>
                <a:latin typeface="Courier New"/>
                <a:ea typeface="Courier New"/>
                <a:cs typeface="Courier New"/>
                <a:sym typeface="Courier New"/>
              </a:rPr>
              <a:t>, </a:t>
            </a:r>
            <a:r>
              <a:rPr b="1" i="0" lang="es" sz="1100" u="none" cap="none" strike="noStrike">
                <a:solidFill>
                  <a:srgbClr val="0000FF"/>
                </a:solidFill>
                <a:latin typeface="Courier New"/>
                <a:ea typeface="Courier New"/>
                <a:cs typeface="Courier New"/>
                <a:sym typeface="Courier New"/>
              </a:rPr>
              <a:t>fu = f(xu) </a:t>
            </a:r>
            <a:r>
              <a:rPr b="1" i="0" lang="es" sz="900" u="none" cap="none" strike="noStrike">
                <a:solidFill>
                  <a:srgbClr val="0000FF"/>
                </a:solidFill>
                <a:latin typeface="Courier New"/>
                <a:ea typeface="Courier New"/>
                <a:cs typeface="Courier New"/>
                <a:sym typeface="Courier New"/>
              </a:rPr>
              <a:t>//cambios para reducir evaluaciones de la función</a:t>
            </a:r>
            <a:endParaRPr b="1" i="0" sz="900" u="none" cap="none" strike="noStrike">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repetir:</a:t>
            </a:r>
            <a:endParaRPr b="1" i="0" sz="11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xv = xr // Para calcular ea</a:t>
            </a:r>
            <a:endParaRPr b="1" i="0" sz="1100" u="none" cap="none" strike="noStrike">
              <a:solidFill>
                <a:schemeClr val="dk1"/>
              </a:solidFill>
              <a:latin typeface="Courier New"/>
              <a:ea typeface="Courier New"/>
              <a:cs typeface="Courier New"/>
              <a:sym typeface="Courier New"/>
            </a:endParaRPr>
          </a:p>
          <a:p>
            <a:pPr indent="0" lvl="0" marL="457200" marR="0" rtl="0" algn="l">
              <a:lnSpc>
                <a:spcPct val="115000"/>
              </a:lnSpc>
              <a:spcBef>
                <a:spcPts val="0"/>
              </a:spcBef>
              <a:spcAft>
                <a:spcPts val="0"/>
              </a:spcAft>
              <a:buClr>
                <a:schemeClr val="dk1"/>
              </a:buClr>
              <a:buSzPts val="1100"/>
              <a:buFont typeface="Arial"/>
              <a:buNone/>
            </a:pPr>
            <a:r>
              <a:rPr b="1" i="0" lang="es" sz="1100" u="none" cap="none" strike="noStrike">
                <a:solidFill>
                  <a:srgbClr val="006600"/>
                </a:solidFill>
                <a:latin typeface="Courier New"/>
                <a:ea typeface="Courier New"/>
                <a:cs typeface="Courier New"/>
                <a:sym typeface="Courier New"/>
              </a:rPr>
              <a:t>xr = xu - fu*(xl - xu)/(fl - fu) 		// Paso 2</a:t>
            </a:r>
            <a:endParaRPr b="1" i="0" sz="1100" u="none" cap="none" strike="noStrike">
              <a:solidFill>
                <a:srgbClr val="006600"/>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si xr != 0:</a:t>
            </a:r>
            <a:endParaRPr b="1" i="0" sz="1100" u="none" cap="none" strike="noStrike">
              <a:solidFill>
                <a:schemeClr val="dk1"/>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ea = abs((xr - xv)/xr)*100</a:t>
            </a:r>
            <a:endParaRPr b="1" i="0" sz="11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iter = iter + 1</a:t>
            </a:r>
            <a:endParaRPr b="1" i="0" sz="11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rgbClr val="0000FF"/>
                </a:solidFill>
                <a:latin typeface="Courier New"/>
                <a:ea typeface="Courier New"/>
                <a:cs typeface="Courier New"/>
                <a:sym typeface="Courier New"/>
              </a:rPr>
              <a:t>fr = f(xr)</a:t>
            </a:r>
            <a:endParaRPr b="1" i="0" sz="1100" u="none" cap="none" strike="noStrike">
              <a:solidFill>
                <a:srgbClr val="0000FF"/>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rgbClr val="660066"/>
                </a:solidFill>
                <a:latin typeface="Courier New"/>
                <a:ea typeface="Courier New"/>
                <a:cs typeface="Courier New"/>
                <a:sym typeface="Courier New"/>
              </a:rPr>
              <a:t>prueba = </a:t>
            </a:r>
            <a:r>
              <a:rPr b="1" i="0" lang="es" sz="1100" u="none" cap="none" strike="noStrike">
                <a:solidFill>
                  <a:srgbClr val="0000FF"/>
                </a:solidFill>
                <a:latin typeface="Courier New"/>
                <a:ea typeface="Courier New"/>
                <a:cs typeface="Courier New"/>
                <a:sym typeface="Courier New"/>
              </a:rPr>
              <a:t>fl * fr 				</a:t>
            </a:r>
            <a:r>
              <a:rPr b="1" i="0" lang="es" sz="1100" u="none" cap="none" strike="noStrike">
                <a:solidFill>
                  <a:srgbClr val="660066"/>
                </a:solidFill>
                <a:latin typeface="Courier New"/>
                <a:ea typeface="Courier New"/>
                <a:cs typeface="Courier New"/>
                <a:sym typeface="Courier New"/>
              </a:rPr>
              <a:t>// Paso 3</a:t>
            </a:r>
            <a:endParaRPr b="1" i="0" sz="1100" u="none" cap="none" strike="noStrike">
              <a:solidFill>
                <a:srgbClr val="660066"/>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rgbClr val="660066"/>
                </a:solidFill>
                <a:latin typeface="Courier New"/>
                <a:ea typeface="Courier New"/>
                <a:cs typeface="Courier New"/>
                <a:sym typeface="Courier New"/>
              </a:rPr>
              <a:t>si prueba &lt; 0:</a:t>
            </a:r>
            <a:endParaRPr b="1" i="0" sz="11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100" u="none" cap="none" strike="noStrike">
                <a:solidFill>
                  <a:srgbClr val="660066"/>
                </a:solidFill>
                <a:latin typeface="Courier New"/>
                <a:ea typeface="Courier New"/>
                <a:cs typeface="Courier New"/>
                <a:sym typeface="Courier New"/>
              </a:rPr>
              <a:t>xu = xr</a:t>
            </a:r>
            <a:endParaRPr b="1" i="0" sz="11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100" u="none" cap="none" strike="noStrike">
                <a:solidFill>
                  <a:srgbClr val="0000FF"/>
                </a:solidFill>
                <a:latin typeface="Courier New"/>
                <a:ea typeface="Courier New"/>
                <a:cs typeface="Courier New"/>
                <a:sym typeface="Courier New"/>
              </a:rPr>
              <a:t>fu = fr</a:t>
            </a:r>
            <a:endParaRPr b="1" i="0" sz="1100" u="none" cap="none" strike="noStrike">
              <a:solidFill>
                <a:srgbClr val="0000FF"/>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100" u="none" cap="none" strike="noStrike">
                <a:solidFill>
                  <a:srgbClr val="660066"/>
                </a:solidFill>
                <a:latin typeface="Courier New"/>
                <a:ea typeface="Courier New"/>
                <a:cs typeface="Courier New"/>
                <a:sym typeface="Courier New"/>
              </a:rPr>
              <a:t>en caso contrario:</a:t>
            </a:r>
            <a:endParaRPr b="1" i="0" sz="11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100" u="none" cap="none" strike="noStrike">
                <a:solidFill>
                  <a:srgbClr val="660066"/>
                </a:solidFill>
                <a:latin typeface="Courier New"/>
                <a:ea typeface="Courier New"/>
                <a:cs typeface="Courier New"/>
                <a:sym typeface="Courier New"/>
              </a:rPr>
              <a:t>xl = xr</a:t>
            </a:r>
            <a:endParaRPr b="1" i="0" sz="11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100" u="none" cap="none" strike="noStrike">
                <a:solidFill>
                  <a:srgbClr val="0000FF"/>
                </a:solidFill>
                <a:latin typeface="Courier New"/>
                <a:ea typeface="Courier New"/>
                <a:cs typeface="Courier New"/>
                <a:sym typeface="Courier New"/>
              </a:rPr>
              <a:t>fl = fr</a:t>
            </a:r>
            <a:endParaRPr b="1" i="0" sz="1100" u="none" cap="none" strike="noStrike">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100" u="none" cap="none" strike="noStrike">
                <a:solidFill>
                  <a:schemeClr val="dk1"/>
                </a:solidFill>
                <a:latin typeface="Courier New"/>
                <a:ea typeface="Courier New"/>
                <a:cs typeface="Courier New"/>
                <a:sym typeface="Courier New"/>
              </a:rPr>
              <a:t>hasta que (</a:t>
            </a:r>
            <a:r>
              <a:rPr b="1" i="0" lang="es" sz="1100" u="none" cap="none" strike="noStrike">
                <a:solidFill>
                  <a:srgbClr val="FF0000"/>
                </a:solidFill>
                <a:latin typeface="Courier New"/>
                <a:ea typeface="Courier New"/>
                <a:cs typeface="Courier New"/>
                <a:sym typeface="Courier New"/>
              </a:rPr>
              <a:t>ea&lt;es </a:t>
            </a:r>
            <a:r>
              <a:rPr b="1" i="0" lang="es" sz="1100" u="none" cap="none" strike="noStrike">
                <a:solidFill>
                  <a:schemeClr val="dk1"/>
                </a:solidFill>
                <a:latin typeface="Courier New"/>
                <a:ea typeface="Courier New"/>
                <a:cs typeface="Courier New"/>
                <a:sym typeface="Courier New"/>
              </a:rPr>
              <a:t>or </a:t>
            </a:r>
            <a:r>
              <a:rPr b="1" i="0" lang="es" sz="1100" u="none" cap="none" strike="noStrike">
                <a:solidFill>
                  <a:srgbClr val="FF0000"/>
                </a:solidFill>
                <a:latin typeface="Courier New"/>
                <a:ea typeface="Courier New"/>
                <a:cs typeface="Courier New"/>
                <a:sym typeface="Courier New"/>
              </a:rPr>
              <a:t>iter&gt;=imax</a:t>
            </a:r>
            <a:r>
              <a:rPr b="1" i="0" lang="es" sz="1100" u="none" cap="none" strike="noStrike">
                <a:solidFill>
                  <a:schemeClr val="dk1"/>
                </a:solidFill>
                <a:latin typeface="Courier New"/>
                <a:ea typeface="Courier New"/>
                <a:cs typeface="Courier New"/>
                <a:sym typeface="Courier New"/>
              </a:rPr>
              <a:t>)</a:t>
            </a:r>
            <a:endParaRPr b="1" i="0" sz="1100" u="none" cap="none" strike="noStrike">
              <a:solidFill>
                <a:schemeClr val="dk1"/>
              </a:solidFill>
              <a:latin typeface="Courier New"/>
              <a:ea typeface="Courier New"/>
              <a:cs typeface="Courier New"/>
              <a:sym typeface="Courier New"/>
            </a:endParaRPr>
          </a:p>
          <a:p>
            <a:pPr indent="0" lvl="0" marL="0" marR="0" rtl="0" algn="l">
              <a:lnSpc>
                <a:spcPct val="115000"/>
              </a:lnSpc>
              <a:spcBef>
                <a:spcPts val="0"/>
              </a:spcBef>
              <a:spcAft>
                <a:spcPts val="0"/>
              </a:spcAft>
              <a:buClr>
                <a:srgbClr val="000000"/>
              </a:buClr>
              <a:buSzPts val="1100"/>
              <a:buFont typeface="Arial"/>
              <a:buNone/>
            </a:pPr>
            <a:r>
              <a:rPr b="1" i="0" lang="es" sz="1100" u="none" cap="none" strike="noStrike">
                <a:solidFill>
                  <a:schemeClr val="dk1"/>
                </a:solidFill>
                <a:latin typeface="Courier New"/>
                <a:ea typeface="Courier New"/>
                <a:cs typeface="Courier New"/>
                <a:sym typeface="Courier New"/>
              </a:rPr>
              <a:t>mostrar xr</a:t>
            </a:r>
            <a:endParaRPr b="1" i="0" sz="1250" u="none" cap="none" strike="noStrike">
              <a:solidFill>
                <a:schemeClr val="dk1"/>
              </a:solidFill>
              <a:latin typeface="Courier New"/>
              <a:ea typeface="Courier New"/>
              <a:cs typeface="Courier New"/>
              <a:sym typeface="Courier New"/>
            </a:endParaRPr>
          </a:p>
        </p:txBody>
      </p:sp>
      <p:sp>
        <p:nvSpPr>
          <p:cNvPr id="286" name="Google Shape;286;p40"/>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1"/>
          <p:cNvSpPr txBox="1"/>
          <p:nvPr/>
        </p:nvSpPr>
        <p:spPr>
          <a:xfrm>
            <a:off x="247975" y="1427775"/>
            <a:ext cx="5967300" cy="561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850"/>
              <a:buFont typeface="Arial"/>
              <a:buNone/>
            </a:pPr>
            <a:r>
              <a:rPr b="0" i="0" lang="es" sz="1850" u="none" cap="none" strike="noStrike">
                <a:solidFill>
                  <a:srgbClr val="008100"/>
                </a:solidFill>
                <a:latin typeface="Arial"/>
                <a:ea typeface="Arial"/>
                <a:cs typeface="Arial"/>
                <a:sym typeface="Arial"/>
              </a:rPr>
              <a:t>f ( x ) = 667.38 / x </a:t>
            </a:r>
            <a:r>
              <a:rPr b="0" i="0" lang="es" sz="2450" u="none" cap="none" strike="noStrike">
                <a:solidFill>
                  <a:srgbClr val="008100"/>
                </a:solidFill>
                <a:latin typeface="Arial"/>
                <a:ea typeface="Arial"/>
                <a:cs typeface="Arial"/>
                <a:sym typeface="Arial"/>
              </a:rPr>
              <a:t>(</a:t>
            </a:r>
            <a:r>
              <a:rPr b="0" i="0" lang="es" sz="1850" u="none" cap="none" strike="noStrike">
                <a:solidFill>
                  <a:srgbClr val="008100"/>
                </a:solidFill>
                <a:latin typeface="Arial"/>
                <a:ea typeface="Arial"/>
                <a:cs typeface="Arial"/>
                <a:sym typeface="Arial"/>
              </a:rPr>
              <a:t>1−e </a:t>
            </a:r>
            <a:r>
              <a:rPr b="0" baseline="30000" i="0" lang="es" sz="2150" u="none" cap="none" strike="noStrike">
                <a:solidFill>
                  <a:srgbClr val="008100"/>
                </a:solidFill>
                <a:latin typeface="Arial"/>
                <a:ea typeface="Arial"/>
                <a:cs typeface="Arial"/>
                <a:sym typeface="Arial"/>
              </a:rPr>
              <a:t>−0.146843x</a:t>
            </a:r>
            <a:r>
              <a:rPr b="0" i="0" lang="es" sz="950" u="none" cap="none" strike="noStrike">
                <a:solidFill>
                  <a:srgbClr val="008100"/>
                </a:solidFill>
                <a:latin typeface="Arial"/>
                <a:ea typeface="Arial"/>
                <a:cs typeface="Arial"/>
                <a:sym typeface="Arial"/>
              </a:rPr>
              <a:t> </a:t>
            </a:r>
            <a:r>
              <a:rPr b="0" i="0" lang="es" sz="2450" u="none" cap="none" strike="noStrike">
                <a:solidFill>
                  <a:srgbClr val="008100"/>
                </a:solidFill>
                <a:latin typeface="Arial"/>
                <a:ea typeface="Arial"/>
                <a:cs typeface="Arial"/>
                <a:sym typeface="Arial"/>
              </a:rPr>
              <a:t>) </a:t>
            </a:r>
            <a:r>
              <a:rPr b="0" i="0" lang="es" sz="1850" u="none" cap="none" strike="noStrike">
                <a:solidFill>
                  <a:srgbClr val="008100"/>
                </a:solidFill>
                <a:latin typeface="Arial"/>
                <a:ea typeface="Arial"/>
                <a:cs typeface="Arial"/>
                <a:sym typeface="Arial"/>
              </a:rPr>
              <a:t>− 40</a:t>
            </a:r>
            <a:endParaRPr b="0" i="0" sz="1850" u="none" cap="none" strike="noStrike">
              <a:solidFill>
                <a:srgbClr val="008100"/>
              </a:solidFill>
              <a:latin typeface="Arial"/>
              <a:ea typeface="Arial"/>
              <a:cs typeface="Arial"/>
              <a:sym typeface="Arial"/>
            </a:endParaRPr>
          </a:p>
        </p:txBody>
      </p:sp>
      <p:sp>
        <p:nvSpPr>
          <p:cNvPr id="292" name="Google Shape;292;p41"/>
          <p:cNvSpPr txBox="1"/>
          <p:nvPr/>
        </p:nvSpPr>
        <p:spPr>
          <a:xfrm>
            <a:off x="280950" y="2262950"/>
            <a:ext cx="48636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700"/>
              <a:buFont typeface="Arial"/>
              <a:buNone/>
            </a:pPr>
            <a:r>
              <a:rPr b="0" i="1" lang="es" sz="1700" u="none" cap="none" strike="noStrike">
                <a:solidFill>
                  <a:schemeClr val="dk1"/>
                </a:solidFill>
                <a:latin typeface="Arial"/>
                <a:ea typeface="Arial"/>
                <a:cs typeface="Arial"/>
                <a:sym typeface="Arial"/>
              </a:rPr>
              <a:t>Comenzar por el intervalo [12,16]</a:t>
            </a:r>
            <a:endParaRPr b="0" i="1" sz="1700" u="none" cap="none" strike="noStrike">
              <a:solidFill>
                <a:schemeClr val="dk1"/>
              </a:solidFill>
              <a:latin typeface="Arial"/>
              <a:ea typeface="Arial"/>
              <a:cs typeface="Arial"/>
              <a:sym typeface="Arial"/>
            </a:endParaRPr>
          </a:p>
        </p:txBody>
      </p:sp>
      <p:pic>
        <p:nvPicPr>
          <p:cNvPr id="293" name="Google Shape;293;p41" title="Screenshot 2025-08-20 at 00.47.17.png"/>
          <p:cNvPicPr preferRelativeResize="0"/>
          <p:nvPr/>
        </p:nvPicPr>
        <p:blipFill rotWithShape="1">
          <a:blip r:embed="rId3">
            <a:alphaModFix/>
          </a:blip>
          <a:srcRect b="0" l="0" r="0" t="0"/>
          <a:stretch/>
        </p:blipFill>
        <p:spPr>
          <a:xfrm>
            <a:off x="4471575" y="887900"/>
            <a:ext cx="4520025" cy="3548799"/>
          </a:xfrm>
          <a:prstGeom prst="rect">
            <a:avLst/>
          </a:prstGeom>
          <a:noFill/>
          <a:ln>
            <a:noFill/>
          </a:ln>
        </p:spPr>
      </p:pic>
      <p:sp>
        <p:nvSpPr>
          <p:cNvPr id="294" name="Google Shape;294;p41"/>
          <p:cNvSpPr txBox="1"/>
          <p:nvPr/>
        </p:nvSpPr>
        <p:spPr>
          <a:xfrm>
            <a:off x="247975" y="184000"/>
            <a:ext cx="83175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2"/>
          <p:cNvSpPr txBox="1"/>
          <p:nvPr/>
        </p:nvSpPr>
        <p:spPr>
          <a:xfrm>
            <a:off x="247975" y="184000"/>
            <a:ext cx="8317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0" i="0" lang="es" sz="2600" u="none" cap="none" strike="noStrike">
                <a:solidFill>
                  <a:schemeClr val="dk1"/>
                </a:solidFill>
                <a:latin typeface="Arial"/>
                <a:ea typeface="Arial"/>
                <a:cs typeface="Arial"/>
                <a:sym typeface="Arial"/>
              </a:rPr>
              <a:t>Comparativa de errores</a:t>
            </a:r>
            <a:endParaRPr b="0" i="0" sz="1900" u="none" cap="none" strike="noStrike">
              <a:solidFill>
                <a:schemeClr val="dk1"/>
              </a:solidFill>
              <a:latin typeface="Arial"/>
              <a:ea typeface="Arial"/>
              <a:cs typeface="Arial"/>
              <a:sym typeface="Arial"/>
            </a:endParaRPr>
          </a:p>
        </p:txBody>
      </p:sp>
      <p:pic>
        <p:nvPicPr>
          <p:cNvPr id="300" name="Google Shape;300;p42"/>
          <p:cNvPicPr preferRelativeResize="0"/>
          <p:nvPr/>
        </p:nvPicPr>
        <p:blipFill rotWithShape="1">
          <a:blip r:embed="rId3">
            <a:alphaModFix/>
          </a:blip>
          <a:srcRect b="0" l="0" r="0" t="0"/>
          <a:stretch/>
        </p:blipFill>
        <p:spPr>
          <a:xfrm>
            <a:off x="424980" y="903369"/>
            <a:ext cx="2736468" cy="4054400"/>
          </a:xfrm>
          <a:prstGeom prst="rect">
            <a:avLst/>
          </a:prstGeom>
          <a:noFill/>
          <a:ln>
            <a:noFill/>
          </a:ln>
        </p:spPr>
      </p:pic>
      <p:sp>
        <p:nvSpPr>
          <p:cNvPr id="301" name="Google Shape;301;p42"/>
          <p:cNvSpPr txBox="1"/>
          <p:nvPr/>
        </p:nvSpPr>
        <p:spPr>
          <a:xfrm>
            <a:off x="3785100" y="355200"/>
            <a:ext cx="5358900" cy="443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xl (limite inferior): 12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xu (limite superior): 16</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el error permitido (es %): 0.01</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el numero maximo de iteraciones: 10</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1: xr_bisec = 14, ea_bisec = 14.2857%</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2: xr_bisec = 15, ea_bisec = 6.66667%</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3: xr_bisec = 14.5, ea_bisec = 3.44828%</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4: xr_bisec = 14.75, ea_bisec = 1.69492%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5: xr_bisec = 14.875, ea_bisec = 0.840336%</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6: xr_bisec = 14.8125, ea_bisec = 0.421941%</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7: xr_bisec = 14.7812, ea_bisec = 0.211416%</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8: xr_bisec = 14.7656, ea_bisec = 0.10582%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9: xr_bisec = 14.7734, ea_bisec = 0.0528821%</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10: xr_bisec = 14.7773, ea_bisec = 0.026434%</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La raiz aproximada (bisec) es: 14.7773</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1: xr_rf = 14.9113, ea_rf = 7.30112%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2: xr_rf = 14.7942, ea_rf = 0.791595%</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3: xr_rf = 14.7817, ea_rf = 0.0845468%</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4: xr_rf = 14.7804, ea_rf = 0.00901532%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La raiz aproximada (rf) es: 14.7804</a:t>
            </a:r>
            <a:endParaRPr b="0" i="0" sz="1400" u="none" cap="none" strike="noStrike">
              <a:solidFill>
                <a:srgbClr val="000000"/>
              </a:solidFill>
              <a:latin typeface="Arial"/>
              <a:ea typeface="Arial"/>
              <a:cs typeface="Arial"/>
              <a:sym typeface="Arial"/>
            </a:endParaRPr>
          </a:p>
        </p:txBody>
      </p:sp>
      <p:sp>
        <p:nvSpPr>
          <p:cNvPr id="302" name="Google Shape;302;p42"/>
          <p:cNvSpPr txBox="1"/>
          <p:nvPr/>
        </p:nvSpPr>
        <p:spPr>
          <a:xfrm>
            <a:off x="7621050" y="121150"/>
            <a:ext cx="145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t>
            </a:r>
            <a:r>
              <a:rPr b="0" i="0" lang="es" sz="1300" u="sng" cap="none" strike="noStrike">
                <a:solidFill>
                  <a:schemeClr val="hlink"/>
                </a:solidFill>
                <a:latin typeface="Arial"/>
                <a:ea typeface="Arial"/>
                <a:cs typeface="Arial"/>
                <a:sym typeface="Arial"/>
                <a:hlinkClick r:id="rId4"/>
              </a:rPr>
              <a:t>Copiar codigo</a:t>
            </a:r>
            <a:endParaRPr b="0" i="0" sz="1300" u="none" cap="none" strike="noStrike">
              <a:solidFill>
                <a:schemeClr val="dk2"/>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nvSpPr>
        <p:spPr>
          <a:xfrm>
            <a:off x="247975" y="184000"/>
            <a:ext cx="8317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600"/>
              <a:buFont typeface="Arial"/>
              <a:buNone/>
            </a:pPr>
            <a:r>
              <a:rPr b="0" i="0" lang="es" sz="2600" u="none" cap="none" strike="noStrike">
                <a:solidFill>
                  <a:schemeClr val="dk1"/>
                </a:solidFill>
                <a:latin typeface="Arial"/>
                <a:ea typeface="Arial"/>
                <a:cs typeface="Arial"/>
                <a:sym typeface="Arial"/>
              </a:rPr>
              <a:t>Regula falsi modificado</a:t>
            </a:r>
            <a:endParaRPr b="0" i="0" sz="1900" u="none" cap="none" strike="noStrike">
              <a:solidFill>
                <a:schemeClr val="dk1"/>
              </a:solidFill>
              <a:latin typeface="Arial"/>
              <a:ea typeface="Arial"/>
              <a:cs typeface="Arial"/>
              <a:sym typeface="Arial"/>
            </a:endParaRPr>
          </a:p>
        </p:txBody>
      </p:sp>
      <p:sp>
        <p:nvSpPr>
          <p:cNvPr id="308" name="Google Shape;308;p43"/>
          <p:cNvSpPr txBox="1"/>
          <p:nvPr/>
        </p:nvSpPr>
        <p:spPr>
          <a:xfrm>
            <a:off x="7426200" y="835525"/>
            <a:ext cx="145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t>
            </a:r>
            <a:r>
              <a:rPr b="0" i="0" lang="es" sz="1300" u="sng" cap="none" strike="noStrike">
                <a:solidFill>
                  <a:schemeClr val="hlink"/>
                </a:solidFill>
                <a:latin typeface="Arial"/>
                <a:ea typeface="Arial"/>
                <a:cs typeface="Arial"/>
                <a:sym typeface="Arial"/>
                <a:hlinkClick r:id="rId3"/>
              </a:rPr>
              <a:t>Copiar codigo</a:t>
            </a:r>
            <a:endParaRPr b="0" i="0" sz="1300" u="none" cap="none" strike="noStrike">
              <a:solidFill>
                <a:schemeClr val="dk2"/>
              </a:solidFill>
              <a:latin typeface="Arial"/>
              <a:ea typeface="Arial"/>
              <a:cs typeface="Arial"/>
              <a:sym typeface="Arial"/>
            </a:endParaRPr>
          </a:p>
        </p:txBody>
      </p:sp>
      <p:pic>
        <p:nvPicPr>
          <p:cNvPr id="309" name="Google Shape;309;p43"/>
          <p:cNvPicPr preferRelativeResize="0"/>
          <p:nvPr/>
        </p:nvPicPr>
        <p:blipFill rotWithShape="1">
          <a:blip r:embed="rId4">
            <a:alphaModFix/>
          </a:blip>
          <a:srcRect b="0" l="0" r="0" t="0"/>
          <a:stretch/>
        </p:blipFill>
        <p:spPr>
          <a:xfrm>
            <a:off x="152400" y="921400"/>
            <a:ext cx="2452109" cy="4069701"/>
          </a:xfrm>
          <a:prstGeom prst="rect">
            <a:avLst/>
          </a:prstGeom>
          <a:noFill/>
          <a:ln>
            <a:noFill/>
          </a:ln>
        </p:spPr>
      </p:pic>
      <p:sp>
        <p:nvSpPr>
          <p:cNvPr id="310" name="Google Shape;310;p43"/>
          <p:cNvSpPr txBox="1"/>
          <p:nvPr/>
        </p:nvSpPr>
        <p:spPr>
          <a:xfrm>
            <a:off x="2919300" y="1109150"/>
            <a:ext cx="5058900" cy="369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xl (limite inferior): 0</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xu (limite superior): 1.3</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el error permitido (es %): 0.01</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Ingrese el numero maximo de iteraciones: 5</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1: xr_bisec = 0.65, ea_bisec = 100%</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2: xr_bisec = 0.975, ea_bisec = 33.3333%</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3: xr_bisec = 1.1375, ea_bisec = 14.2857%</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4: xr_bisec = 1.05625, ea_bisec = 7.69231%</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5: xr_bisec = 1.01562, ea_bisec = 4%</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La raiz aproximada (bisec) es: 1.01562</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1: xr_rf = 0.0942996, ea_rf = 1278.58%</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2: xr_rf = 0.181759, ea_rf = 48.1183%</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3: xr_rf = 0.262874, ea_rf = 30.857%</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4: xr_rf = 0.338105, ea_rf = 22.2508%</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Iteracion 5: xr_rf = 0.407878, ea_rf = 17.1063%</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highlight>
                <a:srgbClr val="FFFFFF"/>
              </a:highlight>
              <a:latin typeface="Courier New"/>
              <a:ea typeface="Courier New"/>
              <a:cs typeface="Courier New"/>
              <a:sym typeface="Courier New"/>
            </a:endParaRPr>
          </a:p>
          <a:p>
            <a:pPr indent="0" lvl="0" marL="0" marR="0" rtl="0" algn="l">
              <a:lnSpc>
                <a:spcPct val="100000"/>
              </a:lnSpc>
              <a:spcBef>
                <a:spcPts val="0"/>
              </a:spcBef>
              <a:spcAft>
                <a:spcPts val="0"/>
              </a:spcAft>
              <a:buClr>
                <a:srgbClr val="000000"/>
              </a:buClr>
              <a:buSzPts val="1200"/>
              <a:buFont typeface="Arial"/>
              <a:buNone/>
            </a:pPr>
            <a:r>
              <a:rPr b="0" i="0" lang="es" sz="1200" u="none" cap="none" strike="noStrike">
                <a:solidFill>
                  <a:schemeClr val="dk1"/>
                </a:solidFill>
                <a:highlight>
                  <a:srgbClr val="FFFFFF"/>
                </a:highlight>
                <a:latin typeface="Courier New"/>
                <a:ea typeface="Courier New"/>
                <a:cs typeface="Courier New"/>
                <a:sym typeface="Courier New"/>
              </a:rPr>
              <a:t>La raiz aproximada (rf) es: 0.407878</a:t>
            </a:r>
            <a:endParaRPr b="0" i="0" sz="1400" u="none" cap="none" strike="noStrike">
              <a:solidFill>
                <a:srgbClr val="000000"/>
              </a:solidFill>
              <a:latin typeface="Arial"/>
              <a:ea typeface="Arial"/>
              <a:cs typeface="Arial"/>
              <a:sym typeface="Arial"/>
            </a:endParaRPr>
          </a:p>
        </p:txBody>
      </p:sp>
      <p:sp>
        <p:nvSpPr>
          <p:cNvPr id="311" name="Google Shape;311;p43"/>
          <p:cNvSpPr txBox="1"/>
          <p:nvPr/>
        </p:nvSpPr>
        <p:spPr>
          <a:xfrm>
            <a:off x="703550" y="1017425"/>
            <a:ext cx="14505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i="0" lang="es" sz="1500" u="none" cap="none" strike="noStrike">
                <a:solidFill>
                  <a:srgbClr val="000000"/>
                </a:solidFill>
                <a:latin typeface="Old Standard TT"/>
                <a:ea typeface="Old Standard TT"/>
                <a:cs typeface="Old Standard TT"/>
                <a:sym typeface="Old Standard TT"/>
              </a:rPr>
              <a:t>f(x) = x</a:t>
            </a:r>
            <a:r>
              <a:rPr b="1" baseline="30000" i="0" lang="es" sz="1500" u="none" cap="none" strike="noStrike">
                <a:solidFill>
                  <a:srgbClr val="000000"/>
                </a:solidFill>
                <a:latin typeface="Old Standard TT"/>
                <a:ea typeface="Old Standard TT"/>
                <a:cs typeface="Old Standard TT"/>
                <a:sym typeface="Old Standard TT"/>
              </a:rPr>
              <a:t>10</a:t>
            </a:r>
            <a:r>
              <a:rPr b="1" i="0" lang="es" sz="1500" u="none" cap="none" strike="noStrike">
                <a:solidFill>
                  <a:srgbClr val="000000"/>
                </a:solidFill>
                <a:latin typeface="Old Standard TT"/>
                <a:ea typeface="Old Standard TT"/>
                <a:cs typeface="Old Standard TT"/>
                <a:sym typeface="Old Standard TT"/>
              </a:rPr>
              <a:t> − 1</a:t>
            </a:r>
            <a:endParaRPr b="1" i="0" sz="1500" u="none" cap="none" strike="noStrike">
              <a:solidFill>
                <a:srgbClr val="000000"/>
              </a:solidFill>
              <a:latin typeface="Old Standard TT"/>
              <a:ea typeface="Old Standard TT"/>
              <a:cs typeface="Old Standard TT"/>
              <a:sym typeface="Old Standard T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nvSpPr>
        <p:spPr>
          <a:xfrm>
            <a:off x="2912675" y="76050"/>
            <a:ext cx="6050400" cy="5042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repetir:</a:t>
            </a:r>
            <a:endParaRPr b="1" i="0" sz="12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xv = xr // Para calcular ea</a:t>
            </a:r>
            <a:endParaRPr b="1" i="0" sz="1200" u="none" cap="none" strike="noStrike">
              <a:solidFill>
                <a:schemeClr val="dk1"/>
              </a:solidFill>
              <a:latin typeface="Courier New"/>
              <a:ea typeface="Courier New"/>
              <a:cs typeface="Courier New"/>
              <a:sym typeface="Courier New"/>
            </a:endParaRPr>
          </a:p>
          <a:p>
            <a:pPr indent="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006600"/>
                </a:solidFill>
                <a:latin typeface="Courier New"/>
                <a:ea typeface="Courier New"/>
                <a:cs typeface="Courier New"/>
                <a:sym typeface="Courier New"/>
              </a:rPr>
              <a:t>xr = xu - fu*(xl - xu)/(fl - fu) 		// Paso 2</a:t>
            </a:r>
            <a:endParaRPr b="1" i="0" sz="1200" u="none" cap="none" strike="noStrike">
              <a:solidFill>
                <a:srgbClr val="006600"/>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si xr != 0:</a:t>
            </a:r>
            <a:endParaRPr b="1" i="0" sz="1200" u="none" cap="none" strike="noStrike">
              <a:solidFill>
                <a:schemeClr val="dk1"/>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ea = abs((xr - xv)/xr)*100</a:t>
            </a:r>
            <a:endParaRPr b="1" i="0" sz="12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iter = iter + 1</a:t>
            </a:r>
            <a:endParaRPr b="1" i="0" sz="1200" u="none" cap="none" strike="noStrike">
              <a:solidFill>
                <a:schemeClr val="dk1"/>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fr = f(xr)</a:t>
            </a:r>
            <a:endParaRPr b="1" i="0" sz="1200" u="none" cap="none" strike="noStrike">
              <a:solidFill>
                <a:srgbClr val="660066"/>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prueba = fl * fr </a:t>
            </a:r>
            <a:r>
              <a:rPr b="1" i="0" lang="es" sz="1200" u="none" cap="none" strike="noStrike">
                <a:solidFill>
                  <a:srgbClr val="0000FF"/>
                </a:solidFill>
                <a:latin typeface="Courier New"/>
                <a:ea typeface="Courier New"/>
                <a:cs typeface="Courier New"/>
                <a:sym typeface="Courier New"/>
              </a:rPr>
              <a:t>				</a:t>
            </a:r>
            <a:r>
              <a:rPr b="1" i="0" lang="es" sz="1200" u="none" cap="none" strike="noStrike">
                <a:solidFill>
                  <a:srgbClr val="660066"/>
                </a:solidFill>
                <a:latin typeface="Courier New"/>
                <a:ea typeface="Courier New"/>
                <a:cs typeface="Courier New"/>
                <a:sym typeface="Courier New"/>
              </a:rPr>
              <a:t>// Paso 3</a:t>
            </a:r>
            <a:endParaRPr b="1" i="0" sz="1200" u="none" cap="none" strike="noStrike">
              <a:solidFill>
                <a:srgbClr val="660066"/>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si prueba &lt; 0:</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xu = xr</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fu = fr</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iu = 0</a:t>
            </a:r>
            <a:endParaRPr b="1" i="0" sz="1200" u="none" cap="none" strike="noStrike">
              <a:solidFill>
                <a:srgbClr val="9900FF"/>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il = il + 1</a:t>
            </a:r>
            <a:endParaRPr b="1" i="0" sz="1200" u="none" cap="none" strike="noStrike">
              <a:solidFill>
                <a:srgbClr val="9900FF"/>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si il ≥ 2:</a:t>
            </a:r>
            <a:endParaRPr b="1" i="0" sz="1200" u="none" cap="none" strike="noStrike">
              <a:solidFill>
                <a:srgbClr val="9900FF"/>
              </a:solidFill>
              <a:latin typeface="Courier New"/>
              <a:ea typeface="Courier New"/>
              <a:cs typeface="Courier New"/>
              <a:sym typeface="Courier New"/>
            </a:endParaRPr>
          </a:p>
          <a:p>
            <a:pPr indent="457200" lvl="0" marL="9144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fl = fl ∕ 2</a:t>
            </a:r>
            <a:endParaRPr b="1" i="0" sz="1200" u="none" cap="none" strike="noStrike">
              <a:solidFill>
                <a:srgbClr val="9900FF"/>
              </a:solidFill>
              <a:latin typeface="Courier New"/>
              <a:ea typeface="Courier New"/>
              <a:cs typeface="Courier New"/>
              <a:sym typeface="Courier New"/>
            </a:endParaRPr>
          </a:p>
          <a:p>
            <a:pPr indent="457200" lvl="0" marL="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en caso contrario:</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xl = xr</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660066"/>
                </a:solidFill>
                <a:latin typeface="Courier New"/>
                <a:ea typeface="Courier New"/>
                <a:cs typeface="Courier New"/>
                <a:sym typeface="Courier New"/>
              </a:rPr>
              <a:t>fl = fr</a:t>
            </a:r>
            <a:endParaRPr b="1" i="0" sz="1200" u="none" cap="none" strike="noStrike">
              <a:solidFill>
                <a:srgbClr val="660066"/>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il = 0</a:t>
            </a:r>
            <a:endParaRPr b="1" i="0" sz="1200" u="none" cap="none" strike="noStrike">
              <a:solidFill>
                <a:srgbClr val="9900FF"/>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iu = iu + 1</a:t>
            </a:r>
            <a:endParaRPr b="1" i="0" sz="1200" u="none" cap="none" strike="noStrike">
              <a:solidFill>
                <a:srgbClr val="9900FF"/>
              </a:solidFill>
              <a:latin typeface="Courier New"/>
              <a:ea typeface="Courier New"/>
              <a:cs typeface="Courier New"/>
              <a:sym typeface="Courier New"/>
            </a:endParaRPr>
          </a:p>
          <a:p>
            <a:pPr indent="457200" lvl="0" marL="4572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si iu ≥ 2:</a:t>
            </a:r>
            <a:endParaRPr b="1" i="0" sz="1200" u="none" cap="none" strike="noStrike">
              <a:solidFill>
                <a:srgbClr val="9900FF"/>
              </a:solidFill>
              <a:latin typeface="Courier New"/>
              <a:ea typeface="Courier New"/>
              <a:cs typeface="Courier New"/>
              <a:sym typeface="Courier New"/>
            </a:endParaRPr>
          </a:p>
          <a:p>
            <a:pPr indent="457200" lvl="0" marL="914400" marR="0" rtl="0" algn="l">
              <a:lnSpc>
                <a:spcPct val="115000"/>
              </a:lnSpc>
              <a:spcBef>
                <a:spcPts val="0"/>
              </a:spcBef>
              <a:spcAft>
                <a:spcPts val="0"/>
              </a:spcAft>
              <a:buClr>
                <a:schemeClr val="dk1"/>
              </a:buClr>
              <a:buSzPts val="1100"/>
              <a:buFont typeface="Arial"/>
              <a:buNone/>
            </a:pPr>
            <a:r>
              <a:rPr b="1" i="0" lang="es" sz="1200" u="none" cap="none" strike="noStrike">
                <a:solidFill>
                  <a:srgbClr val="9900FF"/>
                </a:solidFill>
                <a:latin typeface="Courier New"/>
                <a:ea typeface="Courier New"/>
                <a:cs typeface="Courier New"/>
                <a:sym typeface="Courier New"/>
              </a:rPr>
              <a:t>fu = fu ∕ 2</a:t>
            </a:r>
            <a:endParaRPr b="1" i="0" sz="1200" u="none" cap="none" strike="noStrike">
              <a:solidFill>
                <a:srgbClr val="0000FF"/>
              </a:solidFill>
              <a:latin typeface="Courier New"/>
              <a:ea typeface="Courier New"/>
              <a:cs typeface="Courier New"/>
              <a:sym typeface="Courier New"/>
            </a:endParaRPr>
          </a:p>
          <a:p>
            <a:pPr indent="0" lvl="0" marL="0" marR="0" rtl="0" algn="l">
              <a:lnSpc>
                <a:spcPct val="115000"/>
              </a:lnSpc>
              <a:spcBef>
                <a:spcPts val="0"/>
              </a:spcBef>
              <a:spcAft>
                <a:spcPts val="0"/>
              </a:spcAft>
              <a:buClr>
                <a:schemeClr val="dk1"/>
              </a:buClr>
              <a:buSzPts val="1100"/>
              <a:buFont typeface="Arial"/>
              <a:buNone/>
            </a:pPr>
            <a:r>
              <a:rPr b="1" i="0" lang="es" sz="1200" u="none" cap="none" strike="noStrike">
                <a:solidFill>
                  <a:schemeClr val="dk1"/>
                </a:solidFill>
                <a:latin typeface="Courier New"/>
                <a:ea typeface="Courier New"/>
                <a:cs typeface="Courier New"/>
                <a:sym typeface="Courier New"/>
              </a:rPr>
              <a:t>hasta que (</a:t>
            </a:r>
            <a:r>
              <a:rPr b="1" i="0" lang="es" sz="1200" u="none" cap="none" strike="noStrike">
                <a:solidFill>
                  <a:srgbClr val="FF0000"/>
                </a:solidFill>
                <a:latin typeface="Courier New"/>
                <a:ea typeface="Courier New"/>
                <a:cs typeface="Courier New"/>
                <a:sym typeface="Courier New"/>
              </a:rPr>
              <a:t>ea&lt;es </a:t>
            </a:r>
            <a:r>
              <a:rPr b="1" i="0" lang="es" sz="1200" u="none" cap="none" strike="noStrike">
                <a:solidFill>
                  <a:schemeClr val="dk1"/>
                </a:solidFill>
                <a:latin typeface="Courier New"/>
                <a:ea typeface="Courier New"/>
                <a:cs typeface="Courier New"/>
                <a:sym typeface="Courier New"/>
              </a:rPr>
              <a:t>or </a:t>
            </a:r>
            <a:r>
              <a:rPr b="1" i="0" lang="es" sz="1200" u="none" cap="none" strike="noStrike">
                <a:solidFill>
                  <a:srgbClr val="FF0000"/>
                </a:solidFill>
                <a:latin typeface="Courier New"/>
                <a:ea typeface="Courier New"/>
                <a:cs typeface="Courier New"/>
                <a:sym typeface="Courier New"/>
              </a:rPr>
              <a:t>iter&gt;=imax</a:t>
            </a:r>
            <a:r>
              <a:rPr b="1" i="0" lang="es" sz="1200" u="none" cap="none" strike="noStrike">
                <a:solidFill>
                  <a:schemeClr val="dk1"/>
                </a:solidFill>
                <a:latin typeface="Courier New"/>
                <a:ea typeface="Courier New"/>
                <a:cs typeface="Courier New"/>
                <a:sym typeface="Courier New"/>
              </a:rPr>
              <a:t>)</a:t>
            </a:r>
            <a:endParaRPr b="1" i="0" sz="1350" u="none" cap="none" strike="noStrike">
              <a:solidFill>
                <a:schemeClr val="dk1"/>
              </a:solidFill>
              <a:latin typeface="Courier New"/>
              <a:ea typeface="Courier New"/>
              <a:cs typeface="Courier New"/>
              <a:sym typeface="Courier New"/>
            </a:endParaRPr>
          </a:p>
        </p:txBody>
      </p:sp>
      <p:sp>
        <p:nvSpPr>
          <p:cNvPr id="317" name="Google Shape;317;p44"/>
          <p:cNvSpPr txBox="1"/>
          <p:nvPr/>
        </p:nvSpPr>
        <p:spPr>
          <a:xfrm>
            <a:off x="247975" y="184000"/>
            <a:ext cx="2210100" cy="203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2700"/>
              <a:buFont typeface="Arial"/>
              <a:buNone/>
            </a:pPr>
            <a:r>
              <a:rPr b="0" i="0" lang="es" sz="2700" u="none" cap="none" strike="noStrike">
                <a:solidFill>
                  <a:schemeClr val="dk1"/>
                </a:solidFill>
                <a:latin typeface="Arial"/>
                <a:ea typeface="Arial"/>
                <a:cs typeface="Arial"/>
                <a:sym typeface="Arial"/>
              </a:rPr>
              <a:t>Método de la falsa posición modificado</a:t>
            </a:r>
            <a:endParaRPr b="0" i="0" sz="2000" u="none" cap="none" strike="noStrike">
              <a:solidFill>
                <a:schemeClr val="dk1"/>
              </a:solidFill>
              <a:latin typeface="Arial"/>
              <a:ea typeface="Arial"/>
              <a:cs typeface="Arial"/>
              <a:sym typeface="Arial"/>
            </a:endParaRPr>
          </a:p>
        </p:txBody>
      </p:sp>
      <p:sp>
        <p:nvSpPr>
          <p:cNvPr id="318" name="Google Shape;318;p44"/>
          <p:cNvSpPr txBox="1"/>
          <p:nvPr/>
        </p:nvSpPr>
        <p:spPr>
          <a:xfrm>
            <a:off x="975200" y="3398975"/>
            <a:ext cx="2024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s" sz="1400" u="none" cap="none" strike="noStrike">
                <a:solidFill>
                  <a:schemeClr val="dk1"/>
                </a:solidFill>
                <a:latin typeface="Arial"/>
                <a:ea typeface="Arial"/>
                <a:cs typeface="Arial"/>
                <a:sym typeface="Arial"/>
              </a:rPr>
              <a:t>👉</a:t>
            </a:r>
            <a:r>
              <a:rPr b="0" i="0" lang="es" sz="1800" u="sng" cap="none" strike="noStrike">
                <a:solidFill>
                  <a:schemeClr val="hlink"/>
                </a:solidFill>
                <a:latin typeface="Arial"/>
                <a:ea typeface="Arial"/>
                <a:cs typeface="Arial"/>
                <a:sym typeface="Arial"/>
                <a:hlinkClick r:id="rId3"/>
              </a:rPr>
              <a:t>Copiar Código</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5"/>
          <p:cNvSpPr txBox="1"/>
          <p:nvPr>
            <p:ph type="title"/>
          </p:nvPr>
        </p:nvSpPr>
        <p:spPr>
          <a:xfrm>
            <a:off x="311700" y="3390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Búsqueda de incrementos y valores iniciales</a:t>
            </a:r>
            <a:endParaRPr/>
          </a:p>
          <a:p>
            <a:pPr indent="0" lvl="0" marL="0" rtl="0" algn="l">
              <a:lnSpc>
                <a:spcPct val="100000"/>
              </a:lnSpc>
              <a:spcBef>
                <a:spcPts val="0"/>
              </a:spcBef>
              <a:spcAft>
                <a:spcPts val="0"/>
              </a:spcAft>
              <a:buSzPct val="111111"/>
              <a:buNone/>
            </a:pPr>
            <a:r>
              <a:t/>
            </a:r>
            <a:endParaRPr/>
          </a:p>
        </p:txBody>
      </p:sp>
      <p:sp>
        <p:nvSpPr>
          <p:cNvPr id="324" name="Google Shape;324;p45"/>
          <p:cNvSpPr txBox="1"/>
          <p:nvPr/>
        </p:nvSpPr>
        <p:spPr>
          <a:xfrm>
            <a:off x="469150" y="1089175"/>
            <a:ext cx="3742500" cy="350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2"/>
                </a:solidFill>
                <a:latin typeface="Arial"/>
                <a:ea typeface="Arial"/>
                <a:cs typeface="Arial"/>
                <a:sym typeface="Arial"/>
              </a:rPr>
              <a:t>Para la búsqueda de valores iniciales:</a:t>
            </a:r>
            <a:endParaRPr b="0" i="0" sz="1800" u="none" cap="none" strike="noStrike">
              <a:solidFill>
                <a:schemeClr val="dk2"/>
              </a:solidFill>
              <a:latin typeface="Arial"/>
              <a:ea typeface="Arial"/>
              <a:cs typeface="Arial"/>
              <a:sym typeface="Arial"/>
            </a:endParaRPr>
          </a:p>
          <a:p>
            <a:pPr indent="-342900" lvl="0" marL="457200" marR="0" rtl="0" algn="l">
              <a:lnSpc>
                <a:spcPct val="15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Por lo general una gráfica de la función ayudará a identificar la zona de interés. </a:t>
            </a:r>
            <a:endParaRPr b="0" i="0" sz="1800" u="none" cap="none" strike="noStrike">
              <a:solidFill>
                <a:schemeClr val="dk2"/>
              </a:solidFill>
              <a:latin typeface="Arial"/>
              <a:ea typeface="Arial"/>
              <a:cs typeface="Arial"/>
              <a:sym typeface="Arial"/>
            </a:endParaRPr>
          </a:p>
          <a:p>
            <a:pPr indent="-342900" lvl="0" marL="457200" marR="0" rtl="0" algn="l">
              <a:lnSpc>
                <a:spcPct val="15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Otra opción es incorporar una búsqueda incremental al inicio del programa. </a:t>
            </a:r>
            <a:endParaRPr b="0" i="0" sz="1800" u="none" cap="none" strike="noStrike">
              <a:solidFill>
                <a:schemeClr val="dk2"/>
              </a:solidFill>
              <a:latin typeface="Arial"/>
              <a:ea typeface="Arial"/>
              <a:cs typeface="Arial"/>
              <a:sym typeface="Arial"/>
            </a:endParaRPr>
          </a:p>
          <a:p>
            <a:pPr indent="0" lvl="0" marL="457200" marR="0" rtl="0" algn="l">
              <a:lnSpc>
                <a:spcPct val="2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pic>
        <p:nvPicPr>
          <p:cNvPr id="325" name="Google Shape;325;p45"/>
          <p:cNvPicPr preferRelativeResize="0"/>
          <p:nvPr/>
        </p:nvPicPr>
        <p:blipFill rotWithShape="1">
          <a:blip r:embed="rId3">
            <a:alphaModFix/>
          </a:blip>
          <a:srcRect b="0" l="0" r="0" t="0"/>
          <a:stretch/>
        </p:blipFill>
        <p:spPr>
          <a:xfrm>
            <a:off x="4274276" y="1264801"/>
            <a:ext cx="4717152" cy="2551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311700" y="3390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s"/>
              <a:t>Sumario</a:t>
            </a:r>
            <a:endParaRPr/>
          </a:p>
          <a:p>
            <a:pPr indent="0" lvl="0" marL="0" rtl="0" algn="l">
              <a:lnSpc>
                <a:spcPct val="100000"/>
              </a:lnSpc>
              <a:spcBef>
                <a:spcPts val="0"/>
              </a:spcBef>
              <a:spcAft>
                <a:spcPts val="0"/>
              </a:spcAft>
              <a:buSzPct val="111111"/>
              <a:buNone/>
            </a:pPr>
            <a:r>
              <a:t/>
            </a:r>
            <a:endParaRPr/>
          </a:p>
        </p:txBody>
      </p:sp>
      <p:sp>
        <p:nvSpPr>
          <p:cNvPr id="331" name="Google Shape;331;p46"/>
          <p:cNvSpPr txBox="1"/>
          <p:nvPr/>
        </p:nvSpPr>
        <p:spPr>
          <a:xfrm>
            <a:off x="1475775" y="1251525"/>
            <a:ext cx="6858000" cy="32325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Métodos de resolución de ecuaciones no lineales</a:t>
            </a:r>
            <a:endParaRPr b="0" i="0" sz="1800" u="none" cap="none" strike="noStrike">
              <a:solidFill>
                <a:schemeClr val="dk2"/>
              </a:solidFill>
              <a:latin typeface="Arial"/>
              <a:ea typeface="Arial"/>
              <a:cs typeface="Arial"/>
              <a:sym typeface="Arial"/>
            </a:endParaRPr>
          </a:p>
          <a:p>
            <a:pPr indent="-342900" lvl="0" marL="4572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Métodos cerrados:</a:t>
            </a:r>
            <a:endParaRPr b="0" i="0" sz="1800" u="none" cap="none" strike="noStrike">
              <a:solidFill>
                <a:schemeClr val="dk2"/>
              </a:solidFill>
              <a:latin typeface="Arial"/>
              <a:ea typeface="Arial"/>
              <a:cs typeface="Arial"/>
              <a:sym typeface="Arial"/>
            </a:endParaRPr>
          </a:p>
          <a:p>
            <a:pPr indent="-342900" lvl="1" marL="9144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Bisección</a:t>
            </a:r>
            <a:endParaRPr b="0" i="0" sz="1800" u="none" cap="none" strike="noStrike">
              <a:solidFill>
                <a:schemeClr val="dk2"/>
              </a:solidFill>
              <a:latin typeface="Arial"/>
              <a:ea typeface="Arial"/>
              <a:cs typeface="Arial"/>
              <a:sym typeface="Arial"/>
            </a:endParaRPr>
          </a:p>
          <a:p>
            <a:pPr indent="-342900" lvl="1" marL="9144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Falsa posición</a:t>
            </a:r>
            <a:endParaRPr b="0" i="0" sz="1800" u="none" cap="none" strike="noStrike">
              <a:solidFill>
                <a:schemeClr val="dk2"/>
              </a:solidFill>
              <a:latin typeface="Arial"/>
              <a:ea typeface="Arial"/>
              <a:cs typeface="Arial"/>
              <a:sym typeface="Arial"/>
            </a:endParaRPr>
          </a:p>
          <a:p>
            <a:pPr indent="-342900" lvl="1" marL="9144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Falsa posición modificada</a:t>
            </a:r>
            <a:endParaRPr b="0" i="0" sz="1800" u="none" cap="none" strike="noStrike">
              <a:solidFill>
                <a:schemeClr val="dk2"/>
              </a:solidFill>
              <a:latin typeface="Arial"/>
              <a:ea typeface="Arial"/>
              <a:cs typeface="Arial"/>
              <a:sym typeface="Arial"/>
            </a:endParaRPr>
          </a:p>
          <a:p>
            <a:pPr indent="-342900" lvl="0" marL="457200" marR="0" rtl="0" algn="l">
              <a:lnSpc>
                <a:spcPct val="200000"/>
              </a:lnSpc>
              <a:spcBef>
                <a:spcPts val="0"/>
              </a:spcBef>
              <a:spcAft>
                <a:spcPts val="0"/>
              </a:spcAft>
              <a:buClr>
                <a:schemeClr val="dk2"/>
              </a:buClr>
              <a:buSzPts val="1800"/>
              <a:buFont typeface="Arial"/>
              <a:buChar char="●"/>
            </a:pPr>
            <a:r>
              <a:rPr b="0" i="0" lang="es" sz="1800" u="none" cap="none" strike="noStrike">
                <a:solidFill>
                  <a:schemeClr val="dk2"/>
                </a:solidFill>
                <a:latin typeface="Arial"/>
                <a:ea typeface="Arial"/>
                <a:cs typeface="Arial"/>
                <a:sym typeface="Arial"/>
              </a:rPr>
              <a:t>Busqueda de valores iniciales</a:t>
            </a:r>
            <a:endParaRPr b="0" i="0" sz="18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laro FCEFYN">
  <a:themeElements>
    <a:clrScheme name="Simple Light">
      <a:dk1>
        <a:srgbClr val="1D1D1D"/>
      </a:dk1>
      <a:lt1>
        <a:srgbClr val="FFFFFF"/>
      </a:lt1>
      <a:dk2>
        <a:srgbClr val="595959"/>
      </a:dk2>
      <a:lt2>
        <a:srgbClr val="EEEEEE"/>
      </a:lt2>
      <a:accent1>
        <a:srgbClr val="4285F4"/>
      </a:accent1>
      <a:accent2>
        <a:srgbClr val="212121"/>
      </a:accent2>
      <a:accent3>
        <a:srgbClr val="D88E77"/>
      </a:accent3>
      <a:accent4>
        <a:srgbClr val="D38129"/>
      </a:accent4>
      <a:accent5>
        <a:srgbClr val="1D4036"/>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