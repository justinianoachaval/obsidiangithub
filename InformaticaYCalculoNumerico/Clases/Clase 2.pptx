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Montserrat SemiBold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Montserrat Medium"/>
      <p:regular r:id="rId46"/>
      <p:bold r:id="rId47"/>
      <p:italic r:id="rId48"/>
      <p:boldItalic r:id="rId49"/>
    </p:embeddedFont>
    <p:embeddedFont>
      <p:font typeface="Montserrat Light"/>
      <p:regular r:id="rId50"/>
      <p:bold r:id="rId51"/>
      <p:italic r:id="rId52"/>
      <p:boldItalic r:id="rId53"/>
    </p:embeddedFont>
    <p:embeddedFont>
      <p:font typeface="Fira Code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49EB93-E4FC-43C0-9997-B860051E8948}">
  <a:tblStyle styleId="{D849EB93-E4FC-43C0-9997-B860051E89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italic.fntdata"/><Relationship Id="rId42" Type="http://schemas.openxmlformats.org/officeDocument/2006/relationships/font" Target="fonts/Montserrat-regular.fntdata"/><Relationship Id="rId41" Type="http://schemas.openxmlformats.org/officeDocument/2006/relationships/font" Target="fonts/MontserratSemiBold-boldItalic.fntdata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MontserratMedium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Medium-italic.fntdata"/><Relationship Id="rId47" Type="http://schemas.openxmlformats.org/officeDocument/2006/relationships/font" Target="fonts/MontserratMedium-bold.fntdata"/><Relationship Id="rId49" Type="http://schemas.openxmlformats.org/officeDocument/2006/relationships/font" Target="fonts/Montserra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MontserratSemiBold-bold.fntdata"/><Relationship Id="rId38" Type="http://schemas.openxmlformats.org/officeDocument/2006/relationships/font" Target="fonts/MontserratSemiBol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Light-bold.fntdata"/><Relationship Id="rId50" Type="http://schemas.openxmlformats.org/officeDocument/2006/relationships/font" Target="fonts/MontserratLight-regular.fntdata"/><Relationship Id="rId53" Type="http://schemas.openxmlformats.org/officeDocument/2006/relationships/font" Target="fonts/MontserratLight-boldItalic.fntdata"/><Relationship Id="rId52" Type="http://schemas.openxmlformats.org/officeDocument/2006/relationships/font" Target="fonts/MontserratLight-italic.fntdata"/><Relationship Id="rId11" Type="http://schemas.openxmlformats.org/officeDocument/2006/relationships/slide" Target="slides/slide5.xml"/><Relationship Id="rId55" Type="http://schemas.openxmlformats.org/officeDocument/2006/relationships/font" Target="fonts/FiraCode-bold.fntdata"/><Relationship Id="rId10" Type="http://schemas.openxmlformats.org/officeDocument/2006/relationships/slide" Target="slides/slide4.xml"/><Relationship Id="rId54" Type="http://schemas.openxmlformats.org/officeDocument/2006/relationships/font" Target="fonts/FiraCod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43bac84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43bac84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49b493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649b493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49b4934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49b493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49b4934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49b4934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49b4934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649b4934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51dffc7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651dffc7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49b4934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649b4934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49b4934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49b4934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49b4934b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49b4934b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649b4934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649b4934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649b4934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649b4934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49b4934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649b4934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49b4934b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649b4934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49b4934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649b4934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649b4934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649b4934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649b4934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649b4934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6529f95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6529f9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672677d7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672677d7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72677d7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672677d7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672677d79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672677d79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672677d79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672677d79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672677d79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672677d7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72677d79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672677d7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672677d79_2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672677d79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672677d79_2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672677d79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672677d79_2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672677d79_2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672677d79_2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672677d79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672677d79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f672677d79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672677d79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672677d79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672677d79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f672677d79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rsos.mcielectronics.cl/wp-content/uploads/2022/08/ascii_table_black-1024x789.p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5904975" y="3267475"/>
            <a:ext cx="3163800" cy="49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020100" y="2326425"/>
            <a:ext cx="2933400" cy="49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158100" y="1402025"/>
            <a:ext cx="2657400" cy="49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>
            <p:ph type="title"/>
          </p:nvPr>
        </p:nvSpPr>
        <p:spPr>
          <a:xfrm>
            <a:off x="311700" y="445025"/>
            <a:ext cx="468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Diseñamos el algoritmo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8" name="Google Shape;88;p14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1000" y="2495550"/>
            <a:ext cx="2876551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6158175" y="1402025"/>
            <a:ext cx="265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Obtenemos datos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829450" y="2325450"/>
            <a:ext cx="33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Calculamos potencia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5829450" y="3267475"/>
            <a:ext cx="331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Mostramos resultados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6737100" y="388001"/>
            <a:ext cx="1499100" cy="6828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latin typeface="Montserrat"/>
                <a:ea typeface="Montserrat"/>
                <a:cs typeface="Montserrat"/>
                <a:sym typeface="Montserrat"/>
              </a:rPr>
              <a:t>Inicio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990152" y="4074650"/>
            <a:ext cx="993300" cy="57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4"/>
          <p:cNvCxnSpPr>
            <a:stCxn id="92" idx="4"/>
            <a:endCxn id="89" idx="0"/>
          </p:cNvCxnSpPr>
          <p:nvPr/>
        </p:nvCxnSpPr>
        <p:spPr>
          <a:xfrm>
            <a:off x="7486650" y="1070801"/>
            <a:ext cx="300" cy="33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>
            <a:stCxn id="89" idx="2"/>
            <a:endCxn id="90" idx="0"/>
          </p:cNvCxnSpPr>
          <p:nvPr/>
        </p:nvCxnSpPr>
        <p:spPr>
          <a:xfrm>
            <a:off x="7486875" y="1894625"/>
            <a:ext cx="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4"/>
          <p:cNvCxnSpPr>
            <a:stCxn id="90" idx="2"/>
            <a:endCxn id="91" idx="0"/>
          </p:cNvCxnSpPr>
          <p:nvPr/>
        </p:nvCxnSpPr>
        <p:spPr>
          <a:xfrm>
            <a:off x="7486800" y="2818050"/>
            <a:ext cx="0" cy="44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4"/>
          <p:cNvCxnSpPr>
            <a:stCxn id="91" idx="2"/>
            <a:endCxn id="93" idx="0"/>
          </p:cNvCxnSpPr>
          <p:nvPr/>
        </p:nvCxnSpPr>
        <p:spPr>
          <a:xfrm>
            <a:off x="7486650" y="3760075"/>
            <a:ext cx="300" cy="31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066650" y="2060257"/>
            <a:ext cx="46866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 V x I</a:t>
            </a:r>
            <a:endParaRPr b="1" sz="5130"/>
          </a:p>
        </p:txBody>
      </p:sp>
      <p:sp>
        <p:nvSpPr>
          <p:cNvPr id="99" name="Google Shape;99;p14"/>
          <p:cNvSpPr/>
          <p:nvPr/>
        </p:nvSpPr>
        <p:spPr>
          <a:xfrm>
            <a:off x="3198892" y="1314426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9V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442699" y="1314426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2.2A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454330" y="3256125"/>
            <a:ext cx="1393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19.8W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955171" y="3106068"/>
            <a:ext cx="14991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</a:t>
            </a:r>
            <a:endParaRPr b="1" sz="5130"/>
          </a:p>
        </p:txBody>
      </p:sp>
      <p:sp>
        <p:nvSpPr>
          <p:cNvPr id="103" name="Google Shape;103;p14"/>
          <p:cNvSpPr/>
          <p:nvPr/>
        </p:nvSpPr>
        <p:spPr>
          <a:xfrm>
            <a:off x="3198892" y="2248351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9V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442699" y="2248351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2.2A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311700" y="555600"/>
            <a:ext cx="2808000" cy="12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computadora es…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311700" y="2065800"/>
            <a:ext cx="2808000" cy="25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/>
              <a:t>… una máquina electrónica programable que recibe datos, los procesa siguiendo instrucciones y genera resultados útiles para resolver problemas.</a:t>
            </a:r>
            <a:endParaRPr sz="1800"/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060272" y="652222"/>
            <a:ext cx="142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200" lIns="79200" spcFirstLastPara="1" rIns="79200" wrap="square" tIns="79200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39"/>
              </a:spcAft>
              <a:buNone/>
            </a:pPr>
            <a:r>
              <a:rPr lang="es" sz="1039">
                <a:solidFill>
                  <a:schemeClr val="dk1"/>
                </a:solidFill>
              </a:rPr>
              <a:t>Ejecuta instrucciones</a:t>
            </a:r>
            <a:endParaRPr sz="1039">
              <a:solidFill>
                <a:schemeClr val="dk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570538" y="400350"/>
            <a:ext cx="2445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200" lIns="79200" spcFirstLastPara="1" rIns="79200" wrap="square" tIns="79200">
            <a:normAutofit fontScale="92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39"/>
              </a:spcAft>
              <a:buNone/>
            </a:pPr>
            <a:r>
              <a:rPr lang="es" sz="1559">
                <a:solidFill>
                  <a:schemeClr val="dk1"/>
                </a:solidFill>
              </a:rPr>
              <a:t>Unidad Central de Proceso</a:t>
            </a:r>
            <a:endParaRPr sz="1559">
              <a:solidFill>
                <a:schemeClr val="dk1"/>
              </a:solidFill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4099529" y="2711241"/>
            <a:ext cx="3989327" cy="1837059"/>
            <a:chOff x="2640450" y="2864075"/>
            <a:chExt cx="4605550" cy="2120825"/>
          </a:xfrm>
        </p:grpSpPr>
        <p:grpSp>
          <p:nvGrpSpPr>
            <p:cNvPr id="115" name="Google Shape;115;p15"/>
            <p:cNvGrpSpPr/>
            <p:nvPr/>
          </p:nvGrpSpPr>
          <p:grpSpPr>
            <a:xfrm>
              <a:off x="2640450" y="3655800"/>
              <a:ext cx="1424700" cy="1329100"/>
              <a:chOff x="2640450" y="3655800"/>
              <a:chExt cx="1424700" cy="13291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2640450" y="3655800"/>
                <a:ext cx="1424700" cy="12483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79200" lIns="79200" spcFirstLastPara="1" rIns="79200" wrap="square" tIns="7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39"/>
                  </a:spcAft>
                  <a:buClr>
                    <a:srgbClr val="000000"/>
                  </a:buClr>
                  <a:buSzPts val="1559"/>
                  <a:buFont typeface="Arial"/>
                  <a:buNone/>
                </a:pPr>
                <a:r>
                  <a:rPr lang="es" sz="1559">
                    <a:solidFill>
                      <a:schemeClr val="dk1"/>
                    </a:solidFill>
                  </a:rPr>
                  <a:t>Memoria</a:t>
                </a:r>
                <a:endParaRPr sz="1213">
                  <a:solidFill>
                    <a:schemeClr val="dk1"/>
                  </a:solidFill>
                </a:endParaRPr>
              </a:p>
            </p:txBody>
          </p:sp>
          <p:pic>
            <p:nvPicPr>
              <p:cNvPr id="117" name="Google Shape;117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29575" y="3938450"/>
                <a:ext cx="1046450" cy="10464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8" name="Google Shape;118;p15"/>
            <p:cNvSpPr/>
            <p:nvPr/>
          </p:nvSpPr>
          <p:spPr>
            <a:xfrm rot="-5400000">
              <a:off x="4227125" y="3049325"/>
              <a:ext cx="738000" cy="367500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ADADAD"/>
            </a:solidFill>
            <a:ln cap="flat" cmpd="sng" w="825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3"/>
                <a:buFont typeface="Arial"/>
                <a:buNone/>
              </a:pPr>
              <a:r>
                <a:t/>
              </a:r>
              <a:endParaRPr b="0" i="0" sz="12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" name="Google Shape;119;p15"/>
            <p:cNvGrpSpPr/>
            <p:nvPr/>
          </p:nvGrpSpPr>
          <p:grpSpPr>
            <a:xfrm>
              <a:off x="5096500" y="3355875"/>
              <a:ext cx="2149500" cy="1544100"/>
              <a:chOff x="5096500" y="3355875"/>
              <a:chExt cx="2149500" cy="15441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5096500" y="3355875"/>
                <a:ext cx="2149500" cy="15441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79200" lIns="79200" spcFirstLastPara="1" rIns="79200" wrap="square" tIns="7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39"/>
                  </a:spcAft>
                  <a:buNone/>
                </a:pPr>
                <a:r>
                  <a:rPr lang="es" sz="1559">
                    <a:solidFill>
                      <a:schemeClr val="dk1"/>
                    </a:solidFill>
                  </a:rPr>
                  <a:t>Almacenamiento Secundario</a:t>
                </a:r>
                <a:endParaRPr sz="1213">
                  <a:solidFill>
                    <a:schemeClr val="dk1"/>
                  </a:solidFill>
                </a:endParaRPr>
              </a:p>
            </p:txBody>
          </p:sp>
          <p:pic>
            <p:nvPicPr>
              <p:cNvPr id="121" name="Google Shape;121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858100" y="4224725"/>
                <a:ext cx="626300" cy="626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2" name="Google Shape;122;p15"/>
          <p:cNvGrpSpPr/>
          <p:nvPr/>
        </p:nvGrpSpPr>
        <p:grpSpPr>
          <a:xfrm>
            <a:off x="2692277" y="1693976"/>
            <a:ext cx="2095104" cy="445924"/>
            <a:chOff x="367940" y="1689675"/>
            <a:chExt cx="2418730" cy="514805"/>
          </a:xfrm>
        </p:grpSpPr>
        <p:sp>
          <p:nvSpPr>
            <p:cNvPr id="123" name="Google Shape;123;p15"/>
            <p:cNvSpPr/>
            <p:nvPr/>
          </p:nvSpPr>
          <p:spPr>
            <a:xfrm>
              <a:off x="2100570" y="1689680"/>
              <a:ext cx="686100" cy="514800"/>
            </a:xfrm>
            <a:prstGeom prst="rightArrow">
              <a:avLst>
                <a:gd fmla="val 44678" name="adj1"/>
                <a:gd fmla="val 50000" name="adj2"/>
              </a:avLst>
            </a:prstGeom>
            <a:solidFill>
              <a:srgbClr val="ADADAD"/>
            </a:solidFill>
            <a:ln cap="flat" cmpd="sng" w="825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3"/>
                <a:buFont typeface="Arial"/>
                <a:buNone/>
              </a:pPr>
              <a:r>
                <a:t/>
              </a:r>
              <a:endParaRPr b="0" i="0" sz="12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67940" y="1689675"/>
              <a:ext cx="1524900" cy="5148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6"/>
                <a:buFont typeface="Arial"/>
                <a:buNone/>
              </a:pPr>
              <a:r>
                <a:rPr b="0" i="0" lang="es" sz="1386" u="none" cap="none" strike="noStrike">
                  <a:solidFill>
                    <a:srgbClr val="303030"/>
                  </a:solidFill>
                  <a:latin typeface="Arial"/>
                  <a:ea typeface="Arial"/>
                  <a:cs typeface="Arial"/>
                  <a:sym typeface="Arial"/>
                </a:rPr>
                <a:t>Entrada</a:t>
              </a:r>
              <a:endParaRPr b="1" i="0" sz="1386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6827246" y="1693976"/>
            <a:ext cx="2095058" cy="445924"/>
            <a:chOff x="6329413" y="1689675"/>
            <a:chExt cx="2418677" cy="514805"/>
          </a:xfrm>
        </p:grpSpPr>
        <p:sp>
          <p:nvSpPr>
            <p:cNvPr id="126" name="Google Shape;126;p15"/>
            <p:cNvSpPr/>
            <p:nvPr/>
          </p:nvSpPr>
          <p:spPr>
            <a:xfrm>
              <a:off x="6329413" y="1689680"/>
              <a:ext cx="777600" cy="514800"/>
            </a:xfrm>
            <a:prstGeom prst="rightArrow">
              <a:avLst>
                <a:gd fmla="val 44678" name="adj1"/>
                <a:gd fmla="val 50000" name="adj2"/>
              </a:avLst>
            </a:prstGeom>
            <a:solidFill>
              <a:srgbClr val="ADADAD"/>
            </a:solidFill>
            <a:ln cap="flat" cmpd="sng" w="825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3"/>
                <a:buFont typeface="Arial"/>
                <a:buNone/>
              </a:pPr>
              <a:r>
                <a:t/>
              </a:r>
              <a:endParaRPr b="0" i="0" sz="12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7223190" y="1689675"/>
              <a:ext cx="1524900" cy="5148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6"/>
                <a:buFont typeface="Arial"/>
                <a:buNone/>
              </a:pPr>
              <a:r>
                <a:rPr b="0" i="0" lang="es" sz="1386" u="none" cap="none" strike="noStrike">
                  <a:solidFill>
                    <a:srgbClr val="303030"/>
                  </a:solidFill>
                  <a:latin typeface="Arial"/>
                  <a:ea typeface="Arial"/>
                  <a:cs typeface="Arial"/>
                  <a:sym typeface="Arial"/>
                </a:rPr>
                <a:t>Salida</a:t>
              </a:r>
              <a:endParaRPr b="1" i="0" sz="1386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4984439" y="961040"/>
            <a:ext cx="1618191" cy="1618191"/>
            <a:chOff x="3662050" y="843525"/>
            <a:chExt cx="1868150" cy="1868150"/>
          </a:xfrm>
        </p:grpSpPr>
        <p:pic>
          <p:nvPicPr>
            <p:cNvPr id="129" name="Google Shape;12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62050" y="843525"/>
              <a:ext cx="1868150" cy="1868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5"/>
            <p:cNvSpPr/>
            <p:nvPr/>
          </p:nvSpPr>
          <p:spPr>
            <a:xfrm>
              <a:off x="4041276" y="1968325"/>
              <a:ext cx="1109700" cy="361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6"/>
                <a:buFont typeface="Arial"/>
                <a:buNone/>
              </a:pPr>
              <a:r>
                <a:rPr b="1" i="0" lang="es" sz="1386" u="none" cap="none" strike="noStrike">
                  <a:solidFill>
                    <a:schemeClr val="lt1"/>
                  </a:solidFill>
                </a:rPr>
                <a:t>Control</a:t>
              </a:r>
              <a:endParaRPr b="1" i="0" sz="138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4041251" y="1224425"/>
              <a:ext cx="1109700" cy="626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39"/>
                <a:buFont typeface="Arial"/>
                <a:buNone/>
              </a:pPr>
              <a:r>
                <a:rPr b="1" i="0" lang="es" sz="1039" cap="none" strike="noStrike">
                  <a:solidFill>
                    <a:schemeClr val="lt1"/>
                  </a:solidFill>
                </a:rPr>
                <a:t>Unidad Aritmética y Lógica</a:t>
              </a:r>
              <a:endParaRPr b="1" i="0" sz="1039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Computacional</a:t>
            </a:r>
            <a:endParaRPr/>
          </a:p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11700" y="1533475"/>
            <a:ext cx="5113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estado está compuesto por: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Estado de la memoria (programa y datos)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Configuración de la UCP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 programa es una secuencia de instrucciones que </a:t>
            </a:r>
            <a:r>
              <a:rPr lang="es" sz="1800">
                <a:solidFill>
                  <a:schemeClr val="accent4"/>
                </a:solidFill>
              </a:rPr>
              <a:t>transforma secuencialmente el estado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077524" y="619075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inicial</a:t>
            </a:r>
            <a:endParaRPr b="1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077524" y="1447350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intermedio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077524" y="3085925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intermedio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077524" y="3914200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6"/>
          <p:cNvCxnSpPr>
            <a:stCxn id="139" idx="2"/>
            <a:endCxn id="140" idx="0"/>
          </p:cNvCxnSpPr>
          <p:nvPr/>
        </p:nvCxnSpPr>
        <p:spPr>
          <a:xfrm>
            <a:off x="7081174" y="1133875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" name="Google Shape;144;p16"/>
          <p:cNvCxnSpPr/>
          <p:nvPr/>
        </p:nvCxnSpPr>
        <p:spPr>
          <a:xfrm>
            <a:off x="7081174" y="3600725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16"/>
          <p:cNvCxnSpPr/>
          <p:nvPr/>
        </p:nvCxnSpPr>
        <p:spPr>
          <a:xfrm>
            <a:off x="7081174" y="1953150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16"/>
          <p:cNvCxnSpPr/>
          <p:nvPr/>
        </p:nvCxnSpPr>
        <p:spPr>
          <a:xfrm>
            <a:off x="7081174" y="2776938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16"/>
          <p:cNvSpPr txBox="1"/>
          <p:nvPr/>
        </p:nvSpPr>
        <p:spPr>
          <a:xfrm>
            <a:off x="6563675" y="2120838"/>
            <a:ext cx="1035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5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3" name="Google Shape;153;p17"/>
          <p:cNvSpPr/>
          <p:nvPr/>
        </p:nvSpPr>
        <p:spPr>
          <a:xfrm rot="10800000">
            <a:off x="4807525" y="969875"/>
            <a:ext cx="3843000" cy="34089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 rot="10800000">
            <a:off x="4807525" y="595000"/>
            <a:ext cx="3843000" cy="375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930889" y="688825"/>
            <a:ext cx="187500" cy="187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208289" y="688825"/>
            <a:ext cx="187500" cy="187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485689" y="688825"/>
            <a:ext cx="187500" cy="187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4911335" y="1181400"/>
            <a:ext cx="3654000" cy="2994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	  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si! El programa!</a:t>
            </a:r>
            <a:endParaRPr/>
          </a:p>
        </p:txBody>
      </p:sp>
      <p:pic>
        <p:nvPicPr>
          <p:cNvPr id="160" name="Google Shape;160;p17" title="itera_activid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3501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1410217" y="3234250"/>
            <a:ext cx="23628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496196" y="2531443"/>
            <a:ext cx="21909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1599259" y="1841071"/>
            <a:ext cx="19845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1599315" y="1841071"/>
            <a:ext cx="1984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Obtenemos datos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496148" y="2530725"/>
            <a:ext cx="21909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Calculamos potencia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1353813" y="3234250"/>
            <a:ext cx="2475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Mostramos resultados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031675" y="1083765"/>
            <a:ext cx="1119600" cy="510000"/>
          </a:xfrm>
          <a:prstGeom prst="ellipse">
            <a:avLst/>
          </a:prstGeom>
          <a:solidFill>
            <a:schemeClr val="accent4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43">
                <a:latin typeface="Montserrat"/>
                <a:ea typeface="Montserrat"/>
                <a:cs typeface="Montserrat"/>
                <a:sym typeface="Montserrat"/>
              </a:rPr>
              <a:t>Inicio</a:t>
            </a:r>
            <a:endParaRPr sz="164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220662" y="3837074"/>
            <a:ext cx="741900" cy="427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4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b="1" sz="1643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9" name="Google Shape;169;p17"/>
          <p:cNvCxnSpPr>
            <a:stCxn id="167" idx="4"/>
            <a:endCxn id="164" idx="0"/>
          </p:cNvCxnSpPr>
          <p:nvPr/>
        </p:nvCxnSpPr>
        <p:spPr>
          <a:xfrm>
            <a:off x="2591475" y="1593765"/>
            <a:ext cx="0" cy="2472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7"/>
          <p:cNvCxnSpPr>
            <a:stCxn id="164" idx="2"/>
            <a:endCxn id="165" idx="0"/>
          </p:cNvCxnSpPr>
          <p:nvPr/>
        </p:nvCxnSpPr>
        <p:spPr>
          <a:xfrm>
            <a:off x="2591565" y="2208871"/>
            <a:ext cx="0" cy="3219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7"/>
          <p:cNvCxnSpPr>
            <a:stCxn id="165" idx="2"/>
            <a:endCxn id="166" idx="0"/>
          </p:cNvCxnSpPr>
          <p:nvPr/>
        </p:nvCxnSpPr>
        <p:spPr>
          <a:xfrm>
            <a:off x="2591598" y="2898525"/>
            <a:ext cx="0" cy="3357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7"/>
          <p:cNvCxnSpPr>
            <a:stCxn id="166" idx="2"/>
            <a:endCxn id="168" idx="0"/>
          </p:cNvCxnSpPr>
          <p:nvPr/>
        </p:nvCxnSpPr>
        <p:spPr>
          <a:xfrm>
            <a:off x="2591463" y="3602050"/>
            <a:ext cx="0" cy="2349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7"/>
          <p:cNvCxnSpPr>
            <a:stCxn id="164" idx="3"/>
          </p:cNvCxnSpPr>
          <p:nvPr/>
        </p:nvCxnSpPr>
        <p:spPr>
          <a:xfrm>
            <a:off x="3583815" y="2024971"/>
            <a:ext cx="1925100" cy="5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17"/>
          <p:cNvSpPr/>
          <p:nvPr/>
        </p:nvSpPr>
        <p:spPr>
          <a:xfrm>
            <a:off x="5636925" y="2298000"/>
            <a:ext cx="120000" cy="472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5" name="Google Shape;175;p17"/>
          <p:cNvCxnSpPr>
            <a:stCxn id="165" idx="3"/>
          </p:cNvCxnSpPr>
          <p:nvPr/>
        </p:nvCxnSpPr>
        <p:spPr>
          <a:xfrm>
            <a:off x="3687048" y="2714625"/>
            <a:ext cx="2005800" cy="16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7"/>
          <p:cNvCxnSpPr>
            <a:stCxn id="166" idx="3"/>
          </p:cNvCxnSpPr>
          <p:nvPr/>
        </p:nvCxnSpPr>
        <p:spPr>
          <a:xfrm flipH="1" rot="10800000">
            <a:off x="3829113" y="3114850"/>
            <a:ext cx="1791900" cy="30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 pero… ¿Qu</a:t>
            </a:r>
            <a:r>
              <a:rPr lang="es"/>
              <a:t>é estamos escribiendo?</a:t>
            </a:r>
            <a:endParaRPr/>
          </a:p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3" name="Google Shape;183;p18" title="itera_atenc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3101" y="1959174"/>
            <a:ext cx="2597749" cy="259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/>
          <p:nvPr/>
        </p:nvSpPr>
        <p:spPr>
          <a:xfrm rot="10800000">
            <a:off x="2913599" y="1540000"/>
            <a:ext cx="3731700" cy="34899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/>
          <p:nvPr/>
        </p:nvSpPr>
        <p:spPr>
          <a:xfrm rot="10800000">
            <a:off x="2913599" y="1111445"/>
            <a:ext cx="3731700" cy="4287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054573" y="1218672"/>
            <a:ext cx="214500" cy="2139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371730" y="1218672"/>
            <a:ext cx="214500" cy="2139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688887" y="1218672"/>
            <a:ext cx="214500" cy="2139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3014333" y="1756553"/>
            <a:ext cx="3548400" cy="306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601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601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	   </a:t>
            </a:r>
            <a:r>
              <a:rPr lang="es" sz="1601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3447300" y="1799675"/>
            <a:ext cx="2597700" cy="6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815500" y="1344575"/>
            <a:ext cx="1679700" cy="5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Encabezados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8"/>
          <p:cNvCxnSpPr>
            <a:stCxn id="190" idx="3"/>
            <a:endCxn id="191" idx="1"/>
          </p:cNvCxnSpPr>
          <p:nvPr/>
        </p:nvCxnSpPr>
        <p:spPr>
          <a:xfrm flipH="1" rot="10800000">
            <a:off x="6045000" y="1607075"/>
            <a:ext cx="770400" cy="498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8"/>
          <p:cNvSpPr/>
          <p:nvPr/>
        </p:nvSpPr>
        <p:spPr>
          <a:xfrm>
            <a:off x="3447300" y="2522850"/>
            <a:ext cx="1401900" cy="35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815500" y="2199450"/>
            <a:ext cx="1679700" cy="5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Función principal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18"/>
          <p:cNvCxnSpPr>
            <a:stCxn id="193" idx="3"/>
            <a:endCxn id="194" idx="1"/>
          </p:cNvCxnSpPr>
          <p:nvPr/>
        </p:nvCxnSpPr>
        <p:spPr>
          <a:xfrm flipH="1" rot="10800000">
            <a:off x="4849200" y="2461800"/>
            <a:ext cx="1966200" cy="237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8"/>
          <p:cNvSpPr/>
          <p:nvPr/>
        </p:nvSpPr>
        <p:spPr>
          <a:xfrm>
            <a:off x="3447300" y="2875350"/>
            <a:ext cx="2762700" cy="1737300"/>
          </a:xfrm>
          <a:prstGeom prst="roundRect">
            <a:avLst>
              <a:gd fmla="val 526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815500" y="3054325"/>
            <a:ext cx="1679700" cy="5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Cuerpo de Función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8"/>
          <p:cNvCxnSpPr>
            <a:stCxn id="196" idx="3"/>
            <a:endCxn id="197" idx="1"/>
          </p:cNvCxnSpPr>
          <p:nvPr/>
        </p:nvCxnSpPr>
        <p:spPr>
          <a:xfrm flipH="1" rot="10800000">
            <a:off x="6210000" y="3316800"/>
            <a:ext cx="605400" cy="4272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 pero… ¿Qué estamos escribiendo?</a:t>
            </a:r>
            <a:endParaRPr/>
          </a:p>
        </p:txBody>
      </p:sp>
      <p:sp>
        <p:nvSpPr>
          <p:cNvPr id="204" name="Google Shape;204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05" name="Google Shape;205;p19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32299" y="316230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1929488" y="22431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25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5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25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500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25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500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2500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2500"/>
          </a:p>
        </p:txBody>
      </p:sp>
      <p:grpSp>
        <p:nvGrpSpPr>
          <p:cNvPr id="207" name="Google Shape;207;p19"/>
          <p:cNvGrpSpPr/>
          <p:nvPr/>
        </p:nvGrpSpPr>
        <p:grpSpPr>
          <a:xfrm>
            <a:off x="181463" y="2728925"/>
            <a:ext cx="2043000" cy="957000"/>
            <a:chOff x="1176338" y="2028825"/>
            <a:chExt cx="2043000" cy="957000"/>
          </a:xfrm>
        </p:grpSpPr>
        <p:sp>
          <p:nvSpPr>
            <p:cNvPr id="208" name="Google Shape;208;p19"/>
            <p:cNvSpPr txBox="1"/>
            <p:nvPr/>
          </p:nvSpPr>
          <p:spPr>
            <a:xfrm>
              <a:off x="1176338" y="2524125"/>
              <a:ext cx="18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Tipo de dato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209" name="Google Shape;209;p19"/>
            <p:cNvCxnSpPr>
              <a:stCxn id="208" idx="0"/>
            </p:cNvCxnSpPr>
            <p:nvPr/>
          </p:nvCxnSpPr>
          <p:spPr>
            <a:xfrm flipH="1" rot="10800000">
              <a:off x="2076338" y="2028825"/>
              <a:ext cx="1143000" cy="495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0" name="Google Shape;210;p19"/>
          <p:cNvGrpSpPr/>
          <p:nvPr/>
        </p:nvGrpSpPr>
        <p:grpSpPr>
          <a:xfrm>
            <a:off x="1658063" y="2728850"/>
            <a:ext cx="1800000" cy="2005800"/>
            <a:chOff x="2652938" y="2028750"/>
            <a:chExt cx="1800000" cy="2005800"/>
          </a:xfrm>
        </p:grpSpPr>
        <p:sp>
          <p:nvSpPr>
            <p:cNvPr id="211" name="Google Shape;211;p19"/>
            <p:cNvSpPr txBox="1"/>
            <p:nvPr/>
          </p:nvSpPr>
          <p:spPr>
            <a:xfrm>
              <a:off x="2652938" y="32956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Nombre de Variable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212" name="Google Shape;212;p19"/>
            <p:cNvCxnSpPr>
              <a:stCxn id="211" idx="0"/>
            </p:cNvCxnSpPr>
            <p:nvPr/>
          </p:nvCxnSpPr>
          <p:spPr>
            <a:xfrm flipH="1" rot="10800000">
              <a:off x="3552938" y="2028750"/>
              <a:ext cx="666600" cy="1266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3" name="Google Shape;213;p19"/>
          <p:cNvGrpSpPr/>
          <p:nvPr/>
        </p:nvGrpSpPr>
        <p:grpSpPr>
          <a:xfrm>
            <a:off x="3458063" y="2786150"/>
            <a:ext cx="1800000" cy="1948500"/>
            <a:chOff x="4452938" y="2086050"/>
            <a:chExt cx="1800000" cy="1948500"/>
          </a:xfrm>
        </p:grpSpPr>
        <p:sp>
          <p:nvSpPr>
            <p:cNvPr id="214" name="Google Shape;214;p19"/>
            <p:cNvSpPr txBox="1"/>
            <p:nvPr/>
          </p:nvSpPr>
          <p:spPr>
            <a:xfrm>
              <a:off x="4452938" y="32956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Operador de Asignación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215" name="Google Shape;215;p19"/>
            <p:cNvCxnSpPr>
              <a:stCxn id="214" idx="0"/>
            </p:cNvCxnSpPr>
            <p:nvPr/>
          </p:nvCxnSpPr>
          <p:spPr>
            <a:xfrm rot="10800000">
              <a:off x="4686338" y="2086050"/>
              <a:ext cx="666600" cy="1209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6" name="Google Shape;216;p19"/>
          <p:cNvGrpSpPr/>
          <p:nvPr/>
        </p:nvGrpSpPr>
        <p:grpSpPr>
          <a:xfrm>
            <a:off x="4359788" y="2759600"/>
            <a:ext cx="2613000" cy="859650"/>
            <a:chOff x="5354663" y="2059500"/>
            <a:chExt cx="2613000" cy="85965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6167663" y="2457450"/>
              <a:ext cx="18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Expresión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218" name="Google Shape;218;p19"/>
            <p:cNvCxnSpPr>
              <a:stCxn id="217" idx="1"/>
            </p:cNvCxnSpPr>
            <p:nvPr/>
          </p:nvCxnSpPr>
          <p:spPr>
            <a:xfrm rot="10800000">
              <a:off x="5354663" y="2059500"/>
              <a:ext cx="813000" cy="628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9" name="Google Shape;219;p19"/>
          <p:cNvSpPr/>
          <p:nvPr/>
        </p:nvSpPr>
        <p:spPr>
          <a:xfrm rot="10800000">
            <a:off x="6263850" y="1285347"/>
            <a:ext cx="1692600" cy="1501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/>
          <p:nvPr/>
        </p:nvSpPr>
        <p:spPr>
          <a:xfrm rot="10800000">
            <a:off x="6263850" y="1120346"/>
            <a:ext cx="1692600" cy="165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318007" y="1161494"/>
            <a:ext cx="82800" cy="82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440198" y="1161494"/>
            <a:ext cx="82800" cy="82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6562388" y="1161494"/>
            <a:ext cx="82800" cy="82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6309394" y="1378464"/>
            <a:ext cx="1609500" cy="13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617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617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225" name="Google Shape;225;p19"/>
          <p:cNvCxnSpPr/>
          <p:nvPr/>
        </p:nvCxnSpPr>
        <p:spPr>
          <a:xfrm flipH="1">
            <a:off x="4792275" y="1931250"/>
            <a:ext cx="1827300" cy="44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</a:t>
            </a:r>
            <a:endParaRPr/>
          </a:p>
        </p:txBody>
      </p:sp>
      <p:sp>
        <p:nvSpPr>
          <p:cNvPr id="231" name="Google Shape;231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11700" y="15334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Los </a:t>
            </a:r>
            <a:r>
              <a:rPr lang="es" sz="2000">
                <a:solidFill>
                  <a:schemeClr val="accent4"/>
                </a:solidFill>
              </a:rPr>
              <a:t>valores</a:t>
            </a:r>
            <a:r>
              <a:rPr lang="es" sz="2000">
                <a:solidFill>
                  <a:schemeClr val="dk2"/>
                </a:solidFill>
              </a:rPr>
              <a:t> se definen por medio de </a:t>
            </a:r>
            <a:r>
              <a:rPr lang="es" sz="2000">
                <a:solidFill>
                  <a:schemeClr val="accent5"/>
                </a:solidFill>
              </a:rPr>
              <a:t>expresiones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830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Expresión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9665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541050" y="2549250"/>
            <a:ext cx="2061900" cy="104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Asociatividad y Precedencia</a:t>
            </a:r>
            <a:endParaRPr/>
          </a:p>
        </p:txBody>
      </p:sp>
      <p:sp>
        <p:nvSpPr>
          <p:cNvPr id="241" name="Google Shape;241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30" y="1197975"/>
            <a:ext cx="6276940" cy="346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</a:t>
            </a:r>
            <a:endParaRPr/>
          </a:p>
        </p:txBody>
      </p:sp>
      <p:sp>
        <p:nvSpPr>
          <p:cNvPr id="248" name="Google Shape;248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11700" y="11524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Un mismo valor puede estar definido por diferentes expresiones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311700" y="17573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accent5"/>
                </a:solidFill>
              </a:rPr>
              <a:t>2+3      4+1        2+3+1-1       10/2      5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311700" y="24795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Las constantes (1, 2, 3, …) son expresiones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311700" y="31266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Un operador (+, -, /, *, …) junto con sus operandos es una expresión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311700" y="38066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Una expresión entre paréntesis es una expresión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2100"/>
              <a:t>Enteros </a:t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1, 2, 3, …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+, -, /, *, %, ==, !=, &lt;, &gt;, &lt;=, &gt;=, … 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2100"/>
              <a:t>Flotantes (reales) </a:t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0.1, 0.01, 0.001, …, 2.5, 3.14159, …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+, -, /, *, ==, !=, &lt;, &gt;, &lt;=, &gt;=, …</a:t>
            </a:r>
            <a:endParaRPr/>
          </a:p>
        </p:txBody>
      </p:sp>
      <p:sp>
        <p:nvSpPr>
          <p:cNvPr id="260" name="Google Shape;260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</a:pPr>
            <a:r>
              <a:rPr lang="es" sz="1800"/>
              <a:t>Caracteres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lang="es" sz="1800"/>
              <a:t>'a', 'b', … '0', '!', '\n', ‘\t', …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</a:pPr>
            <a:r>
              <a:rPr lang="es" sz="1800"/>
              <a:t>Valores de verdad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lang="es" sz="1800"/>
              <a:t>true, false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Variables…</a:t>
            </a:r>
            <a:endParaRPr/>
          </a:p>
        </p:txBody>
      </p:sp>
      <p:sp>
        <p:nvSpPr>
          <p:cNvPr id="267" name="Google Shape;267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8" name="Google Shape;268;p24"/>
          <p:cNvPicPr preferRelativeResize="0"/>
          <p:nvPr/>
        </p:nvPicPr>
        <p:blipFill rotWithShape="1">
          <a:blip r:embed="rId3">
            <a:alphaModFix/>
          </a:blip>
          <a:srcRect b="19198" l="0" r="0" t="18714"/>
          <a:stretch/>
        </p:blipFill>
        <p:spPr>
          <a:xfrm>
            <a:off x="479625" y="1932175"/>
            <a:ext cx="4222250" cy="262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205700" y="1417975"/>
            <a:ext cx="47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20">
                <a:solidFill>
                  <a:schemeClr val="dk2"/>
                </a:solidFill>
              </a:rPr>
              <a:t>Memoria</a:t>
            </a:r>
            <a:endParaRPr sz="2320">
              <a:solidFill>
                <a:schemeClr val="dk2"/>
              </a:solidFill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138327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 flipH="1">
            <a:off x="138327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2212250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/>
          <p:nvPr/>
        </p:nvSpPr>
        <p:spPr>
          <a:xfrm flipH="1">
            <a:off x="2212250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04122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 flipH="1">
            <a:off x="304122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5381375" y="445025"/>
            <a:ext cx="3493800" cy="4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 la manera en que el programa indica a la computadora que debe reservar un espacio libre de memoria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Variables…</a:t>
            </a:r>
            <a:endParaRPr/>
          </a:p>
        </p:txBody>
      </p:sp>
      <p:sp>
        <p:nvSpPr>
          <p:cNvPr id="282" name="Google Shape;282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83" name="Google Shape;283;p25"/>
          <p:cNvPicPr preferRelativeResize="0"/>
          <p:nvPr/>
        </p:nvPicPr>
        <p:blipFill rotWithShape="1">
          <a:blip r:embed="rId3">
            <a:alphaModFix/>
          </a:blip>
          <a:srcRect b="19198" l="0" r="0" t="18714"/>
          <a:stretch/>
        </p:blipFill>
        <p:spPr>
          <a:xfrm>
            <a:off x="479625" y="1932175"/>
            <a:ext cx="4222250" cy="262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205700" y="1417975"/>
            <a:ext cx="47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20">
                <a:solidFill>
                  <a:schemeClr val="dk2"/>
                </a:solidFill>
              </a:rPr>
              <a:t>Memoria</a:t>
            </a:r>
            <a:endParaRPr sz="2320">
              <a:solidFill>
                <a:schemeClr val="dk2"/>
              </a:solidFill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138327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/>
          <p:nvPr/>
        </p:nvSpPr>
        <p:spPr>
          <a:xfrm flipH="1">
            <a:off x="138327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2212250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/>
          <p:nvPr/>
        </p:nvSpPr>
        <p:spPr>
          <a:xfrm flipH="1">
            <a:off x="2212250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04122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5"/>
          <p:cNvSpPr/>
          <p:nvPr/>
        </p:nvSpPr>
        <p:spPr>
          <a:xfrm flipH="1">
            <a:off x="304122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rgbClr val="6D9EEB"/>
          </a:solidFill>
          <a:ln cap="flat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304122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/>
          <p:nvPr/>
        </p:nvSpPr>
        <p:spPr>
          <a:xfrm flipH="1">
            <a:off x="304122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3127413" y="1932175"/>
            <a:ext cx="584825" cy="734700"/>
          </a:xfrm>
          <a:prstGeom prst="flowChartOffpageConnector">
            <a:avLst/>
          </a:prstGeom>
          <a:solidFill>
            <a:schemeClr val="accent5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5381375" y="445025"/>
            <a:ext cx="3493800" cy="4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 la manera en que el programa indica a la computadora que debe reservar un espacio libre de memoria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ese espacio de memoria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lo etiqueta con el nombre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luego poder hacer referencia a él en el resto del programa.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Nombres de variables</a:t>
            </a:r>
            <a:endParaRPr/>
          </a:p>
        </p:txBody>
      </p:sp>
      <p:sp>
        <p:nvSpPr>
          <p:cNvPr id="300" name="Google Shape;30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Son palabras formadas por </a:t>
            </a:r>
            <a:r>
              <a:rPr b="1" lang="es"/>
              <a:t>letras</a:t>
            </a:r>
            <a:r>
              <a:rPr lang="es"/>
              <a:t>, </a:t>
            </a:r>
            <a:r>
              <a:rPr b="1" lang="es"/>
              <a:t>números</a:t>
            </a:r>
            <a:r>
              <a:rPr lang="es"/>
              <a:t> y _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nombre debe comenzar con una </a:t>
            </a:r>
            <a:r>
              <a:rPr b="1" lang="es"/>
              <a:t>letra</a:t>
            </a:r>
            <a:r>
              <a:rPr lang="es"/>
              <a:t> o _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Existen palabras que están reservadas en el lenguaje: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auto, break, case, catch, char, class, const, continue, default, delete, do, double, else, enum, extern, float, for, friend, goto, if, inline, int, long, new, overload, private, protected, public, register, return, short, signed, sizeof, static, struct, switch, this, template, typedef, union, unsigned, virtual, void, volatile, while</a:t>
            </a:r>
            <a:endParaRPr/>
          </a:p>
        </p:txBody>
      </p:sp>
      <p:sp>
        <p:nvSpPr>
          <p:cNvPr id="301" name="Google Shape;301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en la memoria…</a:t>
            </a:r>
            <a:endParaRPr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Los valores se almacenan en memoria usando bits.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bit es la unidad de almacenamiento más elemental.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bit tiene solo dos valores posibles.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None/>
            </a:pPr>
            <a:r>
              <a:rPr lang="es" sz="2400"/>
              <a:t>1     0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Byte es una secuencia de 8 bits.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None/>
            </a:pPr>
            <a:r>
              <a:rPr lang="es" sz="2400"/>
              <a:t>10110010	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Byte tiene 2</a:t>
            </a:r>
            <a:r>
              <a:rPr baseline="30000" lang="es" sz="2400"/>
              <a:t>8</a:t>
            </a:r>
            <a:r>
              <a:rPr lang="es" sz="2400"/>
              <a:t> valores posibles</a:t>
            </a:r>
            <a:endParaRPr/>
          </a:p>
        </p:txBody>
      </p:sp>
      <p:sp>
        <p:nvSpPr>
          <p:cNvPr id="308" name="Google Shape;308;p2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en la memoria…</a:t>
            </a:r>
            <a:endParaRPr/>
          </a:p>
        </p:txBody>
      </p:sp>
      <p:sp>
        <p:nvSpPr>
          <p:cNvPr id="314" name="Google Shape;31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Enteros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Flotantes (reales)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" name="Google Shape;31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Caracteres y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Valores de verdad</a:t>
            </a:r>
            <a:endParaRPr sz="1800"/>
          </a:p>
        </p:txBody>
      </p:sp>
      <p:sp>
        <p:nvSpPr>
          <p:cNvPr id="316" name="Google Shape;316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7" name="Google Shape;317;p28"/>
          <p:cNvPicPr preferRelativeResize="0"/>
          <p:nvPr/>
        </p:nvPicPr>
        <p:blipFill rotWithShape="1">
          <a:blip r:embed="rId3">
            <a:alphaModFix/>
          </a:blip>
          <a:srcRect b="0" l="0" r="0" t="1980"/>
          <a:stretch/>
        </p:blipFill>
        <p:spPr>
          <a:xfrm>
            <a:off x="34425" y="1544000"/>
            <a:ext cx="4554450" cy="1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63" y="3307887"/>
            <a:ext cx="4482156" cy="1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5025" y="2058336"/>
            <a:ext cx="4135876" cy="1124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Asignaci</a:t>
            </a:r>
            <a:r>
              <a:rPr lang="es"/>
              <a:t>ón</a:t>
            </a:r>
            <a:endParaRPr/>
          </a:p>
        </p:txBody>
      </p:sp>
      <p:sp>
        <p:nvSpPr>
          <p:cNvPr id="325" name="Google Shape;325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311700" y="1152475"/>
            <a:ext cx="8520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una operación.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la sentencia que modifica el estado de un programa.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311700" y="2143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2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variable = expresión;</a:t>
            </a:r>
            <a:endParaRPr sz="192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2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311700" y="3029125"/>
            <a:ext cx="85206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1. Se evalúa la expresión.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2. Se almacena el valor de la expresión en la memoria (usando la variable).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Salida por pantalla</a:t>
            </a:r>
            <a:endParaRPr/>
          </a:p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5" name="Google Shape;335;p30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32299" y="316230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1525300" y="2116300"/>
            <a:ext cx="32670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20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3900"/>
          </a:p>
        </p:txBody>
      </p:sp>
      <p:grpSp>
        <p:nvGrpSpPr>
          <p:cNvPr id="337" name="Google Shape;337;p30"/>
          <p:cNvGrpSpPr/>
          <p:nvPr/>
        </p:nvGrpSpPr>
        <p:grpSpPr>
          <a:xfrm>
            <a:off x="181463" y="2561525"/>
            <a:ext cx="1800000" cy="1678500"/>
            <a:chOff x="1176338" y="1861425"/>
            <a:chExt cx="1800000" cy="1678500"/>
          </a:xfrm>
        </p:grpSpPr>
        <p:sp>
          <p:nvSpPr>
            <p:cNvPr id="338" name="Google Shape;338;p30"/>
            <p:cNvSpPr txBox="1"/>
            <p:nvPr/>
          </p:nvSpPr>
          <p:spPr>
            <a:xfrm>
              <a:off x="1176338" y="2524125"/>
              <a:ext cx="1800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representa la salida por pantalla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39" name="Google Shape;339;p30"/>
            <p:cNvCxnSpPr>
              <a:stCxn id="338" idx="0"/>
            </p:cNvCxnSpPr>
            <p:nvPr/>
          </p:nvCxnSpPr>
          <p:spPr>
            <a:xfrm flipH="1" rot="10800000">
              <a:off x="2076338" y="1861425"/>
              <a:ext cx="815700" cy="662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40" name="Google Shape;340;p30"/>
          <p:cNvGrpSpPr/>
          <p:nvPr/>
        </p:nvGrpSpPr>
        <p:grpSpPr>
          <a:xfrm>
            <a:off x="1658063" y="2499950"/>
            <a:ext cx="1800000" cy="2234700"/>
            <a:chOff x="2652938" y="1799850"/>
            <a:chExt cx="1800000" cy="2234700"/>
          </a:xfrm>
        </p:grpSpPr>
        <p:sp>
          <p:nvSpPr>
            <p:cNvPr id="341" name="Google Shape;341;p30"/>
            <p:cNvSpPr txBox="1"/>
            <p:nvPr/>
          </p:nvSpPr>
          <p:spPr>
            <a:xfrm>
              <a:off x="2652938" y="32956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Operador de redirección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42" name="Google Shape;342;p30"/>
            <p:cNvCxnSpPr>
              <a:stCxn id="341" idx="0"/>
            </p:cNvCxnSpPr>
            <p:nvPr/>
          </p:nvCxnSpPr>
          <p:spPr>
            <a:xfrm rot="10800000">
              <a:off x="3535838" y="1799850"/>
              <a:ext cx="17100" cy="1495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43" name="Google Shape;343;p30"/>
          <p:cNvGrpSpPr/>
          <p:nvPr/>
        </p:nvGrpSpPr>
        <p:grpSpPr>
          <a:xfrm>
            <a:off x="2965463" y="2541050"/>
            <a:ext cx="2292600" cy="1916400"/>
            <a:chOff x="3960338" y="1840950"/>
            <a:chExt cx="2292600" cy="1916400"/>
          </a:xfrm>
        </p:grpSpPr>
        <p:sp>
          <p:nvSpPr>
            <p:cNvPr id="344" name="Google Shape;344;p30"/>
            <p:cNvSpPr txBox="1"/>
            <p:nvPr/>
          </p:nvSpPr>
          <p:spPr>
            <a:xfrm>
              <a:off x="4452938" y="3295650"/>
              <a:ext cx="18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Expresión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45" name="Google Shape;345;p30"/>
            <p:cNvCxnSpPr>
              <a:stCxn id="344" idx="0"/>
            </p:cNvCxnSpPr>
            <p:nvPr/>
          </p:nvCxnSpPr>
          <p:spPr>
            <a:xfrm rot="10800000">
              <a:off x="3960338" y="1840950"/>
              <a:ext cx="1392600" cy="1454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46" name="Google Shape;346;p30"/>
          <p:cNvGrpSpPr/>
          <p:nvPr/>
        </p:nvGrpSpPr>
        <p:grpSpPr>
          <a:xfrm>
            <a:off x="4359788" y="2898200"/>
            <a:ext cx="2613000" cy="998250"/>
            <a:chOff x="5354663" y="2198100"/>
            <a:chExt cx="2613000" cy="998250"/>
          </a:xfrm>
        </p:grpSpPr>
        <p:sp>
          <p:nvSpPr>
            <p:cNvPr id="347" name="Google Shape;347;p30"/>
            <p:cNvSpPr txBox="1"/>
            <p:nvPr/>
          </p:nvSpPr>
          <p:spPr>
            <a:xfrm>
              <a:off x="6167663" y="24574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Expresión (final de linea)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48" name="Google Shape;348;p30"/>
            <p:cNvCxnSpPr>
              <a:stCxn id="347" idx="1"/>
            </p:cNvCxnSpPr>
            <p:nvPr/>
          </p:nvCxnSpPr>
          <p:spPr>
            <a:xfrm rot="10800000">
              <a:off x="5354663" y="2198100"/>
              <a:ext cx="813000" cy="628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49" name="Google Shape;349;p30"/>
          <p:cNvSpPr/>
          <p:nvPr/>
        </p:nvSpPr>
        <p:spPr>
          <a:xfrm rot="10800000">
            <a:off x="6136939" y="1185275"/>
            <a:ext cx="1946400" cy="1726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0"/>
          <p:cNvSpPr/>
          <p:nvPr/>
        </p:nvSpPr>
        <p:spPr>
          <a:xfrm rot="10800000">
            <a:off x="6136939" y="995256"/>
            <a:ext cx="1946400" cy="1899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6199243" y="1042734"/>
            <a:ext cx="95100" cy="948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6339753" y="1042734"/>
            <a:ext cx="95100" cy="948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6480264" y="1042734"/>
            <a:ext cx="95100" cy="948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6189338" y="1292234"/>
            <a:ext cx="1850700" cy="151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70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70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355" name="Google Shape;355;p30"/>
          <p:cNvCxnSpPr/>
          <p:nvPr/>
        </p:nvCxnSpPr>
        <p:spPr>
          <a:xfrm flipH="1">
            <a:off x="4792250" y="2277425"/>
            <a:ext cx="1803600" cy="9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con algunos casos de hoy…</a:t>
            </a:r>
            <a:endParaRPr/>
          </a:p>
        </p:txBody>
      </p:sp>
      <p:sp>
        <p:nvSpPr>
          <p:cNvPr id="361" name="Google Shape;361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Evaluemos expresiones</a:t>
            </a:r>
            <a:endParaRPr/>
          </a:p>
        </p:txBody>
      </p:sp>
      <p:sp>
        <p:nvSpPr>
          <p:cNvPr id="367" name="Google Shape;367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8" name="Google Shape;368;p32"/>
          <p:cNvSpPr txBox="1"/>
          <p:nvPr>
            <p:ph idx="1" type="body"/>
          </p:nvPr>
        </p:nvSpPr>
        <p:spPr>
          <a:xfrm>
            <a:off x="464100" y="1304875"/>
            <a:ext cx="205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(3*2)-5/2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(3*2)-5/2.0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‘1’+’2’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2.5+3*(24-2)/2.0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1057050" y="4135250"/>
            <a:ext cx="66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Tabla ASCII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Salidas por pantalla</a:t>
            </a:r>
            <a:endParaRPr/>
          </a:p>
        </p:txBody>
      </p:sp>
      <p:sp>
        <p:nvSpPr>
          <p:cNvPr id="375" name="Google Shape;375;p33"/>
          <p:cNvSpPr txBox="1"/>
          <p:nvPr>
            <p:ph idx="1" type="body"/>
          </p:nvPr>
        </p:nvSpPr>
        <p:spPr>
          <a:xfrm>
            <a:off x="311700" y="1152475"/>
            <a:ext cx="321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cout&lt;&lt;’a’+’b’&lt;&lt;’\n’&lt;&lt;3;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cout&lt;&lt;33.0+2.0&lt;&lt;endl&lt;&lt;2;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cout&lt;&lt;” _”&lt;&lt;endl&lt;&lt;”|_|”;</a:t>
            </a:r>
            <a:endParaRPr/>
          </a:p>
        </p:txBody>
      </p:sp>
      <p:sp>
        <p:nvSpPr>
          <p:cNvPr id="376" name="Google Shape;376;p3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Manipuladores de formato</a:t>
            </a:r>
            <a:endParaRPr/>
          </a:p>
        </p:txBody>
      </p:sp>
      <p:sp>
        <p:nvSpPr>
          <p:cNvPr id="382" name="Google Shape;382;p34"/>
          <p:cNvSpPr txBox="1"/>
          <p:nvPr>
            <p:ph idx="1" type="body"/>
          </p:nvPr>
        </p:nvSpPr>
        <p:spPr>
          <a:xfrm>
            <a:off x="311700" y="1152475"/>
            <a:ext cx="8520600" cy="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Los manipuladores de `&lt;iomanip&gt;` permiten controlar como aparecen los datos en la consola.</a:t>
            </a:r>
            <a:endParaRPr/>
          </a:p>
        </p:txBody>
      </p:sp>
      <p:sp>
        <p:nvSpPr>
          <p:cNvPr id="383" name="Google Shape;383;p3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384" name="Google Shape;384;p34"/>
          <p:cNvGraphicFramePr/>
          <p:nvPr/>
        </p:nvGraphicFramePr>
        <p:xfrm>
          <a:off x="571500" y="2304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{D849EB93-E4FC-43C0-9997-B860051E8948}</a:tableStyleId>
              </a:tblPr>
              <a:tblGrid>
                <a:gridCol w="1925875"/>
                <a:gridCol w="6099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Manipuladores</a:t>
                      </a:r>
                      <a:endParaRPr b="1"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Efecto</a:t>
                      </a:r>
                      <a:endParaRPr b="1"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fixed</a:t>
                      </a:r>
                      <a:endParaRPr i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Muestra numeros reales en notacion decimal fija.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setprecision(n)</a:t>
                      </a:r>
                      <a:endParaRPr i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Junto con `</a:t>
                      </a:r>
                      <a:r>
                        <a:rPr i="1"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fixed</a:t>
                      </a:r>
                      <a:r>
                        <a:rPr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`, muestra `n` cifras decimales.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setw(n)</a:t>
                      </a:r>
                      <a:endParaRPr i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Reserva un ancho </a:t>
                      </a:r>
                      <a:r>
                        <a:rPr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mínimo</a:t>
                      </a:r>
                      <a:r>
                        <a:rPr lang="es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`n` caracteres para el proximo dato.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Manipuladores de formato</a:t>
            </a:r>
            <a:endParaRPr/>
          </a:p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1" name="Google Shape;391;p35"/>
          <p:cNvSpPr/>
          <p:nvPr/>
        </p:nvSpPr>
        <p:spPr>
          <a:xfrm rot="10800000">
            <a:off x="285375" y="1728800"/>
            <a:ext cx="8234700" cy="2791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5"/>
          <p:cNvSpPr/>
          <p:nvPr/>
        </p:nvSpPr>
        <p:spPr>
          <a:xfrm rot="10800000">
            <a:off x="285361" y="1386158"/>
            <a:ext cx="8234700" cy="3426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5"/>
          <p:cNvSpPr/>
          <p:nvPr/>
        </p:nvSpPr>
        <p:spPr>
          <a:xfrm>
            <a:off x="384375" y="1461520"/>
            <a:ext cx="151500" cy="151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608100" y="1461520"/>
            <a:ext cx="151500" cy="151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831824" y="1461520"/>
            <a:ext cx="151500" cy="151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506210" y="1901927"/>
            <a:ext cx="7830000" cy="2452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#include &lt;iomanip&gt;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using namespace std;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int main() {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double tension = 3.3, corriente = 0.015;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cout &lt;&lt; fixed &lt;&lt; setprecision(3);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cout &lt;&lt; setw(12) &lt;&lt; "Tension" &lt;&lt; setw(10) &lt;&lt; tension &lt;&lt; " V\n";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cout &lt;&lt; setw(12) &lt;&lt; "Corriente" &lt;&lt; setw(10) &lt;&lt; corriente &lt;&lt; " A\n";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return 0;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3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3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Variables…</a:t>
            </a:r>
            <a:endParaRPr/>
          </a:p>
        </p:txBody>
      </p:sp>
      <p:sp>
        <p:nvSpPr>
          <p:cNvPr id="402" name="Google Shape;402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3" name="Google Shape;403;p36"/>
          <p:cNvSpPr/>
          <p:nvPr/>
        </p:nvSpPr>
        <p:spPr>
          <a:xfrm rot="10800000">
            <a:off x="285475" y="1688375"/>
            <a:ext cx="2362500" cy="2461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6"/>
          <p:cNvSpPr/>
          <p:nvPr/>
        </p:nvSpPr>
        <p:spPr>
          <a:xfrm rot="10800000">
            <a:off x="285471" y="1386179"/>
            <a:ext cx="2362500" cy="3021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384375" y="1461520"/>
            <a:ext cx="151500" cy="151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608100" y="1461520"/>
            <a:ext cx="151500" cy="151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831824" y="1461520"/>
            <a:ext cx="151500" cy="151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 txBox="1"/>
          <p:nvPr/>
        </p:nvSpPr>
        <p:spPr>
          <a:xfrm>
            <a:off x="348799" y="1840983"/>
            <a:ext cx="2246400" cy="216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73750" lIns="73750" spcFirstLastPara="1" rIns="73750" wrap="square" tIns="7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1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1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12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12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y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y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x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+ </a:t>
            </a:r>
            <a:r>
              <a:rPr lang="es" sz="112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12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z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x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+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y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 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x 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+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+</a:t>
            </a:r>
            <a:r>
              <a:rPr lang="es" sz="112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12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12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12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" sz="112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r>
              <a:rPr lang="es" sz="112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 }</a:t>
            </a:r>
            <a:endParaRPr sz="112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36"/>
          <p:cNvSpPr txBox="1"/>
          <p:nvPr>
            <p:ph idx="1" type="body"/>
          </p:nvPr>
        </p:nvSpPr>
        <p:spPr>
          <a:xfrm>
            <a:off x="2895300" y="1386175"/>
            <a:ext cx="5937000" cy="29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¿Qué almacena </a:t>
            </a:r>
            <a:r>
              <a:rPr b="1" lang="es"/>
              <a:t>x</a:t>
            </a:r>
            <a:r>
              <a:rPr lang="es"/>
              <a:t> después de ejecutar la línea 6?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¿Qué almacena </a:t>
            </a:r>
            <a:r>
              <a:rPr b="1" lang="es"/>
              <a:t>y</a:t>
            </a:r>
            <a:r>
              <a:rPr lang="es"/>
              <a:t> después de ejecutar la línea 7? ¿y después de la 8?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¿Qué valor tiene </a:t>
            </a:r>
            <a:r>
              <a:rPr b="1" lang="es"/>
              <a:t>z</a:t>
            </a:r>
            <a:r>
              <a:rPr lang="es"/>
              <a:t> después de la 9?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¿Qué pasa con </a:t>
            </a:r>
            <a:r>
              <a:rPr b="1" lang="es"/>
              <a:t>x</a:t>
            </a:r>
            <a:r>
              <a:rPr lang="es"/>
              <a:t> en las líneas 10 y 11?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Comparando valores</a:t>
            </a:r>
            <a:endParaRPr/>
          </a:p>
        </p:txBody>
      </p:sp>
      <p:sp>
        <p:nvSpPr>
          <p:cNvPr id="415" name="Google Shape;41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Una </a:t>
            </a:r>
            <a:r>
              <a:rPr b="1" lang="es" sz="1100">
                <a:solidFill>
                  <a:srgbClr val="000000"/>
                </a:solidFill>
              </a:rPr>
              <a:t>expresión relacional</a:t>
            </a:r>
            <a:r>
              <a:rPr lang="es" sz="1100">
                <a:solidFill>
                  <a:srgbClr val="000000"/>
                </a:solidFill>
              </a:rPr>
              <a:t> compara dos valores y produce un resultado booleano: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</a:rPr>
              <a:t>true</a:t>
            </a:r>
            <a:r>
              <a:rPr lang="es" sz="1100">
                <a:solidFill>
                  <a:srgbClr val="000000"/>
                </a:solidFill>
              </a:rPr>
              <a:t>: la relación se cumple.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</a:rPr>
              <a:t>false</a:t>
            </a:r>
            <a:r>
              <a:rPr lang="es" sz="1100">
                <a:solidFill>
                  <a:srgbClr val="000000"/>
                </a:solidFill>
              </a:rPr>
              <a:t>: la relación no se cumple.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417" name="Google Shape;417;p37"/>
          <p:cNvGraphicFramePr/>
          <p:nvPr/>
        </p:nvGraphicFramePr>
        <p:xfrm>
          <a:off x="1177500" y="213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{D849EB93-E4FC-43C0-9997-B860051E8948}</a:tableStyleId>
              </a:tblPr>
              <a:tblGrid>
                <a:gridCol w="2261800"/>
                <a:gridCol w="2261800"/>
                <a:gridCol w="2261800"/>
              </a:tblGrid>
              <a:tr h="36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Operador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Significado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Ejemplo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==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¿Igual a?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==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!=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¿Distinto de?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!=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&gt;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¿Mayor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&gt;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&lt;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¿Menor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&lt;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&gt;=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¿Mayor o igual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&gt;=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&lt;=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¿Menor o igual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&lt;=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OJO!</a:t>
            </a:r>
            <a:endParaRPr/>
          </a:p>
        </p:txBody>
      </p:sp>
      <p:sp>
        <p:nvSpPr>
          <p:cNvPr id="423" name="Google Shape;423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24" name="Google Shape;424;p38" title="itera_aten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98325"/>
            <a:ext cx="2245174" cy="2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8"/>
          <p:cNvSpPr txBox="1"/>
          <p:nvPr>
            <p:ph idx="1" type="body"/>
          </p:nvPr>
        </p:nvSpPr>
        <p:spPr>
          <a:xfrm>
            <a:off x="1957925" y="1152475"/>
            <a:ext cx="687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rgbClr val="000000"/>
                </a:solidFill>
              </a:rPr>
              <a:t>=</a:t>
            </a:r>
            <a:r>
              <a:rPr lang="es" sz="39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asigna un valor </a:t>
            </a:r>
            <a:endParaRPr sz="39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3900">
                <a:solidFill>
                  <a:srgbClr val="000000"/>
                </a:solidFill>
              </a:rPr>
              <a:t>==</a:t>
            </a:r>
            <a:r>
              <a:rPr lang="es" sz="39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compara dos valores</a:t>
            </a:r>
            <a:endParaRPr sz="39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 </a:t>
            </a:r>
            <a:r>
              <a:rPr lang="es"/>
              <a:t>más</a:t>
            </a:r>
            <a:r>
              <a:rPr lang="es"/>
              <a:t> complejas</a:t>
            </a:r>
            <a:endParaRPr/>
          </a:p>
        </p:txBody>
      </p:sp>
      <p:sp>
        <p:nvSpPr>
          <p:cNvPr id="431" name="Google Shape;431;p3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2" name="Google Shape;432;p39"/>
          <p:cNvPicPr preferRelativeResize="0"/>
          <p:nvPr/>
        </p:nvPicPr>
        <p:blipFill rotWithShape="1">
          <a:blip r:embed="rId3">
            <a:alphaModFix/>
          </a:blip>
          <a:srcRect b="19100" l="0" r="0" t="0"/>
          <a:stretch/>
        </p:blipFill>
        <p:spPr>
          <a:xfrm>
            <a:off x="311700" y="1133125"/>
            <a:ext cx="4689950" cy="31849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5178280" y="990300"/>
            <a:ext cx="392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(2.0&gt;=4)==(3.7*2.2)</a:t>
            </a:r>
            <a:endParaRPr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39"/>
          <p:cNvSpPr/>
          <p:nvPr/>
        </p:nvSpPr>
        <p:spPr>
          <a:xfrm>
            <a:off x="5268998" y="16132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6355960" y="1613271"/>
            <a:ext cx="5487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Int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7307298" y="16132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8147998" y="16132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5802398" y="21348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Bool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7737648" y="21348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39"/>
          <p:cNvSpPr txBox="1"/>
          <p:nvPr/>
        </p:nvSpPr>
        <p:spPr>
          <a:xfrm>
            <a:off x="6797825" y="2728975"/>
            <a:ext cx="68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????</a:t>
            </a:r>
            <a:endParaRPr b="1" sz="2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 más complejas</a:t>
            </a:r>
            <a:endParaRPr/>
          </a:p>
        </p:txBody>
      </p:sp>
      <p:sp>
        <p:nvSpPr>
          <p:cNvPr id="446" name="Google Shape;446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7" name="Google Shape;447;p40"/>
          <p:cNvPicPr preferRelativeResize="0"/>
          <p:nvPr/>
        </p:nvPicPr>
        <p:blipFill rotWithShape="1">
          <a:blip r:embed="rId3">
            <a:alphaModFix/>
          </a:blip>
          <a:srcRect b="19100" l="0" r="0" t="0"/>
          <a:stretch/>
        </p:blipFill>
        <p:spPr>
          <a:xfrm>
            <a:off x="311700" y="1133125"/>
            <a:ext cx="4689950" cy="318492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 txBox="1"/>
          <p:nvPr/>
        </p:nvSpPr>
        <p:spPr>
          <a:xfrm>
            <a:off x="5178280" y="990300"/>
            <a:ext cx="392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(2.0&gt;=4)==(3.7&lt;2.2)</a:t>
            </a:r>
            <a:endParaRPr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5268998" y="16132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6355960" y="1613271"/>
            <a:ext cx="5487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Int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7307298" y="16132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40"/>
          <p:cNvSpPr/>
          <p:nvPr/>
        </p:nvSpPr>
        <p:spPr>
          <a:xfrm>
            <a:off x="8147998" y="16132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Float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40"/>
          <p:cNvSpPr/>
          <p:nvPr/>
        </p:nvSpPr>
        <p:spPr>
          <a:xfrm>
            <a:off x="5802398" y="21348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Bool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7737648" y="2134875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Bool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6797823" y="2806950"/>
            <a:ext cx="684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Bool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461" name="Google Shape;461;p41"/>
          <p:cNvGrpSpPr/>
          <p:nvPr/>
        </p:nvGrpSpPr>
        <p:grpSpPr>
          <a:xfrm>
            <a:off x="4807525" y="1204600"/>
            <a:ext cx="3843000" cy="3302688"/>
            <a:chOff x="4807525" y="1204600"/>
            <a:chExt cx="3843000" cy="3302688"/>
          </a:xfrm>
        </p:grpSpPr>
        <p:sp>
          <p:nvSpPr>
            <p:cNvPr id="462" name="Google Shape;462;p41"/>
            <p:cNvSpPr/>
            <p:nvPr/>
          </p:nvSpPr>
          <p:spPr>
            <a:xfrm rot="10800000">
              <a:off x="4807525" y="1579588"/>
              <a:ext cx="3843000" cy="29277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1"/>
            <p:cNvSpPr/>
            <p:nvPr/>
          </p:nvSpPr>
          <p:spPr>
            <a:xfrm rot="10800000">
              <a:off x="4807525" y="1204600"/>
              <a:ext cx="3843000" cy="3750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4930889" y="1298425"/>
              <a:ext cx="187500" cy="1872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1"/>
            <p:cNvSpPr/>
            <p:nvPr/>
          </p:nvSpPr>
          <p:spPr>
            <a:xfrm>
              <a:off x="5208289" y="1298425"/>
              <a:ext cx="187500" cy="1872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1"/>
            <p:cNvSpPr/>
            <p:nvPr/>
          </p:nvSpPr>
          <p:spPr>
            <a:xfrm>
              <a:off x="5485689" y="1298425"/>
              <a:ext cx="187500" cy="1872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1"/>
            <p:cNvSpPr txBox="1"/>
            <p:nvPr/>
          </p:nvSpPr>
          <p:spPr>
            <a:xfrm>
              <a:off x="4911335" y="1761150"/>
              <a:ext cx="3654000" cy="2572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1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#include &lt;iostream&gt;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2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A626A4"/>
                  </a:solidFill>
                  <a:latin typeface="Fira Code"/>
                  <a:ea typeface="Fira Code"/>
                  <a:cs typeface="Fira Code"/>
                  <a:sym typeface="Fira Code"/>
                </a:rPr>
                <a:t>using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A626A4"/>
                  </a:solidFill>
                  <a:latin typeface="Fira Code"/>
                  <a:ea typeface="Fira Code"/>
                  <a:cs typeface="Fira Code"/>
                  <a:sym typeface="Fira Code"/>
                </a:rPr>
                <a:t>namespace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4078F2"/>
                  </a:solidFill>
                  <a:latin typeface="Fira Code"/>
                  <a:ea typeface="Fira Code"/>
                  <a:cs typeface="Fira Code"/>
                  <a:sym typeface="Fira Code"/>
                </a:rPr>
                <a:t>std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3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endParaRPr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4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27292F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4078F2"/>
                  </a:solidFill>
                  <a:latin typeface="Fira Code"/>
                  <a:ea typeface="Fira Code"/>
                  <a:cs typeface="Fira Code"/>
                  <a:sym typeface="Fira Code"/>
                </a:rPr>
                <a:t>main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()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endParaRPr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5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{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6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</a:t>
              </a:r>
              <a:r>
                <a:rPr lang="es">
                  <a:solidFill>
                    <a:srgbClr val="27292F"/>
                  </a:solidFill>
                  <a:latin typeface="Fira Code"/>
                  <a:ea typeface="Fira Code"/>
                  <a:cs typeface="Fira Code"/>
                  <a:sym typeface="Fira Code"/>
                </a:rPr>
                <a:t>float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0184BC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86801"/>
                  </a:solidFill>
                  <a:latin typeface="Fira Code"/>
                  <a:ea typeface="Fira Code"/>
                  <a:cs typeface="Fira Code"/>
                  <a:sym typeface="Fira Code"/>
                </a:rPr>
                <a:t>0.2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7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</a:t>
              </a:r>
              <a:r>
                <a:rPr lang="es">
                  <a:solidFill>
                    <a:srgbClr val="27292F"/>
                  </a:solidFill>
                  <a:latin typeface="Fira Code"/>
                  <a:ea typeface="Fira Code"/>
                  <a:cs typeface="Fira Code"/>
                  <a:sym typeface="Fira Code"/>
                </a:rPr>
                <a:t>float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V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0184BC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86801"/>
                  </a:solidFill>
                  <a:latin typeface="Fira Code"/>
                  <a:ea typeface="Fira Code"/>
                  <a:cs typeface="Fira Code"/>
                  <a:sym typeface="Fira Code"/>
                </a:rPr>
                <a:t>5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8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</a:t>
              </a:r>
              <a:r>
                <a:rPr lang="es">
                  <a:solidFill>
                    <a:srgbClr val="27292F"/>
                  </a:solidFill>
                  <a:latin typeface="Fira Code"/>
                  <a:ea typeface="Fira Code"/>
                  <a:cs typeface="Fira Code"/>
                  <a:sym typeface="Fira Code"/>
                </a:rPr>
                <a:t>float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P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0184BC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lang="es">
                  <a:solidFill>
                    <a:srgbClr val="0184BC"/>
                  </a:solidFill>
                  <a:latin typeface="Fira Code"/>
                  <a:ea typeface="Fira Code"/>
                  <a:cs typeface="Fira Code"/>
                  <a:sym typeface="Fira Code"/>
                </a:rPr>
                <a:t>*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V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9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cout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0184BC"/>
                  </a:solidFill>
                  <a:latin typeface="Fira Code"/>
                  <a:ea typeface="Fira Code"/>
                  <a:cs typeface="Fira Code"/>
                  <a:sym typeface="Fira Code"/>
                </a:rPr>
                <a:t>&lt;&lt;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P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0184BC"/>
                  </a:solidFill>
                  <a:latin typeface="Fira Code"/>
                  <a:ea typeface="Fira Code"/>
                  <a:cs typeface="Fira Code"/>
                  <a:sym typeface="Fira Code"/>
                </a:rPr>
                <a:t>&lt;&lt;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E06C75"/>
                  </a:solidFill>
                  <a:latin typeface="Fira Code"/>
                  <a:ea typeface="Fira Code"/>
                  <a:cs typeface="Fira Code"/>
                  <a:sym typeface="Fira Code"/>
                </a:rPr>
                <a:t>endl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10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	   </a:t>
              </a:r>
              <a:r>
                <a:rPr lang="es">
                  <a:solidFill>
                    <a:srgbClr val="A626A4"/>
                  </a:solidFill>
                  <a:latin typeface="Fira Code"/>
                  <a:ea typeface="Fira Code"/>
                  <a:cs typeface="Fira Code"/>
                  <a:sym typeface="Fira Code"/>
                </a:rPr>
                <a:t>return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986801"/>
                  </a:solidFill>
                  <a:latin typeface="Fira Code"/>
                  <a:ea typeface="Fira Code"/>
                  <a:cs typeface="Fira Code"/>
                  <a:sym typeface="Fira Code"/>
                </a:rPr>
                <a:t>0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929292"/>
                  </a:solidFill>
                  <a:latin typeface="Fira Code"/>
                  <a:ea typeface="Fira Code"/>
                  <a:cs typeface="Fira Code"/>
                  <a:sym typeface="Fira Code"/>
                </a:rPr>
                <a:t>11</a:t>
              </a:r>
              <a:r>
                <a:rPr lang="es">
                  <a:solidFill>
                    <a:srgbClr val="202020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s">
                  <a:solidFill>
                    <a:srgbClr val="383A42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8" name="Google Shape;46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¿Realmente obtenemos los datos?</a:t>
            </a:r>
            <a:endParaRPr/>
          </a:p>
        </p:txBody>
      </p:sp>
      <p:sp>
        <p:nvSpPr>
          <p:cNvPr id="469" name="Google Shape;469;p41"/>
          <p:cNvSpPr/>
          <p:nvPr/>
        </p:nvSpPr>
        <p:spPr>
          <a:xfrm>
            <a:off x="5636925" y="2907600"/>
            <a:ext cx="120000" cy="472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0" name="Google Shape;470;p41"/>
          <p:cNvGrpSpPr/>
          <p:nvPr/>
        </p:nvGrpSpPr>
        <p:grpSpPr>
          <a:xfrm>
            <a:off x="591813" y="1464765"/>
            <a:ext cx="4919202" cy="3181109"/>
            <a:chOff x="591813" y="1464765"/>
            <a:chExt cx="4919202" cy="3181109"/>
          </a:xfrm>
        </p:grpSpPr>
        <p:sp>
          <p:nvSpPr>
            <p:cNvPr id="471" name="Google Shape;471;p41"/>
            <p:cNvSpPr/>
            <p:nvPr/>
          </p:nvSpPr>
          <p:spPr>
            <a:xfrm>
              <a:off x="648217" y="3615250"/>
              <a:ext cx="2362800" cy="367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71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2" name="Google Shape;472;p41"/>
            <p:cNvSpPr/>
            <p:nvPr/>
          </p:nvSpPr>
          <p:spPr>
            <a:xfrm>
              <a:off x="734196" y="2912443"/>
              <a:ext cx="2190900" cy="367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71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3" name="Google Shape;473;p41"/>
            <p:cNvSpPr/>
            <p:nvPr/>
          </p:nvSpPr>
          <p:spPr>
            <a:xfrm>
              <a:off x="837259" y="2222071"/>
              <a:ext cx="1984500" cy="367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71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4" name="Google Shape;474;p41"/>
            <p:cNvSpPr txBox="1"/>
            <p:nvPr/>
          </p:nvSpPr>
          <p:spPr>
            <a:xfrm>
              <a:off x="837315" y="2222071"/>
              <a:ext cx="1984500" cy="36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275" lIns="68275" spcFirstLastPara="1" rIns="68275" wrap="square" tIns="68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94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Obtenemos datos</a:t>
              </a:r>
              <a:endParaRPr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5" name="Google Shape;475;p41"/>
            <p:cNvSpPr txBox="1"/>
            <p:nvPr/>
          </p:nvSpPr>
          <p:spPr>
            <a:xfrm>
              <a:off x="734148" y="2911725"/>
              <a:ext cx="2190900" cy="36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275" lIns="68275" spcFirstLastPara="1" rIns="68275" wrap="square" tIns="68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94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Calculamos potencia</a:t>
              </a:r>
              <a:endParaRPr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6" name="Google Shape;476;p41"/>
            <p:cNvSpPr txBox="1"/>
            <p:nvPr/>
          </p:nvSpPr>
          <p:spPr>
            <a:xfrm>
              <a:off x="591813" y="3615250"/>
              <a:ext cx="2475300" cy="36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275" lIns="68275" spcFirstLastPara="1" rIns="68275" wrap="square" tIns="68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94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Mostramos resultados</a:t>
              </a:r>
              <a:endParaRPr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1269675" y="1464765"/>
              <a:ext cx="1119600" cy="510000"/>
            </a:xfrm>
            <a:prstGeom prst="ellipse">
              <a:avLst/>
            </a:prstGeom>
            <a:solidFill>
              <a:schemeClr val="accent4"/>
            </a:solidFill>
            <a:ln cap="flat" cmpd="sng" w="71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43">
                  <a:latin typeface="Montserrat"/>
                  <a:ea typeface="Montserrat"/>
                  <a:cs typeface="Montserrat"/>
                  <a:sym typeface="Montserrat"/>
                </a:rPr>
                <a:t>Inicio</a:t>
              </a:r>
              <a:endParaRPr sz="1643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1458662" y="4218074"/>
              <a:ext cx="741900" cy="427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71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43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</a:t>
              </a:r>
              <a:endParaRPr b="1" sz="164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479" name="Google Shape;479;p41"/>
            <p:cNvCxnSpPr>
              <a:stCxn id="477" idx="4"/>
              <a:endCxn id="474" idx="0"/>
            </p:cNvCxnSpPr>
            <p:nvPr/>
          </p:nvCxnSpPr>
          <p:spPr>
            <a:xfrm>
              <a:off x="1829475" y="1974765"/>
              <a:ext cx="0" cy="2472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0" name="Google Shape;480;p41"/>
            <p:cNvCxnSpPr>
              <a:stCxn id="474" idx="2"/>
              <a:endCxn id="475" idx="0"/>
            </p:cNvCxnSpPr>
            <p:nvPr/>
          </p:nvCxnSpPr>
          <p:spPr>
            <a:xfrm>
              <a:off x="1829565" y="2589871"/>
              <a:ext cx="0" cy="3219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1" name="Google Shape;481;p41"/>
            <p:cNvCxnSpPr>
              <a:stCxn id="475" idx="2"/>
              <a:endCxn id="476" idx="0"/>
            </p:cNvCxnSpPr>
            <p:nvPr/>
          </p:nvCxnSpPr>
          <p:spPr>
            <a:xfrm>
              <a:off x="1829598" y="3279525"/>
              <a:ext cx="0" cy="3357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2" name="Google Shape;482;p41"/>
            <p:cNvCxnSpPr>
              <a:stCxn id="476" idx="2"/>
              <a:endCxn id="478" idx="0"/>
            </p:cNvCxnSpPr>
            <p:nvPr/>
          </p:nvCxnSpPr>
          <p:spPr>
            <a:xfrm>
              <a:off x="1829463" y="3983050"/>
              <a:ext cx="0" cy="2349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3" name="Google Shape;483;p41"/>
            <p:cNvCxnSpPr>
              <a:stCxn id="474" idx="3"/>
            </p:cNvCxnSpPr>
            <p:nvPr/>
          </p:nvCxnSpPr>
          <p:spPr>
            <a:xfrm>
              <a:off x="2821815" y="2405971"/>
              <a:ext cx="2689200" cy="708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84" name="Google Shape;484;p41"/>
          <p:cNvSpPr txBox="1"/>
          <p:nvPr/>
        </p:nvSpPr>
        <p:spPr>
          <a:xfrm>
            <a:off x="3012387" y="1044096"/>
            <a:ext cx="1647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 realidad estan “grabados a mano” (hardcoded)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Ingreso por teclado!</a:t>
            </a:r>
            <a:endParaRPr/>
          </a:p>
        </p:txBody>
      </p:sp>
      <p:sp>
        <p:nvSpPr>
          <p:cNvPr id="490" name="Google Shape;490;p4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1" name="Google Shape;491;p42"/>
          <p:cNvSpPr/>
          <p:nvPr/>
        </p:nvSpPr>
        <p:spPr>
          <a:xfrm rot="10800000">
            <a:off x="4807525" y="1579588"/>
            <a:ext cx="3843000" cy="29277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2"/>
          <p:cNvSpPr/>
          <p:nvPr/>
        </p:nvSpPr>
        <p:spPr>
          <a:xfrm rot="10800000">
            <a:off x="4807525" y="1204600"/>
            <a:ext cx="3843000" cy="375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2"/>
          <p:cNvSpPr/>
          <p:nvPr/>
        </p:nvSpPr>
        <p:spPr>
          <a:xfrm>
            <a:off x="4930889" y="1298425"/>
            <a:ext cx="187500" cy="187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5208289" y="1298425"/>
            <a:ext cx="187500" cy="187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2"/>
          <p:cNvSpPr/>
          <p:nvPr/>
        </p:nvSpPr>
        <p:spPr>
          <a:xfrm>
            <a:off x="5485689" y="1298425"/>
            <a:ext cx="187500" cy="187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2"/>
          <p:cNvSpPr txBox="1"/>
          <p:nvPr/>
        </p:nvSpPr>
        <p:spPr>
          <a:xfrm>
            <a:off x="4911335" y="1761150"/>
            <a:ext cx="3654000" cy="2572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I,V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cin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&gt;&gt;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 &gt;&gt;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	  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648217" y="3615250"/>
            <a:ext cx="23628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2"/>
          <p:cNvSpPr/>
          <p:nvPr/>
        </p:nvSpPr>
        <p:spPr>
          <a:xfrm>
            <a:off x="734196" y="2912443"/>
            <a:ext cx="21909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42"/>
          <p:cNvSpPr/>
          <p:nvPr/>
        </p:nvSpPr>
        <p:spPr>
          <a:xfrm>
            <a:off x="837259" y="2222071"/>
            <a:ext cx="19845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42"/>
          <p:cNvSpPr txBox="1"/>
          <p:nvPr/>
        </p:nvSpPr>
        <p:spPr>
          <a:xfrm>
            <a:off x="837315" y="2222071"/>
            <a:ext cx="1984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Obtenemos datos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42"/>
          <p:cNvSpPr txBox="1"/>
          <p:nvPr/>
        </p:nvSpPr>
        <p:spPr>
          <a:xfrm>
            <a:off x="734148" y="2911725"/>
            <a:ext cx="21909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Calculamos potencia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2"/>
          <p:cNvSpPr txBox="1"/>
          <p:nvPr/>
        </p:nvSpPr>
        <p:spPr>
          <a:xfrm>
            <a:off x="591813" y="3615250"/>
            <a:ext cx="2475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Mostramos resultados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1269675" y="1464765"/>
            <a:ext cx="1119600" cy="510000"/>
          </a:xfrm>
          <a:prstGeom prst="ellipse">
            <a:avLst/>
          </a:prstGeom>
          <a:solidFill>
            <a:schemeClr val="accent4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43">
                <a:latin typeface="Montserrat"/>
                <a:ea typeface="Montserrat"/>
                <a:cs typeface="Montserrat"/>
                <a:sym typeface="Montserrat"/>
              </a:rPr>
              <a:t>Inicio</a:t>
            </a:r>
            <a:endParaRPr sz="164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1458662" y="4218074"/>
            <a:ext cx="741900" cy="427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4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b="1" sz="1643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5" name="Google Shape;505;p42"/>
          <p:cNvCxnSpPr>
            <a:stCxn id="503" idx="4"/>
            <a:endCxn id="500" idx="0"/>
          </p:cNvCxnSpPr>
          <p:nvPr/>
        </p:nvCxnSpPr>
        <p:spPr>
          <a:xfrm>
            <a:off x="1829475" y="1974765"/>
            <a:ext cx="0" cy="2472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42"/>
          <p:cNvCxnSpPr>
            <a:stCxn id="500" idx="2"/>
            <a:endCxn id="501" idx="0"/>
          </p:cNvCxnSpPr>
          <p:nvPr/>
        </p:nvCxnSpPr>
        <p:spPr>
          <a:xfrm>
            <a:off x="1829565" y="2589871"/>
            <a:ext cx="0" cy="3219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42"/>
          <p:cNvCxnSpPr>
            <a:stCxn id="501" idx="2"/>
            <a:endCxn id="502" idx="0"/>
          </p:cNvCxnSpPr>
          <p:nvPr/>
        </p:nvCxnSpPr>
        <p:spPr>
          <a:xfrm>
            <a:off x="1829598" y="3279525"/>
            <a:ext cx="0" cy="3357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42"/>
          <p:cNvCxnSpPr>
            <a:stCxn id="502" idx="2"/>
            <a:endCxn id="504" idx="0"/>
          </p:cNvCxnSpPr>
          <p:nvPr/>
        </p:nvCxnSpPr>
        <p:spPr>
          <a:xfrm>
            <a:off x="1829463" y="3983050"/>
            <a:ext cx="0" cy="2349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9" name="Google Shape;509;p42"/>
          <p:cNvSpPr txBox="1"/>
          <p:nvPr/>
        </p:nvSpPr>
        <p:spPr>
          <a:xfrm>
            <a:off x="3067137" y="2198221"/>
            <a:ext cx="164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AHORA SI!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3"/>
          <p:cNvSpPr/>
          <p:nvPr/>
        </p:nvSpPr>
        <p:spPr>
          <a:xfrm rot="10800000">
            <a:off x="5562650" y="528550"/>
            <a:ext cx="3319800" cy="25293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t/>
            </a:r>
            <a:endParaRPr b="0" i="0" sz="12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3"/>
          <p:cNvSpPr/>
          <p:nvPr/>
        </p:nvSpPr>
        <p:spPr>
          <a:xfrm rot="10800000">
            <a:off x="5562650" y="204680"/>
            <a:ext cx="3319800" cy="324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t/>
            </a:r>
            <a:endParaRPr b="0" i="0" sz="12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5669122" y="285778"/>
            <a:ext cx="162000" cy="161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t/>
            </a:r>
            <a:endParaRPr b="0" i="0" sz="12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908763" y="285778"/>
            <a:ext cx="162000" cy="161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t/>
            </a:r>
            <a:endParaRPr b="0" i="0" sz="12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6148404" y="285778"/>
            <a:ext cx="162000" cy="161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t/>
            </a:r>
            <a:endParaRPr b="0" i="0" sz="12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3"/>
          <p:cNvSpPr txBox="1"/>
          <p:nvPr/>
        </p:nvSpPr>
        <p:spPr>
          <a:xfrm>
            <a:off x="5652230" y="685517"/>
            <a:ext cx="3156600" cy="2222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78975" lIns="78975" spcFirstLastPara="1" rIns="78975" wrap="square" tIns="78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20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20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2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I,V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cin</a:t>
            </a:r>
            <a:r>
              <a:rPr lang="es" sz="12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&gt;&gt;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12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 &gt;&gt;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2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12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	   </a:t>
            </a:r>
            <a:r>
              <a:rPr lang="es" sz="12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es" sz="12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12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2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2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0" name="Google Shape;52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Ingreso por teclado</a:t>
            </a:r>
            <a:endParaRPr/>
          </a:p>
        </p:txBody>
      </p:sp>
      <p:sp>
        <p:nvSpPr>
          <p:cNvPr id="521" name="Google Shape;521;p4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22" name="Google Shape;522;p43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32299" y="316230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3"/>
          <p:cNvSpPr txBox="1"/>
          <p:nvPr/>
        </p:nvSpPr>
        <p:spPr>
          <a:xfrm>
            <a:off x="1525300" y="2116300"/>
            <a:ext cx="32670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cin </a:t>
            </a:r>
            <a:r>
              <a:rPr lang="es" sz="20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&gt;&gt;</a:t>
            </a: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 I </a:t>
            </a:r>
            <a:r>
              <a:rPr lang="es" sz="20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&gt;&gt;</a:t>
            </a: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 V;</a:t>
            </a:r>
            <a:endParaRPr sz="3900"/>
          </a:p>
        </p:txBody>
      </p:sp>
      <p:grpSp>
        <p:nvGrpSpPr>
          <p:cNvPr id="524" name="Google Shape;524;p43"/>
          <p:cNvGrpSpPr/>
          <p:nvPr/>
        </p:nvGrpSpPr>
        <p:grpSpPr>
          <a:xfrm>
            <a:off x="181463" y="2561525"/>
            <a:ext cx="1800000" cy="1678500"/>
            <a:chOff x="1176338" y="1861425"/>
            <a:chExt cx="1800000" cy="1678500"/>
          </a:xfrm>
        </p:grpSpPr>
        <p:sp>
          <p:nvSpPr>
            <p:cNvPr id="525" name="Google Shape;525;p43"/>
            <p:cNvSpPr txBox="1"/>
            <p:nvPr/>
          </p:nvSpPr>
          <p:spPr>
            <a:xfrm>
              <a:off x="1176338" y="2524125"/>
              <a:ext cx="1800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representa el ingreso por teclado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26" name="Google Shape;526;p43"/>
            <p:cNvCxnSpPr>
              <a:stCxn id="525" idx="0"/>
            </p:cNvCxnSpPr>
            <p:nvPr/>
          </p:nvCxnSpPr>
          <p:spPr>
            <a:xfrm flipH="1" rot="10800000">
              <a:off x="2076338" y="1861425"/>
              <a:ext cx="815700" cy="662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7" name="Google Shape;527;p43"/>
          <p:cNvGrpSpPr/>
          <p:nvPr/>
        </p:nvGrpSpPr>
        <p:grpSpPr>
          <a:xfrm>
            <a:off x="1658063" y="2532350"/>
            <a:ext cx="1800000" cy="2479200"/>
            <a:chOff x="2652938" y="1832250"/>
            <a:chExt cx="1800000" cy="2479200"/>
          </a:xfrm>
        </p:grpSpPr>
        <p:sp>
          <p:nvSpPr>
            <p:cNvPr id="528" name="Google Shape;528;p43"/>
            <p:cNvSpPr txBox="1"/>
            <p:nvPr/>
          </p:nvSpPr>
          <p:spPr>
            <a:xfrm>
              <a:off x="2652938" y="3295650"/>
              <a:ext cx="1800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variable donde guardar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29" name="Google Shape;529;p43"/>
            <p:cNvCxnSpPr>
              <a:stCxn id="528" idx="0"/>
            </p:cNvCxnSpPr>
            <p:nvPr/>
          </p:nvCxnSpPr>
          <p:spPr>
            <a:xfrm flipH="1" rot="10800000">
              <a:off x="3552938" y="1832250"/>
              <a:ext cx="208800" cy="1463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530" name="Google Shape;530;p43"/>
          <p:cNvCxnSpPr/>
          <p:nvPr/>
        </p:nvCxnSpPr>
        <p:spPr>
          <a:xfrm flipH="1" rot="10800000">
            <a:off x="2759225" y="2532400"/>
            <a:ext cx="771000" cy="15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43"/>
          <p:cNvCxnSpPr/>
          <p:nvPr/>
        </p:nvCxnSpPr>
        <p:spPr>
          <a:xfrm flipH="1">
            <a:off x="3878000" y="1973025"/>
            <a:ext cx="2434200" cy="39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