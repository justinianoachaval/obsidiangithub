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Lst>
  <p:sldSz cy="5143500" cx="9144000"/>
  <p:notesSz cx="6858000" cy="9144000"/>
  <p:embeddedFontLst>
    <p:embeddedFont>
      <p:font typeface="Montserrat SemiBold"/>
      <p:regular r:id="rId83"/>
      <p:bold r:id="rId84"/>
      <p:italic r:id="rId85"/>
      <p:boldItalic r:id="rId86"/>
    </p:embeddedFont>
    <p:embeddedFont>
      <p:font typeface="Roboto Mono Medium"/>
      <p:regular r:id="rId87"/>
      <p:bold r:id="rId88"/>
      <p:italic r:id="rId89"/>
      <p:boldItalic r:id="rId90"/>
    </p:embeddedFont>
    <p:embeddedFont>
      <p:font typeface="Inconsolata"/>
      <p:regular r:id="rId91"/>
      <p:bold r:id="rId92"/>
    </p:embeddedFont>
    <p:embeddedFont>
      <p:font typeface="Montserrat"/>
      <p:regular r:id="rId93"/>
      <p:bold r:id="rId94"/>
      <p:italic r:id="rId95"/>
      <p:boldItalic r:id="rId96"/>
    </p:embeddedFont>
    <p:embeddedFont>
      <p:font typeface="Montserrat Medium"/>
      <p:regular r:id="rId97"/>
      <p:bold r:id="rId98"/>
      <p:italic r:id="rId99"/>
      <p:boldItalic r:id="rId100"/>
    </p:embeddedFont>
    <p:embeddedFont>
      <p:font typeface="Montserrat Light"/>
      <p:regular r:id="rId101"/>
      <p:bold r:id="rId102"/>
      <p:italic r:id="rId103"/>
      <p:boldItalic r:id="rId104"/>
    </p:embeddedFont>
    <p:embeddedFont>
      <p:font typeface="Ubuntu Mono"/>
      <p:regular r:id="rId105"/>
      <p:bold r:id="rId106"/>
      <p:italic r:id="rId107"/>
      <p:boldItalic r:id="rId10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UbuntuMono-italic.fntdata"/><Relationship Id="rId106" Type="http://schemas.openxmlformats.org/officeDocument/2006/relationships/font" Target="fonts/UbuntuMono-bold.fntdata"/><Relationship Id="rId105" Type="http://schemas.openxmlformats.org/officeDocument/2006/relationships/font" Target="fonts/UbuntuMono-regular.fntdata"/><Relationship Id="rId104" Type="http://schemas.openxmlformats.org/officeDocument/2006/relationships/font" Target="fonts/MontserratLight-boldItalic.fntdata"/><Relationship Id="rId108" Type="http://schemas.openxmlformats.org/officeDocument/2006/relationships/font" Target="fonts/UbuntuMono-boldItalic.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MontserratLight-italic.fntdata"/><Relationship Id="rId102" Type="http://schemas.openxmlformats.org/officeDocument/2006/relationships/font" Target="fonts/MontserratLight-bold.fntdata"/><Relationship Id="rId101" Type="http://schemas.openxmlformats.org/officeDocument/2006/relationships/font" Target="fonts/MontserratLight-regular.fntdata"/><Relationship Id="rId100" Type="http://schemas.openxmlformats.org/officeDocument/2006/relationships/font" Target="fonts/MontserratMedium-bold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Montserrat-italic.fntdata"/><Relationship Id="rId94" Type="http://schemas.openxmlformats.org/officeDocument/2006/relationships/font" Target="fonts/Montserrat-bold.fntdata"/><Relationship Id="rId97" Type="http://schemas.openxmlformats.org/officeDocument/2006/relationships/font" Target="fonts/MontserratMedium-regular.fntdata"/><Relationship Id="rId96" Type="http://schemas.openxmlformats.org/officeDocument/2006/relationships/font" Target="fonts/Montserrat-boldItalic.fntdata"/><Relationship Id="rId11" Type="http://schemas.openxmlformats.org/officeDocument/2006/relationships/slide" Target="slides/slide6.xml"/><Relationship Id="rId99" Type="http://schemas.openxmlformats.org/officeDocument/2006/relationships/font" Target="fonts/MontserratMedium-italic.fntdata"/><Relationship Id="rId10" Type="http://schemas.openxmlformats.org/officeDocument/2006/relationships/slide" Target="slides/slide5.xml"/><Relationship Id="rId98" Type="http://schemas.openxmlformats.org/officeDocument/2006/relationships/font" Target="fonts/MontserratMedium-bold.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font" Target="fonts/Inconsolata-regular.fntdata"/><Relationship Id="rId90" Type="http://schemas.openxmlformats.org/officeDocument/2006/relationships/font" Target="fonts/RobotoMonoMedium-boldItalic.fntdata"/><Relationship Id="rId93" Type="http://schemas.openxmlformats.org/officeDocument/2006/relationships/font" Target="fonts/Montserrat-regular.fntdata"/><Relationship Id="rId92" Type="http://schemas.openxmlformats.org/officeDocument/2006/relationships/font" Target="fonts/Inconsolata-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font" Target="fonts/MontserratSemiBold-bold.fntdata"/><Relationship Id="rId83" Type="http://schemas.openxmlformats.org/officeDocument/2006/relationships/font" Target="fonts/MontserratSemiBold-regular.fntdata"/><Relationship Id="rId86" Type="http://schemas.openxmlformats.org/officeDocument/2006/relationships/font" Target="fonts/MontserratSemiBold-boldItalic.fntdata"/><Relationship Id="rId85" Type="http://schemas.openxmlformats.org/officeDocument/2006/relationships/font" Target="fonts/MontserratSemiBold-italic.fntdata"/><Relationship Id="rId88" Type="http://schemas.openxmlformats.org/officeDocument/2006/relationships/font" Target="fonts/RobotoMonoMedium-bold.fntdata"/><Relationship Id="rId87" Type="http://schemas.openxmlformats.org/officeDocument/2006/relationships/font" Target="fonts/RobotoMonoMedium-regular.fntdata"/><Relationship Id="rId89" Type="http://schemas.openxmlformats.org/officeDocument/2006/relationships/font" Target="fonts/RobotoMonoMedium-italic.fntdata"/><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f3e5e3d393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f3e5e3d393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3e5e3d393_7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f3e5e3d393_7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3e5e3d393_7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3e5e3d393_7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774fb1b83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f774fb1b83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774fb1b83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f774fb1b83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774fb1b83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774fb1b83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f774fb1b83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f774fb1b83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f774fb1b83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f774fb1b83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f774fb1b83_1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f774fb1b83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f774fb1b83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f774fb1b83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774fb1b83_1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f774fb1b83_1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3ed4f66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f3ed4f66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f3ed4f66f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g3f3ed4f66f5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f3ed4f66f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g3f3ed4f66f5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3ed4f66f5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g3f3ed4f66f5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f3ed4f66f5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g3f3ed4f66f5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f3ed4f66f5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g3f3ed4f66f5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f3ed4f66f5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g3f3ed4f66f5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f3ed4f66f5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g3f3ed4f66f5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f3ed4f66f5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g3f3ed4f66f5_0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f3ed4f66f5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g3f3ed4f66f5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f3ed4f66f5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7" name="Google Shape;387;g3f3ed4f66f5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f3ed4f66f5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g3f3ed4f66f5_0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f3ed4f66f5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3" name="Google Shape;433;g3f3ed4f66f5_0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f3ed4f66f5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9" name="Google Shape;469;g3f3ed4f66f5_0_2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f3ed4f66f5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5" name="Google Shape;505;g3f3ed4f66f5_0_2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f3ed4f66f5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1" name="Google Shape;541;g3f3ed4f66f5_0_2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f3ed4f66f5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7" name="Google Shape;577;g3f3ed4f66f5_0_3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f3ed4f66f5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3" name="Google Shape;613;g3f3ed4f66f5_0_3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f3ed4f66f5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8" name="Google Shape;648;g3f3ed4f66f5_0_3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f3ed4f66f5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4" name="Google Shape;684;g3f3ed4f66f5_0_4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f3ed4f66f5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0" name="Google Shape;720;g3f3ed4f66f5_0_4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f3ed4f66f5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6" name="Google Shape;756;g3f3ed4f66f5_0_4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f3ed4f66f5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2" name="Google Shape;792;g3f3ed4f66f5_0_5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f3ed4f66f5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8" name="Google Shape;828;g3f3ed4f66f5_0_5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f3ed4f66f5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4" name="Google Shape;864;g3f3ed4f66f5_0_5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f3ed4f66f5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0" name="Google Shape;900;g3f3ed4f66f5_0_6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f3ed4f66f5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6" name="Google Shape;936;g3f3ed4f66f5_0_6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f3ed4f66f5_0_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1" name="Google Shape;971;g3f3ed4f66f5_0_6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3f3ed4f66f5_0_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2" name="Google Shape;982;g3f3ed4f66f5_0_7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3f3ed4f66f5_0_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7" name="Google Shape;987;g3f3ed4f66f5_0_7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f3ed4f66f5_0_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8" name="Google Shape;998;g3f3ed4f66f5_0_7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f77b9722a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g3f77b9722a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f77b9722a7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5" name="Google Shape;1015;g3f77b9722a7_2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f77b9722a7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1" name="Google Shape;1021;g3f77b9722a7_2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3f77b9722a7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3" name="Google Shape;1033;g3f77b9722a7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3f77b9722a7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8" name="Google Shape;1038;g3f77b9722a7_2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3f77b9722a7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4" name="Google Shape;1044;g3f77b9722a7_2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f77b9722a7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6" name="Google Shape;1056;g3f77b9722a7_2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f77b9722a7_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1" name="Google Shape;1071;g3f77b9722a7_2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3f77b9722a7_2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9" name="Google Shape;1089;g3f77b9722a7_2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f77b9722a7_2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0" name="Google Shape;1110;g3f77b9722a7_2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3f77b9722a7_2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4" name="Google Shape;1134;g3f77b9722a7_2_1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3f77b9722a7_2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9" name="Google Shape;1139;g3f77b9722a7_2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f77b9722a7_2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6" name="Google Shape;1146;g3f77b9722a7_2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3f77b9722a7_2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7" name="Google Shape;1157;g3f77b9722a7_2_1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3f77b9722a7_2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9" name="Google Shape;1169;g3f77b9722a7_2_1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g3f77b9722a7_2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8" name="Google Shape;1188;g3f77b9722a7_2_2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g3f77b9722a7_2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7" name="Google Shape;1207;g3f77b9722a7_2_2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f77b9722a7_2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6" name="Google Shape;1226;g3f77b9722a7_2_2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3f77b9722a7_2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4" name="Google Shape;1244;g3f77b9722a7_2_2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3f77b9722a7_2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9" name="Google Shape;1249;g3f77b9722a7_2_2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3f77b9722a7_2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9" name="Google Shape;1259;g3f77b9722a7_2_2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g3f77b9722a7_2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4" name="Google Shape;1264;g3f77b9722a7_2_2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g3f77b9722a7_2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5" name="Google Shape;1275;g3f77b9722a7_2_2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3f77b9722a7_2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0" name="Google Shape;1280;g3f77b9722a7_2_2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3f77b9722a7_2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1" name="Google Shape;1291;g3f77b9722a7_2_3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3f77b9722a7_2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9" name="Google Shape;1309;g3f77b9722a7_2_3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3f77b9722a7_2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8" name="Google Shape;1328;g3f77b9722a7_2_3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g3f77b9722a7_2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5" name="Google Shape;1335;g3f77b9722a7_2_3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g3f77b9722a7_2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7" name="Google Shape;1347;g3f77b9722a7_2_3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g3f77b9722a7_2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9" name="Google Shape;1359;g3f77b9722a7_2_3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9" name="Shape 1369"/>
        <p:cNvGrpSpPr/>
        <p:nvPr/>
      </p:nvGrpSpPr>
      <p:grpSpPr>
        <a:xfrm>
          <a:off x="0" y="0"/>
          <a:ext cx="0" cy="0"/>
          <a:chOff x="0" y="0"/>
          <a:chExt cx="0" cy="0"/>
        </a:xfrm>
      </p:grpSpPr>
      <p:sp>
        <p:nvSpPr>
          <p:cNvPr id="1370" name="Google Shape;1370;g3f77b9722a7_2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1" name="Google Shape;1371;g3f77b9722a7_2_3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g3f77b9722a7_2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3" name="Google Shape;1383;g3f77b9722a7_2_3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g3f77b9722a7_2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5" name="Google Shape;1395;g3f77b9722a7_2_4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3f77b9722a7_2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1" name="Google Shape;1401;g3f77b9722a7_2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2" title="Elementos ornamentales-03.png"/>
          <p:cNvPicPr preferRelativeResize="0"/>
          <p:nvPr/>
        </p:nvPicPr>
        <p:blipFill>
          <a:blip r:embed="rId2">
            <a:alphaModFix/>
          </a:blip>
          <a:stretch>
            <a:fillRect/>
          </a:stretch>
        </p:blipFill>
        <p:spPr>
          <a:xfrm>
            <a:off x="4502903" y="-423203"/>
            <a:ext cx="5098294" cy="5143501"/>
          </a:xfrm>
          <a:prstGeom prst="rect">
            <a:avLst/>
          </a:prstGeom>
          <a:noFill/>
          <a:ln>
            <a:noFill/>
          </a:ln>
        </p:spPr>
      </p:pic>
      <p:sp>
        <p:nvSpPr>
          <p:cNvPr id="11" name="Google Shape;11;p2"/>
          <p:cNvSpPr txBox="1"/>
          <p:nvPr>
            <p:ph type="ctrTitle"/>
          </p:nvPr>
        </p:nvSpPr>
        <p:spPr>
          <a:xfrm>
            <a:off x="311701" y="1506575"/>
            <a:ext cx="70668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1pPr>
            <a:lvl2pPr lvl="1"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2pPr>
            <a:lvl3pPr lvl="2"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3pPr>
            <a:lvl4pPr lvl="3"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4pPr>
            <a:lvl5pPr lvl="4"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5pPr>
            <a:lvl6pPr lvl="5"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6pPr>
            <a:lvl7pPr lvl="6"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7pPr>
            <a:lvl8pPr lvl="7"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8pPr>
            <a:lvl9pPr lvl="8"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9pPr>
          </a:lstStyle>
          <a:p/>
        </p:txBody>
      </p:sp>
      <p:sp>
        <p:nvSpPr>
          <p:cNvPr id="12" name="Google Shape;12;p2"/>
          <p:cNvSpPr txBox="1"/>
          <p:nvPr>
            <p:ph idx="1" type="subTitle"/>
          </p:nvPr>
        </p:nvSpPr>
        <p:spPr>
          <a:xfrm>
            <a:off x="311700" y="3596125"/>
            <a:ext cx="70668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1pPr>
            <a:lvl2pPr lvl="1"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2pPr>
            <a:lvl3pPr lvl="2"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3pPr>
            <a:lvl4pPr lvl="3"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4pPr>
            <a:lvl5pPr lvl="4"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5pPr>
            <a:lvl6pPr lvl="5"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6pPr>
            <a:lvl7pPr lvl="6"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7pPr>
            <a:lvl8pPr lvl="7"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8pPr>
            <a:lvl9pPr lvl="8"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14" name="Google Shape;14;p2" title="1_Isologotipo FCEFyN y UNC- original_Sin fondo.png"/>
          <p:cNvPicPr preferRelativeResize="0"/>
          <p:nvPr/>
        </p:nvPicPr>
        <p:blipFill>
          <a:blip r:embed="rId3">
            <a:alphaModFix/>
          </a:blip>
          <a:stretch>
            <a:fillRect/>
          </a:stretch>
        </p:blipFill>
        <p:spPr>
          <a:xfrm>
            <a:off x="78159" y="-76200"/>
            <a:ext cx="4239831" cy="11676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 name="Google Shape;17;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 name="Google Shape;18;p3"/>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19" name="Google Shape;19;p3"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pic>
        <p:nvPicPr>
          <p:cNvPr id="20" name="Google Shape;20;p3" title="Elementos ornamentales-05.png"/>
          <p:cNvPicPr preferRelativeResize="0"/>
          <p:nvPr/>
        </p:nvPicPr>
        <p:blipFill>
          <a:blip r:embed="rId3">
            <a:alphaModFix/>
          </a:blip>
          <a:stretch>
            <a:fillRect/>
          </a:stretch>
        </p:blipFill>
        <p:spPr>
          <a:xfrm>
            <a:off x="0" y="-1431561"/>
            <a:ext cx="9144003" cy="19913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 name="Google Shape;23;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26" name="Google Shape;26;p4"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 name="Google Shape;29;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33" name="Google Shape;33;p5"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 name="Google Shape;3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 name="Google Shape;37;p6"/>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38" name="Google Shape;38;p6"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 name="Google Shape;4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 name="Google Shape;43;p7"/>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44" name="Google Shape;44;p7"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5" name="Shape 45"/>
        <p:cNvGrpSpPr/>
        <p:nvPr/>
      </p:nvGrpSpPr>
      <p:grpSpPr>
        <a:xfrm>
          <a:off x="0" y="0"/>
          <a:ext cx="0" cy="0"/>
          <a:chOff x="0" y="0"/>
          <a:chExt cx="0" cy="0"/>
        </a:xfrm>
      </p:grpSpPr>
      <p:sp>
        <p:nvSpPr>
          <p:cNvPr id="46" name="Google Shape;46;p8"/>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 name="Google Shape;47;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8" name="Google Shape;48;p8"/>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49" name="Google Shape;49;p8"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0" name="Shape 50"/>
        <p:cNvGrpSpPr/>
        <p:nvPr/>
      </p:nvGrpSpPr>
      <p:grpSpPr>
        <a:xfrm>
          <a:off x="0" y="0"/>
          <a:ext cx="0" cy="0"/>
          <a:chOff x="0" y="0"/>
          <a:chExt cx="0" cy="0"/>
        </a:xfrm>
      </p:grpSpPr>
      <p:sp>
        <p:nvSpPr>
          <p:cNvPr id="51" name="Google Shape;51;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9"/>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6" name="Google Shape;56;p9"/>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57" name="Google Shape;57;p9"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8" name="Shape 58"/>
        <p:cNvGrpSpPr/>
        <p:nvPr/>
      </p:nvGrpSpPr>
      <p:grpSpPr>
        <a:xfrm>
          <a:off x="0" y="0"/>
          <a:ext cx="0" cy="0"/>
          <a:chOff x="0" y="0"/>
          <a:chExt cx="0" cy="0"/>
        </a:xfrm>
      </p:grpSpPr>
      <p:sp>
        <p:nvSpPr>
          <p:cNvPr id="59" name="Google Shape;59;p10"/>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1" name="Google Shape;61;p10"/>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62" name="Google Shape;62;p10"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3" name="Shape 63"/>
        <p:cNvGrpSpPr/>
        <p:nvPr/>
      </p:nvGrpSpPr>
      <p:grpSpPr>
        <a:xfrm>
          <a:off x="0" y="0"/>
          <a:ext cx="0" cy="0"/>
          <a:chOff x="0" y="0"/>
          <a:chExt cx="0" cy="0"/>
        </a:xfrm>
      </p:grpSpPr>
      <p:sp>
        <p:nvSpPr>
          <p:cNvPr id="64" name="Google Shape;64;p11"/>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6" name="Google Shape;6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7" name="Google Shape;67;p11"/>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68" name="Google Shape;68;p11"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9" name="Shape 69"/>
        <p:cNvGrpSpPr/>
        <p:nvPr/>
      </p:nvGrpSpPr>
      <p:grpSpPr>
        <a:xfrm>
          <a:off x="0" y="0"/>
          <a:ext cx="0" cy="0"/>
          <a:chOff x="0" y="0"/>
          <a:chExt cx="0" cy="0"/>
        </a:xfrm>
      </p:grpSpPr>
      <p:sp>
        <p:nvSpPr>
          <p:cNvPr id="70" name="Google Shape;70;p12"/>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2"/>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72" name="Google Shape;72;p12"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EFE4D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1pPr>
            <a:lvl2pPr lvl="1">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2pPr>
            <a:lvl3pPr lvl="2">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3pPr>
            <a:lvl4pPr lvl="3">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4pPr>
            <a:lvl5pPr lvl="4">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5pPr>
            <a:lvl6pPr lvl="5">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6pPr>
            <a:lvl7pPr lvl="6">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7pPr>
            <a:lvl8pPr lvl="7">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8pPr>
            <a:lvl9pPr lvl="8">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Montserrat"/>
                <a:ea typeface="Montserrat"/>
                <a:cs typeface="Montserrat"/>
                <a:sym typeface="Montserrat"/>
              </a:defRPr>
            </a:lvl1pPr>
            <a:lvl2pPr lvl="1" algn="r">
              <a:buNone/>
              <a:defRPr sz="1000">
                <a:solidFill>
                  <a:schemeClr val="dk2"/>
                </a:solidFill>
                <a:latin typeface="Montserrat"/>
                <a:ea typeface="Montserrat"/>
                <a:cs typeface="Montserrat"/>
                <a:sym typeface="Montserrat"/>
              </a:defRPr>
            </a:lvl2pPr>
            <a:lvl3pPr lvl="2" algn="r">
              <a:buNone/>
              <a:defRPr sz="1000">
                <a:solidFill>
                  <a:schemeClr val="dk2"/>
                </a:solidFill>
                <a:latin typeface="Montserrat"/>
                <a:ea typeface="Montserrat"/>
                <a:cs typeface="Montserrat"/>
                <a:sym typeface="Montserrat"/>
              </a:defRPr>
            </a:lvl3pPr>
            <a:lvl4pPr lvl="3" algn="r">
              <a:buNone/>
              <a:defRPr sz="1000">
                <a:solidFill>
                  <a:schemeClr val="dk2"/>
                </a:solidFill>
                <a:latin typeface="Montserrat"/>
                <a:ea typeface="Montserrat"/>
                <a:cs typeface="Montserrat"/>
                <a:sym typeface="Montserrat"/>
              </a:defRPr>
            </a:lvl4pPr>
            <a:lvl5pPr lvl="4" algn="r">
              <a:buNone/>
              <a:defRPr sz="1000">
                <a:solidFill>
                  <a:schemeClr val="dk2"/>
                </a:solidFill>
                <a:latin typeface="Montserrat"/>
                <a:ea typeface="Montserrat"/>
                <a:cs typeface="Montserrat"/>
                <a:sym typeface="Montserrat"/>
              </a:defRPr>
            </a:lvl5pPr>
            <a:lvl6pPr lvl="5" algn="r">
              <a:buNone/>
              <a:defRPr sz="1000">
                <a:solidFill>
                  <a:schemeClr val="dk2"/>
                </a:solidFill>
                <a:latin typeface="Montserrat"/>
                <a:ea typeface="Montserrat"/>
                <a:cs typeface="Montserrat"/>
                <a:sym typeface="Montserrat"/>
              </a:defRPr>
            </a:lvl6pPr>
            <a:lvl7pPr lvl="6" algn="r">
              <a:buNone/>
              <a:defRPr sz="1000">
                <a:solidFill>
                  <a:schemeClr val="dk2"/>
                </a:solidFill>
                <a:latin typeface="Montserrat"/>
                <a:ea typeface="Montserrat"/>
                <a:cs typeface="Montserrat"/>
                <a:sym typeface="Montserrat"/>
              </a:defRPr>
            </a:lvl7pPr>
            <a:lvl8pPr lvl="7" algn="r">
              <a:buNone/>
              <a:defRPr sz="1000">
                <a:solidFill>
                  <a:schemeClr val="dk2"/>
                </a:solidFill>
                <a:latin typeface="Montserrat"/>
                <a:ea typeface="Montserrat"/>
                <a:cs typeface="Montserrat"/>
                <a:sym typeface="Montserrat"/>
              </a:defRPr>
            </a:lvl8pPr>
            <a:lvl9pPr lvl="8" algn="r">
              <a:buNone/>
              <a:defRPr sz="1000">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4.png"/><Relationship Id="rId4" Type="http://schemas.openxmlformats.org/officeDocument/2006/relationships/image" Target="../media/image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3"/>
          <p:cNvSpPr txBox="1"/>
          <p:nvPr>
            <p:ph type="ctrTitle"/>
          </p:nvPr>
        </p:nvSpPr>
        <p:spPr>
          <a:xfrm>
            <a:off x="311701" y="1506575"/>
            <a:ext cx="70668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Inform</a:t>
            </a:r>
            <a:r>
              <a:rPr lang="es"/>
              <a:t>ática y Cálculo Numérico</a:t>
            </a:r>
            <a:endParaRPr/>
          </a:p>
        </p:txBody>
      </p:sp>
      <p:sp>
        <p:nvSpPr>
          <p:cNvPr id="78" name="Google Shape;78;p13"/>
          <p:cNvSpPr txBox="1"/>
          <p:nvPr>
            <p:ph idx="1" type="subTitle"/>
          </p:nvPr>
        </p:nvSpPr>
        <p:spPr>
          <a:xfrm>
            <a:off x="311700" y="3596125"/>
            <a:ext cx="70668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Comisi</a:t>
            </a:r>
            <a:r>
              <a:rPr lang="es"/>
              <a:t>ón 5 - 2026 - Segundo Semestre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
              <a:t>Pasaje de Par</a:t>
            </a:r>
            <a:r>
              <a:rPr lang="es"/>
              <a:t>ámetros/Argumentos por Referencia</a:t>
            </a:r>
            <a:endParaRPr/>
          </a:p>
        </p:txBody>
      </p:sp>
      <p:sp>
        <p:nvSpPr>
          <p:cNvPr id="84" name="Google Shape;84;p14"/>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¿Qué significa “por referencia”?</a:t>
            </a:r>
            <a:endParaRPr/>
          </a:p>
        </p:txBody>
      </p:sp>
      <p:sp>
        <p:nvSpPr>
          <p:cNvPr id="90" name="Google Shape;90;p15"/>
          <p:cNvSpPr txBox="1"/>
          <p:nvPr>
            <p:ph idx="1" type="body"/>
          </p:nvPr>
        </p:nvSpPr>
        <p:spPr>
          <a:xfrm>
            <a:off x="311700" y="1152475"/>
            <a:ext cx="5082600" cy="3712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Cuando se reserva un espacio de memoria, este tiene una direcci</a:t>
            </a:r>
            <a:r>
              <a:rPr lang="es"/>
              <a:t>ón.</a:t>
            </a:r>
            <a:endParaRPr/>
          </a:p>
          <a:p>
            <a:pPr indent="0" lvl="0" marL="0" rtl="0" algn="l">
              <a:spcBef>
                <a:spcPts val="1200"/>
              </a:spcBef>
              <a:spcAft>
                <a:spcPts val="1200"/>
              </a:spcAft>
              <a:buNone/>
            </a:pPr>
            <a:r>
              <a:rPr lang="es"/>
              <a:t>Se puede, en el programa, hacer </a:t>
            </a:r>
            <a:r>
              <a:rPr b="1" lang="es"/>
              <a:t>referencia</a:t>
            </a:r>
            <a:r>
              <a:rPr lang="es"/>
              <a:t> a ese espacio de memoria sin saber </a:t>
            </a:r>
            <a:r>
              <a:rPr lang="es"/>
              <a:t>explícitamente</a:t>
            </a:r>
            <a:r>
              <a:rPr lang="es"/>
              <a:t> su dirección, sino utilizando el nombre de la variable reservada y el operador </a:t>
            </a:r>
            <a:r>
              <a:rPr b="1" lang="es"/>
              <a:t>&amp;</a:t>
            </a:r>
            <a:r>
              <a:rPr lang="es"/>
              <a:t>, que me devuelve la dirección de donde se reservó dicha variable.</a:t>
            </a:r>
            <a:endParaRPr/>
          </a:p>
        </p:txBody>
      </p:sp>
      <p:sp>
        <p:nvSpPr>
          <p:cNvPr id="91" name="Google Shape;91;p15"/>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92" name="Google Shape;92;p15"/>
          <p:cNvSpPr/>
          <p:nvPr/>
        </p:nvSpPr>
        <p:spPr>
          <a:xfrm rot="10800000">
            <a:off x="5825750" y="1758424"/>
            <a:ext cx="2753700" cy="2654100"/>
          </a:xfrm>
          <a:prstGeom prst="round2SameRect">
            <a:avLst>
              <a:gd fmla="val 6272" name="adj1"/>
              <a:gd fmla="val 0" name="adj2"/>
            </a:avLst>
          </a:prstGeom>
          <a:solidFill>
            <a:srgbClr val="FAFAFA"/>
          </a:solidFill>
          <a:ln>
            <a:noFill/>
          </a:ln>
        </p:spPr>
        <p:txBody>
          <a:bodyPr anchorCtr="0" anchor="ctr" bIns="122125" lIns="122125" spcFirstLastPara="1" rIns="122125" wrap="square" tIns="122125">
            <a:noAutofit/>
          </a:bodyPr>
          <a:lstStyle/>
          <a:p>
            <a:pPr indent="0" lvl="0" marL="0" marR="0" rtl="0" algn="l">
              <a:lnSpc>
                <a:spcPct val="100000"/>
              </a:lnSpc>
              <a:spcBef>
                <a:spcPts val="0"/>
              </a:spcBef>
              <a:spcAft>
                <a:spcPts val="0"/>
              </a:spcAft>
              <a:buClr>
                <a:srgbClr val="000000"/>
              </a:buClr>
              <a:buSzPts val="134"/>
              <a:buFont typeface="Arial"/>
              <a:buNone/>
            </a:pPr>
            <a:r>
              <a:t/>
            </a:r>
            <a:endParaRPr b="0" i="0" sz="134" u="none" cap="none" strike="noStrike">
              <a:solidFill>
                <a:srgbClr val="000000"/>
              </a:solidFill>
              <a:latin typeface="Arial"/>
              <a:ea typeface="Arial"/>
              <a:cs typeface="Arial"/>
              <a:sym typeface="Arial"/>
            </a:endParaRPr>
          </a:p>
        </p:txBody>
      </p:sp>
      <p:sp>
        <p:nvSpPr>
          <p:cNvPr id="93" name="Google Shape;93;p15"/>
          <p:cNvSpPr/>
          <p:nvPr/>
        </p:nvSpPr>
        <p:spPr>
          <a:xfrm rot="10800000">
            <a:off x="5825746" y="1322517"/>
            <a:ext cx="2753700" cy="436500"/>
          </a:xfrm>
          <a:prstGeom prst="round2SameRect">
            <a:avLst>
              <a:gd fmla="val 6272" name="adj1"/>
              <a:gd fmla="val 50000" name="adj2"/>
            </a:avLst>
          </a:prstGeom>
          <a:solidFill>
            <a:srgbClr val="434343"/>
          </a:solidFill>
          <a:ln>
            <a:noFill/>
          </a:ln>
        </p:spPr>
        <p:txBody>
          <a:bodyPr anchorCtr="0" anchor="ctr" bIns="122125" lIns="122125" spcFirstLastPara="1" rIns="122125" wrap="square" tIns="122125">
            <a:noAutofit/>
          </a:bodyPr>
          <a:lstStyle/>
          <a:p>
            <a:pPr indent="0" lvl="0" marL="0" marR="0" rtl="0" algn="l">
              <a:lnSpc>
                <a:spcPct val="100000"/>
              </a:lnSpc>
              <a:spcBef>
                <a:spcPts val="0"/>
              </a:spcBef>
              <a:spcAft>
                <a:spcPts val="0"/>
              </a:spcAft>
              <a:buClr>
                <a:srgbClr val="000000"/>
              </a:buClr>
              <a:buSzPts val="134"/>
              <a:buFont typeface="Arial"/>
              <a:buNone/>
            </a:pPr>
            <a:r>
              <a:t/>
            </a:r>
            <a:endParaRPr b="0" i="0" sz="134" u="none" cap="none" strike="noStrike">
              <a:solidFill>
                <a:srgbClr val="000000"/>
              </a:solidFill>
              <a:latin typeface="Arial"/>
              <a:ea typeface="Arial"/>
              <a:cs typeface="Arial"/>
              <a:sym typeface="Arial"/>
            </a:endParaRPr>
          </a:p>
        </p:txBody>
      </p:sp>
      <p:sp>
        <p:nvSpPr>
          <p:cNvPr id="94" name="Google Shape;94;p15"/>
          <p:cNvSpPr/>
          <p:nvPr/>
        </p:nvSpPr>
        <p:spPr>
          <a:xfrm>
            <a:off x="6103749" y="1434010"/>
            <a:ext cx="238500" cy="238500"/>
          </a:xfrm>
          <a:prstGeom prst="ellipse">
            <a:avLst/>
          </a:prstGeom>
          <a:solidFill>
            <a:srgbClr val="FF605C"/>
          </a:solidFill>
          <a:ln>
            <a:noFill/>
          </a:ln>
        </p:spPr>
        <p:txBody>
          <a:bodyPr anchorCtr="0" anchor="ctr" bIns="122125" lIns="122125" spcFirstLastPara="1" rIns="122125" wrap="square" tIns="122125">
            <a:noAutofit/>
          </a:bodyPr>
          <a:lstStyle/>
          <a:p>
            <a:pPr indent="0" lvl="0" marL="0" marR="0" rtl="0" algn="l">
              <a:lnSpc>
                <a:spcPct val="100000"/>
              </a:lnSpc>
              <a:spcBef>
                <a:spcPts val="0"/>
              </a:spcBef>
              <a:spcAft>
                <a:spcPts val="0"/>
              </a:spcAft>
              <a:buClr>
                <a:srgbClr val="000000"/>
              </a:buClr>
              <a:buSzPts val="134"/>
              <a:buFont typeface="Arial"/>
              <a:buNone/>
            </a:pPr>
            <a:r>
              <a:t/>
            </a:r>
            <a:endParaRPr b="0" i="0" sz="134" u="none" cap="none" strike="noStrike">
              <a:solidFill>
                <a:srgbClr val="000000"/>
              </a:solidFill>
              <a:latin typeface="Arial"/>
              <a:ea typeface="Arial"/>
              <a:cs typeface="Arial"/>
              <a:sym typeface="Arial"/>
            </a:endParaRPr>
          </a:p>
        </p:txBody>
      </p:sp>
      <p:sp>
        <p:nvSpPr>
          <p:cNvPr id="95" name="Google Shape;95;p15"/>
          <p:cNvSpPr/>
          <p:nvPr/>
        </p:nvSpPr>
        <p:spPr>
          <a:xfrm>
            <a:off x="6457078" y="1434010"/>
            <a:ext cx="238500" cy="238500"/>
          </a:xfrm>
          <a:prstGeom prst="ellipse">
            <a:avLst/>
          </a:prstGeom>
          <a:solidFill>
            <a:srgbClr val="FFBD44"/>
          </a:solidFill>
          <a:ln>
            <a:noFill/>
          </a:ln>
        </p:spPr>
        <p:txBody>
          <a:bodyPr anchorCtr="0" anchor="ctr" bIns="122125" lIns="122125" spcFirstLastPara="1" rIns="122125" wrap="square" tIns="122125">
            <a:noAutofit/>
          </a:bodyPr>
          <a:lstStyle/>
          <a:p>
            <a:pPr indent="0" lvl="0" marL="0" marR="0" rtl="0" algn="l">
              <a:lnSpc>
                <a:spcPct val="100000"/>
              </a:lnSpc>
              <a:spcBef>
                <a:spcPts val="0"/>
              </a:spcBef>
              <a:spcAft>
                <a:spcPts val="0"/>
              </a:spcAft>
              <a:buClr>
                <a:srgbClr val="000000"/>
              </a:buClr>
              <a:buSzPts val="134"/>
              <a:buFont typeface="Arial"/>
              <a:buNone/>
            </a:pPr>
            <a:r>
              <a:t/>
            </a:r>
            <a:endParaRPr b="0" i="0" sz="134" u="none" cap="none" strike="noStrike">
              <a:solidFill>
                <a:srgbClr val="000000"/>
              </a:solidFill>
              <a:latin typeface="Arial"/>
              <a:ea typeface="Arial"/>
              <a:cs typeface="Arial"/>
              <a:sym typeface="Arial"/>
            </a:endParaRPr>
          </a:p>
        </p:txBody>
      </p:sp>
      <p:sp>
        <p:nvSpPr>
          <p:cNvPr id="96" name="Google Shape;96;p15"/>
          <p:cNvSpPr/>
          <p:nvPr/>
        </p:nvSpPr>
        <p:spPr>
          <a:xfrm>
            <a:off x="6810407" y="1434010"/>
            <a:ext cx="238500" cy="238500"/>
          </a:xfrm>
          <a:prstGeom prst="ellipse">
            <a:avLst/>
          </a:prstGeom>
          <a:solidFill>
            <a:srgbClr val="00CA4E"/>
          </a:solidFill>
          <a:ln>
            <a:noFill/>
          </a:ln>
        </p:spPr>
        <p:txBody>
          <a:bodyPr anchorCtr="0" anchor="ctr" bIns="122125" lIns="122125" spcFirstLastPara="1" rIns="122125" wrap="square" tIns="122125">
            <a:noAutofit/>
          </a:bodyPr>
          <a:lstStyle/>
          <a:p>
            <a:pPr indent="0" lvl="0" marL="0" marR="0" rtl="0" algn="l">
              <a:lnSpc>
                <a:spcPct val="100000"/>
              </a:lnSpc>
              <a:spcBef>
                <a:spcPts val="0"/>
              </a:spcBef>
              <a:spcAft>
                <a:spcPts val="0"/>
              </a:spcAft>
              <a:buClr>
                <a:srgbClr val="000000"/>
              </a:buClr>
              <a:buSzPts val="134"/>
              <a:buFont typeface="Arial"/>
              <a:buNone/>
            </a:pPr>
            <a:r>
              <a:t/>
            </a:r>
            <a:endParaRPr b="0" i="0" sz="134" u="none" cap="none" strike="noStrike">
              <a:solidFill>
                <a:srgbClr val="000000"/>
              </a:solidFill>
              <a:latin typeface="Arial"/>
              <a:ea typeface="Arial"/>
              <a:cs typeface="Arial"/>
              <a:sym typeface="Arial"/>
            </a:endParaRPr>
          </a:p>
        </p:txBody>
      </p:sp>
      <p:sp>
        <p:nvSpPr>
          <p:cNvPr id="97" name="Google Shape;97;p15"/>
          <p:cNvSpPr txBox="1"/>
          <p:nvPr/>
        </p:nvSpPr>
        <p:spPr>
          <a:xfrm>
            <a:off x="5924230" y="1858124"/>
            <a:ext cx="2630100" cy="2459100"/>
          </a:xfrm>
          <a:prstGeom prst="rect">
            <a:avLst/>
          </a:prstGeom>
          <a:solidFill>
            <a:srgbClr val="FAFAFA"/>
          </a:solidFill>
          <a:ln>
            <a:noFill/>
          </a:ln>
        </p:spPr>
        <p:txBody>
          <a:bodyPr anchorCtr="0" anchor="t" bIns="122125" lIns="122125" spcFirstLastPara="1" rIns="122125" wrap="square" tIns="122125">
            <a:noAutofit/>
          </a:bodyPr>
          <a:lstStyle/>
          <a:p>
            <a:pPr indent="0" lvl="0" marL="0" marR="0" rtl="0" algn="l">
              <a:lnSpc>
                <a:spcPct val="100000"/>
              </a:lnSpc>
              <a:spcBef>
                <a:spcPts val="0"/>
              </a:spcBef>
              <a:spcAft>
                <a:spcPts val="0"/>
              </a:spcAft>
              <a:buClr>
                <a:srgbClr val="000000"/>
              </a:buClr>
              <a:buSzPts val="1469"/>
              <a:buFont typeface="Arial"/>
              <a:buNone/>
            </a:pPr>
            <a:r>
              <a:rPr lang="es" sz="1469">
                <a:solidFill>
                  <a:srgbClr val="383A42"/>
                </a:solidFill>
              </a:rPr>
              <a:t>#include &lt;iostream&gt;</a:t>
            </a:r>
            <a:endParaRPr sz="1469">
              <a:solidFill>
                <a:srgbClr val="383A42"/>
              </a:solidFill>
            </a:endParaRPr>
          </a:p>
          <a:p>
            <a:pPr indent="0" lvl="0" marL="0" rtl="0" algn="l">
              <a:spcBef>
                <a:spcPts val="0"/>
              </a:spcBef>
              <a:spcAft>
                <a:spcPts val="0"/>
              </a:spcAft>
              <a:buNone/>
            </a:pPr>
            <a:r>
              <a:rPr lang="es" sz="1469">
                <a:solidFill>
                  <a:srgbClr val="383A42"/>
                </a:solidFill>
              </a:rPr>
              <a:t>#include &lt;iomanip&gt;</a:t>
            </a:r>
            <a:endParaRPr sz="1469">
              <a:solidFill>
                <a:srgbClr val="383A42"/>
              </a:solidFill>
            </a:endParaRPr>
          </a:p>
          <a:p>
            <a:pPr indent="0" lvl="0" marL="0" rtl="0" algn="l">
              <a:spcBef>
                <a:spcPts val="0"/>
              </a:spcBef>
              <a:spcAft>
                <a:spcPts val="0"/>
              </a:spcAft>
              <a:buNone/>
            </a:pPr>
            <a:r>
              <a:rPr lang="es" sz="1469">
                <a:solidFill>
                  <a:srgbClr val="383A42"/>
                </a:solidFill>
              </a:rPr>
              <a:t>#include &lt;cmath&gt;</a:t>
            </a:r>
            <a:endParaRPr sz="1469">
              <a:solidFill>
                <a:srgbClr val="383A42"/>
              </a:solidFill>
            </a:endParaRPr>
          </a:p>
          <a:p>
            <a:pPr indent="0" lvl="0" marL="0" rtl="0" algn="l">
              <a:spcBef>
                <a:spcPts val="0"/>
              </a:spcBef>
              <a:spcAft>
                <a:spcPts val="0"/>
              </a:spcAft>
              <a:buNone/>
            </a:pPr>
            <a:r>
              <a:rPr lang="es" sz="1469">
                <a:solidFill>
                  <a:srgbClr val="A626A4"/>
                </a:solidFill>
              </a:rPr>
              <a:t>using</a:t>
            </a:r>
            <a:r>
              <a:rPr lang="es" sz="1469">
                <a:solidFill>
                  <a:srgbClr val="A0A1A7"/>
                </a:solidFill>
              </a:rPr>
              <a:t> </a:t>
            </a:r>
            <a:r>
              <a:rPr lang="es" sz="1469">
                <a:solidFill>
                  <a:srgbClr val="A626A4"/>
                </a:solidFill>
              </a:rPr>
              <a:t>namespace</a:t>
            </a:r>
            <a:r>
              <a:rPr lang="es" sz="1469">
                <a:solidFill>
                  <a:srgbClr val="A0A1A7"/>
                </a:solidFill>
              </a:rPr>
              <a:t> </a:t>
            </a:r>
            <a:r>
              <a:rPr lang="es" sz="1469">
                <a:solidFill>
                  <a:srgbClr val="4078F2"/>
                </a:solidFill>
              </a:rPr>
              <a:t>std</a:t>
            </a:r>
            <a:r>
              <a:rPr lang="es" sz="1469">
                <a:solidFill>
                  <a:srgbClr val="383A42"/>
                </a:solidFill>
              </a:rPr>
              <a:t>;</a:t>
            </a:r>
            <a:endParaRPr sz="1469">
              <a:solidFill>
                <a:srgbClr val="383A42"/>
              </a:solidFill>
            </a:endParaRPr>
          </a:p>
          <a:p>
            <a:pPr indent="0" lvl="0" marL="0" rtl="0" algn="l">
              <a:spcBef>
                <a:spcPts val="0"/>
              </a:spcBef>
              <a:spcAft>
                <a:spcPts val="0"/>
              </a:spcAft>
              <a:buNone/>
            </a:pPr>
            <a:r>
              <a:t/>
            </a:r>
            <a:endParaRPr sz="1469">
              <a:solidFill>
                <a:srgbClr val="A0A1A7"/>
              </a:solidFill>
            </a:endParaRPr>
          </a:p>
          <a:p>
            <a:pPr indent="0" lvl="0" marL="0" rtl="0" algn="l">
              <a:spcBef>
                <a:spcPts val="0"/>
              </a:spcBef>
              <a:spcAft>
                <a:spcPts val="0"/>
              </a:spcAft>
              <a:buNone/>
            </a:pPr>
            <a:r>
              <a:rPr lang="es" sz="1469">
                <a:solidFill>
                  <a:srgbClr val="27292F"/>
                </a:solidFill>
              </a:rPr>
              <a:t>int</a:t>
            </a:r>
            <a:r>
              <a:rPr lang="es" sz="1469">
                <a:solidFill>
                  <a:srgbClr val="A0A1A7"/>
                </a:solidFill>
              </a:rPr>
              <a:t> </a:t>
            </a:r>
            <a:r>
              <a:rPr lang="es" sz="1469">
                <a:solidFill>
                  <a:srgbClr val="4078F2"/>
                </a:solidFill>
              </a:rPr>
              <a:t>main</a:t>
            </a:r>
            <a:r>
              <a:rPr lang="es" sz="1469">
                <a:solidFill>
                  <a:srgbClr val="383A42"/>
                </a:solidFill>
              </a:rPr>
              <a:t>()</a:t>
            </a:r>
            <a:r>
              <a:rPr lang="es" sz="1469">
                <a:solidFill>
                  <a:srgbClr val="A0A1A7"/>
                </a:solidFill>
              </a:rPr>
              <a:t> </a:t>
            </a:r>
            <a:endParaRPr sz="1469">
              <a:solidFill>
                <a:srgbClr val="A0A1A7"/>
              </a:solidFill>
            </a:endParaRPr>
          </a:p>
          <a:p>
            <a:pPr indent="0" lvl="0" marL="0" rtl="0" algn="l">
              <a:spcBef>
                <a:spcPts val="0"/>
              </a:spcBef>
              <a:spcAft>
                <a:spcPts val="0"/>
              </a:spcAft>
              <a:buNone/>
            </a:pPr>
            <a:r>
              <a:rPr lang="es" sz="1469">
                <a:solidFill>
                  <a:srgbClr val="383A42"/>
                </a:solidFill>
              </a:rPr>
              <a:t>{</a:t>
            </a:r>
            <a:endParaRPr sz="1469">
              <a:solidFill>
                <a:srgbClr val="383A42"/>
              </a:solidFill>
            </a:endParaRPr>
          </a:p>
          <a:p>
            <a:pPr indent="0" lvl="0" marL="0" rtl="0" algn="l">
              <a:spcBef>
                <a:spcPts val="0"/>
              </a:spcBef>
              <a:spcAft>
                <a:spcPts val="0"/>
              </a:spcAft>
              <a:buNone/>
            </a:pPr>
            <a:r>
              <a:rPr lang="es" sz="1469">
                <a:solidFill>
                  <a:srgbClr val="A0A1A7"/>
                </a:solidFill>
              </a:rPr>
              <a:t>    </a:t>
            </a:r>
            <a:r>
              <a:rPr lang="es" sz="1469">
                <a:solidFill>
                  <a:srgbClr val="27292F"/>
                </a:solidFill>
              </a:rPr>
              <a:t>int</a:t>
            </a:r>
            <a:r>
              <a:rPr lang="es" sz="1469">
                <a:solidFill>
                  <a:srgbClr val="A0A1A7"/>
                </a:solidFill>
              </a:rPr>
              <a:t> </a:t>
            </a:r>
            <a:r>
              <a:rPr lang="es" sz="1469">
                <a:solidFill>
                  <a:srgbClr val="E06C75"/>
                </a:solidFill>
              </a:rPr>
              <a:t>a</a:t>
            </a:r>
            <a:r>
              <a:rPr lang="es" sz="1469">
                <a:solidFill>
                  <a:srgbClr val="0184BC"/>
                </a:solidFill>
              </a:rPr>
              <a:t>=</a:t>
            </a:r>
            <a:r>
              <a:rPr lang="es" sz="1469">
                <a:solidFill>
                  <a:srgbClr val="986801"/>
                </a:solidFill>
              </a:rPr>
              <a:t>3</a:t>
            </a:r>
            <a:r>
              <a:rPr lang="es" sz="1469">
                <a:solidFill>
                  <a:srgbClr val="383A42"/>
                </a:solidFill>
              </a:rPr>
              <a:t>;</a:t>
            </a:r>
            <a:endParaRPr sz="1469">
              <a:solidFill>
                <a:srgbClr val="383A42"/>
              </a:solidFill>
            </a:endParaRPr>
          </a:p>
          <a:p>
            <a:pPr indent="0" lvl="0" marL="0" rtl="0" algn="l">
              <a:spcBef>
                <a:spcPts val="0"/>
              </a:spcBef>
              <a:spcAft>
                <a:spcPts val="0"/>
              </a:spcAft>
              <a:buNone/>
            </a:pPr>
            <a:r>
              <a:rPr lang="es" sz="1469">
                <a:solidFill>
                  <a:srgbClr val="A0A1A7"/>
                </a:solidFill>
              </a:rPr>
              <a:t>    </a:t>
            </a:r>
            <a:r>
              <a:rPr lang="es" sz="1469">
                <a:solidFill>
                  <a:srgbClr val="E06C75"/>
                </a:solidFill>
              </a:rPr>
              <a:t>cout</a:t>
            </a:r>
            <a:r>
              <a:rPr lang="es" sz="1469">
                <a:solidFill>
                  <a:srgbClr val="0184BC"/>
                </a:solidFill>
              </a:rPr>
              <a:t>&lt;&lt;</a:t>
            </a:r>
            <a:r>
              <a:rPr lang="es" sz="1469">
                <a:solidFill>
                  <a:srgbClr val="A0A1A7"/>
                </a:solidFill>
              </a:rPr>
              <a:t> </a:t>
            </a:r>
            <a:r>
              <a:rPr lang="es" sz="1469">
                <a:solidFill>
                  <a:srgbClr val="E06C75"/>
                </a:solidFill>
              </a:rPr>
              <a:t>a</a:t>
            </a:r>
            <a:r>
              <a:rPr lang="es" sz="1469">
                <a:solidFill>
                  <a:srgbClr val="A0A1A7"/>
                </a:solidFill>
              </a:rPr>
              <a:t> </a:t>
            </a:r>
            <a:r>
              <a:rPr lang="es" sz="1469">
                <a:solidFill>
                  <a:srgbClr val="0184BC"/>
                </a:solidFill>
              </a:rPr>
              <a:t>&lt;&lt;</a:t>
            </a:r>
            <a:r>
              <a:rPr lang="es" sz="1469">
                <a:solidFill>
                  <a:srgbClr val="A0A1A7"/>
                </a:solidFill>
              </a:rPr>
              <a:t> </a:t>
            </a:r>
            <a:r>
              <a:rPr lang="es" sz="1469">
                <a:solidFill>
                  <a:srgbClr val="E06C75"/>
                </a:solidFill>
              </a:rPr>
              <a:t>endl</a:t>
            </a:r>
            <a:r>
              <a:rPr lang="es" sz="1469">
                <a:solidFill>
                  <a:srgbClr val="A0A1A7"/>
                </a:solidFill>
              </a:rPr>
              <a:t> </a:t>
            </a:r>
            <a:r>
              <a:rPr lang="es" sz="1469">
                <a:solidFill>
                  <a:srgbClr val="0184BC"/>
                </a:solidFill>
              </a:rPr>
              <a:t>&lt;&lt;</a:t>
            </a:r>
            <a:r>
              <a:rPr lang="es" sz="1469">
                <a:solidFill>
                  <a:srgbClr val="A0A1A7"/>
                </a:solidFill>
              </a:rPr>
              <a:t> </a:t>
            </a:r>
            <a:r>
              <a:rPr lang="es" sz="1469">
                <a:solidFill>
                  <a:srgbClr val="0184BC"/>
                </a:solidFill>
              </a:rPr>
              <a:t>&amp;</a:t>
            </a:r>
            <a:r>
              <a:rPr lang="es" sz="1469">
                <a:solidFill>
                  <a:srgbClr val="E06C75"/>
                </a:solidFill>
              </a:rPr>
              <a:t>a</a:t>
            </a:r>
            <a:r>
              <a:rPr lang="es" sz="1469">
                <a:solidFill>
                  <a:srgbClr val="383A42"/>
                </a:solidFill>
              </a:rPr>
              <a:t>;</a:t>
            </a:r>
            <a:r>
              <a:rPr lang="es" sz="1469">
                <a:solidFill>
                  <a:srgbClr val="A0A1A7"/>
                </a:solidFill>
              </a:rPr>
              <a:t> </a:t>
            </a:r>
            <a:endParaRPr sz="1469">
              <a:solidFill>
                <a:srgbClr val="A0A1A7"/>
              </a:solidFill>
            </a:endParaRPr>
          </a:p>
          <a:p>
            <a:pPr indent="0" lvl="0" marL="0" rtl="0" algn="l">
              <a:spcBef>
                <a:spcPts val="0"/>
              </a:spcBef>
              <a:spcAft>
                <a:spcPts val="0"/>
              </a:spcAft>
              <a:buNone/>
            </a:pPr>
            <a:r>
              <a:rPr lang="es" sz="1469">
                <a:solidFill>
                  <a:srgbClr val="383A42"/>
                </a:solidFill>
              </a:rPr>
              <a:t>}</a:t>
            </a:r>
            <a:endParaRPr sz="1469">
              <a:solidFill>
                <a:srgbClr val="383A42"/>
              </a:solidFill>
            </a:endParaRPr>
          </a:p>
          <a:p>
            <a:pPr indent="0" lvl="0" marL="0" marR="0" rtl="0" algn="l">
              <a:lnSpc>
                <a:spcPct val="100000"/>
              </a:lnSpc>
              <a:spcBef>
                <a:spcPts val="0"/>
              </a:spcBef>
              <a:spcAft>
                <a:spcPts val="0"/>
              </a:spcAft>
              <a:buClr>
                <a:srgbClr val="000000"/>
              </a:buClr>
              <a:buSzPts val="1469"/>
              <a:buFont typeface="Arial"/>
              <a:buNone/>
            </a:pPr>
            <a:r>
              <a:t/>
            </a:r>
            <a:endParaRPr sz="1469">
              <a:solidFill>
                <a:srgbClr val="A0A1A7"/>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311700" y="445025"/>
            <a:ext cx="7445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a:t>
            </a:r>
            <a:r>
              <a:rPr lang="es"/>
              <a:t>ómo usar un parametro</a:t>
            </a:r>
            <a:r>
              <a:rPr lang="es"/>
              <a:t> “por referencia”?</a:t>
            </a:r>
            <a:endParaRPr/>
          </a:p>
        </p:txBody>
      </p:sp>
      <p:sp>
        <p:nvSpPr>
          <p:cNvPr id="103" name="Google Shape;103;p16"/>
          <p:cNvSpPr txBox="1"/>
          <p:nvPr>
            <p:ph idx="1" type="body"/>
          </p:nvPr>
        </p:nvSpPr>
        <p:spPr>
          <a:xfrm>
            <a:off x="311700" y="1152475"/>
            <a:ext cx="3061500" cy="3712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s"/>
              <a:t>Cuando utilizamos el </a:t>
            </a:r>
            <a:r>
              <a:rPr b="1" lang="es"/>
              <a:t>&amp;</a:t>
            </a:r>
            <a:r>
              <a:rPr lang="es"/>
              <a:t> en argumentos de funciones, lo que queremos decir es que </a:t>
            </a:r>
            <a:r>
              <a:rPr b="1" lang="es"/>
              <a:t>NO</a:t>
            </a:r>
            <a:r>
              <a:rPr lang="es"/>
              <a:t> se va a reservar un espacio de memoria nuevo para ese argumento, sino que vamos a </a:t>
            </a:r>
            <a:r>
              <a:rPr b="1" lang="es"/>
              <a:t>hacer referencia</a:t>
            </a:r>
            <a:r>
              <a:rPr lang="es"/>
              <a:t> a la variable que se haya utilizado en la invocación de la función.</a:t>
            </a:r>
            <a:endParaRPr/>
          </a:p>
        </p:txBody>
      </p:sp>
      <p:sp>
        <p:nvSpPr>
          <p:cNvPr id="104" name="Google Shape;104;p16"/>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05" name="Google Shape;105;p16"/>
          <p:cNvSpPr/>
          <p:nvPr/>
        </p:nvSpPr>
        <p:spPr>
          <a:xfrm rot="10800000">
            <a:off x="3352950" y="1419350"/>
            <a:ext cx="4433400" cy="3247800"/>
          </a:xfrm>
          <a:prstGeom prst="round2SameRect">
            <a:avLst>
              <a:gd fmla="val 6272" name="adj1"/>
              <a:gd fmla="val 0" name="adj2"/>
            </a:avLst>
          </a:prstGeom>
          <a:solidFill>
            <a:srgbClr val="FAFAFA"/>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06" name="Google Shape;106;p16"/>
          <p:cNvSpPr/>
          <p:nvPr/>
        </p:nvSpPr>
        <p:spPr>
          <a:xfrm rot="10800000">
            <a:off x="3352929" y="1170475"/>
            <a:ext cx="4433400" cy="249000"/>
          </a:xfrm>
          <a:prstGeom prst="round2SameRect">
            <a:avLst>
              <a:gd fmla="val 6272" name="adj1"/>
              <a:gd fmla="val 50000" name="adj2"/>
            </a:avLst>
          </a:prstGeom>
          <a:solidFill>
            <a:srgbClr val="434343"/>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07" name="Google Shape;107;p16"/>
          <p:cNvSpPr/>
          <p:nvPr/>
        </p:nvSpPr>
        <p:spPr>
          <a:xfrm>
            <a:off x="3511603" y="1234015"/>
            <a:ext cx="136200" cy="136200"/>
          </a:xfrm>
          <a:prstGeom prst="ellipse">
            <a:avLst/>
          </a:prstGeom>
          <a:solidFill>
            <a:srgbClr val="FF605C"/>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08" name="Google Shape;108;p16"/>
          <p:cNvSpPr/>
          <p:nvPr/>
        </p:nvSpPr>
        <p:spPr>
          <a:xfrm>
            <a:off x="3713214" y="1234015"/>
            <a:ext cx="136200" cy="136200"/>
          </a:xfrm>
          <a:prstGeom prst="ellipse">
            <a:avLst/>
          </a:prstGeom>
          <a:solidFill>
            <a:srgbClr val="FFBD44"/>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09" name="Google Shape;109;p16"/>
          <p:cNvSpPr/>
          <p:nvPr/>
        </p:nvSpPr>
        <p:spPr>
          <a:xfrm>
            <a:off x="3914825" y="1234015"/>
            <a:ext cx="136200" cy="136200"/>
          </a:xfrm>
          <a:prstGeom prst="ellipse">
            <a:avLst/>
          </a:prstGeom>
          <a:solidFill>
            <a:srgbClr val="00CA4E"/>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10" name="Google Shape;110;p16"/>
          <p:cNvSpPr txBox="1"/>
          <p:nvPr/>
        </p:nvSpPr>
        <p:spPr>
          <a:xfrm>
            <a:off x="3511780" y="1541043"/>
            <a:ext cx="4233600" cy="3009300"/>
          </a:xfrm>
          <a:prstGeom prst="rect">
            <a:avLst/>
          </a:prstGeom>
          <a:solidFill>
            <a:srgbClr val="FAFAFA"/>
          </a:solidFill>
          <a:ln>
            <a:noFill/>
          </a:ln>
        </p:spPr>
        <p:txBody>
          <a:bodyPr anchorCtr="0" anchor="t" bIns="69675" lIns="69675" spcFirstLastPara="1" rIns="69675" wrap="square" tIns="69675">
            <a:noAutofit/>
          </a:bodyPr>
          <a:lstStyle/>
          <a:p>
            <a:pPr indent="0" lvl="0" marL="0" rtl="0" algn="l">
              <a:spcBef>
                <a:spcPts val="0"/>
              </a:spcBef>
              <a:spcAft>
                <a:spcPts val="0"/>
              </a:spcAft>
              <a:buNone/>
            </a:pPr>
            <a:r>
              <a:rPr lang="es" sz="838">
                <a:solidFill>
                  <a:srgbClr val="383A42"/>
                </a:solidFill>
              </a:rPr>
              <a:t>#include &lt;iostream&gt;</a:t>
            </a:r>
            <a:endParaRPr sz="838">
              <a:solidFill>
                <a:srgbClr val="383A42"/>
              </a:solidFill>
            </a:endParaRPr>
          </a:p>
          <a:p>
            <a:pPr indent="0" lvl="0" marL="0" rtl="0" algn="l">
              <a:spcBef>
                <a:spcPts val="0"/>
              </a:spcBef>
              <a:spcAft>
                <a:spcPts val="0"/>
              </a:spcAft>
              <a:buNone/>
            </a:pPr>
            <a:r>
              <a:rPr lang="es" sz="838">
                <a:solidFill>
                  <a:srgbClr val="383A42"/>
                </a:solidFill>
              </a:rPr>
              <a:t>#include &lt;iomanip&gt;</a:t>
            </a:r>
            <a:endParaRPr sz="838">
              <a:solidFill>
                <a:srgbClr val="383A42"/>
              </a:solidFill>
            </a:endParaRPr>
          </a:p>
          <a:p>
            <a:pPr indent="0" lvl="0" marL="0" rtl="0" algn="l">
              <a:spcBef>
                <a:spcPts val="0"/>
              </a:spcBef>
              <a:spcAft>
                <a:spcPts val="0"/>
              </a:spcAft>
              <a:buNone/>
            </a:pPr>
            <a:r>
              <a:rPr lang="es" sz="838">
                <a:solidFill>
                  <a:srgbClr val="383A42"/>
                </a:solidFill>
              </a:rPr>
              <a:t>#include &lt;cmath&gt;</a:t>
            </a:r>
            <a:endParaRPr sz="838">
              <a:solidFill>
                <a:srgbClr val="383A42"/>
              </a:solidFill>
            </a:endParaRPr>
          </a:p>
          <a:p>
            <a:pPr indent="0" lvl="0" marL="0" rtl="0" algn="l">
              <a:spcBef>
                <a:spcPts val="0"/>
              </a:spcBef>
              <a:spcAft>
                <a:spcPts val="0"/>
              </a:spcAft>
              <a:buNone/>
            </a:pPr>
            <a:r>
              <a:rPr lang="es" sz="838">
                <a:solidFill>
                  <a:srgbClr val="A626A4"/>
                </a:solidFill>
              </a:rPr>
              <a:t>using</a:t>
            </a:r>
            <a:r>
              <a:rPr lang="es" sz="838">
                <a:solidFill>
                  <a:srgbClr val="A0A1A7"/>
                </a:solidFill>
              </a:rPr>
              <a:t> </a:t>
            </a:r>
            <a:r>
              <a:rPr lang="es" sz="838">
                <a:solidFill>
                  <a:srgbClr val="A626A4"/>
                </a:solidFill>
              </a:rPr>
              <a:t>namespace</a:t>
            </a:r>
            <a:r>
              <a:rPr lang="es" sz="838">
                <a:solidFill>
                  <a:srgbClr val="A0A1A7"/>
                </a:solidFill>
              </a:rPr>
              <a:t> </a:t>
            </a:r>
            <a:r>
              <a:rPr lang="es" sz="838">
                <a:solidFill>
                  <a:srgbClr val="4078F2"/>
                </a:solidFill>
              </a:rPr>
              <a:t>std</a:t>
            </a: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void</a:t>
            </a:r>
            <a:r>
              <a:rPr lang="es" sz="838">
                <a:solidFill>
                  <a:srgbClr val="A0A1A7"/>
                </a:solidFill>
              </a:rPr>
              <a:t> </a:t>
            </a:r>
            <a:r>
              <a:rPr lang="es" sz="838">
                <a:solidFill>
                  <a:srgbClr val="4078F2"/>
                </a:solidFill>
              </a:rPr>
              <a:t>incrementar</a:t>
            </a:r>
            <a:r>
              <a:rPr lang="es" sz="838">
                <a:solidFill>
                  <a:srgbClr val="383A42"/>
                </a:solidFill>
              </a:rPr>
              <a:t>(</a:t>
            </a:r>
            <a:r>
              <a:rPr lang="es" sz="838">
                <a:solidFill>
                  <a:srgbClr val="27292F"/>
                </a:solidFill>
              </a:rPr>
              <a:t>int</a:t>
            </a:r>
            <a:r>
              <a:rPr lang="es" sz="838">
                <a:solidFill>
                  <a:srgbClr val="A0A1A7"/>
                </a:solidFill>
              </a:rPr>
              <a:t> </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a</a:t>
            </a:r>
            <a:r>
              <a:rPr lang="es" sz="838">
                <a:solidFill>
                  <a:srgbClr val="0184BC"/>
                </a:solidFill>
              </a:rPr>
              <a:t>++</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void</a:t>
            </a:r>
            <a:r>
              <a:rPr lang="es" sz="838">
                <a:solidFill>
                  <a:srgbClr val="A0A1A7"/>
                </a:solidFill>
              </a:rPr>
              <a:t> </a:t>
            </a:r>
            <a:r>
              <a:rPr lang="es" sz="838">
                <a:solidFill>
                  <a:srgbClr val="4078F2"/>
                </a:solidFill>
              </a:rPr>
              <a:t>incrementar_ref</a:t>
            </a:r>
            <a:r>
              <a:rPr lang="es" sz="838">
                <a:solidFill>
                  <a:srgbClr val="383A42"/>
                </a:solidFill>
              </a:rPr>
              <a:t>(</a:t>
            </a:r>
            <a:r>
              <a:rPr lang="es" sz="838">
                <a:solidFill>
                  <a:srgbClr val="27292F"/>
                </a:solidFill>
              </a:rPr>
              <a:t>int</a:t>
            </a:r>
            <a:r>
              <a:rPr lang="es" sz="838">
                <a:solidFill>
                  <a:srgbClr val="A0A1A7"/>
                </a:solidFill>
              </a:rPr>
              <a:t> </a:t>
            </a:r>
            <a:r>
              <a:rPr lang="es" sz="838">
                <a:solidFill>
                  <a:srgbClr val="0184BC"/>
                </a:solidFill>
              </a:rPr>
              <a:t>&amp;</a:t>
            </a:r>
            <a:r>
              <a:rPr lang="es" sz="838">
                <a:solidFill>
                  <a:srgbClr val="E06C75"/>
                </a:solidFill>
              </a:rPr>
              <a:t>a</a:t>
            </a:r>
            <a:r>
              <a:rPr lang="es" sz="838">
                <a:solidFill>
                  <a:srgbClr val="383A42"/>
                </a:solidFill>
              </a:rPr>
              <a:t>)</a:t>
            </a:r>
            <a:r>
              <a:rPr lang="es" sz="838">
                <a:solidFill>
                  <a:srgbClr val="A0A1A7"/>
                </a:solidFill>
              </a:rPr>
              <a:t> </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a</a:t>
            </a:r>
            <a:r>
              <a:rPr lang="es" sz="838">
                <a:solidFill>
                  <a:srgbClr val="0184BC"/>
                </a:solidFill>
              </a:rPr>
              <a:t>++</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int</a:t>
            </a:r>
            <a:r>
              <a:rPr lang="es" sz="838">
                <a:solidFill>
                  <a:srgbClr val="A0A1A7"/>
                </a:solidFill>
              </a:rPr>
              <a:t> </a:t>
            </a:r>
            <a:r>
              <a:rPr lang="es" sz="838">
                <a:solidFill>
                  <a:srgbClr val="4078F2"/>
                </a:solidFill>
              </a:rPr>
              <a:t>main</a:t>
            </a:r>
            <a:r>
              <a:rPr lang="es" sz="838">
                <a:solidFill>
                  <a:srgbClr val="383A42"/>
                </a:solidFill>
              </a:rPr>
              <a:t>()</a:t>
            </a:r>
            <a:r>
              <a:rPr lang="es" sz="838">
                <a:solidFill>
                  <a:srgbClr val="A0A1A7"/>
                </a:solidFill>
              </a:rPr>
              <a:t> </a:t>
            </a:r>
            <a:endParaRPr sz="838">
              <a:solidFill>
                <a:srgbClr val="A0A1A7"/>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27292F"/>
                </a:solidFill>
              </a:rPr>
              <a:t>int</a:t>
            </a:r>
            <a:r>
              <a:rPr lang="es" sz="838">
                <a:solidFill>
                  <a:srgbClr val="A0A1A7"/>
                </a:solidFill>
              </a:rPr>
              <a:t> </a:t>
            </a:r>
            <a:r>
              <a:rPr lang="es" sz="838">
                <a:solidFill>
                  <a:srgbClr val="E06C75"/>
                </a:solidFill>
              </a:rPr>
              <a:t>a</a:t>
            </a:r>
            <a:r>
              <a:rPr lang="es" sz="838">
                <a:solidFill>
                  <a:srgbClr val="0184BC"/>
                </a:solidFill>
              </a:rPr>
              <a:t>=</a:t>
            </a:r>
            <a:r>
              <a:rPr lang="es" sz="838">
                <a:solidFill>
                  <a:srgbClr val="986801"/>
                </a:solidFill>
              </a:rPr>
              <a:t>3</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antes de incrementar(a):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incrementar</a:t>
            </a:r>
            <a:r>
              <a:rPr lang="es" sz="838">
                <a:solidFill>
                  <a:srgbClr val="383A42"/>
                </a:solidFill>
              </a:rPr>
              <a:t>(</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despues de incrementar(a) y antes de incrementar_ref(a):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incrementar_ref</a:t>
            </a:r>
            <a:r>
              <a:rPr lang="es" sz="838">
                <a:solidFill>
                  <a:srgbClr val="383A42"/>
                </a:solidFill>
              </a:rPr>
              <a:t>(</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despues de incrementar_ref(a):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p:txBody>
      </p:sp>
      <p:sp>
        <p:nvSpPr>
          <p:cNvPr id="111" name="Google Shape;111;p16"/>
          <p:cNvSpPr/>
          <p:nvPr/>
        </p:nvSpPr>
        <p:spPr>
          <a:xfrm>
            <a:off x="3510300" y="2213025"/>
            <a:ext cx="1237800" cy="485100"/>
          </a:xfrm>
          <a:prstGeom prst="roundRect">
            <a:avLst>
              <a:gd fmla="val 16667" name="adj"/>
            </a:avLst>
          </a:prstGeom>
          <a:noFill/>
          <a:ln cap="flat" cmpd="sng" w="19050">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12" name="Google Shape;112;p16"/>
          <p:cNvSpPr/>
          <p:nvPr/>
        </p:nvSpPr>
        <p:spPr>
          <a:xfrm>
            <a:off x="3510300" y="2723340"/>
            <a:ext cx="1505700" cy="4851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txBox="1"/>
          <p:nvPr>
            <p:ph type="title"/>
          </p:nvPr>
        </p:nvSpPr>
        <p:spPr>
          <a:xfrm>
            <a:off x="311700" y="445025"/>
            <a:ext cx="7445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¿Cómo usar un parametro “por referencia”?</a:t>
            </a:r>
            <a:endParaRPr/>
          </a:p>
        </p:txBody>
      </p:sp>
      <p:sp>
        <p:nvSpPr>
          <p:cNvPr id="118" name="Google Shape;118;p17"/>
          <p:cNvSpPr txBox="1"/>
          <p:nvPr>
            <p:ph idx="1" type="body"/>
          </p:nvPr>
        </p:nvSpPr>
        <p:spPr>
          <a:xfrm>
            <a:off x="311700" y="1152475"/>
            <a:ext cx="3061500" cy="3712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s"/>
              <a:t>Cuando utilizamos el </a:t>
            </a:r>
            <a:r>
              <a:rPr b="1" lang="es"/>
              <a:t>&amp;</a:t>
            </a:r>
            <a:r>
              <a:rPr lang="es"/>
              <a:t> en argumentos de funciones, lo que queremos decir es que </a:t>
            </a:r>
            <a:r>
              <a:rPr b="1" lang="es"/>
              <a:t>NO</a:t>
            </a:r>
            <a:r>
              <a:rPr lang="es"/>
              <a:t> se va a reservar un espacio de memoria nuevo para ese argumento, sino que vamos a </a:t>
            </a:r>
            <a:r>
              <a:rPr b="1" lang="es"/>
              <a:t>hacer referencia</a:t>
            </a:r>
            <a:r>
              <a:rPr lang="es"/>
              <a:t> a la variable que se haya utilizado en la invocación de la función.</a:t>
            </a:r>
            <a:endParaRPr/>
          </a:p>
        </p:txBody>
      </p:sp>
      <p:sp>
        <p:nvSpPr>
          <p:cNvPr id="119" name="Google Shape;119;p17"/>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20" name="Google Shape;120;p17"/>
          <p:cNvSpPr/>
          <p:nvPr/>
        </p:nvSpPr>
        <p:spPr>
          <a:xfrm rot="10800000">
            <a:off x="3352950" y="1419350"/>
            <a:ext cx="4433400" cy="3247800"/>
          </a:xfrm>
          <a:prstGeom prst="round2SameRect">
            <a:avLst>
              <a:gd fmla="val 6272" name="adj1"/>
              <a:gd fmla="val 0" name="adj2"/>
            </a:avLst>
          </a:prstGeom>
          <a:solidFill>
            <a:srgbClr val="FAFAFA"/>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21" name="Google Shape;121;p17"/>
          <p:cNvSpPr/>
          <p:nvPr/>
        </p:nvSpPr>
        <p:spPr>
          <a:xfrm rot="10800000">
            <a:off x="3352929" y="1170475"/>
            <a:ext cx="4433400" cy="249000"/>
          </a:xfrm>
          <a:prstGeom prst="round2SameRect">
            <a:avLst>
              <a:gd fmla="val 6272" name="adj1"/>
              <a:gd fmla="val 50000" name="adj2"/>
            </a:avLst>
          </a:prstGeom>
          <a:solidFill>
            <a:srgbClr val="434343"/>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22" name="Google Shape;122;p17"/>
          <p:cNvSpPr/>
          <p:nvPr/>
        </p:nvSpPr>
        <p:spPr>
          <a:xfrm>
            <a:off x="3511603" y="1234015"/>
            <a:ext cx="136200" cy="136200"/>
          </a:xfrm>
          <a:prstGeom prst="ellipse">
            <a:avLst/>
          </a:prstGeom>
          <a:solidFill>
            <a:srgbClr val="FF605C"/>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23" name="Google Shape;123;p17"/>
          <p:cNvSpPr/>
          <p:nvPr/>
        </p:nvSpPr>
        <p:spPr>
          <a:xfrm>
            <a:off x="3713214" y="1234015"/>
            <a:ext cx="136200" cy="136200"/>
          </a:xfrm>
          <a:prstGeom prst="ellipse">
            <a:avLst/>
          </a:prstGeom>
          <a:solidFill>
            <a:srgbClr val="FFBD44"/>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24" name="Google Shape;124;p17"/>
          <p:cNvSpPr/>
          <p:nvPr/>
        </p:nvSpPr>
        <p:spPr>
          <a:xfrm>
            <a:off x="3914825" y="1234015"/>
            <a:ext cx="136200" cy="136200"/>
          </a:xfrm>
          <a:prstGeom prst="ellipse">
            <a:avLst/>
          </a:prstGeom>
          <a:solidFill>
            <a:srgbClr val="00CA4E"/>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25" name="Google Shape;125;p17"/>
          <p:cNvSpPr txBox="1"/>
          <p:nvPr/>
        </p:nvSpPr>
        <p:spPr>
          <a:xfrm>
            <a:off x="3511780" y="1541043"/>
            <a:ext cx="4233600" cy="3009300"/>
          </a:xfrm>
          <a:prstGeom prst="rect">
            <a:avLst/>
          </a:prstGeom>
          <a:solidFill>
            <a:srgbClr val="FAFAFA"/>
          </a:solidFill>
          <a:ln>
            <a:noFill/>
          </a:ln>
        </p:spPr>
        <p:txBody>
          <a:bodyPr anchorCtr="0" anchor="t" bIns="69675" lIns="69675" spcFirstLastPara="1" rIns="69675" wrap="square" tIns="69675">
            <a:noAutofit/>
          </a:bodyPr>
          <a:lstStyle/>
          <a:p>
            <a:pPr indent="0" lvl="0" marL="0" rtl="0" algn="l">
              <a:spcBef>
                <a:spcPts val="0"/>
              </a:spcBef>
              <a:spcAft>
                <a:spcPts val="0"/>
              </a:spcAft>
              <a:buNone/>
            </a:pPr>
            <a:r>
              <a:rPr lang="es" sz="838">
                <a:solidFill>
                  <a:srgbClr val="383A42"/>
                </a:solidFill>
              </a:rPr>
              <a:t>#include &lt;iostream&gt;</a:t>
            </a:r>
            <a:endParaRPr sz="838">
              <a:solidFill>
                <a:srgbClr val="383A42"/>
              </a:solidFill>
            </a:endParaRPr>
          </a:p>
          <a:p>
            <a:pPr indent="0" lvl="0" marL="0" rtl="0" algn="l">
              <a:spcBef>
                <a:spcPts val="0"/>
              </a:spcBef>
              <a:spcAft>
                <a:spcPts val="0"/>
              </a:spcAft>
              <a:buNone/>
            </a:pPr>
            <a:r>
              <a:rPr lang="es" sz="838">
                <a:solidFill>
                  <a:srgbClr val="383A42"/>
                </a:solidFill>
              </a:rPr>
              <a:t>#include &lt;iomanip&gt;</a:t>
            </a:r>
            <a:endParaRPr sz="838">
              <a:solidFill>
                <a:srgbClr val="383A42"/>
              </a:solidFill>
            </a:endParaRPr>
          </a:p>
          <a:p>
            <a:pPr indent="0" lvl="0" marL="0" rtl="0" algn="l">
              <a:spcBef>
                <a:spcPts val="0"/>
              </a:spcBef>
              <a:spcAft>
                <a:spcPts val="0"/>
              </a:spcAft>
              <a:buNone/>
            </a:pPr>
            <a:r>
              <a:rPr lang="es" sz="838">
                <a:solidFill>
                  <a:srgbClr val="383A42"/>
                </a:solidFill>
              </a:rPr>
              <a:t>#include &lt;cmath&gt;</a:t>
            </a:r>
            <a:endParaRPr sz="838">
              <a:solidFill>
                <a:srgbClr val="383A42"/>
              </a:solidFill>
            </a:endParaRPr>
          </a:p>
          <a:p>
            <a:pPr indent="0" lvl="0" marL="0" rtl="0" algn="l">
              <a:spcBef>
                <a:spcPts val="0"/>
              </a:spcBef>
              <a:spcAft>
                <a:spcPts val="0"/>
              </a:spcAft>
              <a:buNone/>
            </a:pPr>
            <a:r>
              <a:rPr lang="es" sz="838">
                <a:solidFill>
                  <a:srgbClr val="A626A4"/>
                </a:solidFill>
              </a:rPr>
              <a:t>using</a:t>
            </a:r>
            <a:r>
              <a:rPr lang="es" sz="838">
                <a:solidFill>
                  <a:srgbClr val="A0A1A7"/>
                </a:solidFill>
              </a:rPr>
              <a:t> </a:t>
            </a:r>
            <a:r>
              <a:rPr lang="es" sz="838">
                <a:solidFill>
                  <a:srgbClr val="A626A4"/>
                </a:solidFill>
              </a:rPr>
              <a:t>namespace</a:t>
            </a:r>
            <a:r>
              <a:rPr lang="es" sz="838">
                <a:solidFill>
                  <a:srgbClr val="A0A1A7"/>
                </a:solidFill>
              </a:rPr>
              <a:t> </a:t>
            </a:r>
            <a:r>
              <a:rPr lang="es" sz="838">
                <a:solidFill>
                  <a:srgbClr val="4078F2"/>
                </a:solidFill>
              </a:rPr>
              <a:t>std</a:t>
            </a: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void</a:t>
            </a:r>
            <a:r>
              <a:rPr lang="es" sz="838">
                <a:solidFill>
                  <a:srgbClr val="A0A1A7"/>
                </a:solidFill>
              </a:rPr>
              <a:t> </a:t>
            </a:r>
            <a:r>
              <a:rPr lang="es" sz="838">
                <a:solidFill>
                  <a:srgbClr val="4078F2"/>
                </a:solidFill>
              </a:rPr>
              <a:t>incrementar</a:t>
            </a:r>
            <a:r>
              <a:rPr lang="es" sz="838">
                <a:solidFill>
                  <a:srgbClr val="383A42"/>
                </a:solidFill>
              </a:rPr>
              <a:t>(</a:t>
            </a:r>
            <a:r>
              <a:rPr lang="es" sz="838">
                <a:solidFill>
                  <a:srgbClr val="27292F"/>
                </a:solidFill>
              </a:rPr>
              <a:t>int</a:t>
            </a:r>
            <a:r>
              <a:rPr lang="es" sz="838">
                <a:solidFill>
                  <a:srgbClr val="A0A1A7"/>
                </a:solidFill>
              </a:rPr>
              <a:t> </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a</a:t>
            </a:r>
            <a:r>
              <a:rPr lang="es" sz="838">
                <a:solidFill>
                  <a:srgbClr val="0184BC"/>
                </a:solidFill>
              </a:rPr>
              <a:t>++</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void</a:t>
            </a:r>
            <a:r>
              <a:rPr lang="es" sz="838">
                <a:solidFill>
                  <a:srgbClr val="A0A1A7"/>
                </a:solidFill>
              </a:rPr>
              <a:t> </a:t>
            </a:r>
            <a:r>
              <a:rPr lang="es" sz="838">
                <a:solidFill>
                  <a:srgbClr val="4078F2"/>
                </a:solidFill>
              </a:rPr>
              <a:t>incrementar_ref</a:t>
            </a:r>
            <a:r>
              <a:rPr lang="es" sz="838">
                <a:solidFill>
                  <a:srgbClr val="383A42"/>
                </a:solidFill>
              </a:rPr>
              <a:t>(</a:t>
            </a:r>
            <a:r>
              <a:rPr lang="es" sz="838">
                <a:solidFill>
                  <a:srgbClr val="27292F"/>
                </a:solidFill>
              </a:rPr>
              <a:t>int</a:t>
            </a:r>
            <a:r>
              <a:rPr lang="es" sz="838">
                <a:solidFill>
                  <a:srgbClr val="A0A1A7"/>
                </a:solidFill>
              </a:rPr>
              <a:t> </a:t>
            </a:r>
            <a:r>
              <a:rPr lang="es" sz="838">
                <a:solidFill>
                  <a:srgbClr val="0184BC"/>
                </a:solidFill>
              </a:rPr>
              <a:t>&amp;</a:t>
            </a:r>
            <a:r>
              <a:rPr lang="es" sz="838">
                <a:solidFill>
                  <a:srgbClr val="E06C75"/>
                </a:solidFill>
              </a:rPr>
              <a:t>a</a:t>
            </a:r>
            <a:r>
              <a:rPr lang="es" sz="838">
                <a:solidFill>
                  <a:srgbClr val="383A42"/>
                </a:solidFill>
              </a:rPr>
              <a:t>)</a:t>
            </a:r>
            <a:r>
              <a:rPr lang="es" sz="838">
                <a:solidFill>
                  <a:srgbClr val="A0A1A7"/>
                </a:solidFill>
              </a:rPr>
              <a:t> </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a</a:t>
            </a:r>
            <a:r>
              <a:rPr lang="es" sz="838">
                <a:solidFill>
                  <a:srgbClr val="0184BC"/>
                </a:solidFill>
              </a:rPr>
              <a:t>++</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int</a:t>
            </a:r>
            <a:r>
              <a:rPr lang="es" sz="838">
                <a:solidFill>
                  <a:srgbClr val="A0A1A7"/>
                </a:solidFill>
              </a:rPr>
              <a:t> </a:t>
            </a:r>
            <a:r>
              <a:rPr lang="es" sz="838">
                <a:solidFill>
                  <a:srgbClr val="4078F2"/>
                </a:solidFill>
              </a:rPr>
              <a:t>main</a:t>
            </a:r>
            <a:r>
              <a:rPr lang="es" sz="838">
                <a:solidFill>
                  <a:srgbClr val="383A42"/>
                </a:solidFill>
              </a:rPr>
              <a:t>()</a:t>
            </a:r>
            <a:r>
              <a:rPr lang="es" sz="838">
                <a:solidFill>
                  <a:srgbClr val="A0A1A7"/>
                </a:solidFill>
              </a:rPr>
              <a:t> </a:t>
            </a:r>
            <a:endParaRPr sz="838">
              <a:solidFill>
                <a:srgbClr val="A0A1A7"/>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27292F"/>
                </a:solidFill>
              </a:rPr>
              <a:t>int</a:t>
            </a:r>
            <a:r>
              <a:rPr lang="es" sz="838">
                <a:solidFill>
                  <a:srgbClr val="A0A1A7"/>
                </a:solidFill>
              </a:rPr>
              <a:t> </a:t>
            </a:r>
            <a:r>
              <a:rPr lang="es" sz="838">
                <a:solidFill>
                  <a:srgbClr val="E06C75"/>
                </a:solidFill>
              </a:rPr>
              <a:t>a</a:t>
            </a:r>
            <a:r>
              <a:rPr lang="es" sz="838">
                <a:solidFill>
                  <a:srgbClr val="0184BC"/>
                </a:solidFill>
              </a:rPr>
              <a:t>=</a:t>
            </a:r>
            <a:r>
              <a:rPr lang="es" sz="838">
                <a:solidFill>
                  <a:srgbClr val="986801"/>
                </a:solidFill>
              </a:rPr>
              <a:t>3</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antes de incrementar(a):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incrementar</a:t>
            </a:r>
            <a:r>
              <a:rPr lang="es" sz="838">
                <a:solidFill>
                  <a:srgbClr val="383A42"/>
                </a:solidFill>
              </a:rPr>
              <a:t>(</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despues de incrementar(a) y antes de incrementar_ref(a):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incrementar_ref</a:t>
            </a:r>
            <a:r>
              <a:rPr lang="es" sz="838">
                <a:solidFill>
                  <a:srgbClr val="383A42"/>
                </a:solidFill>
              </a:rPr>
              <a:t>(</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despues de incrementar_ref(a):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p:txBody>
      </p:sp>
      <p:sp>
        <p:nvSpPr>
          <p:cNvPr id="126" name="Google Shape;126;p17"/>
          <p:cNvSpPr/>
          <p:nvPr/>
        </p:nvSpPr>
        <p:spPr>
          <a:xfrm>
            <a:off x="8520075" y="445025"/>
            <a:ext cx="4812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60000"/>
              </a:lnSpc>
              <a:spcBef>
                <a:spcPts val="0"/>
              </a:spcBef>
              <a:spcAft>
                <a:spcPts val="0"/>
              </a:spcAft>
              <a:buNone/>
            </a:pPr>
            <a:r>
              <a:rPr b="1" lang="es" sz="1000">
                <a:latin typeface="Montserrat"/>
                <a:ea typeface="Montserrat"/>
                <a:cs typeface="Montserrat"/>
                <a:sym typeface="Montserrat"/>
              </a:rPr>
              <a:t>a</a:t>
            </a:r>
            <a:endParaRPr b="1" sz="1000">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latin typeface="Montserrat"/>
              <a:ea typeface="Montserrat"/>
              <a:cs typeface="Montserrat"/>
              <a:sym typeface="Montserrat"/>
            </a:endParaRPr>
          </a:p>
          <a:p>
            <a:pPr indent="0" lvl="0" marL="0" rtl="0" algn="ctr">
              <a:lnSpc>
                <a:spcPct val="60000"/>
              </a:lnSpc>
              <a:spcBef>
                <a:spcPts val="0"/>
              </a:spcBef>
              <a:spcAft>
                <a:spcPts val="0"/>
              </a:spcAft>
              <a:buNone/>
            </a:pPr>
            <a:r>
              <a:rPr lang="es" sz="1000">
                <a:latin typeface="Montserrat"/>
                <a:ea typeface="Montserrat"/>
                <a:cs typeface="Montserrat"/>
                <a:sym typeface="Montserrat"/>
              </a:rPr>
              <a:t>3</a:t>
            </a:r>
            <a:endParaRPr sz="1000">
              <a:latin typeface="Montserrat"/>
              <a:ea typeface="Montserrat"/>
              <a:cs typeface="Montserrat"/>
              <a:sym typeface="Montserrat"/>
            </a:endParaRPr>
          </a:p>
        </p:txBody>
      </p:sp>
      <p:sp>
        <p:nvSpPr>
          <p:cNvPr id="127" name="Google Shape;127;p17"/>
          <p:cNvSpPr/>
          <p:nvPr/>
        </p:nvSpPr>
        <p:spPr>
          <a:xfrm>
            <a:off x="3510300" y="2213025"/>
            <a:ext cx="1237800" cy="485100"/>
          </a:xfrm>
          <a:prstGeom prst="roundRect">
            <a:avLst>
              <a:gd fmla="val 16667" name="adj"/>
            </a:avLst>
          </a:prstGeom>
          <a:noFill/>
          <a:ln cap="flat" cmpd="sng" w="19050">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28" name="Google Shape;128;p17"/>
          <p:cNvSpPr/>
          <p:nvPr/>
        </p:nvSpPr>
        <p:spPr>
          <a:xfrm>
            <a:off x="3510300" y="2723340"/>
            <a:ext cx="1505700" cy="4851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29" name="Google Shape;129;p17"/>
          <p:cNvSpPr/>
          <p:nvPr/>
        </p:nvSpPr>
        <p:spPr>
          <a:xfrm>
            <a:off x="3200525" y="3803725"/>
            <a:ext cx="294900" cy="103500"/>
          </a:xfrm>
          <a:prstGeom prst="homePlate">
            <a:avLst>
              <a:gd fmla="val 50000"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30" name="Google Shape;130;p17"/>
          <p:cNvSpPr/>
          <p:nvPr/>
        </p:nvSpPr>
        <p:spPr>
          <a:xfrm>
            <a:off x="3200526" y="3689724"/>
            <a:ext cx="294900" cy="103500"/>
          </a:xfrm>
          <a:prstGeom prst="homePlate">
            <a:avLst>
              <a:gd fmla="val 50000" name="adj"/>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8"/>
          <p:cNvSpPr txBox="1"/>
          <p:nvPr>
            <p:ph type="title"/>
          </p:nvPr>
        </p:nvSpPr>
        <p:spPr>
          <a:xfrm>
            <a:off x="311700" y="445025"/>
            <a:ext cx="7445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¿Cómo usar un parametro “por referencia”?</a:t>
            </a:r>
            <a:endParaRPr/>
          </a:p>
        </p:txBody>
      </p:sp>
      <p:sp>
        <p:nvSpPr>
          <p:cNvPr id="136" name="Google Shape;136;p18"/>
          <p:cNvSpPr txBox="1"/>
          <p:nvPr>
            <p:ph idx="1" type="body"/>
          </p:nvPr>
        </p:nvSpPr>
        <p:spPr>
          <a:xfrm>
            <a:off x="311700" y="1152475"/>
            <a:ext cx="3061500" cy="3712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s"/>
              <a:t>Cuando utilizamos el </a:t>
            </a:r>
            <a:r>
              <a:rPr b="1" lang="es"/>
              <a:t>&amp;</a:t>
            </a:r>
            <a:r>
              <a:rPr lang="es"/>
              <a:t> en argumentos de funciones, lo que queremos decir es que </a:t>
            </a:r>
            <a:r>
              <a:rPr b="1" lang="es"/>
              <a:t>NO</a:t>
            </a:r>
            <a:r>
              <a:rPr lang="es"/>
              <a:t> se va a reservar un espacio de memoria nuevo para ese argumento, sino que vamos a </a:t>
            </a:r>
            <a:r>
              <a:rPr b="1" lang="es"/>
              <a:t>hacer referencia</a:t>
            </a:r>
            <a:r>
              <a:rPr lang="es"/>
              <a:t> a la variable que se haya utilizado en la invocación de la función.</a:t>
            </a:r>
            <a:endParaRPr/>
          </a:p>
        </p:txBody>
      </p:sp>
      <p:sp>
        <p:nvSpPr>
          <p:cNvPr id="137" name="Google Shape;137;p18"/>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38" name="Google Shape;138;p18"/>
          <p:cNvSpPr/>
          <p:nvPr/>
        </p:nvSpPr>
        <p:spPr>
          <a:xfrm rot="10800000">
            <a:off x="3352950" y="1419350"/>
            <a:ext cx="4433400" cy="3247800"/>
          </a:xfrm>
          <a:prstGeom prst="round2SameRect">
            <a:avLst>
              <a:gd fmla="val 6272" name="adj1"/>
              <a:gd fmla="val 0" name="adj2"/>
            </a:avLst>
          </a:prstGeom>
          <a:solidFill>
            <a:srgbClr val="FAFAFA"/>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39" name="Google Shape;139;p18"/>
          <p:cNvSpPr/>
          <p:nvPr/>
        </p:nvSpPr>
        <p:spPr>
          <a:xfrm rot="10800000">
            <a:off x="3352929" y="1170475"/>
            <a:ext cx="4433400" cy="249000"/>
          </a:xfrm>
          <a:prstGeom prst="round2SameRect">
            <a:avLst>
              <a:gd fmla="val 6272" name="adj1"/>
              <a:gd fmla="val 50000" name="adj2"/>
            </a:avLst>
          </a:prstGeom>
          <a:solidFill>
            <a:srgbClr val="434343"/>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40" name="Google Shape;140;p18"/>
          <p:cNvSpPr/>
          <p:nvPr/>
        </p:nvSpPr>
        <p:spPr>
          <a:xfrm>
            <a:off x="3511603" y="1234015"/>
            <a:ext cx="136200" cy="136200"/>
          </a:xfrm>
          <a:prstGeom prst="ellipse">
            <a:avLst/>
          </a:prstGeom>
          <a:solidFill>
            <a:srgbClr val="FF605C"/>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41" name="Google Shape;141;p18"/>
          <p:cNvSpPr/>
          <p:nvPr/>
        </p:nvSpPr>
        <p:spPr>
          <a:xfrm>
            <a:off x="3713214" y="1234015"/>
            <a:ext cx="136200" cy="136200"/>
          </a:xfrm>
          <a:prstGeom prst="ellipse">
            <a:avLst/>
          </a:prstGeom>
          <a:solidFill>
            <a:srgbClr val="FFBD44"/>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42" name="Google Shape;142;p18"/>
          <p:cNvSpPr/>
          <p:nvPr/>
        </p:nvSpPr>
        <p:spPr>
          <a:xfrm>
            <a:off x="3914825" y="1234015"/>
            <a:ext cx="136200" cy="136200"/>
          </a:xfrm>
          <a:prstGeom prst="ellipse">
            <a:avLst/>
          </a:prstGeom>
          <a:solidFill>
            <a:srgbClr val="00CA4E"/>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43" name="Google Shape;143;p18"/>
          <p:cNvSpPr txBox="1"/>
          <p:nvPr/>
        </p:nvSpPr>
        <p:spPr>
          <a:xfrm>
            <a:off x="3511780" y="1541043"/>
            <a:ext cx="4233600" cy="3009300"/>
          </a:xfrm>
          <a:prstGeom prst="rect">
            <a:avLst/>
          </a:prstGeom>
          <a:solidFill>
            <a:srgbClr val="FAFAFA"/>
          </a:solidFill>
          <a:ln>
            <a:noFill/>
          </a:ln>
        </p:spPr>
        <p:txBody>
          <a:bodyPr anchorCtr="0" anchor="t" bIns="69675" lIns="69675" spcFirstLastPara="1" rIns="69675" wrap="square" tIns="69675">
            <a:noAutofit/>
          </a:bodyPr>
          <a:lstStyle/>
          <a:p>
            <a:pPr indent="0" lvl="0" marL="0" rtl="0" algn="l">
              <a:spcBef>
                <a:spcPts val="0"/>
              </a:spcBef>
              <a:spcAft>
                <a:spcPts val="0"/>
              </a:spcAft>
              <a:buNone/>
            </a:pPr>
            <a:r>
              <a:rPr lang="es" sz="838">
                <a:solidFill>
                  <a:srgbClr val="383A42"/>
                </a:solidFill>
              </a:rPr>
              <a:t>#include &lt;iostream&gt;</a:t>
            </a:r>
            <a:endParaRPr sz="838">
              <a:solidFill>
                <a:srgbClr val="383A42"/>
              </a:solidFill>
            </a:endParaRPr>
          </a:p>
          <a:p>
            <a:pPr indent="0" lvl="0" marL="0" rtl="0" algn="l">
              <a:spcBef>
                <a:spcPts val="0"/>
              </a:spcBef>
              <a:spcAft>
                <a:spcPts val="0"/>
              </a:spcAft>
              <a:buNone/>
            </a:pPr>
            <a:r>
              <a:rPr lang="es" sz="838">
                <a:solidFill>
                  <a:srgbClr val="383A42"/>
                </a:solidFill>
              </a:rPr>
              <a:t>#include &lt;iomanip&gt;</a:t>
            </a:r>
            <a:endParaRPr sz="838">
              <a:solidFill>
                <a:srgbClr val="383A42"/>
              </a:solidFill>
            </a:endParaRPr>
          </a:p>
          <a:p>
            <a:pPr indent="0" lvl="0" marL="0" rtl="0" algn="l">
              <a:spcBef>
                <a:spcPts val="0"/>
              </a:spcBef>
              <a:spcAft>
                <a:spcPts val="0"/>
              </a:spcAft>
              <a:buNone/>
            </a:pPr>
            <a:r>
              <a:rPr lang="es" sz="838">
                <a:solidFill>
                  <a:srgbClr val="383A42"/>
                </a:solidFill>
              </a:rPr>
              <a:t>#include &lt;cmath&gt;</a:t>
            </a:r>
            <a:endParaRPr sz="838">
              <a:solidFill>
                <a:srgbClr val="383A42"/>
              </a:solidFill>
            </a:endParaRPr>
          </a:p>
          <a:p>
            <a:pPr indent="0" lvl="0" marL="0" rtl="0" algn="l">
              <a:spcBef>
                <a:spcPts val="0"/>
              </a:spcBef>
              <a:spcAft>
                <a:spcPts val="0"/>
              </a:spcAft>
              <a:buNone/>
            </a:pPr>
            <a:r>
              <a:rPr lang="es" sz="838">
                <a:solidFill>
                  <a:srgbClr val="A626A4"/>
                </a:solidFill>
              </a:rPr>
              <a:t>using</a:t>
            </a:r>
            <a:r>
              <a:rPr lang="es" sz="838">
                <a:solidFill>
                  <a:srgbClr val="A0A1A7"/>
                </a:solidFill>
              </a:rPr>
              <a:t> </a:t>
            </a:r>
            <a:r>
              <a:rPr lang="es" sz="838">
                <a:solidFill>
                  <a:srgbClr val="A626A4"/>
                </a:solidFill>
              </a:rPr>
              <a:t>namespace</a:t>
            </a:r>
            <a:r>
              <a:rPr lang="es" sz="838">
                <a:solidFill>
                  <a:srgbClr val="A0A1A7"/>
                </a:solidFill>
              </a:rPr>
              <a:t> </a:t>
            </a:r>
            <a:r>
              <a:rPr lang="es" sz="838">
                <a:solidFill>
                  <a:srgbClr val="4078F2"/>
                </a:solidFill>
              </a:rPr>
              <a:t>std</a:t>
            </a: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void</a:t>
            </a:r>
            <a:r>
              <a:rPr lang="es" sz="838">
                <a:solidFill>
                  <a:srgbClr val="A0A1A7"/>
                </a:solidFill>
              </a:rPr>
              <a:t> </a:t>
            </a:r>
            <a:r>
              <a:rPr lang="es" sz="838">
                <a:solidFill>
                  <a:srgbClr val="4078F2"/>
                </a:solidFill>
              </a:rPr>
              <a:t>incrementar</a:t>
            </a:r>
            <a:r>
              <a:rPr lang="es" sz="838">
                <a:solidFill>
                  <a:srgbClr val="383A42"/>
                </a:solidFill>
              </a:rPr>
              <a:t>(</a:t>
            </a:r>
            <a:r>
              <a:rPr lang="es" sz="838">
                <a:solidFill>
                  <a:srgbClr val="27292F"/>
                </a:solidFill>
              </a:rPr>
              <a:t>int</a:t>
            </a:r>
            <a:r>
              <a:rPr lang="es" sz="838">
                <a:solidFill>
                  <a:srgbClr val="A0A1A7"/>
                </a:solidFill>
              </a:rPr>
              <a:t> </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a</a:t>
            </a:r>
            <a:r>
              <a:rPr lang="es" sz="838">
                <a:solidFill>
                  <a:srgbClr val="0184BC"/>
                </a:solidFill>
              </a:rPr>
              <a:t>++</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void</a:t>
            </a:r>
            <a:r>
              <a:rPr lang="es" sz="838">
                <a:solidFill>
                  <a:srgbClr val="A0A1A7"/>
                </a:solidFill>
              </a:rPr>
              <a:t> </a:t>
            </a:r>
            <a:r>
              <a:rPr lang="es" sz="838">
                <a:solidFill>
                  <a:srgbClr val="4078F2"/>
                </a:solidFill>
              </a:rPr>
              <a:t>incrementar_ref</a:t>
            </a:r>
            <a:r>
              <a:rPr lang="es" sz="838">
                <a:solidFill>
                  <a:srgbClr val="383A42"/>
                </a:solidFill>
              </a:rPr>
              <a:t>(</a:t>
            </a:r>
            <a:r>
              <a:rPr lang="es" sz="838">
                <a:solidFill>
                  <a:srgbClr val="27292F"/>
                </a:solidFill>
              </a:rPr>
              <a:t>int</a:t>
            </a:r>
            <a:r>
              <a:rPr lang="es" sz="838">
                <a:solidFill>
                  <a:srgbClr val="A0A1A7"/>
                </a:solidFill>
              </a:rPr>
              <a:t> </a:t>
            </a:r>
            <a:r>
              <a:rPr lang="es" sz="838">
                <a:solidFill>
                  <a:srgbClr val="0184BC"/>
                </a:solidFill>
              </a:rPr>
              <a:t>&amp;</a:t>
            </a:r>
            <a:r>
              <a:rPr lang="es" sz="838">
                <a:solidFill>
                  <a:srgbClr val="E06C75"/>
                </a:solidFill>
              </a:rPr>
              <a:t>a</a:t>
            </a:r>
            <a:r>
              <a:rPr lang="es" sz="838">
                <a:solidFill>
                  <a:srgbClr val="383A42"/>
                </a:solidFill>
              </a:rPr>
              <a:t>)</a:t>
            </a:r>
            <a:r>
              <a:rPr lang="es" sz="838">
                <a:solidFill>
                  <a:srgbClr val="A0A1A7"/>
                </a:solidFill>
              </a:rPr>
              <a:t> </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a</a:t>
            </a:r>
            <a:r>
              <a:rPr lang="es" sz="838">
                <a:solidFill>
                  <a:srgbClr val="0184BC"/>
                </a:solidFill>
              </a:rPr>
              <a:t>++</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int</a:t>
            </a:r>
            <a:r>
              <a:rPr lang="es" sz="838">
                <a:solidFill>
                  <a:srgbClr val="A0A1A7"/>
                </a:solidFill>
              </a:rPr>
              <a:t> </a:t>
            </a:r>
            <a:r>
              <a:rPr lang="es" sz="838">
                <a:solidFill>
                  <a:srgbClr val="4078F2"/>
                </a:solidFill>
              </a:rPr>
              <a:t>main</a:t>
            </a:r>
            <a:r>
              <a:rPr lang="es" sz="838">
                <a:solidFill>
                  <a:srgbClr val="383A42"/>
                </a:solidFill>
              </a:rPr>
              <a:t>()</a:t>
            </a:r>
            <a:r>
              <a:rPr lang="es" sz="838">
                <a:solidFill>
                  <a:srgbClr val="A0A1A7"/>
                </a:solidFill>
              </a:rPr>
              <a:t> </a:t>
            </a:r>
            <a:endParaRPr sz="838">
              <a:solidFill>
                <a:srgbClr val="A0A1A7"/>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27292F"/>
                </a:solidFill>
              </a:rPr>
              <a:t>int</a:t>
            </a:r>
            <a:r>
              <a:rPr lang="es" sz="838">
                <a:solidFill>
                  <a:srgbClr val="A0A1A7"/>
                </a:solidFill>
              </a:rPr>
              <a:t> </a:t>
            </a:r>
            <a:r>
              <a:rPr lang="es" sz="838">
                <a:solidFill>
                  <a:srgbClr val="E06C75"/>
                </a:solidFill>
              </a:rPr>
              <a:t>a</a:t>
            </a:r>
            <a:r>
              <a:rPr lang="es" sz="838">
                <a:solidFill>
                  <a:srgbClr val="0184BC"/>
                </a:solidFill>
              </a:rPr>
              <a:t>=</a:t>
            </a:r>
            <a:r>
              <a:rPr lang="es" sz="838">
                <a:solidFill>
                  <a:srgbClr val="986801"/>
                </a:solidFill>
              </a:rPr>
              <a:t>3</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antes de incrementar(a):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incrementar</a:t>
            </a:r>
            <a:r>
              <a:rPr lang="es" sz="838">
                <a:solidFill>
                  <a:srgbClr val="383A42"/>
                </a:solidFill>
              </a:rPr>
              <a:t>(</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despues de incrementar(a) y antes de incrementar_ref(a):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incrementar_ref</a:t>
            </a:r>
            <a:r>
              <a:rPr lang="es" sz="838">
                <a:solidFill>
                  <a:srgbClr val="383A42"/>
                </a:solidFill>
              </a:rPr>
              <a:t>(</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despues de incrementar_ref(a):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p:txBody>
      </p:sp>
      <p:sp>
        <p:nvSpPr>
          <p:cNvPr id="144" name="Google Shape;144;p18"/>
          <p:cNvSpPr/>
          <p:nvPr/>
        </p:nvSpPr>
        <p:spPr>
          <a:xfrm>
            <a:off x="8520075" y="445025"/>
            <a:ext cx="4812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60000"/>
              </a:lnSpc>
              <a:spcBef>
                <a:spcPts val="0"/>
              </a:spcBef>
              <a:spcAft>
                <a:spcPts val="0"/>
              </a:spcAft>
              <a:buNone/>
            </a:pPr>
            <a:r>
              <a:rPr b="1" lang="es" sz="1000">
                <a:latin typeface="Montserrat"/>
                <a:ea typeface="Montserrat"/>
                <a:cs typeface="Montserrat"/>
                <a:sym typeface="Montserrat"/>
              </a:rPr>
              <a:t>a</a:t>
            </a:r>
            <a:endParaRPr b="1" sz="1000">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latin typeface="Montserrat"/>
              <a:ea typeface="Montserrat"/>
              <a:cs typeface="Montserrat"/>
              <a:sym typeface="Montserrat"/>
            </a:endParaRPr>
          </a:p>
          <a:p>
            <a:pPr indent="0" lvl="0" marL="0" rtl="0" algn="ctr">
              <a:lnSpc>
                <a:spcPct val="60000"/>
              </a:lnSpc>
              <a:spcBef>
                <a:spcPts val="0"/>
              </a:spcBef>
              <a:spcAft>
                <a:spcPts val="0"/>
              </a:spcAft>
              <a:buNone/>
            </a:pPr>
            <a:r>
              <a:rPr lang="es" sz="1000">
                <a:latin typeface="Montserrat"/>
                <a:ea typeface="Montserrat"/>
                <a:cs typeface="Montserrat"/>
                <a:sym typeface="Montserrat"/>
              </a:rPr>
              <a:t>3</a:t>
            </a:r>
            <a:endParaRPr sz="1000">
              <a:latin typeface="Montserrat"/>
              <a:ea typeface="Montserrat"/>
              <a:cs typeface="Montserrat"/>
              <a:sym typeface="Montserrat"/>
            </a:endParaRPr>
          </a:p>
        </p:txBody>
      </p:sp>
      <p:sp>
        <p:nvSpPr>
          <p:cNvPr id="145" name="Google Shape;145;p18"/>
          <p:cNvSpPr/>
          <p:nvPr/>
        </p:nvSpPr>
        <p:spPr>
          <a:xfrm>
            <a:off x="3510300" y="2213025"/>
            <a:ext cx="1237800" cy="485100"/>
          </a:xfrm>
          <a:prstGeom prst="roundRect">
            <a:avLst>
              <a:gd fmla="val 16667" name="adj"/>
            </a:avLst>
          </a:prstGeom>
          <a:noFill/>
          <a:ln cap="flat" cmpd="sng" w="19050">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6" name="Google Shape;146;p18"/>
          <p:cNvSpPr/>
          <p:nvPr/>
        </p:nvSpPr>
        <p:spPr>
          <a:xfrm>
            <a:off x="3510300" y="2723340"/>
            <a:ext cx="1505700" cy="4851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7" name="Google Shape;147;p18"/>
          <p:cNvSpPr/>
          <p:nvPr/>
        </p:nvSpPr>
        <p:spPr>
          <a:xfrm>
            <a:off x="3200525" y="3803725"/>
            <a:ext cx="294900" cy="103500"/>
          </a:xfrm>
          <a:prstGeom prst="homePlate">
            <a:avLst>
              <a:gd fmla="val 50000"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8" name="Google Shape;148;p18"/>
          <p:cNvSpPr/>
          <p:nvPr/>
        </p:nvSpPr>
        <p:spPr>
          <a:xfrm>
            <a:off x="3200526" y="3689724"/>
            <a:ext cx="294900" cy="103500"/>
          </a:xfrm>
          <a:prstGeom prst="homePlate">
            <a:avLst>
              <a:gd fmla="val 50000" name="adj"/>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9" name="Google Shape;149;p18"/>
          <p:cNvSpPr/>
          <p:nvPr/>
        </p:nvSpPr>
        <p:spPr>
          <a:xfrm>
            <a:off x="3200525" y="2374133"/>
            <a:ext cx="294900" cy="103500"/>
          </a:xfrm>
          <a:prstGeom prst="homePlate">
            <a:avLst>
              <a:gd fmla="val 50000"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0" name="Google Shape;150;p18"/>
          <p:cNvSpPr/>
          <p:nvPr/>
        </p:nvSpPr>
        <p:spPr>
          <a:xfrm>
            <a:off x="3200526" y="2260131"/>
            <a:ext cx="294900" cy="103500"/>
          </a:xfrm>
          <a:prstGeom prst="homePlate">
            <a:avLst>
              <a:gd fmla="val 50000" name="adj"/>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1" name="Google Shape;151;p18"/>
          <p:cNvSpPr/>
          <p:nvPr/>
        </p:nvSpPr>
        <p:spPr>
          <a:xfrm>
            <a:off x="8520075" y="1071550"/>
            <a:ext cx="481200" cy="572700"/>
          </a:xfrm>
          <a:prstGeom prst="roundRect">
            <a:avLst>
              <a:gd fmla="val 16667" name="adj"/>
            </a:avLst>
          </a:prstGeom>
          <a:solidFill>
            <a:srgbClr val="50A14F"/>
          </a:solidFill>
          <a:ln cap="flat" cmpd="sng" w="28575">
            <a:solidFill>
              <a:srgbClr val="188038"/>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60000"/>
              </a:lnSpc>
              <a:spcBef>
                <a:spcPts val="0"/>
              </a:spcBef>
              <a:spcAft>
                <a:spcPts val="0"/>
              </a:spcAft>
              <a:buNone/>
            </a:pPr>
            <a:r>
              <a:rPr b="1" lang="es" sz="1000">
                <a:solidFill>
                  <a:schemeClr val="lt1"/>
                </a:solidFill>
                <a:latin typeface="Montserrat"/>
                <a:ea typeface="Montserrat"/>
                <a:cs typeface="Montserrat"/>
                <a:sym typeface="Montserrat"/>
              </a:rPr>
              <a:t>a</a:t>
            </a:r>
            <a:endParaRPr b="1" sz="1000">
              <a:solidFill>
                <a:schemeClr val="lt1"/>
              </a:solidFill>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solidFill>
                <a:schemeClr val="lt1"/>
              </a:solidFill>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solidFill>
                <a:schemeClr val="lt1"/>
              </a:solidFill>
              <a:latin typeface="Montserrat"/>
              <a:ea typeface="Montserrat"/>
              <a:cs typeface="Montserrat"/>
              <a:sym typeface="Montserrat"/>
            </a:endParaRPr>
          </a:p>
          <a:p>
            <a:pPr indent="0" lvl="0" marL="0" rtl="0" algn="ctr">
              <a:lnSpc>
                <a:spcPct val="60000"/>
              </a:lnSpc>
              <a:spcBef>
                <a:spcPts val="0"/>
              </a:spcBef>
              <a:spcAft>
                <a:spcPts val="0"/>
              </a:spcAft>
              <a:buNone/>
            </a:pPr>
            <a:r>
              <a:rPr lang="es" sz="1000">
                <a:solidFill>
                  <a:schemeClr val="lt1"/>
                </a:solidFill>
                <a:latin typeface="Montserrat"/>
                <a:ea typeface="Montserrat"/>
                <a:cs typeface="Montserrat"/>
                <a:sym typeface="Montserrat"/>
              </a:rPr>
              <a:t>3</a:t>
            </a:r>
            <a:endParaRPr sz="1000">
              <a:solidFill>
                <a:schemeClr val="lt1"/>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9"/>
          <p:cNvSpPr txBox="1"/>
          <p:nvPr>
            <p:ph type="title"/>
          </p:nvPr>
        </p:nvSpPr>
        <p:spPr>
          <a:xfrm>
            <a:off x="311700" y="445025"/>
            <a:ext cx="7445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¿Cómo usar un parametro “por referencia”?</a:t>
            </a:r>
            <a:endParaRPr/>
          </a:p>
        </p:txBody>
      </p:sp>
      <p:sp>
        <p:nvSpPr>
          <p:cNvPr id="157" name="Google Shape;157;p19"/>
          <p:cNvSpPr txBox="1"/>
          <p:nvPr>
            <p:ph idx="1" type="body"/>
          </p:nvPr>
        </p:nvSpPr>
        <p:spPr>
          <a:xfrm>
            <a:off x="311700" y="1152475"/>
            <a:ext cx="3061500" cy="3712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s"/>
              <a:t>Cuando utilizamos el </a:t>
            </a:r>
            <a:r>
              <a:rPr b="1" lang="es"/>
              <a:t>&amp;</a:t>
            </a:r>
            <a:r>
              <a:rPr lang="es"/>
              <a:t> en argumentos de funciones, lo que queremos decir es que </a:t>
            </a:r>
            <a:r>
              <a:rPr b="1" lang="es"/>
              <a:t>NO</a:t>
            </a:r>
            <a:r>
              <a:rPr lang="es"/>
              <a:t> se va a reservar un espacio de memoria nuevo para ese argumento, sino que vamos a </a:t>
            </a:r>
            <a:r>
              <a:rPr b="1" lang="es"/>
              <a:t>hacer referencia</a:t>
            </a:r>
            <a:r>
              <a:rPr lang="es"/>
              <a:t> a la variable que se haya utilizado en la invocación de la función.</a:t>
            </a:r>
            <a:endParaRPr/>
          </a:p>
        </p:txBody>
      </p:sp>
      <p:sp>
        <p:nvSpPr>
          <p:cNvPr id="158" name="Google Shape;158;p19"/>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59" name="Google Shape;159;p19"/>
          <p:cNvSpPr/>
          <p:nvPr/>
        </p:nvSpPr>
        <p:spPr>
          <a:xfrm rot="10800000">
            <a:off x="3352950" y="1419350"/>
            <a:ext cx="4433400" cy="3247800"/>
          </a:xfrm>
          <a:prstGeom prst="round2SameRect">
            <a:avLst>
              <a:gd fmla="val 6272" name="adj1"/>
              <a:gd fmla="val 0" name="adj2"/>
            </a:avLst>
          </a:prstGeom>
          <a:solidFill>
            <a:srgbClr val="FAFAFA"/>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60" name="Google Shape;160;p19"/>
          <p:cNvSpPr/>
          <p:nvPr/>
        </p:nvSpPr>
        <p:spPr>
          <a:xfrm rot="10800000">
            <a:off x="3352929" y="1170475"/>
            <a:ext cx="4433400" cy="249000"/>
          </a:xfrm>
          <a:prstGeom prst="round2SameRect">
            <a:avLst>
              <a:gd fmla="val 6272" name="adj1"/>
              <a:gd fmla="val 50000" name="adj2"/>
            </a:avLst>
          </a:prstGeom>
          <a:solidFill>
            <a:srgbClr val="434343"/>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61" name="Google Shape;161;p19"/>
          <p:cNvSpPr/>
          <p:nvPr/>
        </p:nvSpPr>
        <p:spPr>
          <a:xfrm>
            <a:off x="3511603" y="1234015"/>
            <a:ext cx="136200" cy="136200"/>
          </a:xfrm>
          <a:prstGeom prst="ellipse">
            <a:avLst/>
          </a:prstGeom>
          <a:solidFill>
            <a:srgbClr val="FF605C"/>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62" name="Google Shape;162;p19"/>
          <p:cNvSpPr/>
          <p:nvPr/>
        </p:nvSpPr>
        <p:spPr>
          <a:xfrm>
            <a:off x="3713214" y="1234015"/>
            <a:ext cx="136200" cy="136200"/>
          </a:xfrm>
          <a:prstGeom prst="ellipse">
            <a:avLst/>
          </a:prstGeom>
          <a:solidFill>
            <a:srgbClr val="FFBD44"/>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63" name="Google Shape;163;p19"/>
          <p:cNvSpPr/>
          <p:nvPr/>
        </p:nvSpPr>
        <p:spPr>
          <a:xfrm>
            <a:off x="3914825" y="1234015"/>
            <a:ext cx="136200" cy="136200"/>
          </a:xfrm>
          <a:prstGeom prst="ellipse">
            <a:avLst/>
          </a:prstGeom>
          <a:solidFill>
            <a:srgbClr val="00CA4E"/>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64" name="Google Shape;164;p19"/>
          <p:cNvSpPr txBox="1"/>
          <p:nvPr/>
        </p:nvSpPr>
        <p:spPr>
          <a:xfrm>
            <a:off x="3511780" y="1541043"/>
            <a:ext cx="4233600" cy="3009300"/>
          </a:xfrm>
          <a:prstGeom prst="rect">
            <a:avLst/>
          </a:prstGeom>
          <a:solidFill>
            <a:srgbClr val="FAFAFA"/>
          </a:solidFill>
          <a:ln>
            <a:noFill/>
          </a:ln>
        </p:spPr>
        <p:txBody>
          <a:bodyPr anchorCtr="0" anchor="t" bIns="69675" lIns="69675" spcFirstLastPara="1" rIns="69675" wrap="square" tIns="69675">
            <a:noAutofit/>
          </a:bodyPr>
          <a:lstStyle/>
          <a:p>
            <a:pPr indent="0" lvl="0" marL="0" rtl="0" algn="l">
              <a:spcBef>
                <a:spcPts val="0"/>
              </a:spcBef>
              <a:spcAft>
                <a:spcPts val="0"/>
              </a:spcAft>
              <a:buNone/>
            </a:pPr>
            <a:r>
              <a:rPr lang="es" sz="838">
                <a:solidFill>
                  <a:srgbClr val="383A42"/>
                </a:solidFill>
              </a:rPr>
              <a:t>#include &lt;iostream&gt;</a:t>
            </a:r>
            <a:endParaRPr sz="838">
              <a:solidFill>
                <a:srgbClr val="383A42"/>
              </a:solidFill>
            </a:endParaRPr>
          </a:p>
          <a:p>
            <a:pPr indent="0" lvl="0" marL="0" rtl="0" algn="l">
              <a:spcBef>
                <a:spcPts val="0"/>
              </a:spcBef>
              <a:spcAft>
                <a:spcPts val="0"/>
              </a:spcAft>
              <a:buNone/>
            </a:pPr>
            <a:r>
              <a:rPr lang="es" sz="838">
                <a:solidFill>
                  <a:srgbClr val="383A42"/>
                </a:solidFill>
              </a:rPr>
              <a:t>#include &lt;iomanip&gt;</a:t>
            </a:r>
            <a:endParaRPr sz="838">
              <a:solidFill>
                <a:srgbClr val="383A42"/>
              </a:solidFill>
            </a:endParaRPr>
          </a:p>
          <a:p>
            <a:pPr indent="0" lvl="0" marL="0" rtl="0" algn="l">
              <a:spcBef>
                <a:spcPts val="0"/>
              </a:spcBef>
              <a:spcAft>
                <a:spcPts val="0"/>
              </a:spcAft>
              <a:buNone/>
            </a:pPr>
            <a:r>
              <a:rPr lang="es" sz="838">
                <a:solidFill>
                  <a:srgbClr val="383A42"/>
                </a:solidFill>
              </a:rPr>
              <a:t>#include &lt;cmath&gt;</a:t>
            </a:r>
            <a:endParaRPr sz="838">
              <a:solidFill>
                <a:srgbClr val="383A42"/>
              </a:solidFill>
            </a:endParaRPr>
          </a:p>
          <a:p>
            <a:pPr indent="0" lvl="0" marL="0" rtl="0" algn="l">
              <a:spcBef>
                <a:spcPts val="0"/>
              </a:spcBef>
              <a:spcAft>
                <a:spcPts val="0"/>
              </a:spcAft>
              <a:buNone/>
            </a:pPr>
            <a:r>
              <a:rPr lang="es" sz="838">
                <a:solidFill>
                  <a:srgbClr val="A626A4"/>
                </a:solidFill>
              </a:rPr>
              <a:t>using</a:t>
            </a:r>
            <a:r>
              <a:rPr lang="es" sz="838">
                <a:solidFill>
                  <a:srgbClr val="A0A1A7"/>
                </a:solidFill>
              </a:rPr>
              <a:t> </a:t>
            </a:r>
            <a:r>
              <a:rPr lang="es" sz="838">
                <a:solidFill>
                  <a:srgbClr val="A626A4"/>
                </a:solidFill>
              </a:rPr>
              <a:t>namespace</a:t>
            </a:r>
            <a:r>
              <a:rPr lang="es" sz="838">
                <a:solidFill>
                  <a:srgbClr val="A0A1A7"/>
                </a:solidFill>
              </a:rPr>
              <a:t> </a:t>
            </a:r>
            <a:r>
              <a:rPr lang="es" sz="838">
                <a:solidFill>
                  <a:srgbClr val="4078F2"/>
                </a:solidFill>
              </a:rPr>
              <a:t>std</a:t>
            </a: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void</a:t>
            </a:r>
            <a:r>
              <a:rPr lang="es" sz="838">
                <a:solidFill>
                  <a:srgbClr val="A0A1A7"/>
                </a:solidFill>
              </a:rPr>
              <a:t> </a:t>
            </a:r>
            <a:r>
              <a:rPr lang="es" sz="838">
                <a:solidFill>
                  <a:srgbClr val="4078F2"/>
                </a:solidFill>
              </a:rPr>
              <a:t>incrementar</a:t>
            </a:r>
            <a:r>
              <a:rPr lang="es" sz="838">
                <a:solidFill>
                  <a:srgbClr val="383A42"/>
                </a:solidFill>
              </a:rPr>
              <a:t>(</a:t>
            </a:r>
            <a:r>
              <a:rPr lang="es" sz="838">
                <a:solidFill>
                  <a:srgbClr val="27292F"/>
                </a:solidFill>
              </a:rPr>
              <a:t>int</a:t>
            </a:r>
            <a:r>
              <a:rPr lang="es" sz="838">
                <a:solidFill>
                  <a:srgbClr val="A0A1A7"/>
                </a:solidFill>
              </a:rPr>
              <a:t> </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a</a:t>
            </a:r>
            <a:r>
              <a:rPr lang="es" sz="838">
                <a:solidFill>
                  <a:srgbClr val="0184BC"/>
                </a:solidFill>
              </a:rPr>
              <a:t>++</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void</a:t>
            </a:r>
            <a:r>
              <a:rPr lang="es" sz="838">
                <a:solidFill>
                  <a:srgbClr val="A0A1A7"/>
                </a:solidFill>
              </a:rPr>
              <a:t> </a:t>
            </a:r>
            <a:r>
              <a:rPr lang="es" sz="838">
                <a:solidFill>
                  <a:srgbClr val="4078F2"/>
                </a:solidFill>
              </a:rPr>
              <a:t>incrementar_ref</a:t>
            </a:r>
            <a:r>
              <a:rPr lang="es" sz="838">
                <a:solidFill>
                  <a:srgbClr val="383A42"/>
                </a:solidFill>
              </a:rPr>
              <a:t>(</a:t>
            </a:r>
            <a:r>
              <a:rPr lang="es" sz="838">
                <a:solidFill>
                  <a:srgbClr val="27292F"/>
                </a:solidFill>
              </a:rPr>
              <a:t>int</a:t>
            </a:r>
            <a:r>
              <a:rPr lang="es" sz="838">
                <a:solidFill>
                  <a:srgbClr val="A0A1A7"/>
                </a:solidFill>
              </a:rPr>
              <a:t> </a:t>
            </a:r>
            <a:r>
              <a:rPr lang="es" sz="838">
                <a:solidFill>
                  <a:srgbClr val="0184BC"/>
                </a:solidFill>
              </a:rPr>
              <a:t>&amp;</a:t>
            </a:r>
            <a:r>
              <a:rPr lang="es" sz="838">
                <a:solidFill>
                  <a:srgbClr val="E06C75"/>
                </a:solidFill>
              </a:rPr>
              <a:t>a</a:t>
            </a:r>
            <a:r>
              <a:rPr lang="es" sz="838">
                <a:solidFill>
                  <a:srgbClr val="383A42"/>
                </a:solidFill>
              </a:rPr>
              <a:t>)</a:t>
            </a:r>
            <a:r>
              <a:rPr lang="es" sz="838">
                <a:solidFill>
                  <a:srgbClr val="A0A1A7"/>
                </a:solidFill>
              </a:rPr>
              <a:t> </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a</a:t>
            </a:r>
            <a:r>
              <a:rPr lang="es" sz="838">
                <a:solidFill>
                  <a:srgbClr val="0184BC"/>
                </a:solidFill>
              </a:rPr>
              <a:t>++</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int</a:t>
            </a:r>
            <a:r>
              <a:rPr lang="es" sz="838">
                <a:solidFill>
                  <a:srgbClr val="A0A1A7"/>
                </a:solidFill>
              </a:rPr>
              <a:t> </a:t>
            </a:r>
            <a:r>
              <a:rPr lang="es" sz="838">
                <a:solidFill>
                  <a:srgbClr val="4078F2"/>
                </a:solidFill>
              </a:rPr>
              <a:t>main</a:t>
            </a:r>
            <a:r>
              <a:rPr lang="es" sz="838">
                <a:solidFill>
                  <a:srgbClr val="383A42"/>
                </a:solidFill>
              </a:rPr>
              <a:t>()</a:t>
            </a:r>
            <a:r>
              <a:rPr lang="es" sz="838">
                <a:solidFill>
                  <a:srgbClr val="A0A1A7"/>
                </a:solidFill>
              </a:rPr>
              <a:t> </a:t>
            </a:r>
            <a:endParaRPr sz="838">
              <a:solidFill>
                <a:srgbClr val="A0A1A7"/>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27292F"/>
                </a:solidFill>
              </a:rPr>
              <a:t>int</a:t>
            </a:r>
            <a:r>
              <a:rPr lang="es" sz="838">
                <a:solidFill>
                  <a:srgbClr val="A0A1A7"/>
                </a:solidFill>
              </a:rPr>
              <a:t> </a:t>
            </a:r>
            <a:r>
              <a:rPr lang="es" sz="838">
                <a:solidFill>
                  <a:srgbClr val="E06C75"/>
                </a:solidFill>
              </a:rPr>
              <a:t>a</a:t>
            </a:r>
            <a:r>
              <a:rPr lang="es" sz="838">
                <a:solidFill>
                  <a:srgbClr val="0184BC"/>
                </a:solidFill>
              </a:rPr>
              <a:t>=</a:t>
            </a:r>
            <a:r>
              <a:rPr lang="es" sz="838">
                <a:solidFill>
                  <a:srgbClr val="986801"/>
                </a:solidFill>
              </a:rPr>
              <a:t>3</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antes de incrementar(a):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incrementar</a:t>
            </a:r>
            <a:r>
              <a:rPr lang="es" sz="838">
                <a:solidFill>
                  <a:srgbClr val="383A42"/>
                </a:solidFill>
              </a:rPr>
              <a:t>(</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despues de incrementar(a) y antes de incrementar_ref(a):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incrementar_ref</a:t>
            </a:r>
            <a:r>
              <a:rPr lang="es" sz="838">
                <a:solidFill>
                  <a:srgbClr val="383A42"/>
                </a:solidFill>
              </a:rPr>
              <a:t>(</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despues de incrementar_ref(a):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p:txBody>
      </p:sp>
      <p:sp>
        <p:nvSpPr>
          <p:cNvPr id="165" name="Google Shape;165;p19"/>
          <p:cNvSpPr/>
          <p:nvPr/>
        </p:nvSpPr>
        <p:spPr>
          <a:xfrm>
            <a:off x="8520075" y="445025"/>
            <a:ext cx="4812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60000"/>
              </a:lnSpc>
              <a:spcBef>
                <a:spcPts val="0"/>
              </a:spcBef>
              <a:spcAft>
                <a:spcPts val="0"/>
              </a:spcAft>
              <a:buNone/>
            </a:pPr>
            <a:r>
              <a:rPr b="1" lang="es" sz="1000">
                <a:latin typeface="Montserrat"/>
                <a:ea typeface="Montserrat"/>
                <a:cs typeface="Montserrat"/>
                <a:sym typeface="Montserrat"/>
              </a:rPr>
              <a:t>a</a:t>
            </a:r>
            <a:endParaRPr b="1" sz="1000">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latin typeface="Montserrat"/>
              <a:ea typeface="Montserrat"/>
              <a:cs typeface="Montserrat"/>
              <a:sym typeface="Montserrat"/>
            </a:endParaRPr>
          </a:p>
          <a:p>
            <a:pPr indent="0" lvl="0" marL="0" rtl="0" algn="ctr">
              <a:lnSpc>
                <a:spcPct val="60000"/>
              </a:lnSpc>
              <a:spcBef>
                <a:spcPts val="0"/>
              </a:spcBef>
              <a:spcAft>
                <a:spcPts val="0"/>
              </a:spcAft>
              <a:buNone/>
            </a:pPr>
            <a:r>
              <a:rPr lang="es" sz="1000">
                <a:latin typeface="Montserrat"/>
                <a:ea typeface="Montserrat"/>
                <a:cs typeface="Montserrat"/>
                <a:sym typeface="Montserrat"/>
              </a:rPr>
              <a:t>3</a:t>
            </a:r>
            <a:endParaRPr sz="1000">
              <a:latin typeface="Montserrat"/>
              <a:ea typeface="Montserrat"/>
              <a:cs typeface="Montserrat"/>
              <a:sym typeface="Montserrat"/>
            </a:endParaRPr>
          </a:p>
        </p:txBody>
      </p:sp>
      <p:sp>
        <p:nvSpPr>
          <p:cNvPr id="166" name="Google Shape;166;p19"/>
          <p:cNvSpPr/>
          <p:nvPr/>
        </p:nvSpPr>
        <p:spPr>
          <a:xfrm>
            <a:off x="3510300" y="2213025"/>
            <a:ext cx="1237800" cy="485100"/>
          </a:xfrm>
          <a:prstGeom prst="roundRect">
            <a:avLst>
              <a:gd fmla="val 16667" name="adj"/>
            </a:avLst>
          </a:prstGeom>
          <a:noFill/>
          <a:ln cap="flat" cmpd="sng" w="19050">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67" name="Google Shape;167;p19"/>
          <p:cNvSpPr/>
          <p:nvPr/>
        </p:nvSpPr>
        <p:spPr>
          <a:xfrm>
            <a:off x="3510300" y="2723340"/>
            <a:ext cx="1505700" cy="4851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68" name="Google Shape;168;p19"/>
          <p:cNvSpPr/>
          <p:nvPr/>
        </p:nvSpPr>
        <p:spPr>
          <a:xfrm>
            <a:off x="3200525" y="3803725"/>
            <a:ext cx="294900" cy="103500"/>
          </a:xfrm>
          <a:prstGeom prst="homePlate">
            <a:avLst>
              <a:gd fmla="val 50000"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69" name="Google Shape;169;p19"/>
          <p:cNvSpPr/>
          <p:nvPr/>
        </p:nvSpPr>
        <p:spPr>
          <a:xfrm>
            <a:off x="3200526" y="3689724"/>
            <a:ext cx="294900" cy="103500"/>
          </a:xfrm>
          <a:prstGeom prst="homePlate">
            <a:avLst>
              <a:gd fmla="val 50000" name="adj"/>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70" name="Google Shape;170;p19"/>
          <p:cNvSpPr/>
          <p:nvPr/>
        </p:nvSpPr>
        <p:spPr>
          <a:xfrm>
            <a:off x="3200525" y="2521480"/>
            <a:ext cx="294900" cy="103500"/>
          </a:xfrm>
          <a:prstGeom prst="homePlate">
            <a:avLst>
              <a:gd fmla="val 50000"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71" name="Google Shape;171;p19"/>
          <p:cNvSpPr/>
          <p:nvPr/>
        </p:nvSpPr>
        <p:spPr>
          <a:xfrm>
            <a:off x="3200526" y="2407479"/>
            <a:ext cx="294900" cy="103500"/>
          </a:xfrm>
          <a:prstGeom prst="homePlate">
            <a:avLst>
              <a:gd fmla="val 50000" name="adj"/>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72" name="Google Shape;172;p19"/>
          <p:cNvSpPr/>
          <p:nvPr/>
        </p:nvSpPr>
        <p:spPr>
          <a:xfrm>
            <a:off x="8520075" y="1071550"/>
            <a:ext cx="481200" cy="572700"/>
          </a:xfrm>
          <a:prstGeom prst="roundRect">
            <a:avLst>
              <a:gd fmla="val 16667" name="adj"/>
            </a:avLst>
          </a:prstGeom>
          <a:solidFill>
            <a:srgbClr val="50A14F"/>
          </a:solidFill>
          <a:ln cap="flat" cmpd="sng" w="28575">
            <a:solidFill>
              <a:srgbClr val="188038"/>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60000"/>
              </a:lnSpc>
              <a:spcBef>
                <a:spcPts val="0"/>
              </a:spcBef>
              <a:spcAft>
                <a:spcPts val="0"/>
              </a:spcAft>
              <a:buNone/>
            </a:pPr>
            <a:r>
              <a:rPr b="1" lang="es" sz="1000">
                <a:solidFill>
                  <a:schemeClr val="lt1"/>
                </a:solidFill>
                <a:latin typeface="Montserrat"/>
                <a:ea typeface="Montserrat"/>
                <a:cs typeface="Montserrat"/>
                <a:sym typeface="Montserrat"/>
              </a:rPr>
              <a:t>a</a:t>
            </a:r>
            <a:endParaRPr b="1" sz="1000">
              <a:solidFill>
                <a:schemeClr val="lt1"/>
              </a:solidFill>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solidFill>
                <a:schemeClr val="lt1"/>
              </a:solidFill>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solidFill>
                <a:schemeClr val="lt1"/>
              </a:solidFill>
              <a:latin typeface="Montserrat"/>
              <a:ea typeface="Montserrat"/>
              <a:cs typeface="Montserrat"/>
              <a:sym typeface="Montserrat"/>
            </a:endParaRPr>
          </a:p>
          <a:p>
            <a:pPr indent="0" lvl="0" marL="0" rtl="0" algn="ctr">
              <a:lnSpc>
                <a:spcPct val="60000"/>
              </a:lnSpc>
              <a:spcBef>
                <a:spcPts val="0"/>
              </a:spcBef>
              <a:spcAft>
                <a:spcPts val="0"/>
              </a:spcAft>
              <a:buNone/>
            </a:pPr>
            <a:r>
              <a:rPr lang="es" sz="1000">
                <a:solidFill>
                  <a:schemeClr val="lt1"/>
                </a:solidFill>
                <a:latin typeface="Montserrat"/>
                <a:ea typeface="Montserrat"/>
                <a:cs typeface="Montserrat"/>
                <a:sym typeface="Montserrat"/>
              </a:rPr>
              <a:t>4</a:t>
            </a:r>
            <a:endParaRPr sz="1000">
              <a:solidFill>
                <a:schemeClr val="lt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txBox="1"/>
          <p:nvPr>
            <p:ph type="title"/>
          </p:nvPr>
        </p:nvSpPr>
        <p:spPr>
          <a:xfrm>
            <a:off x="311700" y="445025"/>
            <a:ext cx="7445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¿Cómo usar un parametro “por referencia”?</a:t>
            </a:r>
            <a:endParaRPr/>
          </a:p>
        </p:txBody>
      </p:sp>
      <p:sp>
        <p:nvSpPr>
          <p:cNvPr id="178" name="Google Shape;178;p20"/>
          <p:cNvSpPr txBox="1"/>
          <p:nvPr>
            <p:ph idx="1" type="body"/>
          </p:nvPr>
        </p:nvSpPr>
        <p:spPr>
          <a:xfrm>
            <a:off x="311700" y="1152475"/>
            <a:ext cx="3061500" cy="3712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s"/>
              <a:t>Cuando utilizamos el </a:t>
            </a:r>
            <a:r>
              <a:rPr b="1" lang="es"/>
              <a:t>&amp;</a:t>
            </a:r>
            <a:r>
              <a:rPr lang="es"/>
              <a:t> en argumentos de funciones, lo que queremos decir es que </a:t>
            </a:r>
            <a:r>
              <a:rPr b="1" lang="es"/>
              <a:t>NO</a:t>
            </a:r>
            <a:r>
              <a:rPr lang="es"/>
              <a:t> se va a reservar un espacio de memoria nuevo para ese argumento, sino que vamos a </a:t>
            </a:r>
            <a:r>
              <a:rPr b="1" lang="es"/>
              <a:t>hacer referencia</a:t>
            </a:r>
            <a:r>
              <a:rPr lang="es"/>
              <a:t> a la variable que se haya utilizado en la invocación de la función.</a:t>
            </a:r>
            <a:endParaRPr/>
          </a:p>
        </p:txBody>
      </p:sp>
      <p:sp>
        <p:nvSpPr>
          <p:cNvPr id="179" name="Google Shape;179;p20"/>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80" name="Google Shape;180;p20"/>
          <p:cNvSpPr/>
          <p:nvPr/>
        </p:nvSpPr>
        <p:spPr>
          <a:xfrm rot="10800000">
            <a:off x="3352950" y="1419350"/>
            <a:ext cx="4433400" cy="3247800"/>
          </a:xfrm>
          <a:prstGeom prst="round2SameRect">
            <a:avLst>
              <a:gd fmla="val 6272" name="adj1"/>
              <a:gd fmla="val 0" name="adj2"/>
            </a:avLst>
          </a:prstGeom>
          <a:solidFill>
            <a:srgbClr val="FAFAFA"/>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81" name="Google Shape;181;p20"/>
          <p:cNvSpPr/>
          <p:nvPr/>
        </p:nvSpPr>
        <p:spPr>
          <a:xfrm rot="10800000">
            <a:off x="3352929" y="1170475"/>
            <a:ext cx="4433400" cy="249000"/>
          </a:xfrm>
          <a:prstGeom prst="round2SameRect">
            <a:avLst>
              <a:gd fmla="val 6272" name="adj1"/>
              <a:gd fmla="val 50000" name="adj2"/>
            </a:avLst>
          </a:prstGeom>
          <a:solidFill>
            <a:srgbClr val="434343"/>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82" name="Google Shape;182;p20"/>
          <p:cNvSpPr/>
          <p:nvPr/>
        </p:nvSpPr>
        <p:spPr>
          <a:xfrm>
            <a:off x="3511603" y="1234015"/>
            <a:ext cx="136200" cy="136200"/>
          </a:xfrm>
          <a:prstGeom prst="ellipse">
            <a:avLst/>
          </a:prstGeom>
          <a:solidFill>
            <a:srgbClr val="FF605C"/>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83" name="Google Shape;183;p20"/>
          <p:cNvSpPr/>
          <p:nvPr/>
        </p:nvSpPr>
        <p:spPr>
          <a:xfrm>
            <a:off x="3713214" y="1234015"/>
            <a:ext cx="136200" cy="136200"/>
          </a:xfrm>
          <a:prstGeom prst="ellipse">
            <a:avLst/>
          </a:prstGeom>
          <a:solidFill>
            <a:srgbClr val="FFBD44"/>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84" name="Google Shape;184;p20"/>
          <p:cNvSpPr/>
          <p:nvPr/>
        </p:nvSpPr>
        <p:spPr>
          <a:xfrm>
            <a:off x="3914825" y="1234015"/>
            <a:ext cx="136200" cy="136200"/>
          </a:xfrm>
          <a:prstGeom prst="ellipse">
            <a:avLst/>
          </a:prstGeom>
          <a:solidFill>
            <a:srgbClr val="00CA4E"/>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85" name="Google Shape;185;p20"/>
          <p:cNvSpPr txBox="1"/>
          <p:nvPr/>
        </p:nvSpPr>
        <p:spPr>
          <a:xfrm>
            <a:off x="3511780" y="1541043"/>
            <a:ext cx="4233600" cy="3009300"/>
          </a:xfrm>
          <a:prstGeom prst="rect">
            <a:avLst/>
          </a:prstGeom>
          <a:solidFill>
            <a:srgbClr val="FAFAFA"/>
          </a:solidFill>
          <a:ln>
            <a:noFill/>
          </a:ln>
        </p:spPr>
        <p:txBody>
          <a:bodyPr anchorCtr="0" anchor="t" bIns="69675" lIns="69675" spcFirstLastPara="1" rIns="69675" wrap="square" tIns="69675">
            <a:noAutofit/>
          </a:bodyPr>
          <a:lstStyle/>
          <a:p>
            <a:pPr indent="0" lvl="0" marL="0" rtl="0" algn="l">
              <a:spcBef>
                <a:spcPts val="0"/>
              </a:spcBef>
              <a:spcAft>
                <a:spcPts val="0"/>
              </a:spcAft>
              <a:buNone/>
            </a:pPr>
            <a:r>
              <a:rPr lang="es" sz="838">
                <a:solidFill>
                  <a:srgbClr val="383A42"/>
                </a:solidFill>
              </a:rPr>
              <a:t>#include &lt;iostream&gt;</a:t>
            </a:r>
            <a:endParaRPr sz="838">
              <a:solidFill>
                <a:srgbClr val="383A42"/>
              </a:solidFill>
            </a:endParaRPr>
          </a:p>
          <a:p>
            <a:pPr indent="0" lvl="0" marL="0" rtl="0" algn="l">
              <a:spcBef>
                <a:spcPts val="0"/>
              </a:spcBef>
              <a:spcAft>
                <a:spcPts val="0"/>
              </a:spcAft>
              <a:buNone/>
            </a:pPr>
            <a:r>
              <a:rPr lang="es" sz="838">
                <a:solidFill>
                  <a:srgbClr val="383A42"/>
                </a:solidFill>
              </a:rPr>
              <a:t>#include &lt;iomanip&gt;</a:t>
            </a:r>
            <a:endParaRPr sz="838">
              <a:solidFill>
                <a:srgbClr val="383A42"/>
              </a:solidFill>
            </a:endParaRPr>
          </a:p>
          <a:p>
            <a:pPr indent="0" lvl="0" marL="0" rtl="0" algn="l">
              <a:spcBef>
                <a:spcPts val="0"/>
              </a:spcBef>
              <a:spcAft>
                <a:spcPts val="0"/>
              </a:spcAft>
              <a:buNone/>
            </a:pPr>
            <a:r>
              <a:rPr lang="es" sz="838">
                <a:solidFill>
                  <a:srgbClr val="383A42"/>
                </a:solidFill>
              </a:rPr>
              <a:t>#include &lt;cmath&gt;</a:t>
            </a:r>
            <a:endParaRPr sz="838">
              <a:solidFill>
                <a:srgbClr val="383A42"/>
              </a:solidFill>
            </a:endParaRPr>
          </a:p>
          <a:p>
            <a:pPr indent="0" lvl="0" marL="0" rtl="0" algn="l">
              <a:spcBef>
                <a:spcPts val="0"/>
              </a:spcBef>
              <a:spcAft>
                <a:spcPts val="0"/>
              </a:spcAft>
              <a:buNone/>
            </a:pPr>
            <a:r>
              <a:rPr lang="es" sz="838">
                <a:solidFill>
                  <a:srgbClr val="A626A4"/>
                </a:solidFill>
              </a:rPr>
              <a:t>using</a:t>
            </a:r>
            <a:r>
              <a:rPr lang="es" sz="838">
                <a:solidFill>
                  <a:srgbClr val="A0A1A7"/>
                </a:solidFill>
              </a:rPr>
              <a:t> </a:t>
            </a:r>
            <a:r>
              <a:rPr lang="es" sz="838">
                <a:solidFill>
                  <a:srgbClr val="A626A4"/>
                </a:solidFill>
              </a:rPr>
              <a:t>namespace</a:t>
            </a:r>
            <a:r>
              <a:rPr lang="es" sz="838">
                <a:solidFill>
                  <a:srgbClr val="A0A1A7"/>
                </a:solidFill>
              </a:rPr>
              <a:t> </a:t>
            </a:r>
            <a:r>
              <a:rPr lang="es" sz="838">
                <a:solidFill>
                  <a:srgbClr val="4078F2"/>
                </a:solidFill>
              </a:rPr>
              <a:t>std</a:t>
            </a: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void</a:t>
            </a:r>
            <a:r>
              <a:rPr lang="es" sz="838">
                <a:solidFill>
                  <a:srgbClr val="A0A1A7"/>
                </a:solidFill>
              </a:rPr>
              <a:t> </a:t>
            </a:r>
            <a:r>
              <a:rPr lang="es" sz="838">
                <a:solidFill>
                  <a:srgbClr val="4078F2"/>
                </a:solidFill>
              </a:rPr>
              <a:t>incrementar</a:t>
            </a:r>
            <a:r>
              <a:rPr lang="es" sz="838">
                <a:solidFill>
                  <a:srgbClr val="383A42"/>
                </a:solidFill>
              </a:rPr>
              <a:t>(</a:t>
            </a:r>
            <a:r>
              <a:rPr lang="es" sz="838">
                <a:solidFill>
                  <a:srgbClr val="27292F"/>
                </a:solidFill>
              </a:rPr>
              <a:t>int</a:t>
            </a:r>
            <a:r>
              <a:rPr lang="es" sz="838">
                <a:solidFill>
                  <a:srgbClr val="A0A1A7"/>
                </a:solidFill>
              </a:rPr>
              <a:t> </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a</a:t>
            </a:r>
            <a:r>
              <a:rPr lang="es" sz="838">
                <a:solidFill>
                  <a:srgbClr val="0184BC"/>
                </a:solidFill>
              </a:rPr>
              <a:t>++</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void</a:t>
            </a:r>
            <a:r>
              <a:rPr lang="es" sz="838">
                <a:solidFill>
                  <a:srgbClr val="A0A1A7"/>
                </a:solidFill>
              </a:rPr>
              <a:t> </a:t>
            </a:r>
            <a:r>
              <a:rPr lang="es" sz="838">
                <a:solidFill>
                  <a:srgbClr val="4078F2"/>
                </a:solidFill>
              </a:rPr>
              <a:t>incrementar_ref</a:t>
            </a:r>
            <a:r>
              <a:rPr lang="es" sz="838">
                <a:solidFill>
                  <a:srgbClr val="383A42"/>
                </a:solidFill>
              </a:rPr>
              <a:t>(</a:t>
            </a:r>
            <a:r>
              <a:rPr lang="es" sz="838">
                <a:solidFill>
                  <a:srgbClr val="27292F"/>
                </a:solidFill>
              </a:rPr>
              <a:t>int</a:t>
            </a:r>
            <a:r>
              <a:rPr lang="es" sz="838">
                <a:solidFill>
                  <a:srgbClr val="A0A1A7"/>
                </a:solidFill>
              </a:rPr>
              <a:t> </a:t>
            </a:r>
            <a:r>
              <a:rPr lang="es" sz="838">
                <a:solidFill>
                  <a:srgbClr val="0184BC"/>
                </a:solidFill>
              </a:rPr>
              <a:t>&amp;</a:t>
            </a:r>
            <a:r>
              <a:rPr lang="es" sz="838">
                <a:solidFill>
                  <a:srgbClr val="E06C75"/>
                </a:solidFill>
              </a:rPr>
              <a:t>a</a:t>
            </a:r>
            <a:r>
              <a:rPr lang="es" sz="838">
                <a:solidFill>
                  <a:srgbClr val="383A42"/>
                </a:solidFill>
              </a:rPr>
              <a:t>)</a:t>
            </a:r>
            <a:r>
              <a:rPr lang="es" sz="838">
                <a:solidFill>
                  <a:srgbClr val="A0A1A7"/>
                </a:solidFill>
              </a:rPr>
              <a:t> </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a</a:t>
            </a:r>
            <a:r>
              <a:rPr lang="es" sz="838">
                <a:solidFill>
                  <a:srgbClr val="0184BC"/>
                </a:solidFill>
              </a:rPr>
              <a:t>++</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int</a:t>
            </a:r>
            <a:r>
              <a:rPr lang="es" sz="838">
                <a:solidFill>
                  <a:srgbClr val="A0A1A7"/>
                </a:solidFill>
              </a:rPr>
              <a:t> </a:t>
            </a:r>
            <a:r>
              <a:rPr lang="es" sz="838">
                <a:solidFill>
                  <a:srgbClr val="4078F2"/>
                </a:solidFill>
              </a:rPr>
              <a:t>main</a:t>
            </a:r>
            <a:r>
              <a:rPr lang="es" sz="838">
                <a:solidFill>
                  <a:srgbClr val="383A42"/>
                </a:solidFill>
              </a:rPr>
              <a:t>()</a:t>
            </a:r>
            <a:r>
              <a:rPr lang="es" sz="838">
                <a:solidFill>
                  <a:srgbClr val="A0A1A7"/>
                </a:solidFill>
              </a:rPr>
              <a:t> </a:t>
            </a:r>
            <a:endParaRPr sz="838">
              <a:solidFill>
                <a:srgbClr val="A0A1A7"/>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27292F"/>
                </a:solidFill>
              </a:rPr>
              <a:t>int</a:t>
            </a:r>
            <a:r>
              <a:rPr lang="es" sz="838">
                <a:solidFill>
                  <a:srgbClr val="A0A1A7"/>
                </a:solidFill>
              </a:rPr>
              <a:t> </a:t>
            </a:r>
            <a:r>
              <a:rPr lang="es" sz="838">
                <a:solidFill>
                  <a:srgbClr val="E06C75"/>
                </a:solidFill>
              </a:rPr>
              <a:t>a</a:t>
            </a:r>
            <a:r>
              <a:rPr lang="es" sz="838">
                <a:solidFill>
                  <a:srgbClr val="0184BC"/>
                </a:solidFill>
              </a:rPr>
              <a:t>=</a:t>
            </a:r>
            <a:r>
              <a:rPr lang="es" sz="838">
                <a:solidFill>
                  <a:srgbClr val="986801"/>
                </a:solidFill>
              </a:rPr>
              <a:t>3</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antes de incrementar(a):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incrementar</a:t>
            </a:r>
            <a:r>
              <a:rPr lang="es" sz="838">
                <a:solidFill>
                  <a:srgbClr val="383A42"/>
                </a:solidFill>
              </a:rPr>
              <a:t>(</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despues de incrementar(a) y antes de incrementar_ref(a):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incrementar_ref</a:t>
            </a:r>
            <a:r>
              <a:rPr lang="es" sz="838">
                <a:solidFill>
                  <a:srgbClr val="383A42"/>
                </a:solidFill>
              </a:rPr>
              <a:t>(</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despues de incrementar_ref(a):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p:txBody>
      </p:sp>
      <p:sp>
        <p:nvSpPr>
          <p:cNvPr id="186" name="Google Shape;186;p20"/>
          <p:cNvSpPr/>
          <p:nvPr/>
        </p:nvSpPr>
        <p:spPr>
          <a:xfrm>
            <a:off x="8520075" y="445025"/>
            <a:ext cx="4812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60000"/>
              </a:lnSpc>
              <a:spcBef>
                <a:spcPts val="0"/>
              </a:spcBef>
              <a:spcAft>
                <a:spcPts val="0"/>
              </a:spcAft>
              <a:buNone/>
            </a:pPr>
            <a:r>
              <a:rPr b="1" lang="es" sz="1000">
                <a:latin typeface="Montserrat"/>
                <a:ea typeface="Montserrat"/>
                <a:cs typeface="Montserrat"/>
                <a:sym typeface="Montserrat"/>
              </a:rPr>
              <a:t>a</a:t>
            </a:r>
            <a:endParaRPr b="1" sz="1000">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latin typeface="Montserrat"/>
              <a:ea typeface="Montserrat"/>
              <a:cs typeface="Montserrat"/>
              <a:sym typeface="Montserrat"/>
            </a:endParaRPr>
          </a:p>
          <a:p>
            <a:pPr indent="0" lvl="0" marL="0" rtl="0" algn="ctr">
              <a:lnSpc>
                <a:spcPct val="60000"/>
              </a:lnSpc>
              <a:spcBef>
                <a:spcPts val="0"/>
              </a:spcBef>
              <a:spcAft>
                <a:spcPts val="0"/>
              </a:spcAft>
              <a:buNone/>
            </a:pPr>
            <a:r>
              <a:rPr lang="es" sz="1000">
                <a:latin typeface="Montserrat"/>
                <a:ea typeface="Montserrat"/>
                <a:cs typeface="Montserrat"/>
                <a:sym typeface="Montserrat"/>
              </a:rPr>
              <a:t>3</a:t>
            </a:r>
            <a:endParaRPr sz="1000">
              <a:latin typeface="Montserrat"/>
              <a:ea typeface="Montserrat"/>
              <a:cs typeface="Montserrat"/>
              <a:sym typeface="Montserrat"/>
            </a:endParaRPr>
          </a:p>
        </p:txBody>
      </p:sp>
      <p:sp>
        <p:nvSpPr>
          <p:cNvPr id="187" name="Google Shape;187;p20"/>
          <p:cNvSpPr/>
          <p:nvPr/>
        </p:nvSpPr>
        <p:spPr>
          <a:xfrm>
            <a:off x="3510300" y="2213025"/>
            <a:ext cx="1237800" cy="485100"/>
          </a:xfrm>
          <a:prstGeom prst="roundRect">
            <a:avLst>
              <a:gd fmla="val 16667" name="adj"/>
            </a:avLst>
          </a:prstGeom>
          <a:noFill/>
          <a:ln cap="flat" cmpd="sng" w="19050">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88" name="Google Shape;188;p20"/>
          <p:cNvSpPr/>
          <p:nvPr/>
        </p:nvSpPr>
        <p:spPr>
          <a:xfrm>
            <a:off x="3510300" y="2723340"/>
            <a:ext cx="1505700" cy="4851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89" name="Google Shape;189;p20"/>
          <p:cNvSpPr/>
          <p:nvPr/>
        </p:nvSpPr>
        <p:spPr>
          <a:xfrm>
            <a:off x="3200525" y="3910652"/>
            <a:ext cx="294900" cy="103500"/>
          </a:xfrm>
          <a:prstGeom prst="homePlate">
            <a:avLst>
              <a:gd fmla="val 50000"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90" name="Google Shape;190;p20"/>
          <p:cNvSpPr/>
          <p:nvPr/>
        </p:nvSpPr>
        <p:spPr>
          <a:xfrm>
            <a:off x="3200526" y="3796651"/>
            <a:ext cx="294900" cy="103500"/>
          </a:xfrm>
          <a:prstGeom prst="homePlate">
            <a:avLst>
              <a:gd fmla="val 50000" name="adj"/>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1"/>
          <p:cNvSpPr txBox="1"/>
          <p:nvPr>
            <p:ph type="title"/>
          </p:nvPr>
        </p:nvSpPr>
        <p:spPr>
          <a:xfrm>
            <a:off x="311700" y="445025"/>
            <a:ext cx="7445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¿Cómo usar un parametro “por referencia”?</a:t>
            </a:r>
            <a:endParaRPr/>
          </a:p>
        </p:txBody>
      </p:sp>
      <p:sp>
        <p:nvSpPr>
          <p:cNvPr id="196" name="Google Shape;196;p21"/>
          <p:cNvSpPr txBox="1"/>
          <p:nvPr>
            <p:ph idx="1" type="body"/>
          </p:nvPr>
        </p:nvSpPr>
        <p:spPr>
          <a:xfrm>
            <a:off x="311700" y="1152475"/>
            <a:ext cx="3061500" cy="3712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s"/>
              <a:t>Cuando utilizamos el </a:t>
            </a:r>
            <a:r>
              <a:rPr b="1" lang="es"/>
              <a:t>&amp;</a:t>
            </a:r>
            <a:r>
              <a:rPr lang="es"/>
              <a:t> en argumentos de funciones, lo que queremos decir es que </a:t>
            </a:r>
            <a:r>
              <a:rPr b="1" lang="es"/>
              <a:t>NO</a:t>
            </a:r>
            <a:r>
              <a:rPr lang="es"/>
              <a:t> se va a reservar un espacio de memoria nuevo para ese argumento, sino que vamos a </a:t>
            </a:r>
            <a:r>
              <a:rPr b="1" lang="es"/>
              <a:t>hacer referencia</a:t>
            </a:r>
            <a:r>
              <a:rPr lang="es"/>
              <a:t> a la variable que se haya utilizado en la invocación de la función.</a:t>
            </a:r>
            <a:endParaRPr/>
          </a:p>
        </p:txBody>
      </p:sp>
      <p:sp>
        <p:nvSpPr>
          <p:cNvPr id="197" name="Google Shape;197;p21"/>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98" name="Google Shape;198;p21"/>
          <p:cNvSpPr/>
          <p:nvPr/>
        </p:nvSpPr>
        <p:spPr>
          <a:xfrm rot="10800000">
            <a:off x="3352950" y="1419350"/>
            <a:ext cx="4433400" cy="3247800"/>
          </a:xfrm>
          <a:prstGeom prst="round2SameRect">
            <a:avLst>
              <a:gd fmla="val 6272" name="adj1"/>
              <a:gd fmla="val 0" name="adj2"/>
            </a:avLst>
          </a:prstGeom>
          <a:solidFill>
            <a:srgbClr val="FAFAFA"/>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199" name="Google Shape;199;p21"/>
          <p:cNvSpPr/>
          <p:nvPr/>
        </p:nvSpPr>
        <p:spPr>
          <a:xfrm rot="10800000">
            <a:off x="3352929" y="1170475"/>
            <a:ext cx="4433400" cy="249000"/>
          </a:xfrm>
          <a:prstGeom prst="round2SameRect">
            <a:avLst>
              <a:gd fmla="val 6272" name="adj1"/>
              <a:gd fmla="val 50000" name="adj2"/>
            </a:avLst>
          </a:prstGeom>
          <a:solidFill>
            <a:srgbClr val="434343"/>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00" name="Google Shape;200;p21"/>
          <p:cNvSpPr/>
          <p:nvPr/>
        </p:nvSpPr>
        <p:spPr>
          <a:xfrm>
            <a:off x="3511603" y="1234015"/>
            <a:ext cx="136200" cy="136200"/>
          </a:xfrm>
          <a:prstGeom prst="ellipse">
            <a:avLst/>
          </a:prstGeom>
          <a:solidFill>
            <a:srgbClr val="FF605C"/>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01" name="Google Shape;201;p21"/>
          <p:cNvSpPr/>
          <p:nvPr/>
        </p:nvSpPr>
        <p:spPr>
          <a:xfrm>
            <a:off x="3713214" y="1234015"/>
            <a:ext cx="136200" cy="136200"/>
          </a:xfrm>
          <a:prstGeom prst="ellipse">
            <a:avLst/>
          </a:prstGeom>
          <a:solidFill>
            <a:srgbClr val="FFBD44"/>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02" name="Google Shape;202;p21"/>
          <p:cNvSpPr/>
          <p:nvPr/>
        </p:nvSpPr>
        <p:spPr>
          <a:xfrm>
            <a:off x="3914825" y="1234015"/>
            <a:ext cx="136200" cy="136200"/>
          </a:xfrm>
          <a:prstGeom prst="ellipse">
            <a:avLst/>
          </a:prstGeom>
          <a:solidFill>
            <a:srgbClr val="00CA4E"/>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03" name="Google Shape;203;p21"/>
          <p:cNvSpPr txBox="1"/>
          <p:nvPr/>
        </p:nvSpPr>
        <p:spPr>
          <a:xfrm>
            <a:off x="3511780" y="1541043"/>
            <a:ext cx="4233600" cy="3009300"/>
          </a:xfrm>
          <a:prstGeom prst="rect">
            <a:avLst/>
          </a:prstGeom>
          <a:solidFill>
            <a:srgbClr val="FAFAFA"/>
          </a:solidFill>
          <a:ln>
            <a:noFill/>
          </a:ln>
        </p:spPr>
        <p:txBody>
          <a:bodyPr anchorCtr="0" anchor="t" bIns="69675" lIns="69675" spcFirstLastPara="1" rIns="69675" wrap="square" tIns="69675">
            <a:noAutofit/>
          </a:bodyPr>
          <a:lstStyle/>
          <a:p>
            <a:pPr indent="0" lvl="0" marL="0" rtl="0" algn="l">
              <a:spcBef>
                <a:spcPts val="0"/>
              </a:spcBef>
              <a:spcAft>
                <a:spcPts val="0"/>
              </a:spcAft>
              <a:buNone/>
            </a:pPr>
            <a:r>
              <a:rPr lang="es" sz="838">
                <a:solidFill>
                  <a:srgbClr val="383A42"/>
                </a:solidFill>
              </a:rPr>
              <a:t>#include &lt;iostream&gt;</a:t>
            </a:r>
            <a:endParaRPr sz="838">
              <a:solidFill>
                <a:srgbClr val="383A42"/>
              </a:solidFill>
            </a:endParaRPr>
          </a:p>
          <a:p>
            <a:pPr indent="0" lvl="0" marL="0" rtl="0" algn="l">
              <a:spcBef>
                <a:spcPts val="0"/>
              </a:spcBef>
              <a:spcAft>
                <a:spcPts val="0"/>
              </a:spcAft>
              <a:buNone/>
            </a:pPr>
            <a:r>
              <a:rPr lang="es" sz="838">
                <a:solidFill>
                  <a:srgbClr val="383A42"/>
                </a:solidFill>
              </a:rPr>
              <a:t>#include &lt;iomanip&gt;</a:t>
            </a:r>
            <a:endParaRPr sz="838">
              <a:solidFill>
                <a:srgbClr val="383A42"/>
              </a:solidFill>
            </a:endParaRPr>
          </a:p>
          <a:p>
            <a:pPr indent="0" lvl="0" marL="0" rtl="0" algn="l">
              <a:spcBef>
                <a:spcPts val="0"/>
              </a:spcBef>
              <a:spcAft>
                <a:spcPts val="0"/>
              </a:spcAft>
              <a:buNone/>
            </a:pPr>
            <a:r>
              <a:rPr lang="es" sz="838">
                <a:solidFill>
                  <a:srgbClr val="383A42"/>
                </a:solidFill>
              </a:rPr>
              <a:t>#include &lt;cmath&gt;</a:t>
            </a:r>
            <a:endParaRPr sz="838">
              <a:solidFill>
                <a:srgbClr val="383A42"/>
              </a:solidFill>
            </a:endParaRPr>
          </a:p>
          <a:p>
            <a:pPr indent="0" lvl="0" marL="0" rtl="0" algn="l">
              <a:spcBef>
                <a:spcPts val="0"/>
              </a:spcBef>
              <a:spcAft>
                <a:spcPts val="0"/>
              </a:spcAft>
              <a:buNone/>
            </a:pPr>
            <a:r>
              <a:rPr lang="es" sz="838">
                <a:solidFill>
                  <a:srgbClr val="A626A4"/>
                </a:solidFill>
              </a:rPr>
              <a:t>using</a:t>
            </a:r>
            <a:r>
              <a:rPr lang="es" sz="838">
                <a:solidFill>
                  <a:srgbClr val="A0A1A7"/>
                </a:solidFill>
              </a:rPr>
              <a:t> </a:t>
            </a:r>
            <a:r>
              <a:rPr lang="es" sz="838">
                <a:solidFill>
                  <a:srgbClr val="A626A4"/>
                </a:solidFill>
              </a:rPr>
              <a:t>namespace</a:t>
            </a:r>
            <a:r>
              <a:rPr lang="es" sz="838">
                <a:solidFill>
                  <a:srgbClr val="A0A1A7"/>
                </a:solidFill>
              </a:rPr>
              <a:t> </a:t>
            </a:r>
            <a:r>
              <a:rPr lang="es" sz="838">
                <a:solidFill>
                  <a:srgbClr val="4078F2"/>
                </a:solidFill>
              </a:rPr>
              <a:t>std</a:t>
            </a: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void</a:t>
            </a:r>
            <a:r>
              <a:rPr lang="es" sz="838">
                <a:solidFill>
                  <a:srgbClr val="A0A1A7"/>
                </a:solidFill>
              </a:rPr>
              <a:t> </a:t>
            </a:r>
            <a:r>
              <a:rPr lang="es" sz="838">
                <a:solidFill>
                  <a:srgbClr val="4078F2"/>
                </a:solidFill>
              </a:rPr>
              <a:t>incrementar</a:t>
            </a:r>
            <a:r>
              <a:rPr lang="es" sz="838">
                <a:solidFill>
                  <a:srgbClr val="383A42"/>
                </a:solidFill>
              </a:rPr>
              <a:t>(</a:t>
            </a:r>
            <a:r>
              <a:rPr lang="es" sz="838">
                <a:solidFill>
                  <a:srgbClr val="27292F"/>
                </a:solidFill>
              </a:rPr>
              <a:t>int</a:t>
            </a:r>
            <a:r>
              <a:rPr lang="es" sz="838">
                <a:solidFill>
                  <a:srgbClr val="A0A1A7"/>
                </a:solidFill>
              </a:rPr>
              <a:t> </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a</a:t>
            </a:r>
            <a:r>
              <a:rPr lang="es" sz="838">
                <a:solidFill>
                  <a:srgbClr val="0184BC"/>
                </a:solidFill>
              </a:rPr>
              <a:t>++</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void</a:t>
            </a:r>
            <a:r>
              <a:rPr lang="es" sz="838">
                <a:solidFill>
                  <a:srgbClr val="A0A1A7"/>
                </a:solidFill>
              </a:rPr>
              <a:t> </a:t>
            </a:r>
            <a:r>
              <a:rPr lang="es" sz="838">
                <a:solidFill>
                  <a:srgbClr val="4078F2"/>
                </a:solidFill>
              </a:rPr>
              <a:t>incrementar_ref</a:t>
            </a:r>
            <a:r>
              <a:rPr lang="es" sz="838">
                <a:solidFill>
                  <a:srgbClr val="383A42"/>
                </a:solidFill>
              </a:rPr>
              <a:t>(</a:t>
            </a:r>
            <a:r>
              <a:rPr lang="es" sz="838">
                <a:solidFill>
                  <a:srgbClr val="27292F"/>
                </a:solidFill>
              </a:rPr>
              <a:t>int</a:t>
            </a:r>
            <a:r>
              <a:rPr lang="es" sz="838">
                <a:solidFill>
                  <a:srgbClr val="A0A1A7"/>
                </a:solidFill>
              </a:rPr>
              <a:t> </a:t>
            </a:r>
            <a:r>
              <a:rPr lang="es" sz="838">
                <a:solidFill>
                  <a:srgbClr val="0184BC"/>
                </a:solidFill>
              </a:rPr>
              <a:t>&amp;</a:t>
            </a:r>
            <a:r>
              <a:rPr lang="es" sz="838">
                <a:solidFill>
                  <a:srgbClr val="E06C75"/>
                </a:solidFill>
              </a:rPr>
              <a:t>a</a:t>
            </a:r>
            <a:r>
              <a:rPr lang="es" sz="838">
                <a:solidFill>
                  <a:srgbClr val="383A42"/>
                </a:solidFill>
              </a:rPr>
              <a:t>)</a:t>
            </a:r>
            <a:r>
              <a:rPr lang="es" sz="838">
                <a:solidFill>
                  <a:srgbClr val="A0A1A7"/>
                </a:solidFill>
              </a:rPr>
              <a:t> </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a</a:t>
            </a:r>
            <a:r>
              <a:rPr lang="es" sz="838">
                <a:solidFill>
                  <a:srgbClr val="0184BC"/>
                </a:solidFill>
              </a:rPr>
              <a:t>++</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int</a:t>
            </a:r>
            <a:r>
              <a:rPr lang="es" sz="838">
                <a:solidFill>
                  <a:srgbClr val="A0A1A7"/>
                </a:solidFill>
              </a:rPr>
              <a:t> </a:t>
            </a:r>
            <a:r>
              <a:rPr lang="es" sz="838">
                <a:solidFill>
                  <a:srgbClr val="4078F2"/>
                </a:solidFill>
              </a:rPr>
              <a:t>main</a:t>
            </a:r>
            <a:r>
              <a:rPr lang="es" sz="838">
                <a:solidFill>
                  <a:srgbClr val="383A42"/>
                </a:solidFill>
              </a:rPr>
              <a:t>()</a:t>
            </a:r>
            <a:r>
              <a:rPr lang="es" sz="838">
                <a:solidFill>
                  <a:srgbClr val="A0A1A7"/>
                </a:solidFill>
              </a:rPr>
              <a:t> </a:t>
            </a:r>
            <a:endParaRPr sz="838">
              <a:solidFill>
                <a:srgbClr val="A0A1A7"/>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27292F"/>
                </a:solidFill>
              </a:rPr>
              <a:t>int</a:t>
            </a:r>
            <a:r>
              <a:rPr lang="es" sz="838">
                <a:solidFill>
                  <a:srgbClr val="A0A1A7"/>
                </a:solidFill>
              </a:rPr>
              <a:t> </a:t>
            </a:r>
            <a:r>
              <a:rPr lang="es" sz="838">
                <a:solidFill>
                  <a:srgbClr val="E06C75"/>
                </a:solidFill>
              </a:rPr>
              <a:t>a</a:t>
            </a:r>
            <a:r>
              <a:rPr lang="es" sz="838">
                <a:solidFill>
                  <a:srgbClr val="0184BC"/>
                </a:solidFill>
              </a:rPr>
              <a:t>=</a:t>
            </a:r>
            <a:r>
              <a:rPr lang="es" sz="838">
                <a:solidFill>
                  <a:srgbClr val="986801"/>
                </a:solidFill>
              </a:rPr>
              <a:t>3</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antes de incrementar(a):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incrementar</a:t>
            </a:r>
            <a:r>
              <a:rPr lang="es" sz="838">
                <a:solidFill>
                  <a:srgbClr val="383A42"/>
                </a:solidFill>
              </a:rPr>
              <a:t>(</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despues de incrementar(a) y antes de incrementar_ref(a):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incrementar_ref</a:t>
            </a:r>
            <a:r>
              <a:rPr lang="es" sz="838">
                <a:solidFill>
                  <a:srgbClr val="383A42"/>
                </a:solidFill>
              </a:rPr>
              <a:t>(</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despues de incrementar_ref(a):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p:txBody>
      </p:sp>
      <p:sp>
        <p:nvSpPr>
          <p:cNvPr id="204" name="Google Shape;204;p21"/>
          <p:cNvSpPr/>
          <p:nvPr/>
        </p:nvSpPr>
        <p:spPr>
          <a:xfrm>
            <a:off x="8520075" y="445025"/>
            <a:ext cx="4812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60000"/>
              </a:lnSpc>
              <a:spcBef>
                <a:spcPts val="0"/>
              </a:spcBef>
              <a:spcAft>
                <a:spcPts val="0"/>
              </a:spcAft>
              <a:buNone/>
            </a:pPr>
            <a:r>
              <a:rPr b="1" lang="es" sz="1000">
                <a:latin typeface="Montserrat"/>
                <a:ea typeface="Montserrat"/>
                <a:cs typeface="Montserrat"/>
                <a:sym typeface="Montserrat"/>
              </a:rPr>
              <a:t>a</a:t>
            </a:r>
            <a:endParaRPr b="1" sz="1000">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latin typeface="Montserrat"/>
              <a:ea typeface="Montserrat"/>
              <a:cs typeface="Montserrat"/>
              <a:sym typeface="Montserrat"/>
            </a:endParaRPr>
          </a:p>
          <a:p>
            <a:pPr indent="0" lvl="0" marL="0" rtl="0" algn="ctr">
              <a:lnSpc>
                <a:spcPct val="60000"/>
              </a:lnSpc>
              <a:spcBef>
                <a:spcPts val="0"/>
              </a:spcBef>
              <a:spcAft>
                <a:spcPts val="0"/>
              </a:spcAft>
              <a:buNone/>
            </a:pPr>
            <a:r>
              <a:rPr lang="es" sz="1000">
                <a:latin typeface="Montserrat"/>
                <a:ea typeface="Montserrat"/>
                <a:cs typeface="Montserrat"/>
                <a:sym typeface="Montserrat"/>
              </a:rPr>
              <a:t>3</a:t>
            </a:r>
            <a:endParaRPr sz="1000">
              <a:latin typeface="Montserrat"/>
              <a:ea typeface="Montserrat"/>
              <a:cs typeface="Montserrat"/>
              <a:sym typeface="Montserrat"/>
            </a:endParaRPr>
          </a:p>
        </p:txBody>
      </p:sp>
      <p:sp>
        <p:nvSpPr>
          <p:cNvPr id="205" name="Google Shape;205;p21"/>
          <p:cNvSpPr/>
          <p:nvPr/>
        </p:nvSpPr>
        <p:spPr>
          <a:xfrm>
            <a:off x="3510300" y="2213025"/>
            <a:ext cx="1237800" cy="485100"/>
          </a:xfrm>
          <a:prstGeom prst="roundRect">
            <a:avLst>
              <a:gd fmla="val 16667" name="adj"/>
            </a:avLst>
          </a:prstGeom>
          <a:noFill/>
          <a:ln cap="flat" cmpd="sng" w="19050">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06" name="Google Shape;206;p21"/>
          <p:cNvSpPr/>
          <p:nvPr/>
        </p:nvSpPr>
        <p:spPr>
          <a:xfrm>
            <a:off x="3510300" y="2723340"/>
            <a:ext cx="1505700" cy="4851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07" name="Google Shape;207;p21"/>
          <p:cNvSpPr/>
          <p:nvPr/>
        </p:nvSpPr>
        <p:spPr>
          <a:xfrm>
            <a:off x="3200525" y="4052947"/>
            <a:ext cx="294900" cy="103500"/>
          </a:xfrm>
          <a:prstGeom prst="homePlate">
            <a:avLst>
              <a:gd fmla="val 50000"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08" name="Google Shape;208;p21"/>
          <p:cNvSpPr/>
          <p:nvPr/>
        </p:nvSpPr>
        <p:spPr>
          <a:xfrm>
            <a:off x="3200526" y="3938945"/>
            <a:ext cx="294900" cy="103500"/>
          </a:xfrm>
          <a:prstGeom prst="homePlate">
            <a:avLst>
              <a:gd fmla="val 50000" name="adj"/>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2"/>
          <p:cNvSpPr txBox="1"/>
          <p:nvPr>
            <p:ph type="title"/>
          </p:nvPr>
        </p:nvSpPr>
        <p:spPr>
          <a:xfrm>
            <a:off x="311700" y="445025"/>
            <a:ext cx="7445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¿Cómo usar un parametro “por referencia”?</a:t>
            </a:r>
            <a:endParaRPr/>
          </a:p>
        </p:txBody>
      </p:sp>
      <p:sp>
        <p:nvSpPr>
          <p:cNvPr id="214" name="Google Shape;214;p22"/>
          <p:cNvSpPr txBox="1"/>
          <p:nvPr>
            <p:ph idx="1" type="body"/>
          </p:nvPr>
        </p:nvSpPr>
        <p:spPr>
          <a:xfrm>
            <a:off x="311700" y="1152475"/>
            <a:ext cx="3061500" cy="3712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s"/>
              <a:t>Cuando utilizamos el </a:t>
            </a:r>
            <a:r>
              <a:rPr b="1" lang="es"/>
              <a:t>&amp;</a:t>
            </a:r>
            <a:r>
              <a:rPr lang="es"/>
              <a:t> en argumentos de funciones, lo que queremos decir es que </a:t>
            </a:r>
            <a:r>
              <a:rPr b="1" lang="es"/>
              <a:t>NO</a:t>
            </a:r>
            <a:r>
              <a:rPr lang="es"/>
              <a:t> se va a reservar un espacio de memoria nuevo para ese argumento, sino que vamos a </a:t>
            </a:r>
            <a:r>
              <a:rPr b="1" lang="es"/>
              <a:t>hacer referencia</a:t>
            </a:r>
            <a:r>
              <a:rPr lang="es"/>
              <a:t> a la variable que se haya utilizado en la invocación de la función.</a:t>
            </a:r>
            <a:endParaRPr/>
          </a:p>
        </p:txBody>
      </p:sp>
      <p:sp>
        <p:nvSpPr>
          <p:cNvPr id="215" name="Google Shape;215;p22"/>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16" name="Google Shape;216;p22"/>
          <p:cNvSpPr/>
          <p:nvPr/>
        </p:nvSpPr>
        <p:spPr>
          <a:xfrm rot="10800000">
            <a:off x="3352950" y="1419350"/>
            <a:ext cx="4433400" cy="3247800"/>
          </a:xfrm>
          <a:prstGeom prst="round2SameRect">
            <a:avLst>
              <a:gd fmla="val 6272" name="adj1"/>
              <a:gd fmla="val 0" name="adj2"/>
            </a:avLst>
          </a:prstGeom>
          <a:solidFill>
            <a:srgbClr val="FAFAFA"/>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17" name="Google Shape;217;p22"/>
          <p:cNvSpPr/>
          <p:nvPr/>
        </p:nvSpPr>
        <p:spPr>
          <a:xfrm rot="10800000">
            <a:off x="3352929" y="1170475"/>
            <a:ext cx="4433400" cy="249000"/>
          </a:xfrm>
          <a:prstGeom prst="round2SameRect">
            <a:avLst>
              <a:gd fmla="val 6272" name="adj1"/>
              <a:gd fmla="val 50000" name="adj2"/>
            </a:avLst>
          </a:prstGeom>
          <a:solidFill>
            <a:srgbClr val="434343"/>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18" name="Google Shape;218;p22"/>
          <p:cNvSpPr/>
          <p:nvPr/>
        </p:nvSpPr>
        <p:spPr>
          <a:xfrm>
            <a:off x="3511603" y="1234015"/>
            <a:ext cx="136200" cy="136200"/>
          </a:xfrm>
          <a:prstGeom prst="ellipse">
            <a:avLst/>
          </a:prstGeom>
          <a:solidFill>
            <a:srgbClr val="FF605C"/>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19" name="Google Shape;219;p22"/>
          <p:cNvSpPr/>
          <p:nvPr/>
        </p:nvSpPr>
        <p:spPr>
          <a:xfrm>
            <a:off x="3713214" y="1234015"/>
            <a:ext cx="136200" cy="136200"/>
          </a:xfrm>
          <a:prstGeom prst="ellipse">
            <a:avLst/>
          </a:prstGeom>
          <a:solidFill>
            <a:srgbClr val="FFBD44"/>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20" name="Google Shape;220;p22"/>
          <p:cNvSpPr/>
          <p:nvPr/>
        </p:nvSpPr>
        <p:spPr>
          <a:xfrm>
            <a:off x="3914825" y="1234015"/>
            <a:ext cx="136200" cy="136200"/>
          </a:xfrm>
          <a:prstGeom prst="ellipse">
            <a:avLst/>
          </a:prstGeom>
          <a:solidFill>
            <a:srgbClr val="00CA4E"/>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21" name="Google Shape;221;p22"/>
          <p:cNvSpPr txBox="1"/>
          <p:nvPr/>
        </p:nvSpPr>
        <p:spPr>
          <a:xfrm>
            <a:off x="3511780" y="1541043"/>
            <a:ext cx="4233600" cy="3009300"/>
          </a:xfrm>
          <a:prstGeom prst="rect">
            <a:avLst/>
          </a:prstGeom>
          <a:solidFill>
            <a:srgbClr val="FAFAFA"/>
          </a:solidFill>
          <a:ln>
            <a:noFill/>
          </a:ln>
        </p:spPr>
        <p:txBody>
          <a:bodyPr anchorCtr="0" anchor="t" bIns="69675" lIns="69675" spcFirstLastPara="1" rIns="69675" wrap="square" tIns="69675">
            <a:noAutofit/>
          </a:bodyPr>
          <a:lstStyle/>
          <a:p>
            <a:pPr indent="0" lvl="0" marL="0" rtl="0" algn="l">
              <a:spcBef>
                <a:spcPts val="0"/>
              </a:spcBef>
              <a:spcAft>
                <a:spcPts val="0"/>
              </a:spcAft>
              <a:buNone/>
            </a:pPr>
            <a:r>
              <a:rPr lang="es" sz="838">
                <a:solidFill>
                  <a:srgbClr val="383A42"/>
                </a:solidFill>
              </a:rPr>
              <a:t>#include &lt;iostream&gt;</a:t>
            </a:r>
            <a:endParaRPr sz="838">
              <a:solidFill>
                <a:srgbClr val="383A42"/>
              </a:solidFill>
            </a:endParaRPr>
          </a:p>
          <a:p>
            <a:pPr indent="0" lvl="0" marL="0" rtl="0" algn="l">
              <a:spcBef>
                <a:spcPts val="0"/>
              </a:spcBef>
              <a:spcAft>
                <a:spcPts val="0"/>
              </a:spcAft>
              <a:buNone/>
            </a:pPr>
            <a:r>
              <a:rPr lang="es" sz="838">
                <a:solidFill>
                  <a:srgbClr val="383A42"/>
                </a:solidFill>
              </a:rPr>
              <a:t>#include &lt;iomanip&gt;</a:t>
            </a:r>
            <a:endParaRPr sz="838">
              <a:solidFill>
                <a:srgbClr val="383A42"/>
              </a:solidFill>
            </a:endParaRPr>
          </a:p>
          <a:p>
            <a:pPr indent="0" lvl="0" marL="0" rtl="0" algn="l">
              <a:spcBef>
                <a:spcPts val="0"/>
              </a:spcBef>
              <a:spcAft>
                <a:spcPts val="0"/>
              </a:spcAft>
              <a:buNone/>
            </a:pPr>
            <a:r>
              <a:rPr lang="es" sz="838">
                <a:solidFill>
                  <a:srgbClr val="383A42"/>
                </a:solidFill>
              </a:rPr>
              <a:t>#include &lt;cmath&gt;</a:t>
            </a:r>
            <a:endParaRPr sz="838">
              <a:solidFill>
                <a:srgbClr val="383A42"/>
              </a:solidFill>
            </a:endParaRPr>
          </a:p>
          <a:p>
            <a:pPr indent="0" lvl="0" marL="0" rtl="0" algn="l">
              <a:spcBef>
                <a:spcPts val="0"/>
              </a:spcBef>
              <a:spcAft>
                <a:spcPts val="0"/>
              </a:spcAft>
              <a:buNone/>
            </a:pPr>
            <a:r>
              <a:rPr lang="es" sz="838">
                <a:solidFill>
                  <a:srgbClr val="A626A4"/>
                </a:solidFill>
              </a:rPr>
              <a:t>using</a:t>
            </a:r>
            <a:r>
              <a:rPr lang="es" sz="838">
                <a:solidFill>
                  <a:srgbClr val="A0A1A7"/>
                </a:solidFill>
              </a:rPr>
              <a:t> </a:t>
            </a:r>
            <a:r>
              <a:rPr lang="es" sz="838">
                <a:solidFill>
                  <a:srgbClr val="A626A4"/>
                </a:solidFill>
              </a:rPr>
              <a:t>namespace</a:t>
            </a:r>
            <a:r>
              <a:rPr lang="es" sz="838">
                <a:solidFill>
                  <a:srgbClr val="A0A1A7"/>
                </a:solidFill>
              </a:rPr>
              <a:t> </a:t>
            </a:r>
            <a:r>
              <a:rPr lang="es" sz="838">
                <a:solidFill>
                  <a:srgbClr val="4078F2"/>
                </a:solidFill>
              </a:rPr>
              <a:t>std</a:t>
            </a: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void</a:t>
            </a:r>
            <a:r>
              <a:rPr lang="es" sz="838">
                <a:solidFill>
                  <a:srgbClr val="A0A1A7"/>
                </a:solidFill>
              </a:rPr>
              <a:t> </a:t>
            </a:r>
            <a:r>
              <a:rPr lang="es" sz="838">
                <a:solidFill>
                  <a:srgbClr val="4078F2"/>
                </a:solidFill>
              </a:rPr>
              <a:t>incrementar</a:t>
            </a:r>
            <a:r>
              <a:rPr lang="es" sz="838">
                <a:solidFill>
                  <a:srgbClr val="383A42"/>
                </a:solidFill>
              </a:rPr>
              <a:t>(</a:t>
            </a:r>
            <a:r>
              <a:rPr lang="es" sz="838">
                <a:solidFill>
                  <a:srgbClr val="27292F"/>
                </a:solidFill>
              </a:rPr>
              <a:t>int</a:t>
            </a:r>
            <a:r>
              <a:rPr lang="es" sz="838">
                <a:solidFill>
                  <a:srgbClr val="A0A1A7"/>
                </a:solidFill>
              </a:rPr>
              <a:t> </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a</a:t>
            </a:r>
            <a:r>
              <a:rPr lang="es" sz="838">
                <a:solidFill>
                  <a:srgbClr val="0184BC"/>
                </a:solidFill>
              </a:rPr>
              <a:t>++</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void</a:t>
            </a:r>
            <a:r>
              <a:rPr lang="es" sz="838">
                <a:solidFill>
                  <a:srgbClr val="A0A1A7"/>
                </a:solidFill>
              </a:rPr>
              <a:t> </a:t>
            </a:r>
            <a:r>
              <a:rPr lang="es" sz="838">
                <a:solidFill>
                  <a:srgbClr val="4078F2"/>
                </a:solidFill>
              </a:rPr>
              <a:t>incrementar_ref</a:t>
            </a:r>
            <a:r>
              <a:rPr lang="es" sz="838">
                <a:solidFill>
                  <a:srgbClr val="383A42"/>
                </a:solidFill>
              </a:rPr>
              <a:t>(</a:t>
            </a:r>
            <a:r>
              <a:rPr lang="es" sz="838">
                <a:solidFill>
                  <a:srgbClr val="27292F"/>
                </a:solidFill>
              </a:rPr>
              <a:t>int</a:t>
            </a:r>
            <a:r>
              <a:rPr lang="es" sz="838">
                <a:solidFill>
                  <a:srgbClr val="A0A1A7"/>
                </a:solidFill>
              </a:rPr>
              <a:t> </a:t>
            </a:r>
            <a:r>
              <a:rPr lang="es" sz="838">
                <a:solidFill>
                  <a:srgbClr val="0184BC"/>
                </a:solidFill>
              </a:rPr>
              <a:t>&amp;</a:t>
            </a:r>
            <a:r>
              <a:rPr lang="es" sz="838">
                <a:solidFill>
                  <a:srgbClr val="E06C75"/>
                </a:solidFill>
              </a:rPr>
              <a:t>a</a:t>
            </a:r>
            <a:r>
              <a:rPr lang="es" sz="838">
                <a:solidFill>
                  <a:srgbClr val="383A42"/>
                </a:solidFill>
              </a:rPr>
              <a:t>)</a:t>
            </a:r>
            <a:r>
              <a:rPr lang="es" sz="838">
                <a:solidFill>
                  <a:srgbClr val="A0A1A7"/>
                </a:solidFill>
              </a:rPr>
              <a:t> </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a</a:t>
            </a:r>
            <a:r>
              <a:rPr lang="es" sz="838">
                <a:solidFill>
                  <a:srgbClr val="0184BC"/>
                </a:solidFill>
              </a:rPr>
              <a:t>++</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int</a:t>
            </a:r>
            <a:r>
              <a:rPr lang="es" sz="838">
                <a:solidFill>
                  <a:srgbClr val="A0A1A7"/>
                </a:solidFill>
              </a:rPr>
              <a:t> </a:t>
            </a:r>
            <a:r>
              <a:rPr lang="es" sz="838">
                <a:solidFill>
                  <a:srgbClr val="4078F2"/>
                </a:solidFill>
              </a:rPr>
              <a:t>main</a:t>
            </a:r>
            <a:r>
              <a:rPr lang="es" sz="838">
                <a:solidFill>
                  <a:srgbClr val="383A42"/>
                </a:solidFill>
              </a:rPr>
              <a:t>()</a:t>
            </a:r>
            <a:r>
              <a:rPr lang="es" sz="838">
                <a:solidFill>
                  <a:srgbClr val="A0A1A7"/>
                </a:solidFill>
              </a:rPr>
              <a:t> </a:t>
            </a:r>
            <a:endParaRPr sz="838">
              <a:solidFill>
                <a:srgbClr val="A0A1A7"/>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27292F"/>
                </a:solidFill>
              </a:rPr>
              <a:t>int</a:t>
            </a:r>
            <a:r>
              <a:rPr lang="es" sz="838">
                <a:solidFill>
                  <a:srgbClr val="A0A1A7"/>
                </a:solidFill>
              </a:rPr>
              <a:t> </a:t>
            </a:r>
            <a:r>
              <a:rPr lang="es" sz="838">
                <a:solidFill>
                  <a:srgbClr val="E06C75"/>
                </a:solidFill>
              </a:rPr>
              <a:t>a</a:t>
            </a:r>
            <a:r>
              <a:rPr lang="es" sz="838">
                <a:solidFill>
                  <a:srgbClr val="0184BC"/>
                </a:solidFill>
              </a:rPr>
              <a:t>=</a:t>
            </a:r>
            <a:r>
              <a:rPr lang="es" sz="838">
                <a:solidFill>
                  <a:srgbClr val="986801"/>
                </a:solidFill>
              </a:rPr>
              <a:t>3</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antes de incrementar(a):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incrementar</a:t>
            </a:r>
            <a:r>
              <a:rPr lang="es" sz="838">
                <a:solidFill>
                  <a:srgbClr val="383A42"/>
                </a:solidFill>
              </a:rPr>
              <a:t>(</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despues de incrementar(a) y antes de incrementar_ref(a):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incrementar_ref</a:t>
            </a:r>
            <a:r>
              <a:rPr lang="es" sz="838">
                <a:solidFill>
                  <a:srgbClr val="383A42"/>
                </a:solidFill>
              </a:rPr>
              <a:t>(</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despues de incrementar_ref(a):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p:txBody>
      </p:sp>
      <p:sp>
        <p:nvSpPr>
          <p:cNvPr id="222" name="Google Shape;222;p22"/>
          <p:cNvSpPr/>
          <p:nvPr/>
        </p:nvSpPr>
        <p:spPr>
          <a:xfrm>
            <a:off x="8520075" y="445025"/>
            <a:ext cx="4812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60000"/>
              </a:lnSpc>
              <a:spcBef>
                <a:spcPts val="0"/>
              </a:spcBef>
              <a:spcAft>
                <a:spcPts val="0"/>
              </a:spcAft>
              <a:buNone/>
            </a:pPr>
            <a:r>
              <a:rPr b="1" lang="es" sz="1000">
                <a:latin typeface="Montserrat"/>
                <a:ea typeface="Montserrat"/>
                <a:cs typeface="Montserrat"/>
                <a:sym typeface="Montserrat"/>
              </a:rPr>
              <a:t>a</a:t>
            </a:r>
            <a:endParaRPr b="1" sz="1000">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latin typeface="Montserrat"/>
              <a:ea typeface="Montserrat"/>
              <a:cs typeface="Montserrat"/>
              <a:sym typeface="Montserrat"/>
            </a:endParaRPr>
          </a:p>
          <a:p>
            <a:pPr indent="0" lvl="0" marL="0" rtl="0" algn="ctr">
              <a:lnSpc>
                <a:spcPct val="60000"/>
              </a:lnSpc>
              <a:spcBef>
                <a:spcPts val="0"/>
              </a:spcBef>
              <a:spcAft>
                <a:spcPts val="0"/>
              </a:spcAft>
              <a:buNone/>
            </a:pPr>
            <a:r>
              <a:rPr lang="es" sz="1000">
                <a:latin typeface="Montserrat"/>
                <a:ea typeface="Montserrat"/>
                <a:cs typeface="Montserrat"/>
                <a:sym typeface="Montserrat"/>
              </a:rPr>
              <a:t>3</a:t>
            </a:r>
            <a:endParaRPr sz="1000">
              <a:latin typeface="Montserrat"/>
              <a:ea typeface="Montserrat"/>
              <a:cs typeface="Montserrat"/>
              <a:sym typeface="Montserrat"/>
            </a:endParaRPr>
          </a:p>
        </p:txBody>
      </p:sp>
      <p:sp>
        <p:nvSpPr>
          <p:cNvPr id="223" name="Google Shape;223;p22"/>
          <p:cNvSpPr/>
          <p:nvPr/>
        </p:nvSpPr>
        <p:spPr>
          <a:xfrm>
            <a:off x="3510300" y="2213025"/>
            <a:ext cx="1237800" cy="485100"/>
          </a:xfrm>
          <a:prstGeom prst="roundRect">
            <a:avLst>
              <a:gd fmla="val 16667" name="adj"/>
            </a:avLst>
          </a:prstGeom>
          <a:noFill/>
          <a:ln cap="flat" cmpd="sng" w="19050">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24" name="Google Shape;224;p22"/>
          <p:cNvSpPr/>
          <p:nvPr/>
        </p:nvSpPr>
        <p:spPr>
          <a:xfrm>
            <a:off x="3510300" y="2723340"/>
            <a:ext cx="1505700" cy="4851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25" name="Google Shape;225;p22"/>
          <p:cNvSpPr/>
          <p:nvPr/>
        </p:nvSpPr>
        <p:spPr>
          <a:xfrm>
            <a:off x="3200525" y="4052947"/>
            <a:ext cx="294900" cy="103500"/>
          </a:xfrm>
          <a:prstGeom prst="homePlate">
            <a:avLst>
              <a:gd fmla="val 50000"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26" name="Google Shape;226;p22"/>
          <p:cNvSpPr/>
          <p:nvPr/>
        </p:nvSpPr>
        <p:spPr>
          <a:xfrm>
            <a:off x="3200526" y="3938945"/>
            <a:ext cx="294900" cy="103500"/>
          </a:xfrm>
          <a:prstGeom prst="homePlate">
            <a:avLst>
              <a:gd fmla="val 50000" name="adj"/>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27" name="Google Shape;227;p22"/>
          <p:cNvSpPr/>
          <p:nvPr/>
        </p:nvSpPr>
        <p:spPr>
          <a:xfrm>
            <a:off x="3200525" y="2895922"/>
            <a:ext cx="294900" cy="103500"/>
          </a:xfrm>
          <a:prstGeom prst="homePlate">
            <a:avLst>
              <a:gd fmla="val 50000"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28" name="Google Shape;228;p22"/>
          <p:cNvSpPr/>
          <p:nvPr/>
        </p:nvSpPr>
        <p:spPr>
          <a:xfrm>
            <a:off x="3200526" y="2781920"/>
            <a:ext cx="294900" cy="103500"/>
          </a:xfrm>
          <a:prstGeom prst="homePlate">
            <a:avLst>
              <a:gd fmla="val 50000" name="adj"/>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29" name="Google Shape;229;p22"/>
          <p:cNvSpPr/>
          <p:nvPr/>
        </p:nvSpPr>
        <p:spPr>
          <a:xfrm>
            <a:off x="8520075" y="1170475"/>
            <a:ext cx="481200" cy="572700"/>
          </a:xfrm>
          <a:prstGeom prst="roundRect">
            <a:avLst>
              <a:gd fmla="val 16667" name="adj"/>
            </a:avLst>
          </a:prstGeom>
          <a:solidFill>
            <a:srgbClr val="E69138"/>
          </a:solidFill>
          <a:ln cap="flat" cmpd="sng" w="2857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60000"/>
              </a:lnSpc>
              <a:spcBef>
                <a:spcPts val="0"/>
              </a:spcBef>
              <a:spcAft>
                <a:spcPts val="0"/>
              </a:spcAft>
              <a:buNone/>
            </a:pPr>
            <a:r>
              <a:rPr b="1" lang="es" sz="1000">
                <a:solidFill>
                  <a:schemeClr val="lt1"/>
                </a:solidFill>
                <a:latin typeface="Montserrat"/>
                <a:ea typeface="Montserrat"/>
                <a:cs typeface="Montserrat"/>
                <a:sym typeface="Montserrat"/>
              </a:rPr>
              <a:t>a</a:t>
            </a:r>
            <a:endParaRPr b="1" sz="1000">
              <a:solidFill>
                <a:schemeClr val="lt1"/>
              </a:solidFill>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solidFill>
                <a:schemeClr val="lt1"/>
              </a:solidFill>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solidFill>
                <a:schemeClr val="lt1"/>
              </a:solidFill>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solidFill>
                <a:schemeClr val="lt1"/>
              </a:solidFill>
              <a:latin typeface="Montserrat"/>
              <a:ea typeface="Montserrat"/>
              <a:cs typeface="Montserrat"/>
              <a:sym typeface="Montserrat"/>
            </a:endParaRPr>
          </a:p>
        </p:txBody>
      </p:sp>
      <p:sp>
        <p:nvSpPr>
          <p:cNvPr id="230" name="Google Shape;230;p22"/>
          <p:cNvSpPr/>
          <p:nvPr/>
        </p:nvSpPr>
        <p:spPr>
          <a:xfrm>
            <a:off x="8225258" y="768000"/>
            <a:ext cx="535850" cy="793250"/>
          </a:xfrm>
          <a:custGeom>
            <a:rect b="b" l="l" r="r" t="t"/>
            <a:pathLst>
              <a:path extrusionOk="0" h="31730" w="21434">
                <a:moveTo>
                  <a:pt x="21435" y="31730"/>
                </a:moveTo>
                <a:cubicBezTo>
                  <a:pt x="17898" y="28597"/>
                  <a:pt x="1865" y="18222"/>
                  <a:pt x="214" y="12934"/>
                </a:cubicBezTo>
                <a:cubicBezTo>
                  <a:pt x="-1436" y="7646"/>
                  <a:pt x="9646" y="2156"/>
                  <a:pt x="11532" y="0"/>
                </a:cubicBezTo>
              </a:path>
            </a:pathLst>
          </a:custGeom>
          <a:noFill/>
          <a:ln cap="flat" cmpd="sng" w="28575">
            <a:solidFill>
              <a:schemeClr val="dk1"/>
            </a:solidFill>
            <a:prstDash val="solid"/>
            <a:round/>
            <a:headEnd len="med" w="med" type="oval"/>
            <a:tailEnd len="med" w="med" type="triangle"/>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3"/>
          <p:cNvSpPr txBox="1"/>
          <p:nvPr>
            <p:ph type="title"/>
          </p:nvPr>
        </p:nvSpPr>
        <p:spPr>
          <a:xfrm>
            <a:off x="311700" y="445025"/>
            <a:ext cx="7445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¿Cómo usar un </a:t>
            </a:r>
            <a:r>
              <a:rPr lang="es"/>
              <a:t>parámetro</a:t>
            </a:r>
            <a:r>
              <a:rPr lang="es"/>
              <a:t> “por referencia”?</a:t>
            </a:r>
            <a:endParaRPr/>
          </a:p>
        </p:txBody>
      </p:sp>
      <p:sp>
        <p:nvSpPr>
          <p:cNvPr id="236" name="Google Shape;236;p23"/>
          <p:cNvSpPr txBox="1"/>
          <p:nvPr>
            <p:ph idx="1" type="body"/>
          </p:nvPr>
        </p:nvSpPr>
        <p:spPr>
          <a:xfrm>
            <a:off x="311700" y="1152475"/>
            <a:ext cx="3061500" cy="3712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s"/>
              <a:t>Cuando utilizamos el </a:t>
            </a:r>
            <a:r>
              <a:rPr b="1" lang="es"/>
              <a:t>&amp;</a:t>
            </a:r>
            <a:r>
              <a:rPr lang="es"/>
              <a:t> en argumentos de funciones, lo que queremos decir es que </a:t>
            </a:r>
            <a:r>
              <a:rPr b="1" lang="es"/>
              <a:t>NO</a:t>
            </a:r>
            <a:r>
              <a:rPr lang="es"/>
              <a:t> se va a reservar un espacio de memoria nuevo para ese argumento, sino que vamos a </a:t>
            </a:r>
            <a:r>
              <a:rPr b="1" lang="es"/>
              <a:t>hacer referencia</a:t>
            </a:r>
            <a:r>
              <a:rPr lang="es"/>
              <a:t> a la variable que se haya utilizado en la invocación de la función.</a:t>
            </a:r>
            <a:endParaRPr/>
          </a:p>
        </p:txBody>
      </p:sp>
      <p:sp>
        <p:nvSpPr>
          <p:cNvPr id="237" name="Google Shape;237;p23"/>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38" name="Google Shape;238;p23"/>
          <p:cNvSpPr/>
          <p:nvPr/>
        </p:nvSpPr>
        <p:spPr>
          <a:xfrm rot="10800000">
            <a:off x="3352950" y="1419350"/>
            <a:ext cx="4433400" cy="3247800"/>
          </a:xfrm>
          <a:prstGeom prst="round2SameRect">
            <a:avLst>
              <a:gd fmla="val 6272" name="adj1"/>
              <a:gd fmla="val 0" name="adj2"/>
            </a:avLst>
          </a:prstGeom>
          <a:solidFill>
            <a:srgbClr val="FAFAFA"/>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39" name="Google Shape;239;p23"/>
          <p:cNvSpPr/>
          <p:nvPr/>
        </p:nvSpPr>
        <p:spPr>
          <a:xfrm rot="10800000">
            <a:off x="3352929" y="1170475"/>
            <a:ext cx="4433400" cy="249000"/>
          </a:xfrm>
          <a:prstGeom prst="round2SameRect">
            <a:avLst>
              <a:gd fmla="val 6272" name="adj1"/>
              <a:gd fmla="val 50000" name="adj2"/>
            </a:avLst>
          </a:prstGeom>
          <a:solidFill>
            <a:srgbClr val="434343"/>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40" name="Google Shape;240;p23"/>
          <p:cNvSpPr/>
          <p:nvPr/>
        </p:nvSpPr>
        <p:spPr>
          <a:xfrm>
            <a:off x="3511603" y="1234015"/>
            <a:ext cx="136200" cy="136200"/>
          </a:xfrm>
          <a:prstGeom prst="ellipse">
            <a:avLst/>
          </a:prstGeom>
          <a:solidFill>
            <a:srgbClr val="FF605C"/>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41" name="Google Shape;241;p23"/>
          <p:cNvSpPr/>
          <p:nvPr/>
        </p:nvSpPr>
        <p:spPr>
          <a:xfrm>
            <a:off x="3713214" y="1234015"/>
            <a:ext cx="136200" cy="136200"/>
          </a:xfrm>
          <a:prstGeom prst="ellipse">
            <a:avLst/>
          </a:prstGeom>
          <a:solidFill>
            <a:srgbClr val="FFBD44"/>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42" name="Google Shape;242;p23"/>
          <p:cNvSpPr/>
          <p:nvPr/>
        </p:nvSpPr>
        <p:spPr>
          <a:xfrm>
            <a:off x="3914825" y="1234015"/>
            <a:ext cx="136200" cy="136200"/>
          </a:xfrm>
          <a:prstGeom prst="ellipse">
            <a:avLst/>
          </a:prstGeom>
          <a:solidFill>
            <a:srgbClr val="00CA4E"/>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43" name="Google Shape;243;p23"/>
          <p:cNvSpPr txBox="1"/>
          <p:nvPr/>
        </p:nvSpPr>
        <p:spPr>
          <a:xfrm>
            <a:off x="3511780" y="1541043"/>
            <a:ext cx="4233600" cy="3009300"/>
          </a:xfrm>
          <a:prstGeom prst="rect">
            <a:avLst/>
          </a:prstGeom>
          <a:solidFill>
            <a:srgbClr val="FAFAFA"/>
          </a:solidFill>
          <a:ln>
            <a:noFill/>
          </a:ln>
        </p:spPr>
        <p:txBody>
          <a:bodyPr anchorCtr="0" anchor="t" bIns="69675" lIns="69675" spcFirstLastPara="1" rIns="69675" wrap="square" tIns="69675">
            <a:noAutofit/>
          </a:bodyPr>
          <a:lstStyle/>
          <a:p>
            <a:pPr indent="0" lvl="0" marL="0" rtl="0" algn="l">
              <a:spcBef>
                <a:spcPts val="0"/>
              </a:spcBef>
              <a:spcAft>
                <a:spcPts val="0"/>
              </a:spcAft>
              <a:buNone/>
            </a:pPr>
            <a:r>
              <a:rPr lang="es" sz="838">
                <a:solidFill>
                  <a:srgbClr val="383A42"/>
                </a:solidFill>
              </a:rPr>
              <a:t>#include &lt;iostream&gt;</a:t>
            </a:r>
            <a:endParaRPr sz="838">
              <a:solidFill>
                <a:srgbClr val="383A42"/>
              </a:solidFill>
            </a:endParaRPr>
          </a:p>
          <a:p>
            <a:pPr indent="0" lvl="0" marL="0" rtl="0" algn="l">
              <a:spcBef>
                <a:spcPts val="0"/>
              </a:spcBef>
              <a:spcAft>
                <a:spcPts val="0"/>
              </a:spcAft>
              <a:buNone/>
            </a:pPr>
            <a:r>
              <a:rPr lang="es" sz="838">
                <a:solidFill>
                  <a:srgbClr val="383A42"/>
                </a:solidFill>
              </a:rPr>
              <a:t>#include &lt;iomanip&gt;</a:t>
            </a:r>
            <a:endParaRPr sz="838">
              <a:solidFill>
                <a:srgbClr val="383A42"/>
              </a:solidFill>
            </a:endParaRPr>
          </a:p>
          <a:p>
            <a:pPr indent="0" lvl="0" marL="0" rtl="0" algn="l">
              <a:spcBef>
                <a:spcPts val="0"/>
              </a:spcBef>
              <a:spcAft>
                <a:spcPts val="0"/>
              </a:spcAft>
              <a:buNone/>
            </a:pPr>
            <a:r>
              <a:rPr lang="es" sz="838">
                <a:solidFill>
                  <a:srgbClr val="383A42"/>
                </a:solidFill>
              </a:rPr>
              <a:t>#include &lt;cmath&gt;</a:t>
            </a:r>
            <a:endParaRPr sz="838">
              <a:solidFill>
                <a:srgbClr val="383A42"/>
              </a:solidFill>
            </a:endParaRPr>
          </a:p>
          <a:p>
            <a:pPr indent="0" lvl="0" marL="0" rtl="0" algn="l">
              <a:spcBef>
                <a:spcPts val="0"/>
              </a:spcBef>
              <a:spcAft>
                <a:spcPts val="0"/>
              </a:spcAft>
              <a:buNone/>
            </a:pPr>
            <a:r>
              <a:rPr lang="es" sz="838">
                <a:solidFill>
                  <a:srgbClr val="A626A4"/>
                </a:solidFill>
              </a:rPr>
              <a:t>using</a:t>
            </a:r>
            <a:r>
              <a:rPr lang="es" sz="838">
                <a:solidFill>
                  <a:srgbClr val="A0A1A7"/>
                </a:solidFill>
              </a:rPr>
              <a:t> </a:t>
            </a:r>
            <a:r>
              <a:rPr lang="es" sz="838">
                <a:solidFill>
                  <a:srgbClr val="A626A4"/>
                </a:solidFill>
              </a:rPr>
              <a:t>namespace</a:t>
            </a:r>
            <a:r>
              <a:rPr lang="es" sz="838">
                <a:solidFill>
                  <a:srgbClr val="A0A1A7"/>
                </a:solidFill>
              </a:rPr>
              <a:t> </a:t>
            </a:r>
            <a:r>
              <a:rPr lang="es" sz="838">
                <a:solidFill>
                  <a:srgbClr val="4078F2"/>
                </a:solidFill>
              </a:rPr>
              <a:t>std</a:t>
            </a: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void</a:t>
            </a:r>
            <a:r>
              <a:rPr lang="es" sz="838">
                <a:solidFill>
                  <a:srgbClr val="A0A1A7"/>
                </a:solidFill>
              </a:rPr>
              <a:t> </a:t>
            </a:r>
            <a:r>
              <a:rPr lang="es" sz="838">
                <a:solidFill>
                  <a:srgbClr val="4078F2"/>
                </a:solidFill>
              </a:rPr>
              <a:t>incrementar</a:t>
            </a:r>
            <a:r>
              <a:rPr lang="es" sz="838">
                <a:solidFill>
                  <a:srgbClr val="383A42"/>
                </a:solidFill>
              </a:rPr>
              <a:t>(</a:t>
            </a:r>
            <a:r>
              <a:rPr lang="es" sz="838">
                <a:solidFill>
                  <a:srgbClr val="27292F"/>
                </a:solidFill>
              </a:rPr>
              <a:t>int</a:t>
            </a:r>
            <a:r>
              <a:rPr lang="es" sz="838">
                <a:solidFill>
                  <a:srgbClr val="A0A1A7"/>
                </a:solidFill>
              </a:rPr>
              <a:t> </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a</a:t>
            </a:r>
            <a:r>
              <a:rPr lang="es" sz="838">
                <a:solidFill>
                  <a:srgbClr val="0184BC"/>
                </a:solidFill>
              </a:rPr>
              <a:t>++</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void</a:t>
            </a:r>
            <a:r>
              <a:rPr lang="es" sz="838">
                <a:solidFill>
                  <a:srgbClr val="A0A1A7"/>
                </a:solidFill>
              </a:rPr>
              <a:t> </a:t>
            </a:r>
            <a:r>
              <a:rPr lang="es" sz="838">
                <a:solidFill>
                  <a:srgbClr val="4078F2"/>
                </a:solidFill>
              </a:rPr>
              <a:t>incrementar_ref</a:t>
            </a:r>
            <a:r>
              <a:rPr lang="es" sz="838">
                <a:solidFill>
                  <a:srgbClr val="383A42"/>
                </a:solidFill>
              </a:rPr>
              <a:t>(</a:t>
            </a:r>
            <a:r>
              <a:rPr lang="es" sz="838">
                <a:solidFill>
                  <a:srgbClr val="27292F"/>
                </a:solidFill>
              </a:rPr>
              <a:t>int</a:t>
            </a:r>
            <a:r>
              <a:rPr lang="es" sz="838">
                <a:solidFill>
                  <a:srgbClr val="A0A1A7"/>
                </a:solidFill>
              </a:rPr>
              <a:t> </a:t>
            </a:r>
            <a:r>
              <a:rPr lang="es" sz="838">
                <a:solidFill>
                  <a:srgbClr val="0184BC"/>
                </a:solidFill>
              </a:rPr>
              <a:t>&amp;</a:t>
            </a:r>
            <a:r>
              <a:rPr lang="es" sz="838">
                <a:solidFill>
                  <a:srgbClr val="E06C75"/>
                </a:solidFill>
              </a:rPr>
              <a:t>a</a:t>
            </a:r>
            <a:r>
              <a:rPr lang="es" sz="838">
                <a:solidFill>
                  <a:srgbClr val="383A42"/>
                </a:solidFill>
              </a:rPr>
              <a:t>)</a:t>
            </a:r>
            <a:r>
              <a:rPr lang="es" sz="838">
                <a:solidFill>
                  <a:srgbClr val="A0A1A7"/>
                </a:solidFill>
              </a:rPr>
              <a:t> </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a</a:t>
            </a:r>
            <a:r>
              <a:rPr lang="es" sz="838">
                <a:solidFill>
                  <a:srgbClr val="0184BC"/>
                </a:solidFill>
              </a:rPr>
              <a:t>++</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int</a:t>
            </a:r>
            <a:r>
              <a:rPr lang="es" sz="838">
                <a:solidFill>
                  <a:srgbClr val="A0A1A7"/>
                </a:solidFill>
              </a:rPr>
              <a:t> </a:t>
            </a:r>
            <a:r>
              <a:rPr lang="es" sz="838">
                <a:solidFill>
                  <a:srgbClr val="4078F2"/>
                </a:solidFill>
              </a:rPr>
              <a:t>main</a:t>
            </a:r>
            <a:r>
              <a:rPr lang="es" sz="838">
                <a:solidFill>
                  <a:srgbClr val="383A42"/>
                </a:solidFill>
              </a:rPr>
              <a:t>()</a:t>
            </a:r>
            <a:r>
              <a:rPr lang="es" sz="838">
                <a:solidFill>
                  <a:srgbClr val="A0A1A7"/>
                </a:solidFill>
              </a:rPr>
              <a:t> </a:t>
            </a:r>
            <a:endParaRPr sz="838">
              <a:solidFill>
                <a:srgbClr val="A0A1A7"/>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27292F"/>
                </a:solidFill>
              </a:rPr>
              <a:t>int</a:t>
            </a:r>
            <a:r>
              <a:rPr lang="es" sz="838">
                <a:solidFill>
                  <a:srgbClr val="A0A1A7"/>
                </a:solidFill>
              </a:rPr>
              <a:t> </a:t>
            </a:r>
            <a:r>
              <a:rPr lang="es" sz="838">
                <a:solidFill>
                  <a:srgbClr val="E06C75"/>
                </a:solidFill>
              </a:rPr>
              <a:t>a</a:t>
            </a:r>
            <a:r>
              <a:rPr lang="es" sz="838">
                <a:solidFill>
                  <a:srgbClr val="0184BC"/>
                </a:solidFill>
              </a:rPr>
              <a:t>=</a:t>
            </a:r>
            <a:r>
              <a:rPr lang="es" sz="838">
                <a:solidFill>
                  <a:srgbClr val="986801"/>
                </a:solidFill>
              </a:rPr>
              <a:t>3</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antes de incrementar(a):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incrementar</a:t>
            </a:r>
            <a:r>
              <a:rPr lang="es" sz="838">
                <a:solidFill>
                  <a:srgbClr val="383A42"/>
                </a:solidFill>
              </a:rPr>
              <a:t>(</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despues de incrementar(a) y antes de incrementar_ref(a):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incrementar_ref</a:t>
            </a:r>
            <a:r>
              <a:rPr lang="es" sz="838">
                <a:solidFill>
                  <a:srgbClr val="383A42"/>
                </a:solidFill>
              </a:rPr>
              <a:t>(</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despues de incrementar_ref(a):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p:txBody>
      </p:sp>
      <p:sp>
        <p:nvSpPr>
          <p:cNvPr id="244" name="Google Shape;244;p23"/>
          <p:cNvSpPr/>
          <p:nvPr/>
        </p:nvSpPr>
        <p:spPr>
          <a:xfrm>
            <a:off x="8520075" y="445025"/>
            <a:ext cx="4812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60000"/>
              </a:lnSpc>
              <a:spcBef>
                <a:spcPts val="0"/>
              </a:spcBef>
              <a:spcAft>
                <a:spcPts val="0"/>
              </a:spcAft>
              <a:buNone/>
            </a:pPr>
            <a:r>
              <a:rPr b="1" lang="es" sz="1000">
                <a:latin typeface="Montserrat"/>
                <a:ea typeface="Montserrat"/>
                <a:cs typeface="Montserrat"/>
                <a:sym typeface="Montserrat"/>
              </a:rPr>
              <a:t>a</a:t>
            </a:r>
            <a:endParaRPr b="1" sz="1000">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latin typeface="Montserrat"/>
              <a:ea typeface="Montserrat"/>
              <a:cs typeface="Montserrat"/>
              <a:sym typeface="Montserrat"/>
            </a:endParaRPr>
          </a:p>
          <a:p>
            <a:pPr indent="0" lvl="0" marL="0" rtl="0" algn="ctr">
              <a:lnSpc>
                <a:spcPct val="60000"/>
              </a:lnSpc>
              <a:spcBef>
                <a:spcPts val="0"/>
              </a:spcBef>
              <a:spcAft>
                <a:spcPts val="0"/>
              </a:spcAft>
              <a:buNone/>
            </a:pPr>
            <a:r>
              <a:rPr lang="es" sz="1000">
                <a:latin typeface="Montserrat"/>
                <a:ea typeface="Montserrat"/>
                <a:cs typeface="Montserrat"/>
                <a:sym typeface="Montserrat"/>
              </a:rPr>
              <a:t>4</a:t>
            </a:r>
            <a:endParaRPr sz="1000">
              <a:latin typeface="Montserrat"/>
              <a:ea typeface="Montserrat"/>
              <a:cs typeface="Montserrat"/>
              <a:sym typeface="Montserrat"/>
            </a:endParaRPr>
          </a:p>
        </p:txBody>
      </p:sp>
      <p:sp>
        <p:nvSpPr>
          <p:cNvPr id="245" name="Google Shape;245;p23"/>
          <p:cNvSpPr/>
          <p:nvPr/>
        </p:nvSpPr>
        <p:spPr>
          <a:xfrm>
            <a:off x="3510300" y="2213025"/>
            <a:ext cx="1237800" cy="485100"/>
          </a:xfrm>
          <a:prstGeom prst="roundRect">
            <a:avLst>
              <a:gd fmla="val 16667" name="adj"/>
            </a:avLst>
          </a:prstGeom>
          <a:noFill/>
          <a:ln cap="flat" cmpd="sng" w="19050">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46" name="Google Shape;246;p23"/>
          <p:cNvSpPr/>
          <p:nvPr/>
        </p:nvSpPr>
        <p:spPr>
          <a:xfrm>
            <a:off x="3510300" y="2723340"/>
            <a:ext cx="1505700" cy="4851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47" name="Google Shape;247;p23"/>
          <p:cNvSpPr/>
          <p:nvPr/>
        </p:nvSpPr>
        <p:spPr>
          <a:xfrm>
            <a:off x="3200525" y="4052947"/>
            <a:ext cx="294900" cy="103500"/>
          </a:xfrm>
          <a:prstGeom prst="homePlate">
            <a:avLst>
              <a:gd fmla="val 50000"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48" name="Google Shape;248;p23"/>
          <p:cNvSpPr/>
          <p:nvPr/>
        </p:nvSpPr>
        <p:spPr>
          <a:xfrm>
            <a:off x="3200526" y="3938945"/>
            <a:ext cx="294900" cy="103500"/>
          </a:xfrm>
          <a:prstGeom prst="homePlate">
            <a:avLst>
              <a:gd fmla="val 50000" name="adj"/>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49" name="Google Shape;249;p23"/>
          <p:cNvSpPr/>
          <p:nvPr/>
        </p:nvSpPr>
        <p:spPr>
          <a:xfrm>
            <a:off x="3200525" y="3017595"/>
            <a:ext cx="294900" cy="103500"/>
          </a:xfrm>
          <a:prstGeom prst="homePlate">
            <a:avLst>
              <a:gd fmla="val 50000"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50" name="Google Shape;250;p23"/>
          <p:cNvSpPr/>
          <p:nvPr/>
        </p:nvSpPr>
        <p:spPr>
          <a:xfrm>
            <a:off x="3200526" y="2903593"/>
            <a:ext cx="294900" cy="103500"/>
          </a:xfrm>
          <a:prstGeom prst="homePlate">
            <a:avLst>
              <a:gd fmla="val 50000" name="adj"/>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51" name="Google Shape;251;p23"/>
          <p:cNvSpPr/>
          <p:nvPr/>
        </p:nvSpPr>
        <p:spPr>
          <a:xfrm>
            <a:off x="8520075" y="1170475"/>
            <a:ext cx="481200" cy="572700"/>
          </a:xfrm>
          <a:prstGeom prst="roundRect">
            <a:avLst>
              <a:gd fmla="val 16667" name="adj"/>
            </a:avLst>
          </a:prstGeom>
          <a:solidFill>
            <a:srgbClr val="E69138"/>
          </a:solidFill>
          <a:ln cap="flat" cmpd="sng" w="2857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60000"/>
              </a:lnSpc>
              <a:spcBef>
                <a:spcPts val="0"/>
              </a:spcBef>
              <a:spcAft>
                <a:spcPts val="0"/>
              </a:spcAft>
              <a:buNone/>
            </a:pPr>
            <a:r>
              <a:rPr b="1" lang="es" sz="1000">
                <a:solidFill>
                  <a:schemeClr val="lt1"/>
                </a:solidFill>
                <a:latin typeface="Montserrat"/>
                <a:ea typeface="Montserrat"/>
                <a:cs typeface="Montserrat"/>
                <a:sym typeface="Montserrat"/>
              </a:rPr>
              <a:t>a</a:t>
            </a:r>
            <a:endParaRPr b="1" sz="1000">
              <a:solidFill>
                <a:schemeClr val="lt1"/>
              </a:solidFill>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solidFill>
                <a:schemeClr val="lt1"/>
              </a:solidFill>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solidFill>
                <a:schemeClr val="lt1"/>
              </a:solidFill>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solidFill>
                <a:schemeClr val="lt1"/>
              </a:solidFill>
              <a:latin typeface="Montserrat"/>
              <a:ea typeface="Montserrat"/>
              <a:cs typeface="Montserrat"/>
              <a:sym typeface="Montserrat"/>
            </a:endParaRPr>
          </a:p>
        </p:txBody>
      </p:sp>
      <p:sp>
        <p:nvSpPr>
          <p:cNvPr id="252" name="Google Shape;252;p23"/>
          <p:cNvSpPr/>
          <p:nvPr/>
        </p:nvSpPr>
        <p:spPr>
          <a:xfrm>
            <a:off x="8225258" y="768000"/>
            <a:ext cx="535850" cy="793250"/>
          </a:xfrm>
          <a:custGeom>
            <a:rect b="b" l="l" r="r" t="t"/>
            <a:pathLst>
              <a:path extrusionOk="0" h="31730" w="21434">
                <a:moveTo>
                  <a:pt x="21435" y="31730"/>
                </a:moveTo>
                <a:cubicBezTo>
                  <a:pt x="17898" y="28597"/>
                  <a:pt x="1865" y="18222"/>
                  <a:pt x="214" y="12934"/>
                </a:cubicBezTo>
                <a:cubicBezTo>
                  <a:pt x="-1436" y="7646"/>
                  <a:pt x="9646" y="2156"/>
                  <a:pt x="11532" y="0"/>
                </a:cubicBezTo>
              </a:path>
            </a:pathLst>
          </a:custGeom>
          <a:noFill/>
          <a:ln cap="flat" cmpd="sng" w="28575">
            <a:solidFill>
              <a:schemeClr val="dk1"/>
            </a:solidFill>
            <a:prstDash val="solid"/>
            <a:round/>
            <a:headEnd len="med" w="med" type="oval"/>
            <a:tailEnd len="med" w="med" type="triangle"/>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4"/>
          <p:cNvSpPr txBox="1"/>
          <p:nvPr>
            <p:ph type="title"/>
          </p:nvPr>
        </p:nvSpPr>
        <p:spPr>
          <a:xfrm>
            <a:off x="311700" y="445025"/>
            <a:ext cx="7445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¿Cómo usar un </a:t>
            </a:r>
            <a:r>
              <a:rPr lang="es"/>
              <a:t>parámetro</a:t>
            </a:r>
            <a:r>
              <a:rPr lang="es"/>
              <a:t> “por referencia”?</a:t>
            </a:r>
            <a:endParaRPr/>
          </a:p>
        </p:txBody>
      </p:sp>
      <p:sp>
        <p:nvSpPr>
          <p:cNvPr id="258" name="Google Shape;258;p24"/>
          <p:cNvSpPr txBox="1"/>
          <p:nvPr>
            <p:ph idx="1" type="body"/>
          </p:nvPr>
        </p:nvSpPr>
        <p:spPr>
          <a:xfrm>
            <a:off x="311700" y="1152475"/>
            <a:ext cx="3061500" cy="3712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s"/>
              <a:t>Cuando utilizamos el </a:t>
            </a:r>
            <a:r>
              <a:rPr b="1" lang="es"/>
              <a:t>&amp;</a:t>
            </a:r>
            <a:r>
              <a:rPr lang="es"/>
              <a:t> en argumentos de funciones, lo que queremos decir es que </a:t>
            </a:r>
            <a:r>
              <a:rPr b="1" lang="es"/>
              <a:t>NO</a:t>
            </a:r>
            <a:r>
              <a:rPr lang="es"/>
              <a:t> se va a reservar un espacio de memoria nuevo para ese argumento, sino que vamos a </a:t>
            </a:r>
            <a:r>
              <a:rPr b="1" lang="es"/>
              <a:t>hacer referencia</a:t>
            </a:r>
            <a:r>
              <a:rPr lang="es"/>
              <a:t> a la variable que se haya utilizado en la invocación de la función.</a:t>
            </a:r>
            <a:endParaRPr/>
          </a:p>
        </p:txBody>
      </p:sp>
      <p:sp>
        <p:nvSpPr>
          <p:cNvPr id="259" name="Google Shape;259;p24"/>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60" name="Google Shape;260;p24"/>
          <p:cNvSpPr/>
          <p:nvPr/>
        </p:nvSpPr>
        <p:spPr>
          <a:xfrm rot="10800000">
            <a:off x="3352950" y="1419350"/>
            <a:ext cx="4433400" cy="3247800"/>
          </a:xfrm>
          <a:prstGeom prst="round2SameRect">
            <a:avLst>
              <a:gd fmla="val 6272" name="adj1"/>
              <a:gd fmla="val 0" name="adj2"/>
            </a:avLst>
          </a:prstGeom>
          <a:solidFill>
            <a:srgbClr val="FAFAFA"/>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61" name="Google Shape;261;p24"/>
          <p:cNvSpPr/>
          <p:nvPr/>
        </p:nvSpPr>
        <p:spPr>
          <a:xfrm rot="10800000">
            <a:off x="3352929" y="1170475"/>
            <a:ext cx="4433400" cy="249000"/>
          </a:xfrm>
          <a:prstGeom prst="round2SameRect">
            <a:avLst>
              <a:gd fmla="val 6272" name="adj1"/>
              <a:gd fmla="val 50000" name="adj2"/>
            </a:avLst>
          </a:prstGeom>
          <a:solidFill>
            <a:srgbClr val="434343"/>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62" name="Google Shape;262;p24"/>
          <p:cNvSpPr/>
          <p:nvPr/>
        </p:nvSpPr>
        <p:spPr>
          <a:xfrm>
            <a:off x="3511603" y="1234015"/>
            <a:ext cx="136200" cy="136200"/>
          </a:xfrm>
          <a:prstGeom prst="ellipse">
            <a:avLst/>
          </a:prstGeom>
          <a:solidFill>
            <a:srgbClr val="FF605C"/>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63" name="Google Shape;263;p24"/>
          <p:cNvSpPr/>
          <p:nvPr/>
        </p:nvSpPr>
        <p:spPr>
          <a:xfrm>
            <a:off x="3713214" y="1234015"/>
            <a:ext cx="136200" cy="136200"/>
          </a:xfrm>
          <a:prstGeom prst="ellipse">
            <a:avLst/>
          </a:prstGeom>
          <a:solidFill>
            <a:srgbClr val="FFBD44"/>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64" name="Google Shape;264;p24"/>
          <p:cNvSpPr/>
          <p:nvPr/>
        </p:nvSpPr>
        <p:spPr>
          <a:xfrm>
            <a:off x="3914825" y="1234015"/>
            <a:ext cx="136200" cy="136200"/>
          </a:xfrm>
          <a:prstGeom prst="ellipse">
            <a:avLst/>
          </a:prstGeom>
          <a:solidFill>
            <a:srgbClr val="00CA4E"/>
          </a:solidFill>
          <a:ln>
            <a:noFill/>
          </a:ln>
        </p:spPr>
        <p:txBody>
          <a:bodyPr anchorCtr="0" anchor="ctr" bIns="69675" lIns="69675" spcFirstLastPara="1" rIns="69675" wrap="square" tIns="69675">
            <a:noAutofit/>
          </a:bodyPr>
          <a:lstStyle/>
          <a:p>
            <a:pPr indent="0" lvl="0" marL="0" marR="0" rtl="0" algn="l">
              <a:lnSpc>
                <a:spcPct val="100000"/>
              </a:lnSpc>
              <a:spcBef>
                <a:spcPts val="0"/>
              </a:spcBef>
              <a:spcAft>
                <a:spcPts val="0"/>
              </a:spcAft>
              <a:buClr>
                <a:srgbClr val="000000"/>
              </a:buClr>
              <a:buFont typeface="Arial"/>
              <a:buNone/>
            </a:pPr>
            <a:r>
              <a:t/>
            </a:r>
            <a:endParaRPr b="0" i="0" sz="100" u="none" cap="none" strike="noStrike">
              <a:solidFill>
                <a:srgbClr val="000000"/>
              </a:solidFill>
              <a:latin typeface="Arial"/>
              <a:ea typeface="Arial"/>
              <a:cs typeface="Arial"/>
              <a:sym typeface="Arial"/>
            </a:endParaRPr>
          </a:p>
        </p:txBody>
      </p:sp>
      <p:sp>
        <p:nvSpPr>
          <p:cNvPr id="265" name="Google Shape;265;p24"/>
          <p:cNvSpPr txBox="1"/>
          <p:nvPr/>
        </p:nvSpPr>
        <p:spPr>
          <a:xfrm>
            <a:off x="3511780" y="1541043"/>
            <a:ext cx="4233600" cy="3009300"/>
          </a:xfrm>
          <a:prstGeom prst="rect">
            <a:avLst/>
          </a:prstGeom>
          <a:solidFill>
            <a:srgbClr val="FAFAFA"/>
          </a:solidFill>
          <a:ln>
            <a:noFill/>
          </a:ln>
        </p:spPr>
        <p:txBody>
          <a:bodyPr anchorCtr="0" anchor="t" bIns="69675" lIns="69675" spcFirstLastPara="1" rIns="69675" wrap="square" tIns="69675">
            <a:noAutofit/>
          </a:bodyPr>
          <a:lstStyle/>
          <a:p>
            <a:pPr indent="0" lvl="0" marL="0" rtl="0" algn="l">
              <a:spcBef>
                <a:spcPts val="0"/>
              </a:spcBef>
              <a:spcAft>
                <a:spcPts val="0"/>
              </a:spcAft>
              <a:buNone/>
            </a:pPr>
            <a:r>
              <a:rPr lang="es" sz="838">
                <a:solidFill>
                  <a:srgbClr val="383A42"/>
                </a:solidFill>
              </a:rPr>
              <a:t>#include &lt;iostream&gt;</a:t>
            </a:r>
            <a:endParaRPr sz="838">
              <a:solidFill>
                <a:srgbClr val="383A42"/>
              </a:solidFill>
            </a:endParaRPr>
          </a:p>
          <a:p>
            <a:pPr indent="0" lvl="0" marL="0" rtl="0" algn="l">
              <a:spcBef>
                <a:spcPts val="0"/>
              </a:spcBef>
              <a:spcAft>
                <a:spcPts val="0"/>
              </a:spcAft>
              <a:buNone/>
            </a:pPr>
            <a:r>
              <a:rPr lang="es" sz="838">
                <a:solidFill>
                  <a:srgbClr val="383A42"/>
                </a:solidFill>
              </a:rPr>
              <a:t>#include &lt;iomanip&gt;</a:t>
            </a:r>
            <a:endParaRPr sz="838">
              <a:solidFill>
                <a:srgbClr val="383A42"/>
              </a:solidFill>
            </a:endParaRPr>
          </a:p>
          <a:p>
            <a:pPr indent="0" lvl="0" marL="0" rtl="0" algn="l">
              <a:spcBef>
                <a:spcPts val="0"/>
              </a:spcBef>
              <a:spcAft>
                <a:spcPts val="0"/>
              </a:spcAft>
              <a:buNone/>
            </a:pPr>
            <a:r>
              <a:rPr lang="es" sz="838">
                <a:solidFill>
                  <a:srgbClr val="383A42"/>
                </a:solidFill>
              </a:rPr>
              <a:t>#include &lt;cmath&gt;</a:t>
            </a:r>
            <a:endParaRPr sz="838">
              <a:solidFill>
                <a:srgbClr val="383A42"/>
              </a:solidFill>
            </a:endParaRPr>
          </a:p>
          <a:p>
            <a:pPr indent="0" lvl="0" marL="0" rtl="0" algn="l">
              <a:spcBef>
                <a:spcPts val="0"/>
              </a:spcBef>
              <a:spcAft>
                <a:spcPts val="0"/>
              </a:spcAft>
              <a:buNone/>
            </a:pPr>
            <a:r>
              <a:rPr lang="es" sz="838">
                <a:solidFill>
                  <a:srgbClr val="A626A4"/>
                </a:solidFill>
              </a:rPr>
              <a:t>using</a:t>
            </a:r>
            <a:r>
              <a:rPr lang="es" sz="838">
                <a:solidFill>
                  <a:srgbClr val="A0A1A7"/>
                </a:solidFill>
              </a:rPr>
              <a:t> </a:t>
            </a:r>
            <a:r>
              <a:rPr lang="es" sz="838">
                <a:solidFill>
                  <a:srgbClr val="A626A4"/>
                </a:solidFill>
              </a:rPr>
              <a:t>namespace</a:t>
            </a:r>
            <a:r>
              <a:rPr lang="es" sz="838">
                <a:solidFill>
                  <a:srgbClr val="A0A1A7"/>
                </a:solidFill>
              </a:rPr>
              <a:t> </a:t>
            </a:r>
            <a:r>
              <a:rPr lang="es" sz="838">
                <a:solidFill>
                  <a:srgbClr val="4078F2"/>
                </a:solidFill>
              </a:rPr>
              <a:t>std</a:t>
            </a: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void</a:t>
            </a:r>
            <a:r>
              <a:rPr lang="es" sz="838">
                <a:solidFill>
                  <a:srgbClr val="A0A1A7"/>
                </a:solidFill>
              </a:rPr>
              <a:t> </a:t>
            </a:r>
            <a:r>
              <a:rPr lang="es" sz="838">
                <a:solidFill>
                  <a:srgbClr val="4078F2"/>
                </a:solidFill>
              </a:rPr>
              <a:t>incrementar</a:t>
            </a:r>
            <a:r>
              <a:rPr lang="es" sz="838">
                <a:solidFill>
                  <a:srgbClr val="383A42"/>
                </a:solidFill>
              </a:rPr>
              <a:t>(</a:t>
            </a:r>
            <a:r>
              <a:rPr lang="es" sz="838">
                <a:solidFill>
                  <a:srgbClr val="27292F"/>
                </a:solidFill>
              </a:rPr>
              <a:t>int</a:t>
            </a:r>
            <a:r>
              <a:rPr lang="es" sz="838">
                <a:solidFill>
                  <a:srgbClr val="A0A1A7"/>
                </a:solidFill>
              </a:rPr>
              <a:t> </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a</a:t>
            </a:r>
            <a:r>
              <a:rPr lang="es" sz="838">
                <a:solidFill>
                  <a:srgbClr val="0184BC"/>
                </a:solidFill>
              </a:rPr>
              <a:t>++</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void</a:t>
            </a:r>
            <a:r>
              <a:rPr lang="es" sz="838">
                <a:solidFill>
                  <a:srgbClr val="A0A1A7"/>
                </a:solidFill>
              </a:rPr>
              <a:t> </a:t>
            </a:r>
            <a:r>
              <a:rPr lang="es" sz="838">
                <a:solidFill>
                  <a:srgbClr val="4078F2"/>
                </a:solidFill>
              </a:rPr>
              <a:t>incrementar_ref</a:t>
            </a:r>
            <a:r>
              <a:rPr lang="es" sz="838">
                <a:solidFill>
                  <a:srgbClr val="383A42"/>
                </a:solidFill>
              </a:rPr>
              <a:t>(</a:t>
            </a:r>
            <a:r>
              <a:rPr lang="es" sz="838">
                <a:solidFill>
                  <a:srgbClr val="27292F"/>
                </a:solidFill>
              </a:rPr>
              <a:t>int</a:t>
            </a:r>
            <a:r>
              <a:rPr lang="es" sz="838">
                <a:solidFill>
                  <a:srgbClr val="A0A1A7"/>
                </a:solidFill>
              </a:rPr>
              <a:t> </a:t>
            </a:r>
            <a:r>
              <a:rPr lang="es" sz="838">
                <a:solidFill>
                  <a:srgbClr val="0184BC"/>
                </a:solidFill>
              </a:rPr>
              <a:t>&amp;</a:t>
            </a:r>
            <a:r>
              <a:rPr lang="es" sz="838">
                <a:solidFill>
                  <a:srgbClr val="E06C75"/>
                </a:solidFill>
              </a:rPr>
              <a:t>a</a:t>
            </a:r>
            <a:r>
              <a:rPr lang="es" sz="838">
                <a:solidFill>
                  <a:srgbClr val="383A42"/>
                </a:solidFill>
              </a:rPr>
              <a:t>)</a:t>
            </a:r>
            <a:r>
              <a:rPr lang="es" sz="838">
                <a:solidFill>
                  <a:srgbClr val="A0A1A7"/>
                </a:solidFill>
              </a:rPr>
              <a:t> </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a</a:t>
            </a:r>
            <a:r>
              <a:rPr lang="es" sz="838">
                <a:solidFill>
                  <a:srgbClr val="0184BC"/>
                </a:solidFill>
              </a:rPr>
              <a:t>++</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t/>
            </a:r>
            <a:endParaRPr sz="838">
              <a:solidFill>
                <a:srgbClr val="A0A1A7"/>
              </a:solidFill>
            </a:endParaRPr>
          </a:p>
          <a:p>
            <a:pPr indent="0" lvl="0" marL="0" rtl="0" algn="l">
              <a:spcBef>
                <a:spcPts val="0"/>
              </a:spcBef>
              <a:spcAft>
                <a:spcPts val="0"/>
              </a:spcAft>
              <a:buNone/>
            </a:pPr>
            <a:r>
              <a:rPr lang="es" sz="838">
                <a:solidFill>
                  <a:srgbClr val="27292F"/>
                </a:solidFill>
              </a:rPr>
              <a:t>int</a:t>
            </a:r>
            <a:r>
              <a:rPr lang="es" sz="838">
                <a:solidFill>
                  <a:srgbClr val="A0A1A7"/>
                </a:solidFill>
              </a:rPr>
              <a:t> </a:t>
            </a:r>
            <a:r>
              <a:rPr lang="es" sz="838">
                <a:solidFill>
                  <a:srgbClr val="4078F2"/>
                </a:solidFill>
              </a:rPr>
              <a:t>main</a:t>
            </a:r>
            <a:r>
              <a:rPr lang="es" sz="838">
                <a:solidFill>
                  <a:srgbClr val="383A42"/>
                </a:solidFill>
              </a:rPr>
              <a:t>()</a:t>
            </a:r>
            <a:r>
              <a:rPr lang="es" sz="838">
                <a:solidFill>
                  <a:srgbClr val="A0A1A7"/>
                </a:solidFill>
              </a:rPr>
              <a:t> </a:t>
            </a:r>
            <a:endParaRPr sz="838">
              <a:solidFill>
                <a:srgbClr val="A0A1A7"/>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27292F"/>
                </a:solidFill>
              </a:rPr>
              <a:t>int</a:t>
            </a:r>
            <a:r>
              <a:rPr lang="es" sz="838">
                <a:solidFill>
                  <a:srgbClr val="A0A1A7"/>
                </a:solidFill>
              </a:rPr>
              <a:t> </a:t>
            </a:r>
            <a:r>
              <a:rPr lang="es" sz="838">
                <a:solidFill>
                  <a:srgbClr val="E06C75"/>
                </a:solidFill>
              </a:rPr>
              <a:t>a</a:t>
            </a:r>
            <a:r>
              <a:rPr lang="es" sz="838">
                <a:solidFill>
                  <a:srgbClr val="0184BC"/>
                </a:solidFill>
              </a:rPr>
              <a:t>=</a:t>
            </a:r>
            <a:r>
              <a:rPr lang="es" sz="838">
                <a:solidFill>
                  <a:srgbClr val="986801"/>
                </a:solidFill>
              </a:rPr>
              <a:t>3</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antes de incrementar(a):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incrementar</a:t>
            </a:r>
            <a:r>
              <a:rPr lang="es" sz="838">
                <a:solidFill>
                  <a:srgbClr val="383A42"/>
                </a:solidFill>
              </a:rPr>
              <a:t>(</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despues de incrementar(a) y antes de incrementar_ref(a):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incrementar_ref</a:t>
            </a:r>
            <a:r>
              <a:rPr lang="es" sz="838">
                <a:solidFill>
                  <a:srgbClr val="383A42"/>
                </a:solidFill>
              </a:rPr>
              <a:t>(</a:t>
            </a:r>
            <a:r>
              <a:rPr lang="es" sz="838">
                <a:solidFill>
                  <a:srgbClr val="E06C75"/>
                </a:solidFill>
              </a:rPr>
              <a:t>a</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A0A1A7"/>
                </a:solidFill>
              </a:rPr>
              <a:t>    </a:t>
            </a:r>
            <a:r>
              <a:rPr lang="es" sz="838">
                <a:solidFill>
                  <a:srgbClr val="E06C75"/>
                </a:solidFill>
              </a:rPr>
              <a:t>cout</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50A14F"/>
                </a:solidFill>
              </a:rPr>
              <a:t>"a despues de incrementar_ref(a): "</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a</a:t>
            </a:r>
            <a:r>
              <a:rPr lang="es" sz="838">
                <a:solidFill>
                  <a:srgbClr val="A0A1A7"/>
                </a:solidFill>
              </a:rPr>
              <a:t> </a:t>
            </a:r>
            <a:r>
              <a:rPr lang="es" sz="838">
                <a:solidFill>
                  <a:srgbClr val="0184BC"/>
                </a:solidFill>
              </a:rPr>
              <a:t>&lt;&lt;</a:t>
            </a:r>
            <a:r>
              <a:rPr lang="es" sz="838">
                <a:solidFill>
                  <a:srgbClr val="A0A1A7"/>
                </a:solidFill>
              </a:rPr>
              <a:t> </a:t>
            </a:r>
            <a:r>
              <a:rPr lang="es" sz="838">
                <a:solidFill>
                  <a:srgbClr val="E06C75"/>
                </a:solidFill>
              </a:rPr>
              <a:t>endl</a:t>
            </a:r>
            <a:r>
              <a:rPr lang="es" sz="838">
                <a:solidFill>
                  <a:srgbClr val="383A42"/>
                </a:solidFill>
              </a:rPr>
              <a:t>;</a:t>
            </a:r>
            <a:endParaRPr sz="838">
              <a:solidFill>
                <a:srgbClr val="383A42"/>
              </a:solidFill>
            </a:endParaRPr>
          </a:p>
          <a:p>
            <a:pPr indent="0" lvl="0" marL="0" rtl="0" algn="l">
              <a:spcBef>
                <a:spcPts val="0"/>
              </a:spcBef>
              <a:spcAft>
                <a:spcPts val="0"/>
              </a:spcAft>
              <a:buNone/>
            </a:pPr>
            <a:r>
              <a:rPr lang="es" sz="838">
                <a:solidFill>
                  <a:srgbClr val="383A42"/>
                </a:solidFill>
              </a:rPr>
              <a:t>}</a:t>
            </a:r>
            <a:endParaRPr sz="838">
              <a:solidFill>
                <a:srgbClr val="383A42"/>
              </a:solidFill>
            </a:endParaRPr>
          </a:p>
        </p:txBody>
      </p:sp>
      <p:sp>
        <p:nvSpPr>
          <p:cNvPr id="266" name="Google Shape;266;p24"/>
          <p:cNvSpPr/>
          <p:nvPr/>
        </p:nvSpPr>
        <p:spPr>
          <a:xfrm>
            <a:off x="8520075" y="445025"/>
            <a:ext cx="4812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60000"/>
              </a:lnSpc>
              <a:spcBef>
                <a:spcPts val="0"/>
              </a:spcBef>
              <a:spcAft>
                <a:spcPts val="0"/>
              </a:spcAft>
              <a:buNone/>
            </a:pPr>
            <a:r>
              <a:rPr b="1" lang="es" sz="1000">
                <a:latin typeface="Montserrat"/>
                <a:ea typeface="Montserrat"/>
                <a:cs typeface="Montserrat"/>
                <a:sym typeface="Montserrat"/>
              </a:rPr>
              <a:t>a</a:t>
            </a:r>
            <a:endParaRPr b="1" sz="1000">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latin typeface="Montserrat"/>
              <a:ea typeface="Montserrat"/>
              <a:cs typeface="Montserrat"/>
              <a:sym typeface="Montserrat"/>
            </a:endParaRPr>
          </a:p>
          <a:p>
            <a:pPr indent="0" lvl="0" marL="0" rtl="0" algn="ctr">
              <a:lnSpc>
                <a:spcPct val="60000"/>
              </a:lnSpc>
              <a:spcBef>
                <a:spcPts val="0"/>
              </a:spcBef>
              <a:spcAft>
                <a:spcPts val="0"/>
              </a:spcAft>
              <a:buNone/>
            </a:pPr>
            <a:r>
              <a:t/>
            </a:r>
            <a:endParaRPr sz="1000">
              <a:latin typeface="Montserrat"/>
              <a:ea typeface="Montserrat"/>
              <a:cs typeface="Montserrat"/>
              <a:sym typeface="Montserrat"/>
            </a:endParaRPr>
          </a:p>
          <a:p>
            <a:pPr indent="0" lvl="0" marL="0" rtl="0" algn="ctr">
              <a:lnSpc>
                <a:spcPct val="60000"/>
              </a:lnSpc>
              <a:spcBef>
                <a:spcPts val="0"/>
              </a:spcBef>
              <a:spcAft>
                <a:spcPts val="0"/>
              </a:spcAft>
              <a:buNone/>
            </a:pPr>
            <a:r>
              <a:rPr lang="es" sz="1000">
                <a:latin typeface="Montserrat"/>
                <a:ea typeface="Montserrat"/>
                <a:cs typeface="Montserrat"/>
                <a:sym typeface="Montserrat"/>
              </a:rPr>
              <a:t>4</a:t>
            </a:r>
            <a:endParaRPr sz="1000">
              <a:latin typeface="Montserrat"/>
              <a:ea typeface="Montserrat"/>
              <a:cs typeface="Montserrat"/>
              <a:sym typeface="Montserrat"/>
            </a:endParaRPr>
          </a:p>
        </p:txBody>
      </p:sp>
      <p:sp>
        <p:nvSpPr>
          <p:cNvPr id="267" name="Google Shape;267;p24"/>
          <p:cNvSpPr/>
          <p:nvPr/>
        </p:nvSpPr>
        <p:spPr>
          <a:xfrm>
            <a:off x="3510300" y="2213025"/>
            <a:ext cx="1237800" cy="485100"/>
          </a:xfrm>
          <a:prstGeom prst="roundRect">
            <a:avLst>
              <a:gd fmla="val 16667" name="adj"/>
            </a:avLst>
          </a:prstGeom>
          <a:noFill/>
          <a:ln cap="flat" cmpd="sng" w="19050">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68" name="Google Shape;268;p24"/>
          <p:cNvSpPr/>
          <p:nvPr/>
        </p:nvSpPr>
        <p:spPr>
          <a:xfrm>
            <a:off x="3510300" y="2723340"/>
            <a:ext cx="1505700" cy="4851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69" name="Google Shape;269;p24"/>
          <p:cNvSpPr/>
          <p:nvPr/>
        </p:nvSpPr>
        <p:spPr>
          <a:xfrm>
            <a:off x="3200525" y="4180084"/>
            <a:ext cx="294900" cy="103500"/>
          </a:xfrm>
          <a:prstGeom prst="homePlate">
            <a:avLst>
              <a:gd fmla="val 50000"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70" name="Google Shape;270;p24"/>
          <p:cNvSpPr/>
          <p:nvPr/>
        </p:nvSpPr>
        <p:spPr>
          <a:xfrm>
            <a:off x="3200526" y="4066083"/>
            <a:ext cx="294900" cy="103500"/>
          </a:xfrm>
          <a:prstGeom prst="homePlate">
            <a:avLst>
              <a:gd fmla="val 50000" name="adj"/>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Estructuras de Repetici</a:t>
            </a:r>
            <a:r>
              <a:rPr lang="es"/>
              <a:t>ón</a:t>
            </a:r>
            <a:endParaRPr/>
          </a:p>
        </p:txBody>
      </p:sp>
      <p:sp>
        <p:nvSpPr>
          <p:cNvPr id="276" name="Google Shape;276;p25"/>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Edad promedio	</a:t>
            </a:r>
            <a:endParaRPr/>
          </a:p>
        </p:txBody>
      </p:sp>
      <p:sp>
        <p:nvSpPr>
          <p:cNvPr id="282" name="Google Shape;282;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Un programa que calcule la edad promedio entre </a:t>
            </a:r>
            <a:r>
              <a:rPr lang="es">
                <a:solidFill>
                  <a:schemeClr val="accent4"/>
                </a:solidFill>
              </a:rPr>
              <a:t>3</a:t>
            </a:r>
            <a:r>
              <a:rPr lang="es"/>
              <a:t> personas.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Edad promedio	</a:t>
            </a:r>
            <a:endParaRPr/>
          </a:p>
        </p:txBody>
      </p:sp>
      <p:sp>
        <p:nvSpPr>
          <p:cNvPr id="288" name="Google Shape;288;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Un programa que calcule la edad promedio entre </a:t>
            </a:r>
            <a:r>
              <a:rPr lang="es">
                <a:solidFill>
                  <a:schemeClr val="accent4"/>
                </a:solidFill>
              </a:rPr>
              <a:t>3</a:t>
            </a:r>
            <a:r>
              <a:rPr lang="es"/>
              <a:t> personas.</a:t>
            </a:r>
            <a:endParaRPr/>
          </a:p>
        </p:txBody>
      </p:sp>
      <p:sp>
        <p:nvSpPr>
          <p:cNvPr id="289" name="Google Shape;289;p27"/>
          <p:cNvSpPr/>
          <p:nvPr/>
        </p:nvSpPr>
        <p:spPr>
          <a:xfrm rot="10800000">
            <a:off x="2385460" y="2006575"/>
            <a:ext cx="4372800" cy="25623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290" name="Google Shape;290;p27"/>
          <p:cNvSpPr/>
          <p:nvPr/>
        </p:nvSpPr>
        <p:spPr>
          <a:xfrm rot="10800000">
            <a:off x="2385458" y="1627399"/>
            <a:ext cx="4372800" cy="5097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91" name="Google Shape;291;p27"/>
          <p:cNvSpPr/>
          <p:nvPr/>
        </p:nvSpPr>
        <p:spPr>
          <a:xfrm>
            <a:off x="2579844" y="1722119"/>
            <a:ext cx="248700" cy="2487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92" name="Google Shape;292;p27"/>
          <p:cNvSpPr/>
          <p:nvPr/>
        </p:nvSpPr>
        <p:spPr>
          <a:xfrm>
            <a:off x="2948358" y="1722119"/>
            <a:ext cx="248700" cy="2487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93" name="Google Shape;293;p27"/>
          <p:cNvSpPr/>
          <p:nvPr/>
        </p:nvSpPr>
        <p:spPr>
          <a:xfrm>
            <a:off x="3316873" y="1722119"/>
            <a:ext cx="248700" cy="2487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94" name="Google Shape;294;p27"/>
          <p:cNvSpPr txBox="1"/>
          <p:nvPr/>
        </p:nvSpPr>
        <p:spPr>
          <a:xfrm>
            <a:off x="2385740" y="2041389"/>
            <a:ext cx="4372800" cy="2373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1</a:t>
            </a:r>
            <a:r>
              <a:rPr lang="es">
                <a:solidFill>
                  <a:srgbClr val="383A42"/>
                </a:solidFill>
                <a:latin typeface="Ubuntu Mono"/>
                <a:ea typeface="Ubuntu Mono"/>
                <a:cs typeface="Ubuntu Mono"/>
                <a:sym typeface="Ubuntu Mono"/>
              </a:rPr>
              <a:t> </a:t>
            </a:r>
            <a:r>
              <a:rPr lang="es">
                <a:solidFill>
                  <a:srgbClr val="27292F"/>
                </a:solidFill>
                <a:latin typeface="Ubuntu Mono"/>
                <a:ea typeface="Ubuntu Mono"/>
                <a:cs typeface="Ubuntu Mono"/>
                <a:sym typeface="Ubuntu Mono"/>
              </a:rPr>
              <a:t>int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pers1</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pers2</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pers3</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2</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pers1</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3</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pers2</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4</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pers3</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5</a:t>
            </a:r>
            <a:r>
              <a:rPr lang="es">
                <a:solidFill>
                  <a:srgbClr val="383A42"/>
                </a:solidFill>
                <a:latin typeface="Ubuntu Mono"/>
                <a:ea typeface="Ubuntu Mono"/>
                <a:cs typeface="Ubuntu Mono"/>
                <a:sym typeface="Ubuntu Mono"/>
              </a:rPr>
              <a:t> </a:t>
            </a:r>
            <a:r>
              <a:rPr lang="es">
                <a:solidFill>
                  <a:srgbClr val="27292F"/>
                </a:solidFill>
                <a:latin typeface="Ubuntu Mono"/>
                <a:ea typeface="Ubuntu Mono"/>
                <a:cs typeface="Ubuntu Mono"/>
                <a:sym typeface="Ubuntu Mono"/>
              </a:rPr>
              <a:t>int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prom</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pers1</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pers2</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pers3</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986801"/>
                </a:solidFill>
                <a:latin typeface="Ubuntu Mono"/>
                <a:ea typeface="Ubuntu Mono"/>
                <a:cs typeface="Ubuntu Mono"/>
                <a:sym typeface="Ubuntu Mono"/>
              </a:rPr>
              <a:t>3</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6</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cout</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&lt;&lt;</a:t>
            </a:r>
            <a:r>
              <a:rPr lang="es">
                <a:solidFill>
                  <a:srgbClr val="383A42"/>
                </a:solidFill>
                <a:latin typeface="Ubuntu Mono"/>
                <a:ea typeface="Ubuntu Mono"/>
                <a:cs typeface="Ubuntu Mono"/>
                <a:sym typeface="Ubuntu Mono"/>
              </a:rPr>
              <a:t> </a:t>
            </a:r>
            <a:r>
              <a:rPr lang="es">
                <a:solidFill>
                  <a:srgbClr val="50A14F"/>
                </a:solidFill>
                <a:latin typeface="Ubuntu Mono"/>
                <a:ea typeface="Ubuntu Mono"/>
                <a:cs typeface="Ubuntu Mono"/>
                <a:sym typeface="Ubuntu Mono"/>
              </a:rPr>
              <a:t>"Promedio: "</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&lt;&lt;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prom</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&lt;&lt;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endl</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Edad promedio	</a:t>
            </a:r>
            <a:endParaRPr/>
          </a:p>
        </p:txBody>
      </p:sp>
      <p:sp>
        <p:nvSpPr>
          <p:cNvPr id="300" name="Google Shape;300;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Un programa que calcule la edad promedio entre </a:t>
            </a:r>
            <a:r>
              <a:rPr lang="es">
                <a:solidFill>
                  <a:schemeClr val="accent4"/>
                </a:solidFill>
              </a:rPr>
              <a:t>4</a:t>
            </a:r>
            <a:r>
              <a:rPr lang="es"/>
              <a:t> personas.</a:t>
            </a:r>
            <a:endParaRPr/>
          </a:p>
        </p:txBody>
      </p:sp>
      <p:sp>
        <p:nvSpPr>
          <p:cNvPr id="301" name="Google Shape;301;p28"/>
          <p:cNvSpPr/>
          <p:nvPr/>
        </p:nvSpPr>
        <p:spPr>
          <a:xfrm rot="10800000">
            <a:off x="2080634" y="2006575"/>
            <a:ext cx="4831500" cy="25623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302" name="Google Shape;302;p28"/>
          <p:cNvSpPr/>
          <p:nvPr/>
        </p:nvSpPr>
        <p:spPr>
          <a:xfrm rot="10800000">
            <a:off x="2080632" y="1627400"/>
            <a:ext cx="4831500" cy="5097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03" name="Google Shape;303;p28"/>
          <p:cNvSpPr/>
          <p:nvPr/>
        </p:nvSpPr>
        <p:spPr>
          <a:xfrm>
            <a:off x="2275044" y="1722119"/>
            <a:ext cx="248700" cy="2487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04" name="Google Shape;304;p28"/>
          <p:cNvSpPr/>
          <p:nvPr/>
        </p:nvSpPr>
        <p:spPr>
          <a:xfrm>
            <a:off x="2643558" y="1722119"/>
            <a:ext cx="248700" cy="2487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05" name="Google Shape;305;p28"/>
          <p:cNvSpPr/>
          <p:nvPr/>
        </p:nvSpPr>
        <p:spPr>
          <a:xfrm>
            <a:off x="3012073" y="1722119"/>
            <a:ext cx="248700" cy="2487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06" name="Google Shape;306;p28"/>
          <p:cNvSpPr txBox="1"/>
          <p:nvPr/>
        </p:nvSpPr>
        <p:spPr>
          <a:xfrm>
            <a:off x="2080966" y="2041389"/>
            <a:ext cx="4831500" cy="2373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1</a:t>
            </a:r>
            <a:r>
              <a:rPr lang="es">
                <a:solidFill>
                  <a:srgbClr val="383A42"/>
                </a:solidFill>
                <a:latin typeface="Ubuntu Mono"/>
                <a:ea typeface="Ubuntu Mono"/>
                <a:cs typeface="Ubuntu Mono"/>
                <a:sym typeface="Ubuntu Mono"/>
              </a:rPr>
              <a:t> </a:t>
            </a:r>
            <a:r>
              <a:rPr lang="es">
                <a:solidFill>
                  <a:srgbClr val="27292F"/>
                </a:solidFill>
                <a:latin typeface="Ubuntu Mono"/>
                <a:ea typeface="Ubuntu Mono"/>
                <a:cs typeface="Ubuntu Mono"/>
                <a:sym typeface="Ubuntu Mono"/>
              </a:rPr>
              <a:t>int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pers1</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pers2</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pers3</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pers4</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2</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pers1</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3</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pers2</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4</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pers3</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5</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pers4</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6</a:t>
            </a:r>
            <a:r>
              <a:rPr lang="es">
                <a:solidFill>
                  <a:srgbClr val="383A42"/>
                </a:solidFill>
                <a:latin typeface="Ubuntu Mono"/>
                <a:ea typeface="Ubuntu Mono"/>
                <a:cs typeface="Ubuntu Mono"/>
                <a:sym typeface="Ubuntu Mono"/>
              </a:rPr>
              <a:t> </a:t>
            </a:r>
            <a:r>
              <a:rPr lang="es">
                <a:solidFill>
                  <a:srgbClr val="27292F"/>
                </a:solidFill>
                <a:latin typeface="Ubuntu Mono"/>
                <a:ea typeface="Ubuntu Mono"/>
                <a:cs typeface="Ubuntu Mono"/>
                <a:sym typeface="Ubuntu Mono"/>
              </a:rPr>
              <a:t>int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prom</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pers1</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pers2</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pers3</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pers4</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986801"/>
                </a:solidFill>
                <a:latin typeface="Ubuntu Mono"/>
                <a:ea typeface="Ubuntu Mono"/>
                <a:cs typeface="Ubuntu Mono"/>
                <a:sym typeface="Ubuntu Mono"/>
              </a:rPr>
              <a:t>4</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7</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cout</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&lt;&lt;</a:t>
            </a:r>
            <a:r>
              <a:rPr lang="es">
                <a:solidFill>
                  <a:srgbClr val="383A42"/>
                </a:solidFill>
                <a:latin typeface="Ubuntu Mono"/>
                <a:ea typeface="Ubuntu Mono"/>
                <a:cs typeface="Ubuntu Mono"/>
                <a:sym typeface="Ubuntu Mono"/>
              </a:rPr>
              <a:t> </a:t>
            </a:r>
            <a:r>
              <a:rPr lang="es">
                <a:solidFill>
                  <a:srgbClr val="50A14F"/>
                </a:solidFill>
                <a:latin typeface="Ubuntu Mono"/>
                <a:ea typeface="Ubuntu Mono"/>
                <a:cs typeface="Ubuntu Mono"/>
                <a:sym typeface="Ubuntu Mono"/>
              </a:rPr>
              <a:t>"Promedio: "</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&lt;&lt;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prom</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&lt;&lt;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endl</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Edad promedio	</a:t>
            </a:r>
            <a:endParaRPr/>
          </a:p>
        </p:txBody>
      </p:sp>
      <p:sp>
        <p:nvSpPr>
          <p:cNvPr id="312" name="Google Shape;312;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Un programa que calcule la edad promedio entre </a:t>
            </a:r>
            <a:r>
              <a:rPr lang="es">
                <a:solidFill>
                  <a:schemeClr val="accent4"/>
                </a:solidFill>
              </a:rPr>
              <a:t>7</a:t>
            </a:r>
            <a:r>
              <a:rPr lang="es"/>
              <a:t> personas.</a:t>
            </a:r>
            <a:endParaRPr/>
          </a:p>
        </p:txBody>
      </p:sp>
      <p:sp>
        <p:nvSpPr>
          <p:cNvPr id="313" name="Google Shape;313;p29"/>
          <p:cNvSpPr/>
          <p:nvPr/>
        </p:nvSpPr>
        <p:spPr>
          <a:xfrm rot="10800000">
            <a:off x="1001688" y="2006575"/>
            <a:ext cx="7049400" cy="25623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314" name="Google Shape;314;p29"/>
          <p:cNvSpPr/>
          <p:nvPr/>
        </p:nvSpPr>
        <p:spPr>
          <a:xfrm rot="10800000">
            <a:off x="1001698" y="1627400"/>
            <a:ext cx="7049400" cy="5097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15" name="Google Shape;315;p29"/>
          <p:cNvSpPr/>
          <p:nvPr/>
        </p:nvSpPr>
        <p:spPr>
          <a:xfrm>
            <a:off x="1196018" y="1722119"/>
            <a:ext cx="248700" cy="2487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16" name="Google Shape;316;p29"/>
          <p:cNvSpPr/>
          <p:nvPr/>
        </p:nvSpPr>
        <p:spPr>
          <a:xfrm>
            <a:off x="1564532" y="1722119"/>
            <a:ext cx="248700" cy="2487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17" name="Google Shape;317;p29"/>
          <p:cNvSpPr/>
          <p:nvPr/>
        </p:nvSpPr>
        <p:spPr>
          <a:xfrm>
            <a:off x="1933047" y="1722119"/>
            <a:ext cx="248700" cy="2487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18" name="Google Shape;318;p29"/>
          <p:cNvSpPr txBox="1"/>
          <p:nvPr/>
        </p:nvSpPr>
        <p:spPr>
          <a:xfrm>
            <a:off x="1002087" y="2041389"/>
            <a:ext cx="7049400" cy="2373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1</a:t>
            </a:r>
            <a:r>
              <a:rPr lang="es">
                <a:solidFill>
                  <a:srgbClr val="383A42"/>
                </a:solidFill>
                <a:latin typeface="Ubuntu Mono"/>
                <a:ea typeface="Ubuntu Mono"/>
                <a:cs typeface="Ubuntu Mono"/>
                <a:sym typeface="Ubuntu Mono"/>
              </a:rPr>
              <a:t> </a:t>
            </a:r>
            <a:r>
              <a:rPr lang="es">
                <a:solidFill>
                  <a:srgbClr val="27292F"/>
                </a:solidFill>
                <a:latin typeface="Ubuntu Mono"/>
                <a:ea typeface="Ubuntu Mono"/>
                <a:cs typeface="Ubuntu Mono"/>
                <a:sym typeface="Ubuntu Mono"/>
              </a:rPr>
              <a:t>int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pers1</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pers2</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pers3</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pers4</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pers5</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pers6</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pers7</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2</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pers1</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3</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pers2</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4</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pers3</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5</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pers4</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6</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pers5</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7</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pers6</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8</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pers7</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9</a:t>
            </a:r>
            <a:r>
              <a:rPr lang="es">
                <a:solidFill>
                  <a:srgbClr val="383A42"/>
                </a:solidFill>
                <a:latin typeface="Ubuntu Mono"/>
                <a:ea typeface="Ubuntu Mono"/>
                <a:cs typeface="Ubuntu Mono"/>
                <a:sym typeface="Ubuntu Mono"/>
              </a:rPr>
              <a:t> </a:t>
            </a:r>
            <a:r>
              <a:rPr lang="es">
                <a:solidFill>
                  <a:srgbClr val="27292F"/>
                </a:solidFill>
                <a:latin typeface="Ubuntu Mono"/>
                <a:ea typeface="Ubuntu Mono"/>
                <a:cs typeface="Ubuntu Mono"/>
                <a:sym typeface="Ubuntu Mono"/>
              </a:rPr>
              <a:t>int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prom</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pers1</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pers2</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pers3</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pers4</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pers5</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pers6</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pers7</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986801"/>
                </a:solidFill>
                <a:latin typeface="Ubuntu Mono"/>
                <a:ea typeface="Ubuntu Mono"/>
                <a:cs typeface="Ubuntu Mono"/>
                <a:sym typeface="Ubuntu Mono"/>
              </a:rPr>
              <a:t>7</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929292"/>
                </a:solidFill>
                <a:latin typeface="Ubuntu Mono"/>
                <a:ea typeface="Ubuntu Mono"/>
                <a:cs typeface="Ubuntu Mono"/>
                <a:sym typeface="Ubuntu Mono"/>
              </a:rPr>
              <a:t>10</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cout</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&lt;&lt;</a:t>
            </a:r>
            <a:r>
              <a:rPr lang="es">
                <a:solidFill>
                  <a:srgbClr val="383A42"/>
                </a:solidFill>
                <a:latin typeface="Ubuntu Mono"/>
                <a:ea typeface="Ubuntu Mono"/>
                <a:cs typeface="Ubuntu Mono"/>
                <a:sym typeface="Ubuntu Mono"/>
              </a:rPr>
              <a:t> </a:t>
            </a:r>
            <a:r>
              <a:rPr lang="es">
                <a:solidFill>
                  <a:srgbClr val="50A14F"/>
                </a:solidFill>
                <a:latin typeface="Ubuntu Mono"/>
                <a:ea typeface="Ubuntu Mono"/>
                <a:cs typeface="Ubuntu Mono"/>
                <a:sym typeface="Ubuntu Mono"/>
              </a:rPr>
              <a:t>"Promedio: "</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&lt;&lt;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prom</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&lt;&lt;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endl</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Edad promedio	</a:t>
            </a:r>
            <a:endParaRPr/>
          </a:p>
        </p:txBody>
      </p:sp>
      <p:sp>
        <p:nvSpPr>
          <p:cNvPr id="324" name="Google Shape;324;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Un programa que calcule la edad promedio entre </a:t>
            </a:r>
            <a:r>
              <a:rPr lang="es">
                <a:solidFill>
                  <a:schemeClr val="accent4"/>
                </a:solidFill>
              </a:rPr>
              <a:t>7</a:t>
            </a:r>
            <a:r>
              <a:rPr lang="es"/>
              <a:t> personas.</a:t>
            </a:r>
            <a:endParaRPr/>
          </a:p>
        </p:txBody>
      </p:sp>
      <p:sp>
        <p:nvSpPr>
          <p:cNvPr id="325" name="Google Shape;325;p30"/>
          <p:cNvSpPr/>
          <p:nvPr/>
        </p:nvSpPr>
        <p:spPr>
          <a:xfrm rot="10800000">
            <a:off x="1535079" y="1627400"/>
            <a:ext cx="6073500" cy="5097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26" name="Google Shape;326;p30"/>
          <p:cNvSpPr/>
          <p:nvPr/>
        </p:nvSpPr>
        <p:spPr>
          <a:xfrm>
            <a:off x="1729418" y="1722119"/>
            <a:ext cx="248700" cy="2487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27" name="Google Shape;327;p30"/>
          <p:cNvSpPr/>
          <p:nvPr/>
        </p:nvSpPr>
        <p:spPr>
          <a:xfrm>
            <a:off x="2097932" y="1722119"/>
            <a:ext cx="248700" cy="2487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28" name="Google Shape;328;p30"/>
          <p:cNvSpPr/>
          <p:nvPr/>
        </p:nvSpPr>
        <p:spPr>
          <a:xfrm>
            <a:off x="2466447" y="1722119"/>
            <a:ext cx="248700" cy="2487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29" name="Google Shape;329;p30"/>
          <p:cNvSpPr/>
          <p:nvPr/>
        </p:nvSpPr>
        <p:spPr>
          <a:xfrm rot="10800000">
            <a:off x="1001688" y="2006575"/>
            <a:ext cx="7049400" cy="25623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330" name="Google Shape;330;p30"/>
          <p:cNvSpPr/>
          <p:nvPr/>
        </p:nvSpPr>
        <p:spPr>
          <a:xfrm rot="10800000">
            <a:off x="1001698" y="1627400"/>
            <a:ext cx="7049400" cy="5097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31" name="Google Shape;331;p30"/>
          <p:cNvSpPr/>
          <p:nvPr/>
        </p:nvSpPr>
        <p:spPr>
          <a:xfrm>
            <a:off x="1196018" y="1722119"/>
            <a:ext cx="248700" cy="2487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32" name="Google Shape;332;p30"/>
          <p:cNvSpPr/>
          <p:nvPr/>
        </p:nvSpPr>
        <p:spPr>
          <a:xfrm>
            <a:off x="1564532" y="1722119"/>
            <a:ext cx="248700" cy="2487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33" name="Google Shape;333;p30"/>
          <p:cNvSpPr/>
          <p:nvPr/>
        </p:nvSpPr>
        <p:spPr>
          <a:xfrm>
            <a:off x="1933047" y="1722119"/>
            <a:ext cx="248700" cy="2487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34" name="Google Shape;334;p30"/>
          <p:cNvSpPr txBox="1"/>
          <p:nvPr/>
        </p:nvSpPr>
        <p:spPr>
          <a:xfrm>
            <a:off x="1002087" y="2041389"/>
            <a:ext cx="7049400" cy="2373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1</a:t>
            </a:r>
            <a:r>
              <a:rPr lang="es">
                <a:solidFill>
                  <a:srgbClr val="383A42"/>
                </a:solidFill>
                <a:latin typeface="Ubuntu Mono"/>
                <a:ea typeface="Ubuntu Mono"/>
                <a:cs typeface="Ubuntu Mono"/>
                <a:sym typeface="Ubuntu Mono"/>
              </a:rPr>
              <a:t> </a:t>
            </a:r>
            <a:r>
              <a:rPr lang="es">
                <a:solidFill>
                  <a:srgbClr val="27292F"/>
                </a:solidFill>
                <a:latin typeface="Ubuntu Mono"/>
                <a:ea typeface="Ubuntu Mono"/>
                <a:cs typeface="Ubuntu Mono"/>
                <a:sym typeface="Ubuntu Mono"/>
              </a:rPr>
              <a:t>int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pers1</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pers2</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pers3</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pers4</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pers5</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pers6</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pers7</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2</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pers1</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3</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pers2</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4</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pers3</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5</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pers4</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6</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pers5</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7</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pers6</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8</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pers7</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9</a:t>
            </a:r>
            <a:r>
              <a:rPr lang="es">
                <a:solidFill>
                  <a:srgbClr val="383A42"/>
                </a:solidFill>
                <a:latin typeface="Ubuntu Mono"/>
                <a:ea typeface="Ubuntu Mono"/>
                <a:cs typeface="Ubuntu Mono"/>
                <a:sym typeface="Ubuntu Mono"/>
              </a:rPr>
              <a:t> </a:t>
            </a:r>
            <a:r>
              <a:rPr lang="es">
                <a:solidFill>
                  <a:srgbClr val="27292F"/>
                </a:solidFill>
                <a:latin typeface="Ubuntu Mono"/>
                <a:ea typeface="Ubuntu Mono"/>
                <a:cs typeface="Ubuntu Mono"/>
                <a:sym typeface="Ubuntu Mono"/>
              </a:rPr>
              <a:t>int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prom</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pers1</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pers2</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pers3</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pers4</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pers5</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pers6</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pers7</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986801"/>
                </a:solidFill>
                <a:latin typeface="Ubuntu Mono"/>
                <a:ea typeface="Ubuntu Mono"/>
                <a:cs typeface="Ubuntu Mono"/>
                <a:sym typeface="Ubuntu Mono"/>
              </a:rPr>
              <a:t>7</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929292"/>
                </a:solidFill>
                <a:latin typeface="Ubuntu Mono"/>
                <a:ea typeface="Ubuntu Mono"/>
                <a:cs typeface="Ubuntu Mono"/>
                <a:sym typeface="Ubuntu Mono"/>
              </a:rPr>
              <a:t>10</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cout</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&lt;&lt;</a:t>
            </a:r>
            <a:r>
              <a:rPr lang="es">
                <a:solidFill>
                  <a:srgbClr val="383A42"/>
                </a:solidFill>
                <a:latin typeface="Ubuntu Mono"/>
                <a:ea typeface="Ubuntu Mono"/>
                <a:cs typeface="Ubuntu Mono"/>
                <a:sym typeface="Ubuntu Mono"/>
              </a:rPr>
              <a:t> </a:t>
            </a:r>
            <a:r>
              <a:rPr lang="es">
                <a:solidFill>
                  <a:srgbClr val="50A14F"/>
                </a:solidFill>
                <a:latin typeface="Ubuntu Mono"/>
                <a:ea typeface="Ubuntu Mono"/>
                <a:cs typeface="Ubuntu Mono"/>
                <a:sym typeface="Ubuntu Mono"/>
              </a:rPr>
              <a:t>"Promedio: "</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&lt;&lt;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prom</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&lt;&lt;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endl</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p:txBody>
      </p:sp>
      <p:sp>
        <p:nvSpPr>
          <p:cNvPr id="335" name="Google Shape;335;p30"/>
          <p:cNvSpPr/>
          <p:nvPr/>
        </p:nvSpPr>
        <p:spPr>
          <a:xfrm rot="-1017154">
            <a:off x="161664" y="987495"/>
            <a:ext cx="5907815" cy="861880"/>
          </a:xfrm>
          <a:prstGeom prst="roundRect">
            <a:avLst>
              <a:gd fmla="val 9075"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¿Y qué pasa si queremos el promedio de 100 personas?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Edad promedio	</a:t>
            </a:r>
            <a:endParaRPr/>
          </a:p>
        </p:txBody>
      </p:sp>
      <p:sp>
        <p:nvSpPr>
          <p:cNvPr id="341" name="Google Shape;341;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Un programa que calcule la edad promedio entre </a:t>
            </a:r>
            <a:r>
              <a:rPr lang="es">
                <a:solidFill>
                  <a:schemeClr val="accent4"/>
                </a:solidFill>
              </a:rPr>
              <a:t>7</a:t>
            </a:r>
            <a:r>
              <a:rPr lang="es"/>
              <a:t> personas.</a:t>
            </a:r>
            <a:endParaRPr/>
          </a:p>
        </p:txBody>
      </p:sp>
      <p:sp>
        <p:nvSpPr>
          <p:cNvPr id="342" name="Google Shape;342;p31"/>
          <p:cNvSpPr/>
          <p:nvPr/>
        </p:nvSpPr>
        <p:spPr>
          <a:xfrm rot="10800000">
            <a:off x="1535079" y="1627400"/>
            <a:ext cx="6073500" cy="5097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43" name="Google Shape;343;p31"/>
          <p:cNvSpPr/>
          <p:nvPr/>
        </p:nvSpPr>
        <p:spPr>
          <a:xfrm>
            <a:off x="1729418" y="1722119"/>
            <a:ext cx="248700" cy="2487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44" name="Google Shape;344;p31"/>
          <p:cNvSpPr/>
          <p:nvPr/>
        </p:nvSpPr>
        <p:spPr>
          <a:xfrm>
            <a:off x="2097932" y="1722119"/>
            <a:ext cx="248700" cy="2487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45" name="Google Shape;345;p31"/>
          <p:cNvSpPr/>
          <p:nvPr/>
        </p:nvSpPr>
        <p:spPr>
          <a:xfrm>
            <a:off x="2466447" y="1722119"/>
            <a:ext cx="248700" cy="2487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46" name="Google Shape;346;p31"/>
          <p:cNvSpPr/>
          <p:nvPr/>
        </p:nvSpPr>
        <p:spPr>
          <a:xfrm rot="10800000">
            <a:off x="1001688" y="2006575"/>
            <a:ext cx="7049400" cy="25623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347" name="Google Shape;347;p31"/>
          <p:cNvSpPr/>
          <p:nvPr/>
        </p:nvSpPr>
        <p:spPr>
          <a:xfrm rot="10800000">
            <a:off x="1001698" y="1627400"/>
            <a:ext cx="7049400" cy="5097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48" name="Google Shape;348;p31"/>
          <p:cNvSpPr/>
          <p:nvPr/>
        </p:nvSpPr>
        <p:spPr>
          <a:xfrm>
            <a:off x="1196018" y="1722119"/>
            <a:ext cx="248700" cy="2487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49" name="Google Shape;349;p31"/>
          <p:cNvSpPr/>
          <p:nvPr/>
        </p:nvSpPr>
        <p:spPr>
          <a:xfrm>
            <a:off x="1564532" y="1722119"/>
            <a:ext cx="248700" cy="2487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50" name="Google Shape;350;p31"/>
          <p:cNvSpPr/>
          <p:nvPr/>
        </p:nvSpPr>
        <p:spPr>
          <a:xfrm>
            <a:off x="1933047" y="1722119"/>
            <a:ext cx="248700" cy="2487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51" name="Google Shape;351;p31"/>
          <p:cNvSpPr txBox="1"/>
          <p:nvPr/>
        </p:nvSpPr>
        <p:spPr>
          <a:xfrm>
            <a:off x="1002087" y="2041389"/>
            <a:ext cx="7049400" cy="2373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1</a:t>
            </a:r>
            <a:r>
              <a:rPr lang="es">
                <a:solidFill>
                  <a:srgbClr val="383A42"/>
                </a:solidFill>
                <a:latin typeface="Ubuntu Mono"/>
                <a:ea typeface="Ubuntu Mono"/>
                <a:cs typeface="Ubuntu Mono"/>
                <a:sym typeface="Ubuntu Mono"/>
              </a:rPr>
              <a:t> </a:t>
            </a:r>
            <a:r>
              <a:rPr lang="es">
                <a:solidFill>
                  <a:srgbClr val="27292F"/>
                </a:solidFill>
                <a:latin typeface="Ubuntu Mono"/>
                <a:ea typeface="Ubuntu Mono"/>
                <a:cs typeface="Ubuntu Mono"/>
                <a:sym typeface="Ubuntu Mono"/>
              </a:rPr>
              <a:t>int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pers1</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pers2</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pers3</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pers4</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pers5</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pers6</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pers7</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2</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pers1</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3</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pers2</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4</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pers3</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5</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pers4</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6</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pers5</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7</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pers6</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8</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pers7</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9</a:t>
            </a:r>
            <a:r>
              <a:rPr lang="es">
                <a:solidFill>
                  <a:srgbClr val="383A42"/>
                </a:solidFill>
                <a:latin typeface="Ubuntu Mono"/>
                <a:ea typeface="Ubuntu Mono"/>
                <a:cs typeface="Ubuntu Mono"/>
                <a:sym typeface="Ubuntu Mono"/>
              </a:rPr>
              <a:t> </a:t>
            </a:r>
            <a:r>
              <a:rPr lang="es">
                <a:solidFill>
                  <a:srgbClr val="27292F"/>
                </a:solidFill>
                <a:latin typeface="Ubuntu Mono"/>
                <a:ea typeface="Ubuntu Mono"/>
                <a:cs typeface="Ubuntu Mono"/>
                <a:sym typeface="Ubuntu Mono"/>
              </a:rPr>
              <a:t>int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prom</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pers1</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pers2</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pers3</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pers4</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pers5</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pers6</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pers7</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986801"/>
                </a:solidFill>
                <a:latin typeface="Ubuntu Mono"/>
                <a:ea typeface="Ubuntu Mono"/>
                <a:cs typeface="Ubuntu Mono"/>
                <a:sym typeface="Ubuntu Mono"/>
              </a:rPr>
              <a:t>7</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929292"/>
                </a:solidFill>
                <a:latin typeface="Ubuntu Mono"/>
                <a:ea typeface="Ubuntu Mono"/>
                <a:cs typeface="Ubuntu Mono"/>
                <a:sym typeface="Ubuntu Mono"/>
              </a:rPr>
              <a:t>10</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cout</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&lt;&lt;</a:t>
            </a:r>
            <a:r>
              <a:rPr lang="es">
                <a:solidFill>
                  <a:srgbClr val="383A42"/>
                </a:solidFill>
                <a:latin typeface="Ubuntu Mono"/>
                <a:ea typeface="Ubuntu Mono"/>
                <a:cs typeface="Ubuntu Mono"/>
                <a:sym typeface="Ubuntu Mono"/>
              </a:rPr>
              <a:t> </a:t>
            </a:r>
            <a:r>
              <a:rPr lang="es">
                <a:solidFill>
                  <a:srgbClr val="50A14F"/>
                </a:solidFill>
                <a:latin typeface="Ubuntu Mono"/>
                <a:ea typeface="Ubuntu Mono"/>
                <a:cs typeface="Ubuntu Mono"/>
                <a:sym typeface="Ubuntu Mono"/>
              </a:rPr>
              <a:t>"Promedio: "</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&lt;&lt;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prom</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&lt;&lt;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endl</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p:txBody>
      </p:sp>
      <p:sp>
        <p:nvSpPr>
          <p:cNvPr id="352" name="Google Shape;352;p31"/>
          <p:cNvSpPr/>
          <p:nvPr/>
        </p:nvSpPr>
        <p:spPr>
          <a:xfrm rot="-1017154">
            <a:off x="161664" y="987495"/>
            <a:ext cx="5907815" cy="861880"/>
          </a:xfrm>
          <a:prstGeom prst="roundRect">
            <a:avLst>
              <a:gd fmla="val 9075"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¿Y qué pasa si queremos el promedio de 100 personas?</a:t>
            </a:r>
            <a:endParaRPr b="0" i="0" sz="1400" u="none" cap="none" strike="noStrike">
              <a:solidFill>
                <a:srgbClr val="000000"/>
              </a:solidFill>
              <a:latin typeface="Arial"/>
              <a:ea typeface="Arial"/>
              <a:cs typeface="Arial"/>
              <a:sym typeface="Arial"/>
            </a:endParaRPr>
          </a:p>
        </p:txBody>
      </p:sp>
      <p:sp>
        <p:nvSpPr>
          <p:cNvPr id="353" name="Google Shape;353;p31"/>
          <p:cNvSpPr/>
          <p:nvPr/>
        </p:nvSpPr>
        <p:spPr>
          <a:xfrm rot="808556">
            <a:off x="1997180" y="1617919"/>
            <a:ext cx="5907650" cy="861601"/>
          </a:xfrm>
          <a:prstGeom prst="roundRect">
            <a:avLst>
              <a:gd fmla="val 9075"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¿Y si queremos que el usuario ingrese la cantidad de personas?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Edad promedio	</a:t>
            </a:r>
            <a:endParaRPr/>
          </a:p>
        </p:txBody>
      </p:sp>
      <p:sp>
        <p:nvSpPr>
          <p:cNvPr id="359" name="Google Shape;359;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Un programa que calcule la edad promedio entre </a:t>
            </a:r>
            <a:r>
              <a:rPr lang="es">
                <a:solidFill>
                  <a:schemeClr val="accent4"/>
                </a:solidFill>
              </a:rPr>
              <a:t>7</a:t>
            </a:r>
            <a:r>
              <a:rPr lang="es"/>
              <a:t> personas.</a:t>
            </a:r>
            <a:endParaRPr/>
          </a:p>
        </p:txBody>
      </p:sp>
      <p:sp>
        <p:nvSpPr>
          <p:cNvPr id="360" name="Google Shape;360;p32"/>
          <p:cNvSpPr/>
          <p:nvPr/>
        </p:nvSpPr>
        <p:spPr>
          <a:xfrm rot="10800000">
            <a:off x="1535079" y="1627400"/>
            <a:ext cx="6073500" cy="5097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61" name="Google Shape;361;p32"/>
          <p:cNvSpPr/>
          <p:nvPr/>
        </p:nvSpPr>
        <p:spPr>
          <a:xfrm>
            <a:off x="1729418" y="1722119"/>
            <a:ext cx="248700" cy="2487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62" name="Google Shape;362;p32"/>
          <p:cNvSpPr/>
          <p:nvPr/>
        </p:nvSpPr>
        <p:spPr>
          <a:xfrm>
            <a:off x="2097932" y="1722119"/>
            <a:ext cx="248700" cy="2487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63" name="Google Shape;363;p32"/>
          <p:cNvSpPr/>
          <p:nvPr/>
        </p:nvSpPr>
        <p:spPr>
          <a:xfrm>
            <a:off x="2466447" y="1722119"/>
            <a:ext cx="248700" cy="2487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64" name="Google Shape;364;p32"/>
          <p:cNvSpPr/>
          <p:nvPr/>
        </p:nvSpPr>
        <p:spPr>
          <a:xfrm rot="10800000">
            <a:off x="1001688" y="2006575"/>
            <a:ext cx="7049400" cy="25623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365" name="Google Shape;365;p32"/>
          <p:cNvSpPr/>
          <p:nvPr/>
        </p:nvSpPr>
        <p:spPr>
          <a:xfrm rot="10800000">
            <a:off x="1001698" y="1627400"/>
            <a:ext cx="7049400" cy="5097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66" name="Google Shape;366;p32"/>
          <p:cNvSpPr/>
          <p:nvPr/>
        </p:nvSpPr>
        <p:spPr>
          <a:xfrm>
            <a:off x="1196018" y="1722119"/>
            <a:ext cx="248700" cy="2487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67" name="Google Shape;367;p32"/>
          <p:cNvSpPr/>
          <p:nvPr/>
        </p:nvSpPr>
        <p:spPr>
          <a:xfrm>
            <a:off x="1564532" y="1722119"/>
            <a:ext cx="248700" cy="2487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68" name="Google Shape;368;p32"/>
          <p:cNvSpPr/>
          <p:nvPr/>
        </p:nvSpPr>
        <p:spPr>
          <a:xfrm>
            <a:off x="1933047" y="1722119"/>
            <a:ext cx="248700" cy="2487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69" name="Google Shape;369;p32"/>
          <p:cNvSpPr txBox="1"/>
          <p:nvPr/>
        </p:nvSpPr>
        <p:spPr>
          <a:xfrm>
            <a:off x="1002087" y="2041389"/>
            <a:ext cx="7049400" cy="23739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1</a:t>
            </a:r>
            <a:r>
              <a:rPr lang="es">
                <a:solidFill>
                  <a:srgbClr val="383A42"/>
                </a:solidFill>
                <a:latin typeface="Ubuntu Mono"/>
                <a:ea typeface="Ubuntu Mono"/>
                <a:cs typeface="Ubuntu Mono"/>
                <a:sym typeface="Ubuntu Mono"/>
              </a:rPr>
              <a:t> </a:t>
            </a:r>
            <a:r>
              <a:rPr lang="es">
                <a:solidFill>
                  <a:srgbClr val="27292F"/>
                </a:solidFill>
                <a:latin typeface="Ubuntu Mono"/>
                <a:ea typeface="Ubuntu Mono"/>
                <a:cs typeface="Ubuntu Mono"/>
                <a:sym typeface="Ubuntu Mono"/>
              </a:rPr>
              <a:t>int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pers1</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pers2</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pers3</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pers4</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pers5</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pers6</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pers7</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2</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pers1</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3</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pers2</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4</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pers3</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5</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pers4</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6</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pers5</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7</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pers6</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8</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cin</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&gt;&gt;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pers7</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383A42"/>
                </a:solidFill>
                <a:latin typeface="Ubuntu Mono"/>
                <a:ea typeface="Ubuntu Mono"/>
                <a:cs typeface="Ubuntu Mono"/>
                <a:sym typeface="Ubuntu Mono"/>
              </a:rPr>
              <a:t> </a:t>
            </a:r>
            <a:r>
              <a:rPr lang="es">
                <a:solidFill>
                  <a:srgbClr val="929292"/>
                </a:solidFill>
                <a:latin typeface="Ubuntu Mono"/>
                <a:ea typeface="Ubuntu Mono"/>
                <a:cs typeface="Ubuntu Mono"/>
                <a:sym typeface="Ubuntu Mono"/>
              </a:rPr>
              <a:t>9</a:t>
            </a:r>
            <a:r>
              <a:rPr lang="es">
                <a:solidFill>
                  <a:srgbClr val="383A42"/>
                </a:solidFill>
                <a:latin typeface="Ubuntu Mono"/>
                <a:ea typeface="Ubuntu Mono"/>
                <a:cs typeface="Ubuntu Mono"/>
                <a:sym typeface="Ubuntu Mono"/>
              </a:rPr>
              <a:t> </a:t>
            </a:r>
            <a:r>
              <a:rPr lang="es">
                <a:solidFill>
                  <a:srgbClr val="27292F"/>
                </a:solidFill>
                <a:latin typeface="Ubuntu Mono"/>
                <a:ea typeface="Ubuntu Mono"/>
                <a:cs typeface="Ubuntu Mono"/>
                <a:sym typeface="Ubuntu Mono"/>
              </a:rPr>
              <a:t>int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prom</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pers1</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pers2</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pers3</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pers4</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pers5</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pers6</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pers7</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a:t>
            </a:r>
            <a:r>
              <a:rPr lang="es">
                <a:solidFill>
                  <a:srgbClr val="383A42"/>
                </a:solidFill>
                <a:latin typeface="Ubuntu Mono"/>
                <a:ea typeface="Ubuntu Mono"/>
                <a:cs typeface="Ubuntu Mono"/>
                <a:sym typeface="Ubuntu Mono"/>
              </a:rPr>
              <a:t> </a:t>
            </a:r>
            <a:r>
              <a:rPr lang="es">
                <a:solidFill>
                  <a:srgbClr val="986801"/>
                </a:solidFill>
                <a:latin typeface="Ubuntu Mono"/>
                <a:ea typeface="Ubuntu Mono"/>
                <a:cs typeface="Ubuntu Mono"/>
                <a:sym typeface="Ubuntu Mono"/>
              </a:rPr>
              <a:t>7</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400"/>
              <a:buFont typeface="Arial"/>
              <a:buNone/>
            </a:pPr>
            <a:r>
              <a:rPr lang="es">
                <a:solidFill>
                  <a:srgbClr val="929292"/>
                </a:solidFill>
                <a:latin typeface="Ubuntu Mono"/>
                <a:ea typeface="Ubuntu Mono"/>
                <a:cs typeface="Ubuntu Mono"/>
                <a:sym typeface="Ubuntu Mono"/>
              </a:rPr>
              <a:t>10</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cout</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&lt;&lt;</a:t>
            </a:r>
            <a:r>
              <a:rPr lang="es">
                <a:solidFill>
                  <a:srgbClr val="383A42"/>
                </a:solidFill>
                <a:latin typeface="Ubuntu Mono"/>
                <a:ea typeface="Ubuntu Mono"/>
                <a:cs typeface="Ubuntu Mono"/>
                <a:sym typeface="Ubuntu Mono"/>
              </a:rPr>
              <a:t> </a:t>
            </a:r>
            <a:r>
              <a:rPr lang="es">
                <a:solidFill>
                  <a:srgbClr val="50A14F"/>
                </a:solidFill>
                <a:latin typeface="Ubuntu Mono"/>
                <a:ea typeface="Ubuntu Mono"/>
                <a:cs typeface="Ubuntu Mono"/>
                <a:sym typeface="Ubuntu Mono"/>
              </a:rPr>
              <a:t>"Promedio: "</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&lt;&lt;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prom</a:t>
            </a:r>
            <a:r>
              <a:rPr lang="es">
                <a:solidFill>
                  <a:srgbClr val="383A42"/>
                </a:solidFill>
                <a:latin typeface="Ubuntu Mono"/>
                <a:ea typeface="Ubuntu Mono"/>
                <a:cs typeface="Ubuntu Mono"/>
                <a:sym typeface="Ubuntu Mono"/>
              </a:rPr>
              <a:t> </a:t>
            </a:r>
            <a:r>
              <a:rPr lang="es">
                <a:solidFill>
                  <a:srgbClr val="0184BC"/>
                </a:solidFill>
                <a:latin typeface="Ubuntu Mono"/>
                <a:ea typeface="Ubuntu Mono"/>
                <a:cs typeface="Ubuntu Mono"/>
                <a:sym typeface="Ubuntu Mono"/>
              </a:rPr>
              <a:t>&lt;&lt;</a:t>
            </a:r>
            <a:r>
              <a:rPr lang="es">
                <a:solidFill>
                  <a:srgbClr val="383A42"/>
                </a:solidFill>
                <a:latin typeface="Ubuntu Mono"/>
                <a:ea typeface="Ubuntu Mono"/>
                <a:cs typeface="Ubuntu Mono"/>
                <a:sym typeface="Ubuntu Mono"/>
              </a:rPr>
              <a:t> </a:t>
            </a:r>
            <a:r>
              <a:rPr lang="es">
                <a:solidFill>
                  <a:srgbClr val="E06C75"/>
                </a:solidFill>
                <a:latin typeface="Ubuntu Mono"/>
                <a:ea typeface="Ubuntu Mono"/>
                <a:cs typeface="Ubuntu Mono"/>
                <a:sym typeface="Ubuntu Mono"/>
              </a:rPr>
              <a:t>endl</a:t>
            </a:r>
            <a:r>
              <a:rPr lang="es">
                <a:solidFill>
                  <a:srgbClr val="383A42"/>
                </a:solidFill>
                <a:latin typeface="Ubuntu Mono"/>
                <a:ea typeface="Ubuntu Mono"/>
                <a:cs typeface="Ubuntu Mono"/>
                <a:sym typeface="Ubuntu Mono"/>
              </a:rPr>
              <a:t>;</a:t>
            </a:r>
            <a:endParaRPr>
              <a:solidFill>
                <a:srgbClr val="383A42"/>
              </a:solidFill>
              <a:latin typeface="Ubuntu Mono"/>
              <a:ea typeface="Ubuntu Mono"/>
              <a:cs typeface="Ubuntu Mono"/>
              <a:sym typeface="Ubuntu Mono"/>
            </a:endParaRPr>
          </a:p>
        </p:txBody>
      </p:sp>
      <p:sp>
        <p:nvSpPr>
          <p:cNvPr id="370" name="Google Shape;370;p32"/>
          <p:cNvSpPr/>
          <p:nvPr/>
        </p:nvSpPr>
        <p:spPr>
          <a:xfrm rot="-1017154">
            <a:off x="161664" y="987495"/>
            <a:ext cx="5907815" cy="861880"/>
          </a:xfrm>
          <a:prstGeom prst="roundRect">
            <a:avLst>
              <a:gd fmla="val 9075"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¿Y qué pasa si queremos el promedio de 100 personas?</a:t>
            </a:r>
            <a:endParaRPr b="0" i="0" sz="1400" u="none" cap="none" strike="noStrike">
              <a:solidFill>
                <a:srgbClr val="000000"/>
              </a:solidFill>
              <a:latin typeface="Arial"/>
              <a:ea typeface="Arial"/>
              <a:cs typeface="Arial"/>
              <a:sym typeface="Arial"/>
            </a:endParaRPr>
          </a:p>
        </p:txBody>
      </p:sp>
      <p:sp>
        <p:nvSpPr>
          <p:cNvPr id="371" name="Google Shape;371;p32"/>
          <p:cNvSpPr/>
          <p:nvPr/>
        </p:nvSpPr>
        <p:spPr>
          <a:xfrm rot="808556">
            <a:off x="1997180" y="1617919"/>
            <a:ext cx="5907650" cy="861601"/>
          </a:xfrm>
          <a:prstGeom prst="roundRect">
            <a:avLst>
              <a:gd fmla="val 9075"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¿Y si queremos que el usuario ingrese la cantidad de personas?</a:t>
            </a:r>
            <a:endParaRPr b="0" i="0" sz="1400" u="none" cap="none" strike="noStrike">
              <a:solidFill>
                <a:srgbClr val="000000"/>
              </a:solidFill>
              <a:latin typeface="Arial"/>
              <a:ea typeface="Arial"/>
              <a:cs typeface="Arial"/>
              <a:sym typeface="Arial"/>
            </a:endParaRPr>
          </a:p>
        </p:txBody>
      </p:sp>
      <p:sp>
        <p:nvSpPr>
          <p:cNvPr id="372" name="Google Shape;372;p32"/>
          <p:cNvSpPr/>
          <p:nvPr/>
        </p:nvSpPr>
        <p:spPr>
          <a:xfrm rot="-531061">
            <a:off x="2051736" y="2429955"/>
            <a:ext cx="5907751" cy="861367"/>
          </a:xfrm>
          <a:prstGeom prst="roundRect">
            <a:avLst>
              <a:gd fmla="val 9075"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¿Tantas líneas de código para algo que parece sencillo?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sz="7000"/>
              <a:t>Ciclos de Repetición Indefinida</a:t>
            </a:r>
            <a:endParaRPr sz="7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Ciclos de Repetición Indefinida</a:t>
            </a:r>
            <a:endParaRPr/>
          </a:p>
        </p:txBody>
      </p:sp>
      <p:sp>
        <p:nvSpPr>
          <p:cNvPr id="383" name="Google Shape;383;p34"/>
          <p:cNvSpPr txBox="1"/>
          <p:nvPr>
            <p:ph idx="1" type="body"/>
          </p:nvPr>
        </p:nvSpPr>
        <p:spPr>
          <a:xfrm>
            <a:off x="311700" y="1152475"/>
            <a:ext cx="8520600" cy="1023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Herramienta del lenguaje que nos permite ejecutar un </a:t>
            </a:r>
            <a:r>
              <a:rPr b="1" lang="es">
                <a:solidFill>
                  <a:srgbClr val="009688"/>
                </a:solidFill>
              </a:rPr>
              <a:t>programa</a:t>
            </a:r>
            <a:r>
              <a:rPr lang="es"/>
              <a:t> determinado </a:t>
            </a:r>
            <a:r>
              <a:rPr b="1" lang="es">
                <a:solidFill>
                  <a:schemeClr val="accent5"/>
                </a:solidFill>
              </a:rPr>
              <a:t>mientras que</a:t>
            </a:r>
            <a:r>
              <a:rPr lang="es"/>
              <a:t> se cumpla una determinada </a:t>
            </a:r>
            <a:r>
              <a:rPr b="1" lang="es">
                <a:solidFill>
                  <a:srgbClr val="FFAB40"/>
                </a:solidFill>
              </a:rPr>
              <a:t>condición</a:t>
            </a:r>
            <a:endParaRPr b="1">
              <a:solidFill>
                <a:srgbClr val="FFAB40"/>
              </a:solidFill>
            </a:endParaRPr>
          </a:p>
        </p:txBody>
      </p:sp>
      <p:sp>
        <p:nvSpPr>
          <p:cNvPr id="384" name="Google Shape;384;p34"/>
          <p:cNvSpPr txBox="1"/>
          <p:nvPr/>
        </p:nvSpPr>
        <p:spPr>
          <a:xfrm>
            <a:off x="3257850" y="2248475"/>
            <a:ext cx="3999900" cy="34164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2600"/>
              <a:buFont typeface="Arial"/>
              <a:buNone/>
            </a:pPr>
            <a:r>
              <a:rPr b="0" i="0" lang="es" sz="2600" u="none" cap="none" strike="noStrike">
                <a:solidFill>
                  <a:schemeClr val="accent5"/>
                </a:solidFill>
                <a:latin typeface="Roboto Mono Medium"/>
                <a:ea typeface="Roboto Mono Medium"/>
                <a:cs typeface="Roboto Mono Medium"/>
                <a:sym typeface="Roboto Mono Medium"/>
              </a:rPr>
              <a:t>while</a:t>
            </a:r>
            <a:r>
              <a:rPr b="0" i="0" lang="es" sz="2600" u="none" cap="none" strike="noStrike">
                <a:solidFill>
                  <a:srgbClr val="ADADAD"/>
                </a:solidFill>
                <a:latin typeface="Roboto Mono Medium"/>
                <a:ea typeface="Roboto Mono Medium"/>
                <a:cs typeface="Roboto Mono Medium"/>
                <a:sym typeface="Roboto Mono Medium"/>
              </a:rPr>
              <a:t> (</a:t>
            </a:r>
            <a:r>
              <a:rPr b="0" i="0" lang="es" sz="2600" u="none" cap="none" strike="noStrike">
                <a:solidFill>
                  <a:srgbClr val="FFAB40"/>
                </a:solidFill>
                <a:latin typeface="Roboto Mono Medium"/>
                <a:ea typeface="Roboto Mono Medium"/>
                <a:cs typeface="Roboto Mono Medium"/>
                <a:sym typeface="Roboto Mono Medium"/>
              </a:rPr>
              <a:t>cond</a:t>
            </a:r>
            <a:r>
              <a:rPr b="0" i="0" lang="es" sz="2600" u="none" cap="none" strike="noStrike">
                <a:solidFill>
                  <a:srgbClr val="ADADAD"/>
                </a:solidFill>
                <a:latin typeface="Roboto Mono Medium"/>
                <a:ea typeface="Roboto Mono Medium"/>
                <a:cs typeface="Roboto Mono Medium"/>
                <a:sym typeface="Roboto Mono Medium"/>
              </a:rPr>
              <a:t>)</a:t>
            </a:r>
            <a:endParaRPr b="0" i="0" sz="2600" u="none" cap="none" strike="noStrike">
              <a:solidFill>
                <a:srgbClr val="ADADAD"/>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0"/>
              </a:spcAft>
              <a:buClr>
                <a:srgbClr val="000000"/>
              </a:buClr>
              <a:buSzPts val="2600"/>
              <a:buFont typeface="Arial"/>
              <a:buNone/>
            </a:pPr>
            <a:r>
              <a:rPr b="0" i="0" lang="es" sz="2600" u="none" cap="none" strike="noStrike">
                <a:solidFill>
                  <a:srgbClr val="ADADAD"/>
                </a:solidFill>
                <a:latin typeface="Roboto Mono Medium"/>
                <a:ea typeface="Roboto Mono Medium"/>
                <a:cs typeface="Roboto Mono Medium"/>
                <a:sym typeface="Roboto Mono Medium"/>
              </a:rPr>
              <a:t>{</a:t>
            </a:r>
            <a:endParaRPr b="0" i="0" sz="2600" u="none" cap="none" strike="noStrike">
              <a:solidFill>
                <a:srgbClr val="ADADAD"/>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0"/>
              </a:spcAft>
              <a:buClr>
                <a:srgbClr val="000000"/>
              </a:buClr>
              <a:buSzPts val="2600"/>
              <a:buFont typeface="Arial"/>
              <a:buNone/>
            </a:pPr>
            <a:r>
              <a:rPr b="0" i="0" lang="es" sz="2600" u="none" cap="none" strike="noStrike">
                <a:solidFill>
                  <a:srgbClr val="ADADAD"/>
                </a:solidFill>
                <a:latin typeface="Roboto Mono Medium"/>
                <a:ea typeface="Roboto Mono Medium"/>
                <a:cs typeface="Roboto Mono Medium"/>
                <a:sym typeface="Roboto Mono Medium"/>
              </a:rPr>
              <a:t>	   </a:t>
            </a:r>
            <a:r>
              <a:rPr b="0" i="0" lang="es" sz="2600" u="none" cap="none" strike="noStrike">
                <a:solidFill>
                  <a:srgbClr val="009688"/>
                </a:solidFill>
                <a:latin typeface="Roboto Mono Medium"/>
                <a:ea typeface="Roboto Mono Medium"/>
                <a:cs typeface="Roboto Mono Medium"/>
                <a:sym typeface="Roboto Mono Medium"/>
              </a:rPr>
              <a:t>prog</a:t>
            </a:r>
            <a:endParaRPr b="0" i="0" sz="2600" u="none" cap="none" strike="noStrike">
              <a:solidFill>
                <a:srgbClr val="009688"/>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1200"/>
              </a:spcAft>
              <a:buClr>
                <a:srgbClr val="000000"/>
              </a:buClr>
              <a:buSzPts val="2600"/>
              <a:buFont typeface="Arial"/>
              <a:buNone/>
            </a:pPr>
            <a:r>
              <a:rPr b="0" i="0" lang="es" sz="2600" u="none" cap="none" strike="noStrike">
                <a:solidFill>
                  <a:srgbClr val="ADADAD"/>
                </a:solidFill>
                <a:latin typeface="Roboto Mono Medium"/>
                <a:ea typeface="Roboto Mono Medium"/>
                <a:cs typeface="Roboto Mono Medium"/>
                <a:sym typeface="Roboto Mono Medium"/>
              </a:rPr>
              <a:t>}</a:t>
            </a:r>
            <a:endParaRPr b="0" i="0" sz="2600" u="none" cap="none" strike="noStrike">
              <a:solidFill>
                <a:srgbClr val="ADADAD"/>
              </a:solidFill>
              <a:latin typeface="Roboto Mono Medium"/>
              <a:ea typeface="Roboto Mono Medium"/>
              <a:cs typeface="Roboto Mono Medium"/>
              <a:sym typeface="Roboto Mono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Edad promedio	</a:t>
            </a:r>
            <a:endParaRPr/>
          </a:p>
        </p:txBody>
      </p:sp>
      <p:sp>
        <p:nvSpPr>
          <p:cNvPr id="390" name="Google Shape;390;p35"/>
          <p:cNvSpPr txBox="1"/>
          <p:nvPr>
            <p:ph idx="1" type="body"/>
          </p:nvPr>
        </p:nvSpPr>
        <p:spPr>
          <a:xfrm>
            <a:off x="311700" y="10762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Un programa que calcule la edad promedio de la cantidad de personas que ingrese por teclado el usuario.</a:t>
            </a:r>
            <a:endParaRPr/>
          </a:p>
        </p:txBody>
      </p:sp>
      <p:sp>
        <p:nvSpPr>
          <p:cNvPr id="391" name="Google Shape;391;p35"/>
          <p:cNvSpPr/>
          <p:nvPr/>
        </p:nvSpPr>
        <p:spPr>
          <a:xfrm rot="10800000">
            <a:off x="696875" y="2235150"/>
            <a:ext cx="6073500" cy="27993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392" name="Google Shape;392;p35"/>
          <p:cNvSpPr/>
          <p:nvPr/>
        </p:nvSpPr>
        <p:spPr>
          <a:xfrm rot="10800000">
            <a:off x="696879" y="1856000"/>
            <a:ext cx="6073500" cy="5097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93" name="Google Shape;393;p35"/>
          <p:cNvSpPr/>
          <p:nvPr/>
        </p:nvSpPr>
        <p:spPr>
          <a:xfrm>
            <a:off x="891218" y="1950719"/>
            <a:ext cx="248700" cy="2487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94" name="Google Shape;394;p35"/>
          <p:cNvSpPr/>
          <p:nvPr/>
        </p:nvSpPr>
        <p:spPr>
          <a:xfrm>
            <a:off x="1259732" y="1950719"/>
            <a:ext cx="248700" cy="2487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95" name="Google Shape;395;p35"/>
          <p:cNvSpPr/>
          <p:nvPr/>
        </p:nvSpPr>
        <p:spPr>
          <a:xfrm>
            <a:off x="1628247" y="1950719"/>
            <a:ext cx="248700" cy="2487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96" name="Google Shape;396;p35"/>
          <p:cNvSpPr txBox="1"/>
          <p:nvPr/>
        </p:nvSpPr>
        <p:spPr>
          <a:xfrm>
            <a:off x="697225" y="2273214"/>
            <a:ext cx="6073500" cy="25935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lang="es" sz="1200">
                <a:solidFill>
                  <a:srgbClr val="383A42"/>
                </a:solidFill>
                <a:latin typeface="Ubuntu Mono"/>
                <a:ea typeface="Ubuntu Mono"/>
                <a:cs typeface="Ubuntu Mono"/>
                <a:sym typeface="Ubuntu Mono"/>
              </a:rPr>
              <a:t> </a:t>
            </a:r>
            <a:r>
              <a:rPr lang="es" sz="1200">
                <a:solidFill>
                  <a:srgbClr val="929292"/>
                </a:solidFill>
                <a:latin typeface="Ubuntu Mono"/>
                <a:ea typeface="Ubuntu Mono"/>
                <a:cs typeface="Ubuntu Mono"/>
                <a:sym typeface="Ubuntu Mono"/>
              </a:rPr>
              <a:t>1</a:t>
            </a:r>
            <a:r>
              <a:rPr lang="es" sz="1200">
                <a:solidFill>
                  <a:srgbClr val="383A42"/>
                </a:solidFill>
                <a:latin typeface="Ubuntu Mono"/>
                <a:ea typeface="Ubuntu Mono"/>
                <a:cs typeface="Ubuntu Mono"/>
                <a:sym typeface="Ubuntu Mono"/>
              </a:rPr>
              <a:t> </a:t>
            </a:r>
            <a:r>
              <a:rPr lang="es" sz="1200">
                <a:solidFill>
                  <a:srgbClr val="27292F"/>
                </a:solidFill>
                <a:latin typeface="Ubuntu Mono"/>
                <a:ea typeface="Ubuntu Mono"/>
                <a:cs typeface="Ubuntu Mono"/>
                <a:sym typeface="Ubuntu Mono"/>
              </a:rPr>
              <a:t>int</a:t>
            </a:r>
            <a:r>
              <a:rPr lang="es" sz="1200">
                <a:solidFill>
                  <a:srgbClr val="383A42"/>
                </a:solidFill>
                <a:latin typeface="Ubuntu Mono"/>
                <a:ea typeface="Ubuntu Mono"/>
                <a:cs typeface="Ubuntu Mono"/>
                <a:sym typeface="Ubuntu Mono"/>
              </a:rPr>
              <a:t> </a:t>
            </a:r>
            <a:r>
              <a:rPr lang="es" sz="1200">
                <a:solidFill>
                  <a:srgbClr val="E06C75"/>
                </a:solidFill>
                <a:latin typeface="Ubuntu Mono"/>
                <a:ea typeface="Ubuntu Mono"/>
                <a:cs typeface="Ubuntu Mono"/>
                <a:sym typeface="Ubuntu Mono"/>
              </a:rPr>
              <a:t>cantidad_personas</a:t>
            </a:r>
            <a:r>
              <a:rPr lang="es" sz="1200">
                <a:solidFill>
                  <a:srgbClr val="383A42"/>
                </a:solidFill>
                <a:latin typeface="Ubuntu Mono"/>
                <a:ea typeface="Ubuntu Mono"/>
                <a:cs typeface="Ubuntu Mono"/>
                <a:sym typeface="Ubuntu Mono"/>
              </a:rPr>
              <a:t>;</a:t>
            </a:r>
            <a:endParaRPr sz="12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200"/>
              <a:buFont typeface="Arial"/>
              <a:buNone/>
            </a:pPr>
            <a:r>
              <a:rPr lang="es" sz="1200">
                <a:solidFill>
                  <a:srgbClr val="383A42"/>
                </a:solidFill>
                <a:latin typeface="Ubuntu Mono"/>
                <a:ea typeface="Ubuntu Mono"/>
                <a:cs typeface="Ubuntu Mono"/>
                <a:sym typeface="Ubuntu Mono"/>
              </a:rPr>
              <a:t> </a:t>
            </a:r>
            <a:r>
              <a:rPr lang="es" sz="1200">
                <a:solidFill>
                  <a:srgbClr val="929292"/>
                </a:solidFill>
                <a:latin typeface="Ubuntu Mono"/>
                <a:ea typeface="Ubuntu Mono"/>
                <a:cs typeface="Ubuntu Mono"/>
                <a:sym typeface="Ubuntu Mono"/>
              </a:rPr>
              <a:t>2</a:t>
            </a:r>
            <a:r>
              <a:rPr lang="es" sz="1200">
                <a:solidFill>
                  <a:srgbClr val="383A42"/>
                </a:solidFill>
                <a:latin typeface="Ubuntu Mono"/>
                <a:ea typeface="Ubuntu Mono"/>
                <a:cs typeface="Ubuntu Mono"/>
                <a:sym typeface="Ubuntu Mono"/>
              </a:rPr>
              <a:t> </a:t>
            </a:r>
            <a:r>
              <a:rPr lang="es" sz="1200">
                <a:solidFill>
                  <a:srgbClr val="27292F"/>
                </a:solidFill>
                <a:latin typeface="Ubuntu Mono"/>
                <a:ea typeface="Ubuntu Mono"/>
                <a:cs typeface="Ubuntu Mono"/>
                <a:sym typeface="Ubuntu Mono"/>
              </a:rPr>
              <a:t>int</a:t>
            </a:r>
            <a:r>
              <a:rPr lang="es" sz="1200">
                <a:solidFill>
                  <a:srgbClr val="383A42"/>
                </a:solidFill>
                <a:latin typeface="Ubuntu Mono"/>
                <a:ea typeface="Ubuntu Mono"/>
                <a:cs typeface="Ubuntu Mono"/>
                <a:sym typeface="Ubuntu Mono"/>
              </a:rPr>
              <a:t> </a:t>
            </a:r>
            <a:r>
              <a:rPr lang="es" sz="1200">
                <a:solidFill>
                  <a:srgbClr val="E06C75"/>
                </a:solidFill>
                <a:latin typeface="Ubuntu Mono"/>
                <a:ea typeface="Ubuntu Mono"/>
                <a:cs typeface="Ubuntu Mono"/>
                <a:sym typeface="Ubuntu Mono"/>
              </a:rPr>
              <a:t>contador</a:t>
            </a:r>
            <a:r>
              <a:rPr lang="es" sz="1200">
                <a:solidFill>
                  <a:srgbClr val="0184BC"/>
                </a:solidFill>
                <a:latin typeface="Ubuntu Mono"/>
                <a:ea typeface="Ubuntu Mono"/>
                <a:cs typeface="Ubuntu Mono"/>
                <a:sym typeface="Ubuntu Mono"/>
              </a:rPr>
              <a:t>=</a:t>
            </a:r>
            <a:r>
              <a:rPr lang="es" sz="1200">
                <a:solidFill>
                  <a:srgbClr val="986801"/>
                </a:solidFill>
                <a:latin typeface="Ubuntu Mono"/>
                <a:ea typeface="Ubuntu Mono"/>
                <a:cs typeface="Ubuntu Mono"/>
                <a:sym typeface="Ubuntu Mono"/>
              </a:rPr>
              <a:t>0</a:t>
            </a:r>
            <a:r>
              <a:rPr lang="es" sz="1200">
                <a:solidFill>
                  <a:srgbClr val="383A42"/>
                </a:solidFill>
                <a:latin typeface="Ubuntu Mono"/>
                <a:ea typeface="Ubuntu Mono"/>
                <a:cs typeface="Ubuntu Mono"/>
                <a:sym typeface="Ubuntu Mono"/>
              </a:rPr>
              <a:t>;</a:t>
            </a:r>
            <a:endParaRPr sz="12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200"/>
              <a:buFont typeface="Arial"/>
              <a:buNone/>
            </a:pPr>
            <a:r>
              <a:rPr lang="es" sz="1200">
                <a:solidFill>
                  <a:srgbClr val="383A42"/>
                </a:solidFill>
                <a:latin typeface="Ubuntu Mono"/>
                <a:ea typeface="Ubuntu Mono"/>
                <a:cs typeface="Ubuntu Mono"/>
                <a:sym typeface="Ubuntu Mono"/>
              </a:rPr>
              <a:t> </a:t>
            </a:r>
            <a:r>
              <a:rPr lang="es" sz="1200">
                <a:solidFill>
                  <a:srgbClr val="929292"/>
                </a:solidFill>
                <a:latin typeface="Ubuntu Mono"/>
                <a:ea typeface="Ubuntu Mono"/>
                <a:cs typeface="Ubuntu Mono"/>
                <a:sym typeface="Ubuntu Mono"/>
              </a:rPr>
              <a:t>3</a:t>
            </a:r>
            <a:r>
              <a:rPr lang="es" sz="1200">
                <a:solidFill>
                  <a:srgbClr val="383A42"/>
                </a:solidFill>
                <a:latin typeface="Ubuntu Mono"/>
                <a:ea typeface="Ubuntu Mono"/>
                <a:cs typeface="Ubuntu Mono"/>
                <a:sym typeface="Ubuntu Mono"/>
              </a:rPr>
              <a:t> </a:t>
            </a:r>
            <a:r>
              <a:rPr lang="es" sz="1200">
                <a:solidFill>
                  <a:srgbClr val="27292F"/>
                </a:solidFill>
                <a:latin typeface="Ubuntu Mono"/>
                <a:ea typeface="Ubuntu Mono"/>
                <a:cs typeface="Ubuntu Mono"/>
                <a:sym typeface="Ubuntu Mono"/>
              </a:rPr>
              <a:t>int</a:t>
            </a:r>
            <a:r>
              <a:rPr lang="es" sz="1200">
                <a:solidFill>
                  <a:srgbClr val="383A42"/>
                </a:solidFill>
                <a:latin typeface="Ubuntu Mono"/>
                <a:ea typeface="Ubuntu Mono"/>
                <a:cs typeface="Ubuntu Mono"/>
                <a:sym typeface="Ubuntu Mono"/>
              </a:rPr>
              <a:t> </a:t>
            </a:r>
            <a:r>
              <a:rPr lang="es" sz="1200">
                <a:solidFill>
                  <a:srgbClr val="E06C75"/>
                </a:solidFill>
                <a:latin typeface="Ubuntu Mono"/>
                <a:ea typeface="Ubuntu Mono"/>
                <a:cs typeface="Ubuntu Mono"/>
                <a:sym typeface="Ubuntu Mono"/>
              </a:rPr>
              <a:t>edad_suma</a:t>
            </a:r>
            <a:r>
              <a:rPr lang="es" sz="1200">
                <a:solidFill>
                  <a:srgbClr val="0184BC"/>
                </a:solidFill>
                <a:latin typeface="Ubuntu Mono"/>
                <a:ea typeface="Ubuntu Mono"/>
                <a:cs typeface="Ubuntu Mono"/>
                <a:sym typeface="Ubuntu Mono"/>
              </a:rPr>
              <a:t>=</a:t>
            </a:r>
            <a:r>
              <a:rPr lang="es" sz="1200">
                <a:solidFill>
                  <a:srgbClr val="986801"/>
                </a:solidFill>
                <a:latin typeface="Ubuntu Mono"/>
                <a:ea typeface="Ubuntu Mono"/>
                <a:cs typeface="Ubuntu Mono"/>
                <a:sym typeface="Ubuntu Mono"/>
              </a:rPr>
              <a:t>0</a:t>
            </a:r>
            <a:r>
              <a:rPr lang="es" sz="1200">
                <a:solidFill>
                  <a:srgbClr val="383A42"/>
                </a:solidFill>
                <a:latin typeface="Ubuntu Mono"/>
                <a:ea typeface="Ubuntu Mono"/>
                <a:cs typeface="Ubuntu Mono"/>
                <a:sym typeface="Ubuntu Mono"/>
              </a:rPr>
              <a:t>;</a:t>
            </a:r>
            <a:endParaRPr sz="12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200"/>
              <a:buFont typeface="Arial"/>
              <a:buNone/>
            </a:pPr>
            <a:r>
              <a:rPr lang="es" sz="1200">
                <a:solidFill>
                  <a:srgbClr val="383A42"/>
                </a:solidFill>
                <a:latin typeface="Ubuntu Mono"/>
                <a:ea typeface="Ubuntu Mono"/>
                <a:cs typeface="Ubuntu Mono"/>
                <a:sym typeface="Ubuntu Mono"/>
              </a:rPr>
              <a:t> </a:t>
            </a:r>
            <a:r>
              <a:rPr lang="es" sz="1200">
                <a:solidFill>
                  <a:srgbClr val="929292"/>
                </a:solidFill>
                <a:latin typeface="Ubuntu Mono"/>
                <a:ea typeface="Ubuntu Mono"/>
                <a:cs typeface="Ubuntu Mono"/>
                <a:sym typeface="Ubuntu Mono"/>
              </a:rPr>
              <a:t>4</a:t>
            </a:r>
            <a:r>
              <a:rPr lang="es" sz="1200">
                <a:solidFill>
                  <a:srgbClr val="383A42"/>
                </a:solidFill>
                <a:latin typeface="Ubuntu Mono"/>
                <a:ea typeface="Ubuntu Mono"/>
                <a:cs typeface="Ubuntu Mono"/>
                <a:sym typeface="Ubuntu Mono"/>
              </a:rPr>
              <a:t> </a:t>
            </a:r>
            <a:endParaRPr sz="12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200"/>
              <a:buFont typeface="Arial"/>
              <a:buNone/>
            </a:pPr>
            <a:r>
              <a:rPr lang="es" sz="1200">
                <a:solidFill>
                  <a:srgbClr val="383A42"/>
                </a:solidFill>
                <a:latin typeface="Ubuntu Mono"/>
                <a:ea typeface="Ubuntu Mono"/>
                <a:cs typeface="Ubuntu Mono"/>
                <a:sym typeface="Ubuntu Mono"/>
              </a:rPr>
              <a:t> </a:t>
            </a:r>
            <a:r>
              <a:rPr lang="es" sz="1200">
                <a:solidFill>
                  <a:srgbClr val="929292"/>
                </a:solidFill>
                <a:latin typeface="Ubuntu Mono"/>
                <a:ea typeface="Ubuntu Mono"/>
                <a:cs typeface="Ubuntu Mono"/>
                <a:sym typeface="Ubuntu Mono"/>
              </a:rPr>
              <a:t>5</a:t>
            </a:r>
            <a:r>
              <a:rPr lang="es" sz="1200">
                <a:solidFill>
                  <a:srgbClr val="383A42"/>
                </a:solidFill>
                <a:latin typeface="Ubuntu Mono"/>
                <a:ea typeface="Ubuntu Mono"/>
                <a:cs typeface="Ubuntu Mono"/>
                <a:sym typeface="Ubuntu Mono"/>
              </a:rPr>
              <a:t> </a:t>
            </a:r>
            <a:r>
              <a:rPr lang="es" sz="1200">
                <a:solidFill>
                  <a:srgbClr val="E06C75"/>
                </a:solidFill>
                <a:latin typeface="Ubuntu Mono"/>
                <a:ea typeface="Ubuntu Mono"/>
                <a:cs typeface="Ubuntu Mono"/>
                <a:sym typeface="Ubuntu Mono"/>
              </a:rPr>
              <a:t>cin</a:t>
            </a:r>
            <a:r>
              <a:rPr lang="es" sz="1200">
                <a:solidFill>
                  <a:srgbClr val="383A42"/>
                </a:solidFill>
                <a:latin typeface="Ubuntu Mono"/>
                <a:ea typeface="Ubuntu Mono"/>
                <a:cs typeface="Ubuntu Mono"/>
                <a:sym typeface="Ubuntu Mono"/>
              </a:rPr>
              <a:t> </a:t>
            </a:r>
            <a:r>
              <a:rPr lang="es" sz="1200">
                <a:solidFill>
                  <a:srgbClr val="0184BC"/>
                </a:solidFill>
                <a:latin typeface="Ubuntu Mono"/>
                <a:ea typeface="Ubuntu Mono"/>
                <a:cs typeface="Ubuntu Mono"/>
                <a:sym typeface="Ubuntu Mono"/>
              </a:rPr>
              <a:t>&gt;&gt;</a:t>
            </a:r>
            <a:r>
              <a:rPr lang="es" sz="1200">
                <a:solidFill>
                  <a:srgbClr val="383A42"/>
                </a:solidFill>
                <a:latin typeface="Ubuntu Mono"/>
                <a:ea typeface="Ubuntu Mono"/>
                <a:cs typeface="Ubuntu Mono"/>
                <a:sym typeface="Ubuntu Mono"/>
              </a:rPr>
              <a:t> </a:t>
            </a:r>
            <a:r>
              <a:rPr lang="es" sz="1200">
                <a:solidFill>
                  <a:srgbClr val="E06C75"/>
                </a:solidFill>
                <a:latin typeface="Ubuntu Mono"/>
                <a:ea typeface="Ubuntu Mono"/>
                <a:cs typeface="Ubuntu Mono"/>
                <a:sym typeface="Ubuntu Mono"/>
              </a:rPr>
              <a:t>cantidad_personas</a:t>
            </a:r>
            <a:r>
              <a:rPr lang="es" sz="1200">
                <a:solidFill>
                  <a:srgbClr val="383A42"/>
                </a:solidFill>
                <a:latin typeface="Ubuntu Mono"/>
                <a:ea typeface="Ubuntu Mono"/>
                <a:cs typeface="Ubuntu Mono"/>
                <a:sym typeface="Ubuntu Mono"/>
              </a:rPr>
              <a:t>;</a:t>
            </a:r>
            <a:endParaRPr sz="12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200"/>
              <a:buFont typeface="Arial"/>
              <a:buNone/>
            </a:pPr>
            <a:r>
              <a:rPr lang="es" sz="1200">
                <a:solidFill>
                  <a:srgbClr val="383A42"/>
                </a:solidFill>
                <a:latin typeface="Ubuntu Mono"/>
                <a:ea typeface="Ubuntu Mono"/>
                <a:cs typeface="Ubuntu Mono"/>
                <a:sym typeface="Ubuntu Mono"/>
              </a:rPr>
              <a:t> </a:t>
            </a:r>
            <a:r>
              <a:rPr lang="es" sz="1200">
                <a:solidFill>
                  <a:srgbClr val="929292"/>
                </a:solidFill>
                <a:latin typeface="Ubuntu Mono"/>
                <a:ea typeface="Ubuntu Mono"/>
                <a:cs typeface="Ubuntu Mono"/>
                <a:sym typeface="Ubuntu Mono"/>
              </a:rPr>
              <a:t>6</a:t>
            </a:r>
            <a:r>
              <a:rPr lang="es" sz="1200">
                <a:solidFill>
                  <a:srgbClr val="383A42"/>
                </a:solidFill>
                <a:latin typeface="Ubuntu Mono"/>
                <a:ea typeface="Ubuntu Mono"/>
                <a:cs typeface="Ubuntu Mono"/>
                <a:sym typeface="Ubuntu Mono"/>
              </a:rPr>
              <a:t> </a:t>
            </a:r>
            <a:endParaRPr sz="12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200"/>
              <a:buFont typeface="Arial"/>
              <a:buNone/>
            </a:pPr>
            <a:r>
              <a:rPr lang="es" sz="1200">
                <a:solidFill>
                  <a:srgbClr val="383A42"/>
                </a:solidFill>
                <a:latin typeface="Ubuntu Mono"/>
                <a:ea typeface="Ubuntu Mono"/>
                <a:cs typeface="Ubuntu Mono"/>
                <a:sym typeface="Ubuntu Mono"/>
              </a:rPr>
              <a:t> </a:t>
            </a:r>
            <a:r>
              <a:rPr lang="es" sz="1200">
                <a:solidFill>
                  <a:srgbClr val="929292"/>
                </a:solidFill>
                <a:latin typeface="Ubuntu Mono"/>
                <a:ea typeface="Ubuntu Mono"/>
                <a:cs typeface="Ubuntu Mono"/>
                <a:sym typeface="Ubuntu Mono"/>
              </a:rPr>
              <a:t>7</a:t>
            </a:r>
            <a:r>
              <a:rPr lang="es" sz="1200">
                <a:solidFill>
                  <a:srgbClr val="383A42"/>
                </a:solidFill>
                <a:latin typeface="Ubuntu Mono"/>
                <a:ea typeface="Ubuntu Mono"/>
                <a:cs typeface="Ubuntu Mono"/>
                <a:sym typeface="Ubuntu Mono"/>
              </a:rPr>
              <a:t> </a:t>
            </a:r>
            <a:r>
              <a:rPr lang="es" sz="1200">
                <a:solidFill>
                  <a:srgbClr val="A626A4"/>
                </a:solidFill>
                <a:latin typeface="Ubuntu Mono"/>
                <a:ea typeface="Ubuntu Mono"/>
                <a:cs typeface="Ubuntu Mono"/>
                <a:sym typeface="Ubuntu Mono"/>
              </a:rPr>
              <a:t>while</a:t>
            </a:r>
            <a:r>
              <a:rPr lang="es" sz="1200">
                <a:solidFill>
                  <a:srgbClr val="383A42"/>
                </a:solidFill>
                <a:latin typeface="Ubuntu Mono"/>
                <a:ea typeface="Ubuntu Mono"/>
                <a:cs typeface="Ubuntu Mono"/>
                <a:sym typeface="Ubuntu Mono"/>
              </a:rPr>
              <a:t>(</a:t>
            </a:r>
            <a:r>
              <a:rPr lang="es" sz="1200">
                <a:solidFill>
                  <a:srgbClr val="E06C75"/>
                </a:solidFill>
                <a:latin typeface="Ubuntu Mono"/>
                <a:ea typeface="Ubuntu Mono"/>
                <a:cs typeface="Ubuntu Mono"/>
                <a:sym typeface="Ubuntu Mono"/>
              </a:rPr>
              <a:t>contador</a:t>
            </a:r>
            <a:r>
              <a:rPr lang="es" sz="1200">
                <a:solidFill>
                  <a:srgbClr val="0184BC"/>
                </a:solidFill>
                <a:latin typeface="Ubuntu Mono"/>
                <a:ea typeface="Ubuntu Mono"/>
                <a:cs typeface="Ubuntu Mono"/>
                <a:sym typeface="Ubuntu Mono"/>
              </a:rPr>
              <a:t>&lt;</a:t>
            </a:r>
            <a:r>
              <a:rPr lang="es" sz="1200">
                <a:solidFill>
                  <a:srgbClr val="E06C75"/>
                </a:solidFill>
                <a:latin typeface="Ubuntu Mono"/>
                <a:ea typeface="Ubuntu Mono"/>
                <a:cs typeface="Ubuntu Mono"/>
                <a:sym typeface="Ubuntu Mono"/>
              </a:rPr>
              <a:t>cantidad_personas</a:t>
            </a:r>
            <a:r>
              <a:rPr lang="es" sz="1200">
                <a:solidFill>
                  <a:srgbClr val="383A42"/>
                </a:solidFill>
                <a:latin typeface="Ubuntu Mono"/>
                <a:ea typeface="Ubuntu Mono"/>
                <a:cs typeface="Ubuntu Mono"/>
                <a:sym typeface="Ubuntu Mono"/>
              </a:rPr>
              <a:t>)</a:t>
            </a:r>
            <a:endParaRPr sz="12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200"/>
              <a:buFont typeface="Arial"/>
              <a:buNone/>
            </a:pPr>
            <a:r>
              <a:rPr lang="es" sz="1200">
                <a:solidFill>
                  <a:srgbClr val="383A42"/>
                </a:solidFill>
                <a:latin typeface="Ubuntu Mono"/>
                <a:ea typeface="Ubuntu Mono"/>
                <a:cs typeface="Ubuntu Mono"/>
                <a:sym typeface="Ubuntu Mono"/>
              </a:rPr>
              <a:t> </a:t>
            </a:r>
            <a:r>
              <a:rPr lang="es" sz="1200">
                <a:solidFill>
                  <a:srgbClr val="929292"/>
                </a:solidFill>
                <a:latin typeface="Ubuntu Mono"/>
                <a:ea typeface="Ubuntu Mono"/>
                <a:cs typeface="Ubuntu Mono"/>
                <a:sym typeface="Ubuntu Mono"/>
              </a:rPr>
              <a:t>8</a:t>
            </a:r>
            <a:r>
              <a:rPr lang="es" sz="1200">
                <a:solidFill>
                  <a:srgbClr val="383A42"/>
                </a:solidFill>
                <a:latin typeface="Ubuntu Mono"/>
                <a:ea typeface="Ubuntu Mono"/>
                <a:cs typeface="Ubuntu Mono"/>
                <a:sym typeface="Ubuntu Mono"/>
              </a:rPr>
              <a:t> {</a:t>
            </a:r>
            <a:endParaRPr sz="12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200"/>
              <a:buFont typeface="Arial"/>
              <a:buNone/>
            </a:pPr>
            <a:r>
              <a:rPr lang="es" sz="1200">
                <a:solidFill>
                  <a:srgbClr val="383A42"/>
                </a:solidFill>
                <a:latin typeface="Ubuntu Mono"/>
                <a:ea typeface="Ubuntu Mono"/>
                <a:cs typeface="Ubuntu Mono"/>
                <a:sym typeface="Ubuntu Mono"/>
              </a:rPr>
              <a:t> </a:t>
            </a:r>
            <a:r>
              <a:rPr lang="es" sz="1200">
                <a:solidFill>
                  <a:srgbClr val="929292"/>
                </a:solidFill>
                <a:latin typeface="Ubuntu Mono"/>
                <a:ea typeface="Ubuntu Mono"/>
                <a:cs typeface="Ubuntu Mono"/>
                <a:sym typeface="Ubuntu Mono"/>
              </a:rPr>
              <a:t>9</a:t>
            </a:r>
            <a:r>
              <a:rPr lang="es" sz="1200">
                <a:solidFill>
                  <a:srgbClr val="383A42"/>
                </a:solidFill>
                <a:latin typeface="Ubuntu Mono"/>
                <a:ea typeface="Ubuntu Mono"/>
                <a:cs typeface="Ubuntu Mono"/>
                <a:sym typeface="Ubuntu Mono"/>
              </a:rPr>
              <a:t> 	</a:t>
            </a:r>
            <a:r>
              <a:rPr lang="es" sz="1200">
                <a:solidFill>
                  <a:srgbClr val="27292F"/>
                </a:solidFill>
                <a:latin typeface="Ubuntu Mono"/>
                <a:ea typeface="Ubuntu Mono"/>
                <a:cs typeface="Ubuntu Mono"/>
                <a:sym typeface="Ubuntu Mono"/>
              </a:rPr>
              <a:t>int</a:t>
            </a:r>
            <a:r>
              <a:rPr lang="es" sz="1200">
                <a:solidFill>
                  <a:srgbClr val="383A42"/>
                </a:solidFill>
                <a:latin typeface="Ubuntu Mono"/>
                <a:ea typeface="Ubuntu Mono"/>
                <a:cs typeface="Ubuntu Mono"/>
                <a:sym typeface="Ubuntu Mono"/>
              </a:rPr>
              <a:t> </a:t>
            </a:r>
            <a:r>
              <a:rPr lang="es" sz="1200">
                <a:solidFill>
                  <a:srgbClr val="E06C75"/>
                </a:solidFill>
                <a:latin typeface="Ubuntu Mono"/>
                <a:ea typeface="Ubuntu Mono"/>
                <a:cs typeface="Ubuntu Mono"/>
                <a:sym typeface="Ubuntu Mono"/>
              </a:rPr>
              <a:t>nueva_edad</a:t>
            </a:r>
            <a:r>
              <a:rPr lang="es" sz="1200">
                <a:solidFill>
                  <a:srgbClr val="383A42"/>
                </a:solidFill>
                <a:latin typeface="Ubuntu Mono"/>
                <a:ea typeface="Ubuntu Mono"/>
                <a:cs typeface="Ubuntu Mono"/>
                <a:sym typeface="Ubuntu Mono"/>
              </a:rPr>
              <a:t>;</a:t>
            </a:r>
            <a:endParaRPr sz="12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200"/>
              <a:buFont typeface="Arial"/>
              <a:buNone/>
            </a:pPr>
            <a:r>
              <a:rPr lang="es" sz="1200">
                <a:solidFill>
                  <a:srgbClr val="929292"/>
                </a:solidFill>
                <a:latin typeface="Ubuntu Mono"/>
                <a:ea typeface="Ubuntu Mono"/>
                <a:cs typeface="Ubuntu Mono"/>
                <a:sym typeface="Ubuntu Mono"/>
              </a:rPr>
              <a:t>10</a:t>
            </a:r>
            <a:r>
              <a:rPr lang="es" sz="1200">
                <a:solidFill>
                  <a:srgbClr val="383A42"/>
                </a:solidFill>
                <a:latin typeface="Ubuntu Mono"/>
                <a:ea typeface="Ubuntu Mono"/>
                <a:cs typeface="Ubuntu Mono"/>
                <a:sym typeface="Ubuntu Mono"/>
              </a:rPr>
              <a:t> 	</a:t>
            </a:r>
            <a:r>
              <a:rPr lang="es" sz="1200">
                <a:solidFill>
                  <a:srgbClr val="E06C75"/>
                </a:solidFill>
                <a:latin typeface="Ubuntu Mono"/>
                <a:ea typeface="Ubuntu Mono"/>
                <a:cs typeface="Ubuntu Mono"/>
                <a:sym typeface="Ubuntu Mono"/>
              </a:rPr>
              <a:t>cin</a:t>
            </a:r>
            <a:r>
              <a:rPr lang="es" sz="1200">
                <a:solidFill>
                  <a:srgbClr val="383A42"/>
                </a:solidFill>
                <a:latin typeface="Ubuntu Mono"/>
                <a:ea typeface="Ubuntu Mono"/>
                <a:cs typeface="Ubuntu Mono"/>
                <a:sym typeface="Ubuntu Mono"/>
              </a:rPr>
              <a:t> </a:t>
            </a:r>
            <a:r>
              <a:rPr lang="es" sz="1200">
                <a:solidFill>
                  <a:srgbClr val="0184BC"/>
                </a:solidFill>
                <a:latin typeface="Ubuntu Mono"/>
                <a:ea typeface="Ubuntu Mono"/>
                <a:cs typeface="Ubuntu Mono"/>
                <a:sym typeface="Ubuntu Mono"/>
              </a:rPr>
              <a:t>&gt;&gt;</a:t>
            </a:r>
            <a:r>
              <a:rPr lang="es" sz="1200">
                <a:solidFill>
                  <a:srgbClr val="383A42"/>
                </a:solidFill>
                <a:latin typeface="Ubuntu Mono"/>
                <a:ea typeface="Ubuntu Mono"/>
                <a:cs typeface="Ubuntu Mono"/>
                <a:sym typeface="Ubuntu Mono"/>
              </a:rPr>
              <a:t> </a:t>
            </a:r>
            <a:r>
              <a:rPr lang="es" sz="1200">
                <a:solidFill>
                  <a:srgbClr val="E06C75"/>
                </a:solidFill>
                <a:latin typeface="Ubuntu Mono"/>
                <a:ea typeface="Ubuntu Mono"/>
                <a:cs typeface="Ubuntu Mono"/>
                <a:sym typeface="Ubuntu Mono"/>
              </a:rPr>
              <a:t>nueva_edad</a:t>
            </a:r>
            <a:r>
              <a:rPr lang="es" sz="1200">
                <a:solidFill>
                  <a:srgbClr val="383A42"/>
                </a:solidFill>
                <a:latin typeface="Ubuntu Mono"/>
                <a:ea typeface="Ubuntu Mono"/>
                <a:cs typeface="Ubuntu Mono"/>
                <a:sym typeface="Ubuntu Mono"/>
              </a:rPr>
              <a:t>;</a:t>
            </a:r>
            <a:endParaRPr sz="12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200"/>
              <a:buFont typeface="Arial"/>
              <a:buNone/>
            </a:pPr>
            <a:r>
              <a:rPr lang="es" sz="1200">
                <a:solidFill>
                  <a:srgbClr val="929292"/>
                </a:solidFill>
                <a:latin typeface="Ubuntu Mono"/>
                <a:ea typeface="Ubuntu Mono"/>
                <a:cs typeface="Ubuntu Mono"/>
                <a:sym typeface="Ubuntu Mono"/>
              </a:rPr>
              <a:t>11</a:t>
            </a:r>
            <a:r>
              <a:rPr lang="es" sz="1200">
                <a:solidFill>
                  <a:srgbClr val="383A42"/>
                </a:solidFill>
                <a:latin typeface="Ubuntu Mono"/>
                <a:ea typeface="Ubuntu Mono"/>
                <a:cs typeface="Ubuntu Mono"/>
                <a:sym typeface="Ubuntu Mono"/>
              </a:rPr>
              <a:t> 	</a:t>
            </a:r>
            <a:r>
              <a:rPr lang="es" sz="1200">
                <a:solidFill>
                  <a:srgbClr val="E06C75"/>
                </a:solidFill>
                <a:latin typeface="Ubuntu Mono"/>
                <a:ea typeface="Ubuntu Mono"/>
                <a:cs typeface="Ubuntu Mono"/>
                <a:sym typeface="Ubuntu Mono"/>
              </a:rPr>
              <a:t>edad_suma</a:t>
            </a:r>
            <a:r>
              <a:rPr lang="es" sz="1200">
                <a:solidFill>
                  <a:srgbClr val="383A42"/>
                </a:solidFill>
                <a:latin typeface="Ubuntu Mono"/>
                <a:ea typeface="Ubuntu Mono"/>
                <a:cs typeface="Ubuntu Mono"/>
                <a:sym typeface="Ubuntu Mono"/>
              </a:rPr>
              <a:t> </a:t>
            </a:r>
            <a:r>
              <a:rPr lang="es" sz="1200">
                <a:solidFill>
                  <a:srgbClr val="0184BC"/>
                </a:solidFill>
                <a:latin typeface="Ubuntu Mono"/>
                <a:ea typeface="Ubuntu Mono"/>
                <a:cs typeface="Ubuntu Mono"/>
                <a:sym typeface="Ubuntu Mono"/>
              </a:rPr>
              <a:t>=</a:t>
            </a:r>
            <a:r>
              <a:rPr lang="es" sz="1200">
                <a:solidFill>
                  <a:srgbClr val="383A42"/>
                </a:solidFill>
                <a:latin typeface="Ubuntu Mono"/>
                <a:ea typeface="Ubuntu Mono"/>
                <a:cs typeface="Ubuntu Mono"/>
                <a:sym typeface="Ubuntu Mono"/>
              </a:rPr>
              <a:t> </a:t>
            </a:r>
            <a:r>
              <a:rPr lang="es" sz="1200">
                <a:solidFill>
                  <a:srgbClr val="E06C75"/>
                </a:solidFill>
                <a:latin typeface="Ubuntu Mono"/>
                <a:ea typeface="Ubuntu Mono"/>
                <a:cs typeface="Ubuntu Mono"/>
                <a:sym typeface="Ubuntu Mono"/>
              </a:rPr>
              <a:t>edad_suma</a:t>
            </a:r>
            <a:r>
              <a:rPr lang="es" sz="1200">
                <a:solidFill>
                  <a:srgbClr val="383A42"/>
                </a:solidFill>
                <a:latin typeface="Ubuntu Mono"/>
                <a:ea typeface="Ubuntu Mono"/>
                <a:cs typeface="Ubuntu Mono"/>
                <a:sym typeface="Ubuntu Mono"/>
              </a:rPr>
              <a:t> </a:t>
            </a:r>
            <a:r>
              <a:rPr lang="es" sz="1200">
                <a:solidFill>
                  <a:srgbClr val="0184BC"/>
                </a:solidFill>
                <a:latin typeface="Ubuntu Mono"/>
                <a:ea typeface="Ubuntu Mono"/>
                <a:cs typeface="Ubuntu Mono"/>
                <a:sym typeface="Ubuntu Mono"/>
              </a:rPr>
              <a:t>+</a:t>
            </a:r>
            <a:r>
              <a:rPr lang="es" sz="1200">
                <a:solidFill>
                  <a:srgbClr val="383A42"/>
                </a:solidFill>
                <a:latin typeface="Ubuntu Mono"/>
                <a:ea typeface="Ubuntu Mono"/>
                <a:cs typeface="Ubuntu Mono"/>
                <a:sym typeface="Ubuntu Mono"/>
              </a:rPr>
              <a:t> </a:t>
            </a:r>
            <a:r>
              <a:rPr lang="es" sz="1200">
                <a:solidFill>
                  <a:srgbClr val="E06C75"/>
                </a:solidFill>
                <a:latin typeface="Ubuntu Mono"/>
                <a:ea typeface="Ubuntu Mono"/>
                <a:cs typeface="Ubuntu Mono"/>
                <a:sym typeface="Ubuntu Mono"/>
              </a:rPr>
              <a:t>nueva_edad</a:t>
            </a:r>
            <a:r>
              <a:rPr lang="es" sz="1200">
                <a:solidFill>
                  <a:srgbClr val="383A42"/>
                </a:solidFill>
                <a:latin typeface="Ubuntu Mono"/>
                <a:ea typeface="Ubuntu Mono"/>
                <a:cs typeface="Ubuntu Mono"/>
                <a:sym typeface="Ubuntu Mono"/>
              </a:rPr>
              <a:t>;</a:t>
            </a:r>
            <a:endParaRPr sz="12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200"/>
              <a:buFont typeface="Arial"/>
              <a:buNone/>
            </a:pPr>
            <a:r>
              <a:rPr lang="es" sz="1200">
                <a:solidFill>
                  <a:srgbClr val="929292"/>
                </a:solidFill>
                <a:latin typeface="Ubuntu Mono"/>
                <a:ea typeface="Ubuntu Mono"/>
                <a:cs typeface="Ubuntu Mono"/>
                <a:sym typeface="Ubuntu Mono"/>
              </a:rPr>
              <a:t>12</a:t>
            </a:r>
            <a:r>
              <a:rPr lang="es" sz="1200">
                <a:solidFill>
                  <a:srgbClr val="383A42"/>
                </a:solidFill>
                <a:latin typeface="Ubuntu Mono"/>
                <a:ea typeface="Ubuntu Mono"/>
                <a:cs typeface="Ubuntu Mono"/>
                <a:sym typeface="Ubuntu Mono"/>
              </a:rPr>
              <a:t> 	</a:t>
            </a:r>
            <a:r>
              <a:rPr lang="es" sz="1200">
                <a:solidFill>
                  <a:srgbClr val="E06C75"/>
                </a:solidFill>
                <a:latin typeface="Ubuntu Mono"/>
                <a:ea typeface="Ubuntu Mono"/>
                <a:cs typeface="Ubuntu Mono"/>
                <a:sym typeface="Ubuntu Mono"/>
              </a:rPr>
              <a:t>contador</a:t>
            </a:r>
            <a:r>
              <a:rPr lang="es" sz="1200">
                <a:solidFill>
                  <a:srgbClr val="383A42"/>
                </a:solidFill>
                <a:latin typeface="Ubuntu Mono"/>
                <a:ea typeface="Ubuntu Mono"/>
                <a:cs typeface="Ubuntu Mono"/>
                <a:sym typeface="Ubuntu Mono"/>
              </a:rPr>
              <a:t> </a:t>
            </a:r>
            <a:r>
              <a:rPr lang="es" sz="1200">
                <a:solidFill>
                  <a:srgbClr val="0184BC"/>
                </a:solidFill>
                <a:latin typeface="Ubuntu Mono"/>
                <a:ea typeface="Ubuntu Mono"/>
                <a:cs typeface="Ubuntu Mono"/>
                <a:sym typeface="Ubuntu Mono"/>
              </a:rPr>
              <a:t>=</a:t>
            </a:r>
            <a:r>
              <a:rPr lang="es" sz="1200">
                <a:solidFill>
                  <a:srgbClr val="383A42"/>
                </a:solidFill>
                <a:latin typeface="Ubuntu Mono"/>
                <a:ea typeface="Ubuntu Mono"/>
                <a:cs typeface="Ubuntu Mono"/>
                <a:sym typeface="Ubuntu Mono"/>
              </a:rPr>
              <a:t> </a:t>
            </a:r>
            <a:r>
              <a:rPr lang="es" sz="1200">
                <a:solidFill>
                  <a:srgbClr val="E06C75"/>
                </a:solidFill>
                <a:latin typeface="Ubuntu Mono"/>
                <a:ea typeface="Ubuntu Mono"/>
                <a:cs typeface="Ubuntu Mono"/>
                <a:sym typeface="Ubuntu Mono"/>
              </a:rPr>
              <a:t>contador</a:t>
            </a:r>
            <a:r>
              <a:rPr lang="es" sz="1200">
                <a:solidFill>
                  <a:srgbClr val="383A42"/>
                </a:solidFill>
                <a:latin typeface="Ubuntu Mono"/>
                <a:ea typeface="Ubuntu Mono"/>
                <a:cs typeface="Ubuntu Mono"/>
                <a:sym typeface="Ubuntu Mono"/>
              </a:rPr>
              <a:t> </a:t>
            </a:r>
            <a:r>
              <a:rPr lang="es" sz="1200">
                <a:solidFill>
                  <a:srgbClr val="0184BC"/>
                </a:solidFill>
                <a:latin typeface="Ubuntu Mono"/>
                <a:ea typeface="Ubuntu Mono"/>
                <a:cs typeface="Ubuntu Mono"/>
                <a:sym typeface="Ubuntu Mono"/>
              </a:rPr>
              <a:t>+</a:t>
            </a:r>
            <a:r>
              <a:rPr lang="es" sz="1200">
                <a:solidFill>
                  <a:srgbClr val="383A42"/>
                </a:solidFill>
                <a:latin typeface="Ubuntu Mono"/>
                <a:ea typeface="Ubuntu Mono"/>
                <a:cs typeface="Ubuntu Mono"/>
                <a:sym typeface="Ubuntu Mono"/>
              </a:rPr>
              <a:t> </a:t>
            </a:r>
            <a:r>
              <a:rPr lang="es" sz="1200">
                <a:solidFill>
                  <a:srgbClr val="986801"/>
                </a:solidFill>
                <a:latin typeface="Ubuntu Mono"/>
                <a:ea typeface="Ubuntu Mono"/>
                <a:cs typeface="Ubuntu Mono"/>
                <a:sym typeface="Ubuntu Mono"/>
              </a:rPr>
              <a:t>1</a:t>
            </a:r>
            <a:r>
              <a:rPr lang="es" sz="1200">
                <a:solidFill>
                  <a:srgbClr val="383A42"/>
                </a:solidFill>
                <a:latin typeface="Ubuntu Mono"/>
                <a:ea typeface="Ubuntu Mono"/>
                <a:cs typeface="Ubuntu Mono"/>
                <a:sym typeface="Ubuntu Mono"/>
              </a:rPr>
              <a:t>;</a:t>
            </a:r>
            <a:endParaRPr sz="12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200"/>
              <a:buFont typeface="Arial"/>
              <a:buNone/>
            </a:pPr>
            <a:r>
              <a:rPr lang="es" sz="1200">
                <a:solidFill>
                  <a:srgbClr val="929292"/>
                </a:solidFill>
                <a:latin typeface="Ubuntu Mono"/>
                <a:ea typeface="Ubuntu Mono"/>
                <a:cs typeface="Ubuntu Mono"/>
                <a:sym typeface="Ubuntu Mono"/>
              </a:rPr>
              <a:t>13</a:t>
            </a:r>
            <a:r>
              <a:rPr lang="es" sz="1200">
                <a:solidFill>
                  <a:srgbClr val="383A42"/>
                </a:solidFill>
                <a:latin typeface="Ubuntu Mono"/>
                <a:ea typeface="Ubuntu Mono"/>
                <a:cs typeface="Ubuntu Mono"/>
                <a:sym typeface="Ubuntu Mono"/>
              </a:rPr>
              <a:t> }</a:t>
            </a:r>
            <a:endParaRPr sz="12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200"/>
              <a:buFont typeface="Arial"/>
              <a:buNone/>
            </a:pPr>
            <a:r>
              <a:rPr lang="es" sz="1200">
                <a:solidFill>
                  <a:srgbClr val="929292"/>
                </a:solidFill>
                <a:latin typeface="Ubuntu Mono"/>
                <a:ea typeface="Ubuntu Mono"/>
                <a:cs typeface="Ubuntu Mono"/>
                <a:sym typeface="Ubuntu Mono"/>
              </a:rPr>
              <a:t>14</a:t>
            </a:r>
            <a:r>
              <a:rPr lang="es" sz="1200">
                <a:solidFill>
                  <a:srgbClr val="383A42"/>
                </a:solidFill>
                <a:latin typeface="Ubuntu Mono"/>
                <a:ea typeface="Ubuntu Mono"/>
                <a:cs typeface="Ubuntu Mono"/>
                <a:sym typeface="Ubuntu Mono"/>
              </a:rPr>
              <a:t> </a:t>
            </a:r>
            <a:r>
              <a:rPr lang="es" sz="1200">
                <a:solidFill>
                  <a:srgbClr val="E06C75"/>
                </a:solidFill>
                <a:latin typeface="Ubuntu Mono"/>
                <a:ea typeface="Ubuntu Mono"/>
                <a:cs typeface="Ubuntu Mono"/>
                <a:sym typeface="Ubuntu Mono"/>
              </a:rPr>
              <a:t>cout</a:t>
            </a:r>
            <a:r>
              <a:rPr lang="es" sz="1200">
                <a:solidFill>
                  <a:srgbClr val="383A42"/>
                </a:solidFill>
                <a:latin typeface="Ubuntu Mono"/>
                <a:ea typeface="Ubuntu Mono"/>
                <a:cs typeface="Ubuntu Mono"/>
                <a:sym typeface="Ubuntu Mono"/>
              </a:rPr>
              <a:t> </a:t>
            </a:r>
            <a:r>
              <a:rPr lang="es" sz="1200">
                <a:solidFill>
                  <a:srgbClr val="0184BC"/>
                </a:solidFill>
                <a:latin typeface="Ubuntu Mono"/>
                <a:ea typeface="Ubuntu Mono"/>
                <a:cs typeface="Ubuntu Mono"/>
                <a:sym typeface="Ubuntu Mono"/>
              </a:rPr>
              <a:t>&lt;&lt;</a:t>
            </a:r>
            <a:r>
              <a:rPr lang="es" sz="1200">
                <a:solidFill>
                  <a:srgbClr val="383A42"/>
                </a:solidFill>
                <a:latin typeface="Ubuntu Mono"/>
                <a:ea typeface="Ubuntu Mono"/>
                <a:cs typeface="Ubuntu Mono"/>
                <a:sym typeface="Ubuntu Mono"/>
              </a:rPr>
              <a:t> </a:t>
            </a:r>
            <a:r>
              <a:rPr lang="es" sz="1200">
                <a:solidFill>
                  <a:srgbClr val="50A14F"/>
                </a:solidFill>
                <a:latin typeface="Ubuntu Mono"/>
                <a:ea typeface="Ubuntu Mono"/>
                <a:cs typeface="Ubuntu Mono"/>
                <a:sym typeface="Ubuntu Mono"/>
              </a:rPr>
              <a:t>"Promedio: "</a:t>
            </a:r>
            <a:r>
              <a:rPr lang="es" sz="1200">
                <a:solidFill>
                  <a:srgbClr val="383A42"/>
                </a:solidFill>
                <a:latin typeface="Ubuntu Mono"/>
                <a:ea typeface="Ubuntu Mono"/>
                <a:cs typeface="Ubuntu Mono"/>
                <a:sym typeface="Ubuntu Mono"/>
              </a:rPr>
              <a:t> </a:t>
            </a:r>
            <a:r>
              <a:rPr lang="es" sz="1200">
                <a:solidFill>
                  <a:srgbClr val="0184BC"/>
                </a:solidFill>
                <a:latin typeface="Ubuntu Mono"/>
                <a:ea typeface="Ubuntu Mono"/>
                <a:cs typeface="Ubuntu Mono"/>
                <a:sym typeface="Ubuntu Mono"/>
              </a:rPr>
              <a:t>&lt;&lt;</a:t>
            </a:r>
            <a:r>
              <a:rPr lang="es" sz="1200">
                <a:solidFill>
                  <a:srgbClr val="383A42"/>
                </a:solidFill>
                <a:latin typeface="Ubuntu Mono"/>
                <a:ea typeface="Ubuntu Mono"/>
                <a:cs typeface="Ubuntu Mono"/>
                <a:sym typeface="Ubuntu Mono"/>
              </a:rPr>
              <a:t> </a:t>
            </a:r>
            <a:r>
              <a:rPr lang="es" sz="1200">
                <a:solidFill>
                  <a:srgbClr val="E06C75"/>
                </a:solidFill>
                <a:latin typeface="Ubuntu Mono"/>
                <a:ea typeface="Ubuntu Mono"/>
                <a:cs typeface="Ubuntu Mono"/>
                <a:sym typeface="Ubuntu Mono"/>
              </a:rPr>
              <a:t>edad_suma</a:t>
            </a:r>
            <a:r>
              <a:rPr lang="es" sz="1200">
                <a:solidFill>
                  <a:srgbClr val="0184BC"/>
                </a:solidFill>
                <a:latin typeface="Ubuntu Mono"/>
                <a:ea typeface="Ubuntu Mono"/>
                <a:cs typeface="Ubuntu Mono"/>
                <a:sym typeface="Ubuntu Mono"/>
              </a:rPr>
              <a:t>/</a:t>
            </a:r>
            <a:r>
              <a:rPr lang="es" sz="1200">
                <a:solidFill>
                  <a:srgbClr val="E06C75"/>
                </a:solidFill>
                <a:latin typeface="Ubuntu Mono"/>
                <a:ea typeface="Ubuntu Mono"/>
                <a:cs typeface="Ubuntu Mono"/>
                <a:sym typeface="Ubuntu Mono"/>
              </a:rPr>
              <a:t>cantidad_personas</a:t>
            </a:r>
            <a:r>
              <a:rPr lang="es" sz="1200">
                <a:solidFill>
                  <a:srgbClr val="383A42"/>
                </a:solidFill>
                <a:latin typeface="Ubuntu Mono"/>
                <a:ea typeface="Ubuntu Mono"/>
                <a:cs typeface="Ubuntu Mono"/>
                <a:sym typeface="Ubuntu Mono"/>
              </a:rPr>
              <a:t> </a:t>
            </a:r>
            <a:r>
              <a:rPr lang="es" sz="1200">
                <a:solidFill>
                  <a:srgbClr val="0184BC"/>
                </a:solidFill>
                <a:latin typeface="Ubuntu Mono"/>
                <a:ea typeface="Ubuntu Mono"/>
                <a:cs typeface="Ubuntu Mono"/>
                <a:sym typeface="Ubuntu Mono"/>
              </a:rPr>
              <a:t>&lt;&lt;</a:t>
            </a:r>
            <a:r>
              <a:rPr lang="es" sz="1200">
                <a:solidFill>
                  <a:srgbClr val="383A42"/>
                </a:solidFill>
                <a:latin typeface="Ubuntu Mono"/>
                <a:ea typeface="Ubuntu Mono"/>
                <a:cs typeface="Ubuntu Mono"/>
                <a:sym typeface="Ubuntu Mono"/>
              </a:rPr>
              <a:t> </a:t>
            </a:r>
            <a:r>
              <a:rPr lang="es" sz="1200">
                <a:solidFill>
                  <a:srgbClr val="E06C75"/>
                </a:solidFill>
                <a:latin typeface="Ubuntu Mono"/>
                <a:ea typeface="Ubuntu Mono"/>
                <a:cs typeface="Ubuntu Mono"/>
                <a:sym typeface="Ubuntu Mono"/>
              </a:rPr>
              <a:t>endl</a:t>
            </a:r>
            <a:r>
              <a:rPr lang="es" sz="1200">
                <a:solidFill>
                  <a:srgbClr val="383A42"/>
                </a:solidFill>
                <a:latin typeface="Ubuntu Mono"/>
                <a:ea typeface="Ubuntu Mono"/>
                <a:cs typeface="Ubuntu Mono"/>
                <a:sym typeface="Ubuntu Mono"/>
              </a:rPr>
              <a:t>;</a:t>
            </a:r>
            <a:endParaRPr sz="1200">
              <a:solidFill>
                <a:srgbClr val="383A42"/>
              </a:solidFill>
              <a:latin typeface="Ubuntu Mono"/>
              <a:ea typeface="Ubuntu Mono"/>
              <a:cs typeface="Ubuntu Mono"/>
              <a:sym typeface="Ubuntu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6"/>
          <p:cNvSpPr/>
          <p:nvPr/>
        </p:nvSpPr>
        <p:spPr>
          <a:xfrm rot="10800000">
            <a:off x="544342" y="2074825"/>
            <a:ext cx="3909600" cy="2179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402" name="Google Shape;402;p36"/>
          <p:cNvSpPr/>
          <p:nvPr/>
        </p:nvSpPr>
        <p:spPr>
          <a:xfrm rot="10800000">
            <a:off x="544345" y="1779675"/>
            <a:ext cx="3909600" cy="3969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03" name="Google Shape;403;p36"/>
          <p:cNvSpPr/>
          <p:nvPr/>
        </p:nvSpPr>
        <p:spPr>
          <a:xfrm>
            <a:off x="695755" y="1853541"/>
            <a:ext cx="193800" cy="193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04" name="Google Shape;404;p36"/>
          <p:cNvSpPr/>
          <p:nvPr/>
        </p:nvSpPr>
        <p:spPr>
          <a:xfrm>
            <a:off x="982622" y="1853541"/>
            <a:ext cx="193800" cy="193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05" name="Google Shape;405;p36"/>
          <p:cNvSpPr/>
          <p:nvPr/>
        </p:nvSpPr>
        <p:spPr>
          <a:xfrm>
            <a:off x="1269489" y="1853541"/>
            <a:ext cx="193800" cy="193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06" name="Google Shape;406;p36"/>
          <p:cNvSpPr txBox="1"/>
          <p:nvPr/>
        </p:nvSpPr>
        <p:spPr>
          <a:xfrm>
            <a:off x="544657" y="2104581"/>
            <a:ext cx="3909600" cy="2019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2</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3</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4</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5</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6</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7</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8</a:t>
            </a:r>
            <a:r>
              <a:rPr lang="es" sz="900">
                <a:solidFill>
                  <a:srgbClr val="383A42"/>
                </a:solidFill>
                <a:latin typeface="Ubuntu Mono"/>
                <a:ea typeface="Ubuntu Mono"/>
                <a:cs typeface="Ubuntu Mono"/>
                <a:sym typeface="Ubuntu Mono"/>
              </a:rPr>
              <a:t> </a:t>
            </a:r>
            <a:r>
              <a:rPr lang="es" sz="900">
                <a:solidFill>
                  <a:srgbClr val="A626A4"/>
                </a:solidFill>
                <a:latin typeface="Ubuntu Mono"/>
                <a:ea typeface="Ubuntu Mono"/>
                <a:cs typeface="Ubuntu Mono"/>
                <a:sym typeface="Ubuntu Mono"/>
              </a:rPr>
              <a:t>while</a:t>
            </a:r>
            <a:r>
              <a:rPr lang="es" sz="900">
                <a:solidFill>
                  <a:srgbClr val="383A42"/>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&lt;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9</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10</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11</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12</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986801"/>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13</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14</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cout</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50A14F"/>
                </a:solidFill>
                <a:latin typeface="Ubuntu Mono"/>
                <a:ea typeface="Ubuntu Mono"/>
                <a:cs typeface="Ubuntu Mono"/>
                <a:sym typeface="Ubuntu Mono"/>
              </a:rPr>
              <a:t>"Promedio: "</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endl</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p:txBody>
      </p:sp>
      <p:sp>
        <p:nvSpPr>
          <p:cNvPr id="407" name="Google Shape;407;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de flujo…</a:t>
            </a:r>
            <a:endParaRPr/>
          </a:p>
        </p:txBody>
      </p:sp>
      <p:sp>
        <p:nvSpPr>
          <p:cNvPr id="408" name="Google Shape;408;p36"/>
          <p:cNvSpPr/>
          <p:nvPr/>
        </p:nvSpPr>
        <p:spPr>
          <a:xfrm>
            <a:off x="6174250" y="28192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409" name="Google Shape;409;p36"/>
          <p:cNvSpPr/>
          <p:nvPr/>
        </p:nvSpPr>
        <p:spPr>
          <a:xfrm>
            <a:off x="5265950" y="9512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410" name="Google Shape;410;p36"/>
          <p:cNvSpPr/>
          <p:nvPr/>
        </p:nvSpPr>
        <p:spPr>
          <a:xfrm>
            <a:off x="5265950" y="15409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411" name="Google Shape;411;p36"/>
          <p:cNvCxnSpPr/>
          <p:nvPr/>
        </p:nvCxnSpPr>
        <p:spPr>
          <a:xfrm>
            <a:off x="5476100" y="142800"/>
            <a:ext cx="0" cy="218700"/>
          </a:xfrm>
          <a:prstGeom prst="straightConnector1">
            <a:avLst/>
          </a:prstGeom>
          <a:noFill/>
          <a:ln cap="flat" cmpd="sng" w="9525">
            <a:solidFill>
              <a:srgbClr val="CCCCCC"/>
            </a:solidFill>
            <a:prstDash val="solid"/>
            <a:round/>
            <a:headEnd len="sm" w="sm" type="none"/>
            <a:tailEnd len="med" w="med" type="triangle"/>
          </a:ln>
        </p:spPr>
      </p:cxnSp>
      <p:cxnSp>
        <p:nvCxnSpPr>
          <p:cNvPr id="412" name="Google Shape;412;p36"/>
          <p:cNvCxnSpPr>
            <a:endCxn id="409" idx="0"/>
          </p:cNvCxnSpPr>
          <p:nvPr/>
        </p:nvCxnSpPr>
        <p:spPr>
          <a:xfrm>
            <a:off x="5476100" y="7883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413" name="Google Shape;413;p36"/>
          <p:cNvCxnSpPr>
            <a:stCxn id="409" idx="2"/>
            <a:endCxn id="410" idx="0"/>
          </p:cNvCxnSpPr>
          <p:nvPr/>
        </p:nvCxnSpPr>
        <p:spPr>
          <a:xfrm>
            <a:off x="5476100" y="13781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414" name="Google Shape;414;p36"/>
          <p:cNvCxnSpPr>
            <a:stCxn id="410" idx="2"/>
            <a:endCxn id="415" idx="0"/>
          </p:cNvCxnSpPr>
          <p:nvPr/>
        </p:nvCxnSpPr>
        <p:spPr>
          <a:xfrm>
            <a:off x="5476100" y="1967875"/>
            <a:ext cx="0" cy="318900"/>
          </a:xfrm>
          <a:prstGeom prst="straightConnector1">
            <a:avLst/>
          </a:prstGeom>
          <a:noFill/>
          <a:ln cap="flat" cmpd="sng" w="9525">
            <a:solidFill>
              <a:srgbClr val="CCCCCC"/>
            </a:solidFill>
            <a:prstDash val="solid"/>
            <a:round/>
            <a:headEnd len="sm" w="sm" type="none"/>
            <a:tailEnd len="med" w="med" type="triangle"/>
          </a:ln>
        </p:spPr>
      </p:cxnSp>
      <p:sp>
        <p:nvSpPr>
          <p:cNvPr id="415" name="Google Shape;415;p36"/>
          <p:cNvSpPr/>
          <p:nvPr/>
        </p:nvSpPr>
        <p:spPr>
          <a:xfrm>
            <a:off x="5215100" y="2286850"/>
            <a:ext cx="522000" cy="522000"/>
          </a:xfrm>
          <a:prstGeom prst="diamond">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416" name="Google Shape;416;p36"/>
          <p:cNvSpPr/>
          <p:nvPr/>
        </p:nvSpPr>
        <p:spPr>
          <a:xfrm>
            <a:off x="5265950" y="455570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cxnSp>
        <p:nvCxnSpPr>
          <p:cNvPr id="417" name="Google Shape;417;p36"/>
          <p:cNvCxnSpPr>
            <a:stCxn id="415" idx="2"/>
            <a:endCxn id="416" idx="0"/>
          </p:cNvCxnSpPr>
          <p:nvPr/>
        </p:nvCxnSpPr>
        <p:spPr>
          <a:xfrm>
            <a:off x="5476100" y="2808850"/>
            <a:ext cx="0" cy="1746900"/>
          </a:xfrm>
          <a:prstGeom prst="straightConnector1">
            <a:avLst/>
          </a:prstGeom>
          <a:noFill/>
          <a:ln cap="flat" cmpd="sng" w="9525">
            <a:solidFill>
              <a:srgbClr val="CCCCCC"/>
            </a:solidFill>
            <a:prstDash val="solid"/>
            <a:round/>
            <a:headEnd len="sm" w="sm" type="none"/>
            <a:tailEnd len="med" w="med" type="triangle"/>
          </a:ln>
        </p:spPr>
      </p:cxnSp>
      <p:cxnSp>
        <p:nvCxnSpPr>
          <p:cNvPr id="418" name="Google Shape;418;p36"/>
          <p:cNvCxnSpPr>
            <a:stCxn id="408" idx="0"/>
            <a:endCxn id="415" idx="3"/>
          </p:cNvCxnSpPr>
          <p:nvPr/>
        </p:nvCxnSpPr>
        <p:spPr>
          <a:xfrm flipH="1" rot="5400000">
            <a:off x="5924950" y="2359825"/>
            <a:ext cx="271500" cy="647400"/>
          </a:xfrm>
          <a:prstGeom prst="bentConnector2">
            <a:avLst/>
          </a:prstGeom>
          <a:noFill/>
          <a:ln cap="flat" cmpd="sng" w="9525">
            <a:solidFill>
              <a:srgbClr val="CCCCCC"/>
            </a:solidFill>
            <a:prstDash val="solid"/>
            <a:round/>
            <a:headEnd len="med" w="med" type="triangle"/>
            <a:tailEnd len="sm" w="sm" type="none"/>
          </a:ln>
        </p:spPr>
      </p:cxnSp>
      <p:sp>
        <p:nvSpPr>
          <p:cNvPr id="419" name="Google Shape;419;p36"/>
          <p:cNvSpPr txBox="1"/>
          <p:nvPr/>
        </p:nvSpPr>
        <p:spPr>
          <a:xfrm>
            <a:off x="5177000" y="296500"/>
            <a:ext cx="598200" cy="31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00CA4E"/>
                </a:solidFill>
                <a:latin typeface="Arial"/>
                <a:ea typeface="Arial"/>
                <a:cs typeface="Arial"/>
                <a:sym typeface="Arial"/>
              </a:rPr>
              <a:t>…</a:t>
            </a:r>
            <a:endParaRPr b="1" i="0" sz="2000" u="none" cap="none" strike="noStrike">
              <a:solidFill>
                <a:srgbClr val="00CA4E"/>
              </a:solidFill>
              <a:latin typeface="Arial"/>
              <a:ea typeface="Arial"/>
              <a:cs typeface="Arial"/>
              <a:sym typeface="Arial"/>
            </a:endParaRPr>
          </a:p>
        </p:txBody>
      </p:sp>
      <p:sp>
        <p:nvSpPr>
          <p:cNvPr id="420" name="Google Shape;420;p36"/>
          <p:cNvSpPr txBox="1"/>
          <p:nvPr/>
        </p:nvSpPr>
        <p:spPr>
          <a:xfrm>
            <a:off x="6804350" y="95275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cantidad_personas=?</a:t>
            </a:r>
            <a:endParaRPr b="0" i="0" sz="1600" u="none" cap="none" strike="noStrike">
              <a:solidFill>
                <a:srgbClr val="00CA4E"/>
              </a:solidFill>
              <a:latin typeface="Arial"/>
              <a:ea typeface="Arial"/>
              <a:cs typeface="Arial"/>
              <a:sym typeface="Arial"/>
            </a:endParaRPr>
          </a:p>
        </p:txBody>
      </p:sp>
      <p:sp>
        <p:nvSpPr>
          <p:cNvPr id="421" name="Google Shape;421;p36"/>
          <p:cNvSpPr txBox="1"/>
          <p:nvPr/>
        </p:nvSpPr>
        <p:spPr>
          <a:xfrm rot="-5400000">
            <a:off x="5164625" y="2973225"/>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false</a:t>
            </a:r>
            <a:endParaRPr b="0" i="0" sz="1400" u="none" cap="none" strike="noStrike">
              <a:solidFill>
                <a:srgbClr val="000000"/>
              </a:solidFill>
              <a:latin typeface="Arial"/>
              <a:ea typeface="Arial"/>
              <a:cs typeface="Arial"/>
              <a:sym typeface="Arial"/>
            </a:endParaRPr>
          </a:p>
        </p:txBody>
      </p:sp>
      <p:sp>
        <p:nvSpPr>
          <p:cNvPr id="422" name="Google Shape;422;p36"/>
          <p:cNvSpPr txBox="1"/>
          <p:nvPr/>
        </p:nvSpPr>
        <p:spPr>
          <a:xfrm>
            <a:off x="5806000" y="2262063"/>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true</a:t>
            </a:r>
            <a:endParaRPr b="1" i="0" sz="800" u="none" cap="none" strike="noStrike">
              <a:solidFill>
                <a:srgbClr val="0184BC"/>
              </a:solidFill>
              <a:latin typeface="Arial"/>
              <a:ea typeface="Arial"/>
              <a:cs typeface="Arial"/>
              <a:sym typeface="Arial"/>
            </a:endParaRPr>
          </a:p>
        </p:txBody>
      </p:sp>
      <p:sp>
        <p:nvSpPr>
          <p:cNvPr id="423" name="Google Shape;423;p36"/>
          <p:cNvSpPr/>
          <p:nvPr/>
        </p:nvSpPr>
        <p:spPr>
          <a:xfrm>
            <a:off x="6174250" y="34688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424" name="Google Shape;424;p36"/>
          <p:cNvSpPr/>
          <p:nvPr/>
        </p:nvSpPr>
        <p:spPr>
          <a:xfrm>
            <a:off x="6174250" y="411842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cxnSp>
        <p:nvCxnSpPr>
          <p:cNvPr id="425" name="Google Shape;425;p36"/>
          <p:cNvCxnSpPr>
            <a:stCxn id="408" idx="2"/>
            <a:endCxn id="423" idx="0"/>
          </p:cNvCxnSpPr>
          <p:nvPr/>
        </p:nvCxnSpPr>
        <p:spPr>
          <a:xfrm>
            <a:off x="6384400" y="3246175"/>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426" name="Google Shape;426;p36"/>
          <p:cNvCxnSpPr>
            <a:stCxn id="423" idx="2"/>
            <a:endCxn id="424" idx="0"/>
          </p:cNvCxnSpPr>
          <p:nvPr/>
        </p:nvCxnSpPr>
        <p:spPr>
          <a:xfrm>
            <a:off x="6384400" y="3895750"/>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427" name="Google Shape;427;p36"/>
          <p:cNvCxnSpPr>
            <a:stCxn id="424" idx="2"/>
            <a:endCxn id="415" idx="0"/>
          </p:cNvCxnSpPr>
          <p:nvPr/>
        </p:nvCxnSpPr>
        <p:spPr>
          <a:xfrm flipH="1" rot="5400000">
            <a:off x="4801000" y="2961925"/>
            <a:ext cx="2258400" cy="908400"/>
          </a:xfrm>
          <a:prstGeom prst="curvedConnector5">
            <a:avLst>
              <a:gd fmla="val -9376" name="adj1"/>
              <a:gd fmla="val -99309" name="adj2"/>
              <a:gd fmla="val 101104" name="adj3"/>
            </a:avLst>
          </a:prstGeom>
          <a:noFill/>
          <a:ln cap="flat" cmpd="sng" w="9525">
            <a:solidFill>
              <a:srgbClr val="CCCCCC"/>
            </a:solidFill>
            <a:prstDash val="solid"/>
            <a:round/>
            <a:headEnd len="sm" w="sm" type="none"/>
            <a:tailEnd len="med" w="med" type="triangle"/>
          </a:ln>
        </p:spPr>
      </p:cxnSp>
      <p:sp>
        <p:nvSpPr>
          <p:cNvPr id="428" name="Google Shape;428;p36"/>
          <p:cNvSpPr txBox="1"/>
          <p:nvPr/>
        </p:nvSpPr>
        <p:spPr>
          <a:xfrm>
            <a:off x="7369500" y="1542475"/>
            <a:ext cx="14628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contador=0</a:t>
            </a:r>
            <a:endParaRPr b="0" i="0" sz="1600" u="none" cap="none" strike="noStrike">
              <a:solidFill>
                <a:srgbClr val="00CA4E"/>
              </a:solidFill>
              <a:latin typeface="Arial"/>
              <a:ea typeface="Arial"/>
              <a:cs typeface="Arial"/>
              <a:sym typeface="Arial"/>
            </a:endParaRPr>
          </a:p>
        </p:txBody>
      </p:sp>
      <p:sp>
        <p:nvSpPr>
          <p:cNvPr id="429" name="Google Shape;429;p36"/>
          <p:cNvSpPr txBox="1"/>
          <p:nvPr/>
        </p:nvSpPr>
        <p:spPr>
          <a:xfrm>
            <a:off x="6804350" y="519425"/>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edad_suma=0</a:t>
            </a:r>
            <a:endParaRPr b="0" i="0" sz="1600" u="none" cap="none" strike="noStrike">
              <a:solidFill>
                <a:srgbClr val="00CA4E"/>
              </a:solidFill>
              <a:latin typeface="Arial"/>
              <a:ea typeface="Arial"/>
              <a:cs typeface="Arial"/>
              <a:sym typeface="Arial"/>
            </a:endParaRPr>
          </a:p>
        </p:txBody>
      </p:sp>
      <p:sp>
        <p:nvSpPr>
          <p:cNvPr id="430" name="Google Shape;430;p36"/>
          <p:cNvSpPr txBox="1"/>
          <p:nvPr/>
        </p:nvSpPr>
        <p:spPr>
          <a:xfrm>
            <a:off x="6804350" y="14280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nueva_edad=?</a:t>
            </a:r>
            <a:endParaRPr b="0" i="0" sz="1600" u="none" cap="none" strike="noStrike">
              <a:solidFill>
                <a:srgbClr val="00CA4E"/>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7"/>
          <p:cNvSpPr/>
          <p:nvPr/>
        </p:nvSpPr>
        <p:spPr>
          <a:xfrm rot="10800000">
            <a:off x="544342" y="2074825"/>
            <a:ext cx="3909600" cy="2179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436" name="Google Shape;436;p37"/>
          <p:cNvSpPr/>
          <p:nvPr/>
        </p:nvSpPr>
        <p:spPr>
          <a:xfrm rot="10800000">
            <a:off x="544345" y="1779675"/>
            <a:ext cx="3909600" cy="3969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37" name="Google Shape;437;p37"/>
          <p:cNvSpPr/>
          <p:nvPr/>
        </p:nvSpPr>
        <p:spPr>
          <a:xfrm>
            <a:off x="695755" y="1853541"/>
            <a:ext cx="193800" cy="193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38" name="Google Shape;438;p37"/>
          <p:cNvSpPr/>
          <p:nvPr/>
        </p:nvSpPr>
        <p:spPr>
          <a:xfrm>
            <a:off x="982622" y="1853541"/>
            <a:ext cx="193800" cy="193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39" name="Google Shape;439;p37"/>
          <p:cNvSpPr/>
          <p:nvPr/>
        </p:nvSpPr>
        <p:spPr>
          <a:xfrm>
            <a:off x="1269489" y="1853541"/>
            <a:ext cx="193800" cy="193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40" name="Google Shape;440;p37"/>
          <p:cNvSpPr txBox="1"/>
          <p:nvPr/>
        </p:nvSpPr>
        <p:spPr>
          <a:xfrm>
            <a:off x="544657" y="2104581"/>
            <a:ext cx="3909600" cy="2019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2</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3</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4</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5</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6</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7</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8</a:t>
            </a:r>
            <a:r>
              <a:rPr lang="es" sz="900">
                <a:solidFill>
                  <a:srgbClr val="383A42"/>
                </a:solidFill>
                <a:latin typeface="Ubuntu Mono"/>
                <a:ea typeface="Ubuntu Mono"/>
                <a:cs typeface="Ubuntu Mono"/>
                <a:sym typeface="Ubuntu Mono"/>
              </a:rPr>
              <a:t> </a:t>
            </a:r>
            <a:r>
              <a:rPr lang="es" sz="900">
                <a:solidFill>
                  <a:srgbClr val="A626A4"/>
                </a:solidFill>
                <a:latin typeface="Ubuntu Mono"/>
                <a:ea typeface="Ubuntu Mono"/>
                <a:cs typeface="Ubuntu Mono"/>
                <a:sym typeface="Ubuntu Mono"/>
              </a:rPr>
              <a:t>while</a:t>
            </a:r>
            <a:r>
              <a:rPr lang="es" sz="900">
                <a:solidFill>
                  <a:srgbClr val="383A42"/>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&lt;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9</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10</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11</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12</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986801"/>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13</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14</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cout</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50A14F"/>
                </a:solidFill>
                <a:latin typeface="Ubuntu Mono"/>
                <a:ea typeface="Ubuntu Mono"/>
                <a:cs typeface="Ubuntu Mono"/>
                <a:sym typeface="Ubuntu Mono"/>
              </a:rPr>
              <a:t>"Promedio: "</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endl</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p:txBody>
      </p:sp>
      <p:sp>
        <p:nvSpPr>
          <p:cNvPr id="441" name="Google Shape;441;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de flujo…</a:t>
            </a:r>
            <a:endParaRPr/>
          </a:p>
        </p:txBody>
      </p:sp>
      <p:sp>
        <p:nvSpPr>
          <p:cNvPr id="442" name="Google Shape;442;p37"/>
          <p:cNvSpPr/>
          <p:nvPr/>
        </p:nvSpPr>
        <p:spPr>
          <a:xfrm>
            <a:off x="6174250" y="28192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443" name="Google Shape;443;p37"/>
          <p:cNvSpPr/>
          <p:nvPr/>
        </p:nvSpPr>
        <p:spPr>
          <a:xfrm>
            <a:off x="5265950" y="9512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444" name="Google Shape;444;p37"/>
          <p:cNvSpPr/>
          <p:nvPr/>
        </p:nvSpPr>
        <p:spPr>
          <a:xfrm>
            <a:off x="5265950" y="1540975"/>
            <a:ext cx="420300" cy="426900"/>
          </a:xfrm>
          <a:prstGeom prst="roundRect">
            <a:avLst>
              <a:gd fmla="val 7941" name="adj"/>
            </a:avLst>
          </a:prstGeom>
          <a:solidFill>
            <a:srgbClr val="00CA4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445" name="Google Shape;445;p37"/>
          <p:cNvCxnSpPr/>
          <p:nvPr/>
        </p:nvCxnSpPr>
        <p:spPr>
          <a:xfrm>
            <a:off x="5476100" y="142800"/>
            <a:ext cx="0" cy="218700"/>
          </a:xfrm>
          <a:prstGeom prst="straightConnector1">
            <a:avLst/>
          </a:prstGeom>
          <a:noFill/>
          <a:ln cap="flat" cmpd="sng" w="9525">
            <a:solidFill>
              <a:srgbClr val="CCCCCC"/>
            </a:solidFill>
            <a:prstDash val="solid"/>
            <a:round/>
            <a:headEnd len="sm" w="sm" type="none"/>
            <a:tailEnd len="med" w="med" type="triangle"/>
          </a:ln>
        </p:spPr>
      </p:cxnSp>
      <p:cxnSp>
        <p:nvCxnSpPr>
          <p:cNvPr id="446" name="Google Shape;446;p37"/>
          <p:cNvCxnSpPr>
            <a:endCxn id="443" idx="0"/>
          </p:cNvCxnSpPr>
          <p:nvPr/>
        </p:nvCxnSpPr>
        <p:spPr>
          <a:xfrm>
            <a:off x="5476100" y="7883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447" name="Google Shape;447;p37"/>
          <p:cNvCxnSpPr>
            <a:stCxn id="443" idx="2"/>
            <a:endCxn id="444" idx="0"/>
          </p:cNvCxnSpPr>
          <p:nvPr/>
        </p:nvCxnSpPr>
        <p:spPr>
          <a:xfrm>
            <a:off x="5476100" y="13781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448" name="Google Shape;448;p37"/>
          <p:cNvCxnSpPr>
            <a:stCxn id="444" idx="2"/>
            <a:endCxn id="449" idx="0"/>
          </p:cNvCxnSpPr>
          <p:nvPr/>
        </p:nvCxnSpPr>
        <p:spPr>
          <a:xfrm>
            <a:off x="5476100" y="1967875"/>
            <a:ext cx="0" cy="318900"/>
          </a:xfrm>
          <a:prstGeom prst="straightConnector1">
            <a:avLst/>
          </a:prstGeom>
          <a:noFill/>
          <a:ln cap="flat" cmpd="sng" w="9525">
            <a:solidFill>
              <a:srgbClr val="CCCCCC"/>
            </a:solidFill>
            <a:prstDash val="solid"/>
            <a:round/>
            <a:headEnd len="sm" w="sm" type="none"/>
            <a:tailEnd len="med" w="med" type="triangle"/>
          </a:ln>
        </p:spPr>
      </p:cxnSp>
      <p:sp>
        <p:nvSpPr>
          <p:cNvPr id="449" name="Google Shape;449;p37"/>
          <p:cNvSpPr/>
          <p:nvPr/>
        </p:nvSpPr>
        <p:spPr>
          <a:xfrm>
            <a:off x="5215100" y="2286850"/>
            <a:ext cx="522000" cy="522000"/>
          </a:xfrm>
          <a:prstGeom prst="diamond">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450" name="Google Shape;450;p37"/>
          <p:cNvSpPr/>
          <p:nvPr/>
        </p:nvSpPr>
        <p:spPr>
          <a:xfrm>
            <a:off x="5265950" y="455570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cxnSp>
        <p:nvCxnSpPr>
          <p:cNvPr id="451" name="Google Shape;451;p37"/>
          <p:cNvCxnSpPr>
            <a:stCxn id="449" idx="2"/>
            <a:endCxn id="450" idx="0"/>
          </p:cNvCxnSpPr>
          <p:nvPr/>
        </p:nvCxnSpPr>
        <p:spPr>
          <a:xfrm>
            <a:off x="5476100" y="2808850"/>
            <a:ext cx="0" cy="1746900"/>
          </a:xfrm>
          <a:prstGeom prst="straightConnector1">
            <a:avLst/>
          </a:prstGeom>
          <a:noFill/>
          <a:ln cap="flat" cmpd="sng" w="9525">
            <a:solidFill>
              <a:srgbClr val="CCCCCC"/>
            </a:solidFill>
            <a:prstDash val="solid"/>
            <a:round/>
            <a:headEnd len="sm" w="sm" type="none"/>
            <a:tailEnd len="med" w="med" type="triangle"/>
          </a:ln>
        </p:spPr>
      </p:cxnSp>
      <p:cxnSp>
        <p:nvCxnSpPr>
          <p:cNvPr id="452" name="Google Shape;452;p37"/>
          <p:cNvCxnSpPr>
            <a:stCxn id="442" idx="0"/>
            <a:endCxn id="449" idx="3"/>
          </p:cNvCxnSpPr>
          <p:nvPr/>
        </p:nvCxnSpPr>
        <p:spPr>
          <a:xfrm flipH="1" rot="5400000">
            <a:off x="5924950" y="2359825"/>
            <a:ext cx="271500" cy="647400"/>
          </a:xfrm>
          <a:prstGeom prst="bentConnector2">
            <a:avLst/>
          </a:prstGeom>
          <a:noFill/>
          <a:ln cap="flat" cmpd="sng" w="9525">
            <a:solidFill>
              <a:srgbClr val="CCCCCC"/>
            </a:solidFill>
            <a:prstDash val="solid"/>
            <a:round/>
            <a:headEnd len="med" w="med" type="triangle"/>
            <a:tailEnd len="sm" w="sm" type="none"/>
          </a:ln>
        </p:spPr>
      </p:cxnSp>
      <p:sp>
        <p:nvSpPr>
          <p:cNvPr id="453" name="Google Shape;453;p37"/>
          <p:cNvSpPr txBox="1"/>
          <p:nvPr/>
        </p:nvSpPr>
        <p:spPr>
          <a:xfrm>
            <a:off x="5177000" y="296500"/>
            <a:ext cx="598200" cy="31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00CA4E"/>
                </a:solidFill>
                <a:latin typeface="Arial"/>
                <a:ea typeface="Arial"/>
                <a:cs typeface="Arial"/>
                <a:sym typeface="Arial"/>
              </a:rPr>
              <a:t>…</a:t>
            </a:r>
            <a:endParaRPr b="1" i="0" sz="2000" u="none" cap="none" strike="noStrike">
              <a:solidFill>
                <a:srgbClr val="00CA4E"/>
              </a:solidFill>
              <a:latin typeface="Arial"/>
              <a:ea typeface="Arial"/>
              <a:cs typeface="Arial"/>
              <a:sym typeface="Arial"/>
            </a:endParaRPr>
          </a:p>
        </p:txBody>
      </p:sp>
      <p:sp>
        <p:nvSpPr>
          <p:cNvPr id="454" name="Google Shape;454;p37"/>
          <p:cNvSpPr txBox="1"/>
          <p:nvPr/>
        </p:nvSpPr>
        <p:spPr>
          <a:xfrm>
            <a:off x="6804350" y="95275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cantidad_personas=3</a:t>
            </a:r>
            <a:endParaRPr b="0" i="0" sz="1600" u="none" cap="none" strike="noStrike">
              <a:solidFill>
                <a:srgbClr val="00CA4E"/>
              </a:solidFill>
              <a:latin typeface="Arial"/>
              <a:ea typeface="Arial"/>
              <a:cs typeface="Arial"/>
              <a:sym typeface="Arial"/>
            </a:endParaRPr>
          </a:p>
        </p:txBody>
      </p:sp>
      <p:sp>
        <p:nvSpPr>
          <p:cNvPr id="455" name="Google Shape;455;p37"/>
          <p:cNvSpPr txBox="1"/>
          <p:nvPr/>
        </p:nvSpPr>
        <p:spPr>
          <a:xfrm rot="-5400000">
            <a:off x="5164625" y="2973225"/>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false</a:t>
            </a:r>
            <a:endParaRPr b="0" i="0" sz="1400" u="none" cap="none" strike="noStrike">
              <a:solidFill>
                <a:srgbClr val="000000"/>
              </a:solidFill>
              <a:latin typeface="Arial"/>
              <a:ea typeface="Arial"/>
              <a:cs typeface="Arial"/>
              <a:sym typeface="Arial"/>
            </a:endParaRPr>
          </a:p>
        </p:txBody>
      </p:sp>
      <p:sp>
        <p:nvSpPr>
          <p:cNvPr id="456" name="Google Shape;456;p37"/>
          <p:cNvSpPr txBox="1"/>
          <p:nvPr/>
        </p:nvSpPr>
        <p:spPr>
          <a:xfrm>
            <a:off x="5806000" y="2262063"/>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true</a:t>
            </a:r>
            <a:endParaRPr b="1" i="0" sz="800" u="none" cap="none" strike="noStrike">
              <a:solidFill>
                <a:srgbClr val="0184BC"/>
              </a:solidFill>
              <a:latin typeface="Arial"/>
              <a:ea typeface="Arial"/>
              <a:cs typeface="Arial"/>
              <a:sym typeface="Arial"/>
            </a:endParaRPr>
          </a:p>
        </p:txBody>
      </p:sp>
      <p:sp>
        <p:nvSpPr>
          <p:cNvPr id="457" name="Google Shape;457;p37"/>
          <p:cNvSpPr/>
          <p:nvPr/>
        </p:nvSpPr>
        <p:spPr>
          <a:xfrm>
            <a:off x="6174250" y="34688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458" name="Google Shape;458;p37"/>
          <p:cNvSpPr/>
          <p:nvPr/>
        </p:nvSpPr>
        <p:spPr>
          <a:xfrm>
            <a:off x="6174250" y="411842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cxnSp>
        <p:nvCxnSpPr>
          <p:cNvPr id="459" name="Google Shape;459;p37"/>
          <p:cNvCxnSpPr>
            <a:stCxn id="442" idx="2"/>
            <a:endCxn id="457" idx="0"/>
          </p:cNvCxnSpPr>
          <p:nvPr/>
        </p:nvCxnSpPr>
        <p:spPr>
          <a:xfrm>
            <a:off x="6384400" y="3246175"/>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460" name="Google Shape;460;p37"/>
          <p:cNvCxnSpPr>
            <a:stCxn id="457" idx="2"/>
            <a:endCxn id="458" idx="0"/>
          </p:cNvCxnSpPr>
          <p:nvPr/>
        </p:nvCxnSpPr>
        <p:spPr>
          <a:xfrm>
            <a:off x="6384400" y="3895750"/>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461" name="Google Shape;461;p37"/>
          <p:cNvCxnSpPr>
            <a:stCxn id="458" idx="2"/>
            <a:endCxn id="449" idx="0"/>
          </p:cNvCxnSpPr>
          <p:nvPr/>
        </p:nvCxnSpPr>
        <p:spPr>
          <a:xfrm flipH="1" rot="5400000">
            <a:off x="4801000" y="2961925"/>
            <a:ext cx="2258400" cy="908400"/>
          </a:xfrm>
          <a:prstGeom prst="curvedConnector5">
            <a:avLst>
              <a:gd fmla="val -9376" name="adj1"/>
              <a:gd fmla="val -99309" name="adj2"/>
              <a:gd fmla="val 101104" name="adj3"/>
            </a:avLst>
          </a:prstGeom>
          <a:noFill/>
          <a:ln cap="flat" cmpd="sng" w="9525">
            <a:solidFill>
              <a:srgbClr val="CCCCCC"/>
            </a:solidFill>
            <a:prstDash val="solid"/>
            <a:round/>
            <a:headEnd len="sm" w="sm" type="none"/>
            <a:tailEnd len="med" w="med" type="triangle"/>
          </a:ln>
        </p:spPr>
      </p:cxnSp>
      <p:sp>
        <p:nvSpPr>
          <p:cNvPr id="462" name="Google Shape;462;p37"/>
          <p:cNvSpPr txBox="1"/>
          <p:nvPr/>
        </p:nvSpPr>
        <p:spPr>
          <a:xfrm>
            <a:off x="7369500" y="1542475"/>
            <a:ext cx="14628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contador=0</a:t>
            </a:r>
            <a:endParaRPr b="0" i="0" sz="1600" u="none" cap="none" strike="noStrike">
              <a:solidFill>
                <a:srgbClr val="00CA4E"/>
              </a:solidFill>
              <a:latin typeface="Arial"/>
              <a:ea typeface="Arial"/>
              <a:cs typeface="Arial"/>
              <a:sym typeface="Arial"/>
            </a:endParaRPr>
          </a:p>
        </p:txBody>
      </p:sp>
      <p:sp>
        <p:nvSpPr>
          <p:cNvPr id="463" name="Google Shape;463;p37"/>
          <p:cNvSpPr/>
          <p:nvPr/>
        </p:nvSpPr>
        <p:spPr>
          <a:xfrm>
            <a:off x="22500" y="2886650"/>
            <a:ext cx="598200" cy="162900"/>
          </a:xfrm>
          <a:prstGeom prst="homePlate">
            <a:avLst>
              <a:gd fmla="val 50000" name="adj"/>
            </a:avLst>
          </a:prstGeom>
          <a:solidFill>
            <a:srgbClr val="00CA4E"/>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37"/>
          <p:cNvSpPr txBox="1"/>
          <p:nvPr/>
        </p:nvSpPr>
        <p:spPr>
          <a:xfrm>
            <a:off x="6804350" y="519425"/>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edad_suma=0</a:t>
            </a:r>
            <a:endParaRPr b="0" i="0" sz="1600" u="none" cap="none" strike="noStrike">
              <a:solidFill>
                <a:srgbClr val="00CA4E"/>
              </a:solidFill>
              <a:latin typeface="Arial"/>
              <a:ea typeface="Arial"/>
              <a:cs typeface="Arial"/>
              <a:sym typeface="Arial"/>
            </a:endParaRPr>
          </a:p>
        </p:txBody>
      </p:sp>
      <p:sp>
        <p:nvSpPr>
          <p:cNvPr id="465" name="Google Shape;465;p37"/>
          <p:cNvSpPr txBox="1"/>
          <p:nvPr/>
        </p:nvSpPr>
        <p:spPr>
          <a:xfrm>
            <a:off x="6804350" y="14280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nueva_edad=?</a:t>
            </a:r>
            <a:endParaRPr b="0" i="0" sz="1600" u="none" cap="none" strike="noStrike">
              <a:solidFill>
                <a:srgbClr val="00CA4E"/>
              </a:solidFill>
              <a:latin typeface="Arial"/>
              <a:ea typeface="Arial"/>
              <a:cs typeface="Arial"/>
              <a:sym typeface="Arial"/>
            </a:endParaRPr>
          </a:p>
        </p:txBody>
      </p:sp>
      <p:sp>
        <p:nvSpPr>
          <p:cNvPr id="466" name="Google Shape;466;p37"/>
          <p:cNvSpPr/>
          <p:nvPr/>
        </p:nvSpPr>
        <p:spPr>
          <a:xfrm>
            <a:off x="22500" y="3139375"/>
            <a:ext cx="598200" cy="162900"/>
          </a:xfrm>
          <a:prstGeom prst="homePlate">
            <a:avLst>
              <a:gd fmla="val 50000" name="adj"/>
            </a:avLst>
          </a:prstGeom>
          <a:solidFill>
            <a:schemeClr val="accent4"/>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38"/>
          <p:cNvSpPr/>
          <p:nvPr/>
        </p:nvSpPr>
        <p:spPr>
          <a:xfrm rot="10800000">
            <a:off x="544342" y="2074825"/>
            <a:ext cx="3909600" cy="2179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472" name="Google Shape;472;p38"/>
          <p:cNvSpPr/>
          <p:nvPr/>
        </p:nvSpPr>
        <p:spPr>
          <a:xfrm rot="10800000">
            <a:off x="544345" y="1779675"/>
            <a:ext cx="3909600" cy="3969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73" name="Google Shape;473;p38"/>
          <p:cNvSpPr/>
          <p:nvPr/>
        </p:nvSpPr>
        <p:spPr>
          <a:xfrm>
            <a:off x="695755" y="1853541"/>
            <a:ext cx="193800" cy="193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74" name="Google Shape;474;p38"/>
          <p:cNvSpPr/>
          <p:nvPr/>
        </p:nvSpPr>
        <p:spPr>
          <a:xfrm>
            <a:off x="982622" y="1853541"/>
            <a:ext cx="193800" cy="193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75" name="Google Shape;475;p38"/>
          <p:cNvSpPr/>
          <p:nvPr/>
        </p:nvSpPr>
        <p:spPr>
          <a:xfrm>
            <a:off x="1269489" y="1853541"/>
            <a:ext cx="193800" cy="193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476" name="Google Shape;476;p38"/>
          <p:cNvSpPr txBox="1"/>
          <p:nvPr/>
        </p:nvSpPr>
        <p:spPr>
          <a:xfrm>
            <a:off x="544657" y="2104581"/>
            <a:ext cx="3909600" cy="2019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2</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3</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4</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5</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6</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7</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8</a:t>
            </a:r>
            <a:r>
              <a:rPr lang="es" sz="900">
                <a:solidFill>
                  <a:srgbClr val="383A42"/>
                </a:solidFill>
                <a:latin typeface="Ubuntu Mono"/>
                <a:ea typeface="Ubuntu Mono"/>
                <a:cs typeface="Ubuntu Mono"/>
                <a:sym typeface="Ubuntu Mono"/>
              </a:rPr>
              <a:t> </a:t>
            </a:r>
            <a:r>
              <a:rPr lang="es" sz="900">
                <a:solidFill>
                  <a:srgbClr val="A626A4"/>
                </a:solidFill>
                <a:latin typeface="Ubuntu Mono"/>
                <a:ea typeface="Ubuntu Mono"/>
                <a:cs typeface="Ubuntu Mono"/>
                <a:sym typeface="Ubuntu Mono"/>
              </a:rPr>
              <a:t>while</a:t>
            </a:r>
            <a:r>
              <a:rPr lang="es" sz="900">
                <a:solidFill>
                  <a:srgbClr val="383A42"/>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&lt;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9</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10</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11</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12</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986801"/>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13</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14</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cout</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50A14F"/>
                </a:solidFill>
                <a:latin typeface="Ubuntu Mono"/>
                <a:ea typeface="Ubuntu Mono"/>
                <a:cs typeface="Ubuntu Mono"/>
                <a:sym typeface="Ubuntu Mono"/>
              </a:rPr>
              <a:t>"Promedio: "</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endl</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p:txBody>
      </p:sp>
      <p:sp>
        <p:nvSpPr>
          <p:cNvPr id="477" name="Google Shape;477;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de flujo…</a:t>
            </a:r>
            <a:endParaRPr/>
          </a:p>
        </p:txBody>
      </p:sp>
      <p:sp>
        <p:nvSpPr>
          <p:cNvPr id="478" name="Google Shape;478;p38"/>
          <p:cNvSpPr/>
          <p:nvPr/>
        </p:nvSpPr>
        <p:spPr>
          <a:xfrm>
            <a:off x="6174250" y="2819275"/>
            <a:ext cx="420300" cy="426900"/>
          </a:xfrm>
          <a:prstGeom prst="roundRect">
            <a:avLst>
              <a:gd fmla="val 7941"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479" name="Google Shape;479;p38"/>
          <p:cNvSpPr/>
          <p:nvPr/>
        </p:nvSpPr>
        <p:spPr>
          <a:xfrm>
            <a:off x="5265950" y="9512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480" name="Google Shape;480;p38"/>
          <p:cNvSpPr/>
          <p:nvPr/>
        </p:nvSpPr>
        <p:spPr>
          <a:xfrm>
            <a:off x="5265950" y="15409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481" name="Google Shape;481;p38"/>
          <p:cNvCxnSpPr/>
          <p:nvPr/>
        </p:nvCxnSpPr>
        <p:spPr>
          <a:xfrm>
            <a:off x="5476100" y="142800"/>
            <a:ext cx="0" cy="218700"/>
          </a:xfrm>
          <a:prstGeom prst="straightConnector1">
            <a:avLst/>
          </a:prstGeom>
          <a:noFill/>
          <a:ln cap="flat" cmpd="sng" w="9525">
            <a:solidFill>
              <a:srgbClr val="CCCCCC"/>
            </a:solidFill>
            <a:prstDash val="solid"/>
            <a:round/>
            <a:headEnd len="sm" w="sm" type="none"/>
            <a:tailEnd len="med" w="med" type="triangle"/>
          </a:ln>
        </p:spPr>
      </p:cxnSp>
      <p:cxnSp>
        <p:nvCxnSpPr>
          <p:cNvPr id="482" name="Google Shape;482;p38"/>
          <p:cNvCxnSpPr>
            <a:endCxn id="479" idx="0"/>
          </p:cNvCxnSpPr>
          <p:nvPr/>
        </p:nvCxnSpPr>
        <p:spPr>
          <a:xfrm>
            <a:off x="5476100" y="7883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483" name="Google Shape;483;p38"/>
          <p:cNvCxnSpPr>
            <a:stCxn id="479" idx="2"/>
            <a:endCxn id="480" idx="0"/>
          </p:cNvCxnSpPr>
          <p:nvPr/>
        </p:nvCxnSpPr>
        <p:spPr>
          <a:xfrm>
            <a:off x="5476100" y="13781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484" name="Google Shape;484;p38"/>
          <p:cNvCxnSpPr>
            <a:stCxn id="480" idx="2"/>
            <a:endCxn id="485" idx="0"/>
          </p:cNvCxnSpPr>
          <p:nvPr/>
        </p:nvCxnSpPr>
        <p:spPr>
          <a:xfrm>
            <a:off x="5476100" y="1967875"/>
            <a:ext cx="0" cy="318900"/>
          </a:xfrm>
          <a:prstGeom prst="straightConnector1">
            <a:avLst/>
          </a:prstGeom>
          <a:noFill/>
          <a:ln cap="flat" cmpd="sng" w="9525">
            <a:solidFill>
              <a:srgbClr val="CCCCCC"/>
            </a:solidFill>
            <a:prstDash val="solid"/>
            <a:round/>
            <a:headEnd len="sm" w="sm" type="none"/>
            <a:tailEnd len="med" w="med" type="triangle"/>
          </a:ln>
        </p:spPr>
      </p:cxnSp>
      <p:sp>
        <p:nvSpPr>
          <p:cNvPr id="485" name="Google Shape;485;p38"/>
          <p:cNvSpPr/>
          <p:nvPr/>
        </p:nvSpPr>
        <p:spPr>
          <a:xfrm>
            <a:off x="5215100" y="2286850"/>
            <a:ext cx="522000" cy="522000"/>
          </a:xfrm>
          <a:prstGeom prst="diamond">
            <a:avLst/>
          </a:prstGeom>
          <a:solidFill>
            <a:srgbClr val="00CA4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486" name="Google Shape;486;p38"/>
          <p:cNvSpPr/>
          <p:nvPr/>
        </p:nvSpPr>
        <p:spPr>
          <a:xfrm>
            <a:off x="5265950" y="455570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cxnSp>
        <p:nvCxnSpPr>
          <p:cNvPr id="487" name="Google Shape;487;p38"/>
          <p:cNvCxnSpPr>
            <a:stCxn id="485" idx="2"/>
            <a:endCxn id="486" idx="0"/>
          </p:cNvCxnSpPr>
          <p:nvPr/>
        </p:nvCxnSpPr>
        <p:spPr>
          <a:xfrm>
            <a:off x="5476100" y="2808850"/>
            <a:ext cx="0" cy="1746900"/>
          </a:xfrm>
          <a:prstGeom prst="straightConnector1">
            <a:avLst/>
          </a:prstGeom>
          <a:noFill/>
          <a:ln cap="flat" cmpd="sng" w="9525">
            <a:solidFill>
              <a:srgbClr val="CCCCCC"/>
            </a:solidFill>
            <a:prstDash val="solid"/>
            <a:round/>
            <a:headEnd len="sm" w="sm" type="none"/>
            <a:tailEnd len="med" w="med" type="triangle"/>
          </a:ln>
        </p:spPr>
      </p:cxnSp>
      <p:cxnSp>
        <p:nvCxnSpPr>
          <p:cNvPr id="488" name="Google Shape;488;p38"/>
          <p:cNvCxnSpPr>
            <a:stCxn id="478" idx="0"/>
            <a:endCxn id="485" idx="3"/>
          </p:cNvCxnSpPr>
          <p:nvPr/>
        </p:nvCxnSpPr>
        <p:spPr>
          <a:xfrm flipH="1" rot="5400000">
            <a:off x="5924950" y="2359825"/>
            <a:ext cx="271500" cy="647400"/>
          </a:xfrm>
          <a:prstGeom prst="bentConnector2">
            <a:avLst/>
          </a:prstGeom>
          <a:noFill/>
          <a:ln cap="flat" cmpd="sng" w="9525">
            <a:solidFill>
              <a:srgbClr val="FF605C"/>
            </a:solidFill>
            <a:prstDash val="solid"/>
            <a:round/>
            <a:headEnd len="med" w="med" type="triangle"/>
            <a:tailEnd len="sm" w="sm" type="none"/>
          </a:ln>
        </p:spPr>
      </p:cxnSp>
      <p:sp>
        <p:nvSpPr>
          <p:cNvPr id="489" name="Google Shape;489;p38"/>
          <p:cNvSpPr txBox="1"/>
          <p:nvPr/>
        </p:nvSpPr>
        <p:spPr>
          <a:xfrm>
            <a:off x="5177000" y="296500"/>
            <a:ext cx="598200" cy="31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00CA4E"/>
                </a:solidFill>
                <a:latin typeface="Arial"/>
                <a:ea typeface="Arial"/>
                <a:cs typeface="Arial"/>
                <a:sym typeface="Arial"/>
              </a:rPr>
              <a:t>…</a:t>
            </a:r>
            <a:endParaRPr b="1" i="0" sz="2000" u="none" cap="none" strike="noStrike">
              <a:solidFill>
                <a:srgbClr val="00CA4E"/>
              </a:solidFill>
              <a:latin typeface="Arial"/>
              <a:ea typeface="Arial"/>
              <a:cs typeface="Arial"/>
              <a:sym typeface="Arial"/>
            </a:endParaRPr>
          </a:p>
        </p:txBody>
      </p:sp>
      <p:sp>
        <p:nvSpPr>
          <p:cNvPr id="490" name="Google Shape;490;p38"/>
          <p:cNvSpPr txBox="1"/>
          <p:nvPr/>
        </p:nvSpPr>
        <p:spPr>
          <a:xfrm>
            <a:off x="6804350" y="95275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cantidad_personas=3</a:t>
            </a:r>
            <a:endParaRPr b="0" i="0" sz="1600" u="none" cap="none" strike="noStrike">
              <a:solidFill>
                <a:srgbClr val="00CA4E"/>
              </a:solidFill>
              <a:latin typeface="Arial"/>
              <a:ea typeface="Arial"/>
              <a:cs typeface="Arial"/>
              <a:sym typeface="Arial"/>
            </a:endParaRPr>
          </a:p>
        </p:txBody>
      </p:sp>
      <p:sp>
        <p:nvSpPr>
          <p:cNvPr id="491" name="Google Shape;491;p38"/>
          <p:cNvSpPr txBox="1"/>
          <p:nvPr/>
        </p:nvSpPr>
        <p:spPr>
          <a:xfrm rot="-5400000">
            <a:off x="5164625" y="2973225"/>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false</a:t>
            </a:r>
            <a:endParaRPr b="0" i="0" sz="1400" u="none" cap="none" strike="noStrike">
              <a:solidFill>
                <a:srgbClr val="000000"/>
              </a:solidFill>
              <a:latin typeface="Arial"/>
              <a:ea typeface="Arial"/>
              <a:cs typeface="Arial"/>
              <a:sym typeface="Arial"/>
            </a:endParaRPr>
          </a:p>
        </p:txBody>
      </p:sp>
      <p:sp>
        <p:nvSpPr>
          <p:cNvPr id="492" name="Google Shape;492;p38"/>
          <p:cNvSpPr txBox="1"/>
          <p:nvPr/>
        </p:nvSpPr>
        <p:spPr>
          <a:xfrm>
            <a:off x="5684600" y="2185875"/>
            <a:ext cx="7521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1500" u="none" cap="none" strike="noStrike">
                <a:solidFill>
                  <a:srgbClr val="FF605C"/>
                </a:solidFill>
                <a:latin typeface="Arial"/>
                <a:ea typeface="Arial"/>
                <a:cs typeface="Arial"/>
                <a:sym typeface="Arial"/>
              </a:rPr>
              <a:t>true</a:t>
            </a:r>
            <a:endParaRPr b="1" i="0" sz="1500" u="none" cap="none" strike="noStrike">
              <a:solidFill>
                <a:srgbClr val="FF605C"/>
              </a:solidFill>
              <a:latin typeface="Arial"/>
              <a:ea typeface="Arial"/>
              <a:cs typeface="Arial"/>
              <a:sym typeface="Arial"/>
            </a:endParaRPr>
          </a:p>
        </p:txBody>
      </p:sp>
      <p:sp>
        <p:nvSpPr>
          <p:cNvPr id="493" name="Google Shape;493;p38"/>
          <p:cNvSpPr/>
          <p:nvPr/>
        </p:nvSpPr>
        <p:spPr>
          <a:xfrm>
            <a:off x="6174250" y="34688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494" name="Google Shape;494;p38"/>
          <p:cNvSpPr/>
          <p:nvPr/>
        </p:nvSpPr>
        <p:spPr>
          <a:xfrm>
            <a:off x="6174250" y="411842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cxnSp>
        <p:nvCxnSpPr>
          <p:cNvPr id="495" name="Google Shape;495;p38"/>
          <p:cNvCxnSpPr>
            <a:stCxn id="478" idx="2"/>
            <a:endCxn id="493" idx="0"/>
          </p:cNvCxnSpPr>
          <p:nvPr/>
        </p:nvCxnSpPr>
        <p:spPr>
          <a:xfrm>
            <a:off x="6384400" y="3246175"/>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496" name="Google Shape;496;p38"/>
          <p:cNvCxnSpPr>
            <a:stCxn id="493" idx="2"/>
            <a:endCxn id="494" idx="0"/>
          </p:cNvCxnSpPr>
          <p:nvPr/>
        </p:nvCxnSpPr>
        <p:spPr>
          <a:xfrm>
            <a:off x="6384400" y="3895750"/>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497" name="Google Shape;497;p38"/>
          <p:cNvCxnSpPr>
            <a:stCxn id="494" idx="2"/>
            <a:endCxn id="485" idx="0"/>
          </p:cNvCxnSpPr>
          <p:nvPr/>
        </p:nvCxnSpPr>
        <p:spPr>
          <a:xfrm flipH="1" rot="5400000">
            <a:off x="4801000" y="2961925"/>
            <a:ext cx="2258400" cy="908400"/>
          </a:xfrm>
          <a:prstGeom prst="curvedConnector5">
            <a:avLst>
              <a:gd fmla="val -9376" name="adj1"/>
              <a:gd fmla="val -99309" name="adj2"/>
              <a:gd fmla="val 101104" name="adj3"/>
            </a:avLst>
          </a:prstGeom>
          <a:noFill/>
          <a:ln cap="flat" cmpd="sng" w="9525">
            <a:solidFill>
              <a:srgbClr val="CCCCCC"/>
            </a:solidFill>
            <a:prstDash val="solid"/>
            <a:round/>
            <a:headEnd len="sm" w="sm" type="none"/>
            <a:tailEnd len="med" w="med" type="triangle"/>
          </a:ln>
        </p:spPr>
      </p:cxnSp>
      <p:sp>
        <p:nvSpPr>
          <p:cNvPr id="498" name="Google Shape;498;p38"/>
          <p:cNvSpPr txBox="1"/>
          <p:nvPr/>
        </p:nvSpPr>
        <p:spPr>
          <a:xfrm>
            <a:off x="7369500" y="1542475"/>
            <a:ext cx="14628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contador=0</a:t>
            </a:r>
            <a:endParaRPr b="0" i="0" sz="1600" u="none" cap="none" strike="noStrike">
              <a:solidFill>
                <a:srgbClr val="00CA4E"/>
              </a:solidFill>
              <a:latin typeface="Arial"/>
              <a:ea typeface="Arial"/>
              <a:cs typeface="Arial"/>
              <a:sym typeface="Arial"/>
            </a:endParaRPr>
          </a:p>
        </p:txBody>
      </p:sp>
      <p:sp>
        <p:nvSpPr>
          <p:cNvPr id="499" name="Google Shape;499;p38"/>
          <p:cNvSpPr/>
          <p:nvPr/>
        </p:nvSpPr>
        <p:spPr>
          <a:xfrm>
            <a:off x="22500" y="3134075"/>
            <a:ext cx="598200" cy="162900"/>
          </a:xfrm>
          <a:prstGeom prst="homePlate">
            <a:avLst>
              <a:gd fmla="val 50000" name="adj"/>
            </a:avLst>
          </a:prstGeom>
          <a:solidFill>
            <a:srgbClr val="00CA4E"/>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38"/>
          <p:cNvSpPr txBox="1"/>
          <p:nvPr/>
        </p:nvSpPr>
        <p:spPr>
          <a:xfrm>
            <a:off x="6804350" y="519425"/>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edad_suma=0</a:t>
            </a:r>
            <a:endParaRPr b="0" i="0" sz="1600" u="none" cap="none" strike="noStrike">
              <a:solidFill>
                <a:srgbClr val="00CA4E"/>
              </a:solidFill>
              <a:latin typeface="Arial"/>
              <a:ea typeface="Arial"/>
              <a:cs typeface="Arial"/>
              <a:sym typeface="Arial"/>
            </a:endParaRPr>
          </a:p>
        </p:txBody>
      </p:sp>
      <p:sp>
        <p:nvSpPr>
          <p:cNvPr id="501" name="Google Shape;501;p38"/>
          <p:cNvSpPr txBox="1"/>
          <p:nvPr/>
        </p:nvSpPr>
        <p:spPr>
          <a:xfrm>
            <a:off x="6804350" y="14280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nueva_edad=?</a:t>
            </a:r>
            <a:endParaRPr b="0" i="0" sz="1600" u="none" cap="none" strike="noStrike">
              <a:solidFill>
                <a:srgbClr val="00CA4E"/>
              </a:solidFill>
              <a:latin typeface="Arial"/>
              <a:ea typeface="Arial"/>
              <a:cs typeface="Arial"/>
              <a:sym typeface="Arial"/>
            </a:endParaRPr>
          </a:p>
        </p:txBody>
      </p:sp>
      <p:sp>
        <p:nvSpPr>
          <p:cNvPr id="502" name="Google Shape;502;p38"/>
          <p:cNvSpPr/>
          <p:nvPr/>
        </p:nvSpPr>
        <p:spPr>
          <a:xfrm>
            <a:off x="22500" y="3444175"/>
            <a:ext cx="598200" cy="162900"/>
          </a:xfrm>
          <a:prstGeom prst="homePlate">
            <a:avLst>
              <a:gd fmla="val 50000" name="adj"/>
            </a:avLst>
          </a:prstGeom>
          <a:solidFill>
            <a:schemeClr val="accent4"/>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39"/>
          <p:cNvSpPr/>
          <p:nvPr/>
        </p:nvSpPr>
        <p:spPr>
          <a:xfrm rot="10800000">
            <a:off x="544342" y="2074825"/>
            <a:ext cx="3909600" cy="2179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508" name="Google Shape;508;p39"/>
          <p:cNvSpPr/>
          <p:nvPr/>
        </p:nvSpPr>
        <p:spPr>
          <a:xfrm rot="10800000">
            <a:off x="544345" y="1779675"/>
            <a:ext cx="3909600" cy="3969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09" name="Google Shape;509;p39"/>
          <p:cNvSpPr/>
          <p:nvPr/>
        </p:nvSpPr>
        <p:spPr>
          <a:xfrm>
            <a:off x="695755" y="1853541"/>
            <a:ext cx="193800" cy="193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10" name="Google Shape;510;p39"/>
          <p:cNvSpPr/>
          <p:nvPr/>
        </p:nvSpPr>
        <p:spPr>
          <a:xfrm>
            <a:off x="982622" y="1853541"/>
            <a:ext cx="193800" cy="193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11" name="Google Shape;511;p39"/>
          <p:cNvSpPr/>
          <p:nvPr/>
        </p:nvSpPr>
        <p:spPr>
          <a:xfrm>
            <a:off x="1269489" y="1853541"/>
            <a:ext cx="193800" cy="193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12" name="Google Shape;512;p39"/>
          <p:cNvSpPr txBox="1"/>
          <p:nvPr/>
        </p:nvSpPr>
        <p:spPr>
          <a:xfrm>
            <a:off x="544657" y="2104581"/>
            <a:ext cx="3909600" cy="2019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2</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3</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4</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5</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6</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7</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8</a:t>
            </a:r>
            <a:r>
              <a:rPr lang="es" sz="900">
                <a:solidFill>
                  <a:srgbClr val="383A42"/>
                </a:solidFill>
                <a:latin typeface="Ubuntu Mono"/>
                <a:ea typeface="Ubuntu Mono"/>
                <a:cs typeface="Ubuntu Mono"/>
                <a:sym typeface="Ubuntu Mono"/>
              </a:rPr>
              <a:t> </a:t>
            </a:r>
            <a:r>
              <a:rPr lang="es" sz="900">
                <a:solidFill>
                  <a:srgbClr val="A626A4"/>
                </a:solidFill>
                <a:latin typeface="Ubuntu Mono"/>
                <a:ea typeface="Ubuntu Mono"/>
                <a:cs typeface="Ubuntu Mono"/>
                <a:sym typeface="Ubuntu Mono"/>
              </a:rPr>
              <a:t>while</a:t>
            </a:r>
            <a:r>
              <a:rPr lang="es" sz="900">
                <a:solidFill>
                  <a:srgbClr val="383A42"/>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&lt;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9</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10</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11</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12</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986801"/>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13</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14</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cout</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50A14F"/>
                </a:solidFill>
                <a:latin typeface="Ubuntu Mono"/>
                <a:ea typeface="Ubuntu Mono"/>
                <a:cs typeface="Ubuntu Mono"/>
                <a:sym typeface="Ubuntu Mono"/>
              </a:rPr>
              <a:t>"Promedio: "</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endl</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p:txBody>
      </p:sp>
      <p:sp>
        <p:nvSpPr>
          <p:cNvPr id="513" name="Google Shape;513;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de flujo…</a:t>
            </a:r>
            <a:endParaRPr/>
          </a:p>
        </p:txBody>
      </p:sp>
      <p:sp>
        <p:nvSpPr>
          <p:cNvPr id="514" name="Google Shape;514;p39"/>
          <p:cNvSpPr/>
          <p:nvPr/>
        </p:nvSpPr>
        <p:spPr>
          <a:xfrm>
            <a:off x="6174250" y="2819275"/>
            <a:ext cx="420300" cy="426900"/>
          </a:xfrm>
          <a:prstGeom prst="roundRect">
            <a:avLst>
              <a:gd fmla="val 7941" name="adj"/>
            </a:avLst>
          </a:prstGeom>
          <a:solidFill>
            <a:srgbClr val="00CA4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515" name="Google Shape;515;p39"/>
          <p:cNvSpPr/>
          <p:nvPr/>
        </p:nvSpPr>
        <p:spPr>
          <a:xfrm>
            <a:off x="5265950" y="9512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516" name="Google Shape;516;p39"/>
          <p:cNvSpPr/>
          <p:nvPr/>
        </p:nvSpPr>
        <p:spPr>
          <a:xfrm>
            <a:off x="5265950" y="15409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517" name="Google Shape;517;p39"/>
          <p:cNvCxnSpPr/>
          <p:nvPr/>
        </p:nvCxnSpPr>
        <p:spPr>
          <a:xfrm>
            <a:off x="5476100" y="142800"/>
            <a:ext cx="0" cy="218700"/>
          </a:xfrm>
          <a:prstGeom prst="straightConnector1">
            <a:avLst/>
          </a:prstGeom>
          <a:noFill/>
          <a:ln cap="flat" cmpd="sng" w="9525">
            <a:solidFill>
              <a:srgbClr val="CCCCCC"/>
            </a:solidFill>
            <a:prstDash val="solid"/>
            <a:round/>
            <a:headEnd len="sm" w="sm" type="none"/>
            <a:tailEnd len="med" w="med" type="triangle"/>
          </a:ln>
        </p:spPr>
      </p:cxnSp>
      <p:cxnSp>
        <p:nvCxnSpPr>
          <p:cNvPr id="518" name="Google Shape;518;p39"/>
          <p:cNvCxnSpPr>
            <a:endCxn id="515" idx="0"/>
          </p:cNvCxnSpPr>
          <p:nvPr/>
        </p:nvCxnSpPr>
        <p:spPr>
          <a:xfrm>
            <a:off x="5476100" y="7883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519" name="Google Shape;519;p39"/>
          <p:cNvCxnSpPr>
            <a:stCxn id="515" idx="2"/>
            <a:endCxn id="516" idx="0"/>
          </p:cNvCxnSpPr>
          <p:nvPr/>
        </p:nvCxnSpPr>
        <p:spPr>
          <a:xfrm>
            <a:off x="5476100" y="13781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520" name="Google Shape;520;p39"/>
          <p:cNvCxnSpPr>
            <a:stCxn id="516" idx="2"/>
            <a:endCxn id="521" idx="0"/>
          </p:cNvCxnSpPr>
          <p:nvPr/>
        </p:nvCxnSpPr>
        <p:spPr>
          <a:xfrm>
            <a:off x="5476100" y="1967875"/>
            <a:ext cx="0" cy="318900"/>
          </a:xfrm>
          <a:prstGeom prst="straightConnector1">
            <a:avLst/>
          </a:prstGeom>
          <a:noFill/>
          <a:ln cap="flat" cmpd="sng" w="9525">
            <a:solidFill>
              <a:srgbClr val="CCCCCC"/>
            </a:solidFill>
            <a:prstDash val="solid"/>
            <a:round/>
            <a:headEnd len="sm" w="sm" type="none"/>
            <a:tailEnd len="med" w="med" type="triangle"/>
          </a:ln>
        </p:spPr>
      </p:cxnSp>
      <p:sp>
        <p:nvSpPr>
          <p:cNvPr id="521" name="Google Shape;521;p39"/>
          <p:cNvSpPr/>
          <p:nvPr/>
        </p:nvSpPr>
        <p:spPr>
          <a:xfrm>
            <a:off x="5215100" y="2286850"/>
            <a:ext cx="522000" cy="522000"/>
          </a:xfrm>
          <a:prstGeom prst="diamond">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522" name="Google Shape;522;p39"/>
          <p:cNvSpPr/>
          <p:nvPr/>
        </p:nvSpPr>
        <p:spPr>
          <a:xfrm>
            <a:off x="5265950" y="455570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cxnSp>
        <p:nvCxnSpPr>
          <p:cNvPr id="523" name="Google Shape;523;p39"/>
          <p:cNvCxnSpPr>
            <a:stCxn id="521" idx="2"/>
            <a:endCxn id="522" idx="0"/>
          </p:cNvCxnSpPr>
          <p:nvPr/>
        </p:nvCxnSpPr>
        <p:spPr>
          <a:xfrm>
            <a:off x="5476100" y="2808850"/>
            <a:ext cx="0" cy="1746900"/>
          </a:xfrm>
          <a:prstGeom prst="straightConnector1">
            <a:avLst/>
          </a:prstGeom>
          <a:noFill/>
          <a:ln cap="flat" cmpd="sng" w="9525">
            <a:solidFill>
              <a:srgbClr val="CCCCCC"/>
            </a:solidFill>
            <a:prstDash val="solid"/>
            <a:round/>
            <a:headEnd len="sm" w="sm" type="none"/>
            <a:tailEnd len="med" w="med" type="triangle"/>
          </a:ln>
        </p:spPr>
      </p:cxnSp>
      <p:cxnSp>
        <p:nvCxnSpPr>
          <p:cNvPr id="524" name="Google Shape;524;p39"/>
          <p:cNvCxnSpPr>
            <a:stCxn id="514" idx="0"/>
            <a:endCxn id="521" idx="3"/>
          </p:cNvCxnSpPr>
          <p:nvPr/>
        </p:nvCxnSpPr>
        <p:spPr>
          <a:xfrm flipH="1" rot="5400000">
            <a:off x="5924950" y="2359825"/>
            <a:ext cx="271500" cy="647400"/>
          </a:xfrm>
          <a:prstGeom prst="bentConnector2">
            <a:avLst/>
          </a:prstGeom>
          <a:noFill/>
          <a:ln cap="flat" cmpd="sng" w="9525">
            <a:solidFill>
              <a:srgbClr val="CCCCCC"/>
            </a:solidFill>
            <a:prstDash val="solid"/>
            <a:round/>
            <a:headEnd len="med" w="med" type="triangle"/>
            <a:tailEnd len="sm" w="sm" type="none"/>
          </a:ln>
        </p:spPr>
      </p:cxnSp>
      <p:sp>
        <p:nvSpPr>
          <p:cNvPr id="525" name="Google Shape;525;p39"/>
          <p:cNvSpPr txBox="1"/>
          <p:nvPr/>
        </p:nvSpPr>
        <p:spPr>
          <a:xfrm>
            <a:off x="5177000" y="296500"/>
            <a:ext cx="598200" cy="31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00CA4E"/>
                </a:solidFill>
                <a:latin typeface="Arial"/>
                <a:ea typeface="Arial"/>
                <a:cs typeface="Arial"/>
                <a:sym typeface="Arial"/>
              </a:rPr>
              <a:t>…</a:t>
            </a:r>
            <a:endParaRPr b="1" i="0" sz="2000" u="none" cap="none" strike="noStrike">
              <a:solidFill>
                <a:srgbClr val="00CA4E"/>
              </a:solidFill>
              <a:latin typeface="Arial"/>
              <a:ea typeface="Arial"/>
              <a:cs typeface="Arial"/>
              <a:sym typeface="Arial"/>
            </a:endParaRPr>
          </a:p>
        </p:txBody>
      </p:sp>
      <p:sp>
        <p:nvSpPr>
          <p:cNvPr id="526" name="Google Shape;526;p39"/>
          <p:cNvSpPr txBox="1"/>
          <p:nvPr/>
        </p:nvSpPr>
        <p:spPr>
          <a:xfrm>
            <a:off x="6804350" y="95275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cantidad_personas=3</a:t>
            </a:r>
            <a:endParaRPr b="0" i="0" sz="1600" u="none" cap="none" strike="noStrike">
              <a:solidFill>
                <a:srgbClr val="00CA4E"/>
              </a:solidFill>
              <a:latin typeface="Arial"/>
              <a:ea typeface="Arial"/>
              <a:cs typeface="Arial"/>
              <a:sym typeface="Arial"/>
            </a:endParaRPr>
          </a:p>
        </p:txBody>
      </p:sp>
      <p:sp>
        <p:nvSpPr>
          <p:cNvPr id="527" name="Google Shape;527;p39"/>
          <p:cNvSpPr txBox="1"/>
          <p:nvPr/>
        </p:nvSpPr>
        <p:spPr>
          <a:xfrm rot="-5400000">
            <a:off x="5164625" y="2973225"/>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false</a:t>
            </a:r>
            <a:endParaRPr b="0" i="0" sz="1400" u="none" cap="none" strike="noStrike">
              <a:solidFill>
                <a:srgbClr val="000000"/>
              </a:solidFill>
              <a:latin typeface="Arial"/>
              <a:ea typeface="Arial"/>
              <a:cs typeface="Arial"/>
              <a:sym typeface="Arial"/>
            </a:endParaRPr>
          </a:p>
        </p:txBody>
      </p:sp>
      <p:sp>
        <p:nvSpPr>
          <p:cNvPr id="528" name="Google Shape;528;p39"/>
          <p:cNvSpPr txBox="1"/>
          <p:nvPr/>
        </p:nvSpPr>
        <p:spPr>
          <a:xfrm>
            <a:off x="5806000" y="2262063"/>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true</a:t>
            </a:r>
            <a:endParaRPr b="1" i="0" sz="800" u="none" cap="none" strike="noStrike">
              <a:solidFill>
                <a:srgbClr val="0184BC"/>
              </a:solidFill>
              <a:latin typeface="Arial"/>
              <a:ea typeface="Arial"/>
              <a:cs typeface="Arial"/>
              <a:sym typeface="Arial"/>
            </a:endParaRPr>
          </a:p>
        </p:txBody>
      </p:sp>
      <p:sp>
        <p:nvSpPr>
          <p:cNvPr id="529" name="Google Shape;529;p39"/>
          <p:cNvSpPr/>
          <p:nvPr/>
        </p:nvSpPr>
        <p:spPr>
          <a:xfrm>
            <a:off x="6174250" y="3468850"/>
            <a:ext cx="420300" cy="426900"/>
          </a:xfrm>
          <a:prstGeom prst="roundRect">
            <a:avLst>
              <a:gd fmla="val 7941"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530" name="Google Shape;530;p39"/>
          <p:cNvSpPr/>
          <p:nvPr/>
        </p:nvSpPr>
        <p:spPr>
          <a:xfrm>
            <a:off x="6174250" y="411842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cxnSp>
        <p:nvCxnSpPr>
          <p:cNvPr id="531" name="Google Shape;531;p39"/>
          <p:cNvCxnSpPr>
            <a:stCxn id="514" idx="2"/>
            <a:endCxn id="529" idx="0"/>
          </p:cNvCxnSpPr>
          <p:nvPr/>
        </p:nvCxnSpPr>
        <p:spPr>
          <a:xfrm>
            <a:off x="6384400" y="3246175"/>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532" name="Google Shape;532;p39"/>
          <p:cNvCxnSpPr>
            <a:stCxn id="529" idx="2"/>
            <a:endCxn id="530" idx="0"/>
          </p:cNvCxnSpPr>
          <p:nvPr/>
        </p:nvCxnSpPr>
        <p:spPr>
          <a:xfrm>
            <a:off x="6384400" y="3895750"/>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533" name="Google Shape;533;p39"/>
          <p:cNvCxnSpPr>
            <a:stCxn id="530" idx="2"/>
            <a:endCxn id="521" idx="0"/>
          </p:cNvCxnSpPr>
          <p:nvPr/>
        </p:nvCxnSpPr>
        <p:spPr>
          <a:xfrm flipH="1" rot="5400000">
            <a:off x="4801000" y="2961925"/>
            <a:ext cx="2258400" cy="908400"/>
          </a:xfrm>
          <a:prstGeom prst="curvedConnector5">
            <a:avLst>
              <a:gd fmla="val -9376" name="adj1"/>
              <a:gd fmla="val -99309" name="adj2"/>
              <a:gd fmla="val 101104" name="adj3"/>
            </a:avLst>
          </a:prstGeom>
          <a:noFill/>
          <a:ln cap="flat" cmpd="sng" w="9525">
            <a:solidFill>
              <a:srgbClr val="CCCCCC"/>
            </a:solidFill>
            <a:prstDash val="solid"/>
            <a:round/>
            <a:headEnd len="sm" w="sm" type="none"/>
            <a:tailEnd len="med" w="med" type="triangle"/>
          </a:ln>
        </p:spPr>
      </p:cxnSp>
      <p:sp>
        <p:nvSpPr>
          <p:cNvPr id="534" name="Google Shape;534;p39"/>
          <p:cNvSpPr txBox="1"/>
          <p:nvPr/>
        </p:nvSpPr>
        <p:spPr>
          <a:xfrm>
            <a:off x="7369500" y="1542475"/>
            <a:ext cx="14628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contador=0</a:t>
            </a:r>
            <a:endParaRPr b="0" i="0" sz="1600" u="none" cap="none" strike="noStrike">
              <a:solidFill>
                <a:srgbClr val="00CA4E"/>
              </a:solidFill>
              <a:latin typeface="Arial"/>
              <a:ea typeface="Arial"/>
              <a:cs typeface="Arial"/>
              <a:sym typeface="Arial"/>
            </a:endParaRPr>
          </a:p>
        </p:txBody>
      </p:sp>
      <p:sp>
        <p:nvSpPr>
          <p:cNvPr id="535" name="Google Shape;535;p39"/>
          <p:cNvSpPr/>
          <p:nvPr/>
        </p:nvSpPr>
        <p:spPr>
          <a:xfrm>
            <a:off x="22500" y="3414313"/>
            <a:ext cx="598200" cy="162900"/>
          </a:xfrm>
          <a:prstGeom prst="homePlate">
            <a:avLst>
              <a:gd fmla="val 50000" name="adj"/>
            </a:avLst>
          </a:prstGeom>
          <a:solidFill>
            <a:srgbClr val="00CA4E"/>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39"/>
          <p:cNvSpPr txBox="1"/>
          <p:nvPr/>
        </p:nvSpPr>
        <p:spPr>
          <a:xfrm>
            <a:off x="6804350" y="519425"/>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edad_suma=0</a:t>
            </a:r>
            <a:endParaRPr b="0" i="0" sz="1600" u="none" cap="none" strike="noStrike">
              <a:solidFill>
                <a:srgbClr val="00CA4E"/>
              </a:solidFill>
              <a:latin typeface="Arial"/>
              <a:ea typeface="Arial"/>
              <a:cs typeface="Arial"/>
              <a:sym typeface="Arial"/>
            </a:endParaRPr>
          </a:p>
        </p:txBody>
      </p:sp>
      <p:sp>
        <p:nvSpPr>
          <p:cNvPr id="537" name="Google Shape;537;p39"/>
          <p:cNvSpPr txBox="1"/>
          <p:nvPr/>
        </p:nvSpPr>
        <p:spPr>
          <a:xfrm>
            <a:off x="6804350" y="14280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nueva_edad=12</a:t>
            </a:r>
            <a:endParaRPr b="0" i="0" sz="1600" u="none" cap="none" strike="noStrike">
              <a:solidFill>
                <a:srgbClr val="00CA4E"/>
              </a:solidFill>
              <a:latin typeface="Arial"/>
              <a:ea typeface="Arial"/>
              <a:cs typeface="Arial"/>
              <a:sym typeface="Arial"/>
            </a:endParaRPr>
          </a:p>
        </p:txBody>
      </p:sp>
      <p:sp>
        <p:nvSpPr>
          <p:cNvPr id="538" name="Google Shape;538;p39"/>
          <p:cNvSpPr/>
          <p:nvPr/>
        </p:nvSpPr>
        <p:spPr>
          <a:xfrm>
            <a:off x="22500" y="3577225"/>
            <a:ext cx="598200" cy="162900"/>
          </a:xfrm>
          <a:prstGeom prst="homePlate">
            <a:avLst>
              <a:gd fmla="val 50000" name="adj"/>
            </a:avLst>
          </a:prstGeom>
          <a:solidFill>
            <a:schemeClr val="accent4"/>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40"/>
          <p:cNvSpPr/>
          <p:nvPr/>
        </p:nvSpPr>
        <p:spPr>
          <a:xfrm rot="10800000">
            <a:off x="544342" y="2074825"/>
            <a:ext cx="3909600" cy="2179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544" name="Google Shape;544;p40"/>
          <p:cNvSpPr/>
          <p:nvPr/>
        </p:nvSpPr>
        <p:spPr>
          <a:xfrm rot="10800000">
            <a:off x="544345" y="1779675"/>
            <a:ext cx="3909600" cy="3969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45" name="Google Shape;545;p40"/>
          <p:cNvSpPr/>
          <p:nvPr/>
        </p:nvSpPr>
        <p:spPr>
          <a:xfrm>
            <a:off x="695755" y="1853541"/>
            <a:ext cx="193800" cy="193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46" name="Google Shape;546;p40"/>
          <p:cNvSpPr/>
          <p:nvPr/>
        </p:nvSpPr>
        <p:spPr>
          <a:xfrm>
            <a:off x="982622" y="1853541"/>
            <a:ext cx="193800" cy="193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47" name="Google Shape;547;p40"/>
          <p:cNvSpPr/>
          <p:nvPr/>
        </p:nvSpPr>
        <p:spPr>
          <a:xfrm>
            <a:off x="1269489" y="1853541"/>
            <a:ext cx="193800" cy="193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48" name="Google Shape;548;p40"/>
          <p:cNvSpPr txBox="1"/>
          <p:nvPr/>
        </p:nvSpPr>
        <p:spPr>
          <a:xfrm>
            <a:off x="544657" y="2104581"/>
            <a:ext cx="3909600" cy="2019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2</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3</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4</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5</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6</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7</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8</a:t>
            </a:r>
            <a:r>
              <a:rPr lang="es" sz="900">
                <a:solidFill>
                  <a:srgbClr val="383A42"/>
                </a:solidFill>
                <a:latin typeface="Ubuntu Mono"/>
                <a:ea typeface="Ubuntu Mono"/>
                <a:cs typeface="Ubuntu Mono"/>
                <a:sym typeface="Ubuntu Mono"/>
              </a:rPr>
              <a:t> </a:t>
            </a:r>
            <a:r>
              <a:rPr lang="es" sz="900">
                <a:solidFill>
                  <a:srgbClr val="A626A4"/>
                </a:solidFill>
                <a:latin typeface="Ubuntu Mono"/>
                <a:ea typeface="Ubuntu Mono"/>
                <a:cs typeface="Ubuntu Mono"/>
                <a:sym typeface="Ubuntu Mono"/>
              </a:rPr>
              <a:t>while</a:t>
            </a:r>
            <a:r>
              <a:rPr lang="es" sz="900">
                <a:solidFill>
                  <a:srgbClr val="383A42"/>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&lt;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9</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10</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11</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12</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986801"/>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13</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14</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cout</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50A14F"/>
                </a:solidFill>
                <a:latin typeface="Ubuntu Mono"/>
                <a:ea typeface="Ubuntu Mono"/>
                <a:cs typeface="Ubuntu Mono"/>
                <a:sym typeface="Ubuntu Mono"/>
              </a:rPr>
              <a:t>"Promedio: "</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endl</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p:txBody>
      </p:sp>
      <p:sp>
        <p:nvSpPr>
          <p:cNvPr id="549" name="Google Shape;549;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de flujo…</a:t>
            </a:r>
            <a:endParaRPr/>
          </a:p>
        </p:txBody>
      </p:sp>
      <p:sp>
        <p:nvSpPr>
          <p:cNvPr id="550" name="Google Shape;550;p40"/>
          <p:cNvSpPr/>
          <p:nvPr/>
        </p:nvSpPr>
        <p:spPr>
          <a:xfrm>
            <a:off x="6174250" y="28192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551" name="Google Shape;551;p40"/>
          <p:cNvSpPr/>
          <p:nvPr/>
        </p:nvSpPr>
        <p:spPr>
          <a:xfrm>
            <a:off x="5265950" y="9512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552" name="Google Shape;552;p40"/>
          <p:cNvSpPr/>
          <p:nvPr/>
        </p:nvSpPr>
        <p:spPr>
          <a:xfrm>
            <a:off x="5265950" y="15409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553" name="Google Shape;553;p40"/>
          <p:cNvCxnSpPr/>
          <p:nvPr/>
        </p:nvCxnSpPr>
        <p:spPr>
          <a:xfrm>
            <a:off x="5476100" y="142800"/>
            <a:ext cx="0" cy="218700"/>
          </a:xfrm>
          <a:prstGeom prst="straightConnector1">
            <a:avLst/>
          </a:prstGeom>
          <a:noFill/>
          <a:ln cap="flat" cmpd="sng" w="9525">
            <a:solidFill>
              <a:srgbClr val="CCCCCC"/>
            </a:solidFill>
            <a:prstDash val="solid"/>
            <a:round/>
            <a:headEnd len="sm" w="sm" type="none"/>
            <a:tailEnd len="med" w="med" type="triangle"/>
          </a:ln>
        </p:spPr>
      </p:cxnSp>
      <p:cxnSp>
        <p:nvCxnSpPr>
          <p:cNvPr id="554" name="Google Shape;554;p40"/>
          <p:cNvCxnSpPr>
            <a:endCxn id="551" idx="0"/>
          </p:cNvCxnSpPr>
          <p:nvPr/>
        </p:nvCxnSpPr>
        <p:spPr>
          <a:xfrm>
            <a:off x="5476100" y="7883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555" name="Google Shape;555;p40"/>
          <p:cNvCxnSpPr>
            <a:stCxn id="551" idx="2"/>
            <a:endCxn id="552" idx="0"/>
          </p:cNvCxnSpPr>
          <p:nvPr/>
        </p:nvCxnSpPr>
        <p:spPr>
          <a:xfrm>
            <a:off x="5476100" y="13781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556" name="Google Shape;556;p40"/>
          <p:cNvCxnSpPr>
            <a:stCxn id="552" idx="2"/>
            <a:endCxn id="557" idx="0"/>
          </p:cNvCxnSpPr>
          <p:nvPr/>
        </p:nvCxnSpPr>
        <p:spPr>
          <a:xfrm>
            <a:off x="5476100" y="1967875"/>
            <a:ext cx="0" cy="318900"/>
          </a:xfrm>
          <a:prstGeom prst="straightConnector1">
            <a:avLst/>
          </a:prstGeom>
          <a:noFill/>
          <a:ln cap="flat" cmpd="sng" w="9525">
            <a:solidFill>
              <a:srgbClr val="CCCCCC"/>
            </a:solidFill>
            <a:prstDash val="solid"/>
            <a:round/>
            <a:headEnd len="sm" w="sm" type="none"/>
            <a:tailEnd len="med" w="med" type="triangle"/>
          </a:ln>
        </p:spPr>
      </p:cxnSp>
      <p:sp>
        <p:nvSpPr>
          <p:cNvPr id="557" name="Google Shape;557;p40"/>
          <p:cNvSpPr/>
          <p:nvPr/>
        </p:nvSpPr>
        <p:spPr>
          <a:xfrm>
            <a:off x="5215100" y="2286850"/>
            <a:ext cx="522000" cy="522000"/>
          </a:xfrm>
          <a:prstGeom prst="diamond">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558" name="Google Shape;558;p40"/>
          <p:cNvSpPr/>
          <p:nvPr/>
        </p:nvSpPr>
        <p:spPr>
          <a:xfrm>
            <a:off x="5265950" y="455570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cxnSp>
        <p:nvCxnSpPr>
          <p:cNvPr id="559" name="Google Shape;559;p40"/>
          <p:cNvCxnSpPr>
            <a:stCxn id="557" idx="2"/>
            <a:endCxn id="558" idx="0"/>
          </p:cNvCxnSpPr>
          <p:nvPr/>
        </p:nvCxnSpPr>
        <p:spPr>
          <a:xfrm>
            <a:off x="5476100" y="2808850"/>
            <a:ext cx="0" cy="1746900"/>
          </a:xfrm>
          <a:prstGeom prst="straightConnector1">
            <a:avLst/>
          </a:prstGeom>
          <a:noFill/>
          <a:ln cap="flat" cmpd="sng" w="9525">
            <a:solidFill>
              <a:srgbClr val="CCCCCC"/>
            </a:solidFill>
            <a:prstDash val="solid"/>
            <a:round/>
            <a:headEnd len="sm" w="sm" type="none"/>
            <a:tailEnd len="med" w="med" type="triangle"/>
          </a:ln>
        </p:spPr>
      </p:cxnSp>
      <p:cxnSp>
        <p:nvCxnSpPr>
          <p:cNvPr id="560" name="Google Shape;560;p40"/>
          <p:cNvCxnSpPr>
            <a:stCxn id="550" idx="0"/>
            <a:endCxn id="557" idx="3"/>
          </p:cNvCxnSpPr>
          <p:nvPr/>
        </p:nvCxnSpPr>
        <p:spPr>
          <a:xfrm flipH="1" rot="5400000">
            <a:off x="5924950" y="2359825"/>
            <a:ext cx="271500" cy="647400"/>
          </a:xfrm>
          <a:prstGeom prst="bentConnector2">
            <a:avLst/>
          </a:prstGeom>
          <a:noFill/>
          <a:ln cap="flat" cmpd="sng" w="9525">
            <a:solidFill>
              <a:srgbClr val="CCCCCC"/>
            </a:solidFill>
            <a:prstDash val="solid"/>
            <a:round/>
            <a:headEnd len="med" w="med" type="triangle"/>
            <a:tailEnd len="sm" w="sm" type="none"/>
          </a:ln>
        </p:spPr>
      </p:cxnSp>
      <p:sp>
        <p:nvSpPr>
          <p:cNvPr id="561" name="Google Shape;561;p40"/>
          <p:cNvSpPr txBox="1"/>
          <p:nvPr/>
        </p:nvSpPr>
        <p:spPr>
          <a:xfrm>
            <a:off x="5177000" y="296500"/>
            <a:ext cx="598200" cy="31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00CA4E"/>
                </a:solidFill>
                <a:latin typeface="Arial"/>
                <a:ea typeface="Arial"/>
                <a:cs typeface="Arial"/>
                <a:sym typeface="Arial"/>
              </a:rPr>
              <a:t>…</a:t>
            </a:r>
            <a:endParaRPr b="1" i="0" sz="2000" u="none" cap="none" strike="noStrike">
              <a:solidFill>
                <a:srgbClr val="00CA4E"/>
              </a:solidFill>
              <a:latin typeface="Arial"/>
              <a:ea typeface="Arial"/>
              <a:cs typeface="Arial"/>
              <a:sym typeface="Arial"/>
            </a:endParaRPr>
          </a:p>
        </p:txBody>
      </p:sp>
      <p:sp>
        <p:nvSpPr>
          <p:cNvPr id="562" name="Google Shape;562;p40"/>
          <p:cNvSpPr txBox="1"/>
          <p:nvPr/>
        </p:nvSpPr>
        <p:spPr>
          <a:xfrm>
            <a:off x="6804350" y="95275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cantidad_personas=3</a:t>
            </a:r>
            <a:endParaRPr b="0" i="0" sz="1600" u="none" cap="none" strike="noStrike">
              <a:solidFill>
                <a:srgbClr val="00CA4E"/>
              </a:solidFill>
              <a:latin typeface="Arial"/>
              <a:ea typeface="Arial"/>
              <a:cs typeface="Arial"/>
              <a:sym typeface="Arial"/>
            </a:endParaRPr>
          </a:p>
        </p:txBody>
      </p:sp>
      <p:sp>
        <p:nvSpPr>
          <p:cNvPr id="563" name="Google Shape;563;p40"/>
          <p:cNvSpPr txBox="1"/>
          <p:nvPr/>
        </p:nvSpPr>
        <p:spPr>
          <a:xfrm rot="-5400000">
            <a:off x="5164625" y="2973225"/>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false</a:t>
            </a:r>
            <a:endParaRPr b="0" i="0" sz="1400" u="none" cap="none" strike="noStrike">
              <a:solidFill>
                <a:srgbClr val="000000"/>
              </a:solidFill>
              <a:latin typeface="Arial"/>
              <a:ea typeface="Arial"/>
              <a:cs typeface="Arial"/>
              <a:sym typeface="Arial"/>
            </a:endParaRPr>
          </a:p>
        </p:txBody>
      </p:sp>
      <p:sp>
        <p:nvSpPr>
          <p:cNvPr id="564" name="Google Shape;564;p40"/>
          <p:cNvSpPr txBox="1"/>
          <p:nvPr/>
        </p:nvSpPr>
        <p:spPr>
          <a:xfrm>
            <a:off x="5806000" y="2262063"/>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true</a:t>
            </a:r>
            <a:endParaRPr b="1" i="0" sz="800" u="none" cap="none" strike="noStrike">
              <a:solidFill>
                <a:srgbClr val="0184BC"/>
              </a:solidFill>
              <a:latin typeface="Arial"/>
              <a:ea typeface="Arial"/>
              <a:cs typeface="Arial"/>
              <a:sym typeface="Arial"/>
            </a:endParaRPr>
          </a:p>
        </p:txBody>
      </p:sp>
      <p:sp>
        <p:nvSpPr>
          <p:cNvPr id="565" name="Google Shape;565;p40"/>
          <p:cNvSpPr/>
          <p:nvPr/>
        </p:nvSpPr>
        <p:spPr>
          <a:xfrm>
            <a:off x="6174250" y="3468850"/>
            <a:ext cx="420300" cy="426900"/>
          </a:xfrm>
          <a:prstGeom prst="roundRect">
            <a:avLst>
              <a:gd fmla="val 7941" name="adj"/>
            </a:avLst>
          </a:prstGeom>
          <a:solidFill>
            <a:srgbClr val="00CA4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566" name="Google Shape;566;p40"/>
          <p:cNvSpPr/>
          <p:nvPr/>
        </p:nvSpPr>
        <p:spPr>
          <a:xfrm>
            <a:off x="6174250" y="4118425"/>
            <a:ext cx="420300" cy="426900"/>
          </a:xfrm>
          <a:prstGeom prst="roundRect">
            <a:avLst>
              <a:gd fmla="val 7941"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cxnSp>
        <p:nvCxnSpPr>
          <p:cNvPr id="567" name="Google Shape;567;p40"/>
          <p:cNvCxnSpPr>
            <a:stCxn id="550" idx="2"/>
            <a:endCxn id="565" idx="0"/>
          </p:cNvCxnSpPr>
          <p:nvPr/>
        </p:nvCxnSpPr>
        <p:spPr>
          <a:xfrm>
            <a:off x="6384400" y="3246175"/>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568" name="Google Shape;568;p40"/>
          <p:cNvCxnSpPr>
            <a:stCxn id="565" idx="2"/>
            <a:endCxn id="566" idx="0"/>
          </p:cNvCxnSpPr>
          <p:nvPr/>
        </p:nvCxnSpPr>
        <p:spPr>
          <a:xfrm>
            <a:off x="6384400" y="3895750"/>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569" name="Google Shape;569;p40"/>
          <p:cNvCxnSpPr>
            <a:stCxn id="566" idx="2"/>
            <a:endCxn id="557" idx="0"/>
          </p:cNvCxnSpPr>
          <p:nvPr/>
        </p:nvCxnSpPr>
        <p:spPr>
          <a:xfrm flipH="1" rot="5400000">
            <a:off x="4801000" y="2961925"/>
            <a:ext cx="2258400" cy="908400"/>
          </a:xfrm>
          <a:prstGeom prst="curvedConnector5">
            <a:avLst>
              <a:gd fmla="val -9376" name="adj1"/>
              <a:gd fmla="val -99309" name="adj2"/>
              <a:gd fmla="val 101104" name="adj3"/>
            </a:avLst>
          </a:prstGeom>
          <a:noFill/>
          <a:ln cap="flat" cmpd="sng" w="9525">
            <a:solidFill>
              <a:srgbClr val="CCCCCC"/>
            </a:solidFill>
            <a:prstDash val="solid"/>
            <a:round/>
            <a:headEnd len="sm" w="sm" type="none"/>
            <a:tailEnd len="med" w="med" type="triangle"/>
          </a:ln>
        </p:spPr>
      </p:cxnSp>
      <p:sp>
        <p:nvSpPr>
          <p:cNvPr id="570" name="Google Shape;570;p40"/>
          <p:cNvSpPr txBox="1"/>
          <p:nvPr/>
        </p:nvSpPr>
        <p:spPr>
          <a:xfrm>
            <a:off x="7369500" y="1542475"/>
            <a:ext cx="14628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contador=0</a:t>
            </a:r>
            <a:endParaRPr b="0" i="0" sz="1600" u="none" cap="none" strike="noStrike">
              <a:solidFill>
                <a:srgbClr val="00CA4E"/>
              </a:solidFill>
              <a:latin typeface="Arial"/>
              <a:ea typeface="Arial"/>
              <a:cs typeface="Arial"/>
              <a:sym typeface="Arial"/>
            </a:endParaRPr>
          </a:p>
        </p:txBody>
      </p:sp>
      <p:sp>
        <p:nvSpPr>
          <p:cNvPr id="571" name="Google Shape;571;p40"/>
          <p:cNvSpPr/>
          <p:nvPr/>
        </p:nvSpPr>
        <p:spPr>
          <a:xfrm>
            <a:off x="22500" y="3549263"/>
            <a:ext cx="598200" cy="162900"/>
          </a:xfrm>
          <a:prstGeom prst="homePlate">
            <a:avLst>
              <a:gd fmla="val 50000" name="adj"/>
            </a:avLst>
          </a:prstGeom>
          <a:solidFill>
            <a:srgbClr val="00CA4E"/>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40"/>
          <p:cNvSpPr txBox="1"/>
          <p:nvPr/>
        </p:nvSpPr>
        <p:spPr>
          <a:xfrm>
            <a:off x="6804350" y="519425"/>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edad_suma=12</a:t>
            </a:r>
            <a:endParaRPr b="0" i="0" sz="1600" u="none" cap="none" strike="noStrike">
              <a:solidFill>
                <a:srgbClr val="00CA4E"/>
              </a:solidFill>
              <a:latin typeface="Arial"/>
              <a:ea typeface="Arial"/>
              <a:cs typeface="Arial"/>
              <a:sym typeface="Arial"/>
            </a:endParaRPr>
          </a:p>
        </p:txBody>
      </p:sp>
      <p:sp>
        <p:nvSpPr>
          <p:cNvPr id="573" name="Google Shape;573;p40"/>
          <p:cNvSpPr txBox="1"/>
          <p:nvPr/>
        </p:nvSpPr>
        <p:spPr>
          <a:xfrm>
            <a:off x="6804350" y="14280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nueva_edad=12</a:t>
            </a:r>
            <a:endParaRPr b="0" i="0" sz="1600" u="none" cap="none" strike="noStrike">
              <a:solidFill>
                <a:srgbClr val="00CA4E"/>
              </a:solidFill>
              <a:latin typeface="Arial"/>
              <a:ea typeface="Arial"/>
              <a:cs typeface="Arial"/>
              <a:sym typeface="Arial"/>
            </a:endParaRPr>
          </a:p>
        </p:txBody>
      </p:sp>
      <p:sp>
        <p:nvSpPr>
          <p:cNvPr id="574" name="Google Shape;574;p40"/>
          <p:cNvSpPr/>
          <p:nvPr/>
        </p:nvSpPr>
        <p:spPr>
          <a:xfrm>
            <a:off x="22500" y="3712175"/>
            <a:ext cx="598200" cy="162900"/>
          </a:xfrm>
          <a:prstGeom prst="homePlate">
            <a:avLst>
              <a:gd fmla="val 50000" name="adj"/>
            </a:avLst>
          </a:prstGeom>
          <a:solidFill>
            <a:schemeClr val="accent4"/>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41"/>
          <p:cNvSpPr/>
          <p:nvPr/>
        </p:nvSpPr>
        <p:spPr>
          <a:xfrm rot="10800000">
            <a:off x="544342" y="2074825"/>
            <a:ext cx="3909600" cy="2179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580" name="Google Shape;580;p41"/>
          <p:cNvSpPr/>
          <p:nvPr/>
        </p:nvSpPr>
        <p:spPr>
          <a:xfrm rot="10800000">
            <a:off x="544345" y="1779675"/>
            <a:ext cx="3909600" cy="3969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81" name="Google Shape;581;p41"/>
          <p:cNvSpPr/>
          <p:nvPr/>
        </p:nvSpPr>
        <p:spPr>
          <a:xfrm>
            <a:off x="695755" y="1853541"/>
            <a:ext cx="193800" cy="193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82" name="Google Shape;582;p41"/>
          <p:cNvSpPr/>
          <p:nvPr/>
        </p:nvSpPr>
        <p:spPr>
          <a:xfrm>
            <a:off x="982622" y="1853541"/>
            <a:ext cx="193800" cy="193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83" name="Google Shape;583;p41"/>
          <p:cNvSpPr/>
          <p:nvPr/>
        </p:nvSpPr>
        <p:spPr>
          <a:xfrm>
            <a:off x="1269489" y="1853541"/>
            <a:ext cx="193800" cy="193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584" name="Google Shape;584;p41"/>
          <p:cNvSpPr txBox="1"/>
          <p:nvPr/>
        </p:nvSpPr>
        <p:spPr>
          <a:xfrm>
            <a:off x="544657" y="2104581"/>
            <a:ext cx="3909600" cy="2019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2</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3</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4</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5</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6</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7</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8</a:t>
            </a:r>
            <a:r>
              <a:rPr lang="es" sz="900">
                <a:solidFill>
                  <a:srgbClr val="383A42"/>
                </a:solidFill>
                <a:latin typeface="Ubuntu Mono"/>
                <a:ea typeface="Ubuntu Mono"/>
                <a:cs typeface="Ubuntu Mono"/>
                <a:sym typeface="Ubuntu Mono"/>
              </a:rPr>
              <a:t> </a:t>
            </a:r>
            <a:r>
              <a:rPr lang="es" sz="900">
                <a:solidFill>
                  <a:srgbClr val="A626A4"/>
                </a:solidFill>
                <a:latin typeface="Ubuntu Mono"/>
                <a:ea typeface="Ubuntu Mono"/>
                <a:cs typeface="Ubuntu Mono"/>
                <a:sym typeface="Ubuntu Mono"/>
              </a:rPr>
              <a:t>while</a:t>
            </a:r>
            <a:r>
              <a:rPr lang="es" sz="900">
                <a:solidFill>
                  <a:srgbClr val="383A42"/>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&lt;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9</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10</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11</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12</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986801"/>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13</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14</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cout</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50A14F"/>
                </a:solidFill>
                <a:latin typeface="Ubuntu Mono"/>
                <a:ea typeface="Ubuntu Mono"/>
                <a:cs typeface="Ubuntu Mono"/>
                <a:sym typeface="Ubuntu Mono"/>
              </a:rPr>
              <a:t>"Promedio: "</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endl</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p:txBody>
      </p:sp>
      <p:sp>
        <p:nvSpPr>
          <p:cNvPr id="585" name="Google Shape;585;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de flujo…</a:t>
            </a:r>
            <a:endParaRPr/>
          </a:p>
        </p:txBody>
      </p:sp>
      <p:sp>
        <p:nvSpPr>
          <p:cNvPr id="586" name="Google Shape;586;p41"/>
          <p:cNvSpPr/>
          <p:nvPr/>
        </p:nvSpPr>
        <p:spPr>
          <a:xfrm>
            <a:off x="6174250" y="28192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587" name="Google Shape;587;p41"/>
          <p:cNvSpPr/>
          <p:nvPr/>
        </p:nvSpPr>
        <p:spPr>
          <a:xfrm>
            <a:off x="5265950" y="9512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588" name="Google Shape;588;p41"/>
          <p:cNvSpPr/>
          <p:nvPr/>
        </p:nvSpPr>
        <p:spPr>
          <a:xfrm>
            <a:off x="5265950" y="15409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589" name="Google Shape;589;p41"/>
          <p:cNvCxnSpPr/>
          <p:nvPr/>
        </p:nvCxnSpPr>
        <p:spPr>
          <a:xfrm>
            <a:off x="5476100" y="142800"/>
            <a:ext cx="0" cy="218700"/>
          </a:xfrm>
          <a:prstGeom prst="straightConnector1">
            <a:avLst/>
          </a:prstGeom>
          <a:noFill/>
          <a:ln cap="flat" cmpd="sng" w="9525">
            <a:solidFill>
              <a:srgbClr val="CCCCCC"/>
            </a:solidFill>
            <a:prstDash val="solid"/>
            <a:round/>
            <a:headEnd len="sm" w="sm" type="none"/>
            <a:tailEnd len="med" w="med" type="triangle"/>
          </a:ln>
        </p:spPr>
      </p:cxnSp>
      <p:cxnSp>
        <p:nvCxnSpPr>
          <p:cNvPr id="590" name="Google Shape;590;p41"/>
          <p:cNvCxnSpPr>
            <a:endCxn id="587" idx="0"/>
          </p:cNvCxnSpPr>
          <p:nvPr/>
        </p:nvCxnSpPr>
        <p:spPr>
          <a:xfrm>
            <a:off x="5476100" y="7883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591" name="Google Shape;591;p41"/>
          <p:cNvCxnSpPr>
            <a:stCxn id="587" idx="2"/>
            <a:endCxn id="588" idx="0"/>
          </p:cNvCxnSpPr>
          <p:nvPr/>
        </p:nvCxnSpPr>
        <p:spPr>
          <a:xfrm>
            <a:off x="5476100" y="13781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592" name="Google Shape;592;p41"/>
          <p:cNvCxnSpPr>
            <a:stCxn id="588" idx="2"/>
            <a:endCxn id="593" idx="0"/>
          </p:cNvCxnSpPr>
          <p:nvPr/>
        </p:nvCxnSpPr>
        <p:spPr>
          <a:xfrm>
            <a:off x="5476100" y="1967875"/>
            <a:ext cx="0" cy="318900"/>
          </a:xfrm>
          <a:prstGeom prst="straightConnector1">
            <a:avLst/>
          </a:prstGeom>
          <a:noFill/>
          <a:ln cap="flat" cmpd="sng" w="9525">
            <a:solidFill>
              <a:srgbClr val="CCCCCC"/>
            </a:solidFill>
            <a:prstDash val="solid"/>
            <a:round/>
            <a:headEnd len="sm" w="sm" type="none"/>
            <a:tailEnd len="med" w="med" type="triangle"/>
          </a:ln>
        </p:spPr>
      </p:cxnSp>
      <p:sp>
        <p:nvSpPr>
          <p:cNvPr id="593" name="Google Shape;593;p41"/>
          <p:cNvSpPr/>
          <p:nvPr/>
        </p:nvSpPr>
        <p:spPr>
          <a:xfrm>
            <a:off x="5215100" y="2286850"/>
            <a:ext cx="522000" cy="522000"/>
          </a:xfrm>
          <a:prstGeom prst="diamond">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594" name="Google Shape;594;p41"/>
          <p:cNvSpPr/>
          <p:nvPr/>
        </p:nvSpPr>
        <p:spPr>
          <a:xfrm>
            <a:off x="5265950" y="455570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cxnSp>
        <p:nvCxnSpPr>
          <p:cNvPr id="595" name="Google Shape;595;p41"/>
          <p:cNvCxnSpPr>
            <a:stCxn id="593" idx="2"/>
            <a:endCxn id="594" idx="0"/>
          </p:cNvCxnSpPr>
          <p:nvPr/>
        </p:nvCxnSpPr>
        <p:spPr>
          <a:xfrm>
            <a:off x="5476100" y="2808850"/>
            <a:ext cx="0" cy="1746900"/>
          </a:xfrm>
          <a:prstGeom prst="straightConnector1">
            <a:avLst/>
          </a:prstGeom>
          <a:noFill/>
          <a:ln cap="flat" cmpd="sng" w="9525">
            <a:solidFill>
              <a:srgbClr val="CCCCCC"/>
            </a:solidFill>
            <a:prstDash val="solid"/>
            <a:round/>
            <a:headEnd len="sm" w="sm" type="none"/>
            <a:tailEnd len="med" w="med" type="triangle"/>
          </a:ln>
        </p:spPr>
      </p:cxnSp>
      <p:cxnSp>
        <p:nvCxnSpPr>
          <p:cNvPr id="596" name="Google Shape;596;p41"/>
          <p:cNvCxnSpPr>
            <a:stCxn id="586" idx="0"/>
            <a:endCxn id="593" idx="3"/>
          </p:cNvCxnSpPr>
          <p:nvPr/>
        </p:nvCxnSpPr>
        <p:spPr>
          <a:xfrm flipH="1" rot="5400000">
            <a:off x="5924950" y="2359825"/>
            <a:ext cx="271500" cy="647400"/>
          </a:xfrm>
          <a:prstGeom prst="bentConnector2">
            <a:avLst/>
          </a:prstGeom>
          <a:noFill/>
          <a:ln cap="flat" cmpd="sng" w="9525">
            <a:solidFill>
              <a:srgbClr val="CCCCCC"/>
            </a:solidFill>
            <a:prstDash val="solid"/>
            <a:round/>
            <a:headEnd len="med" w="med" type="triangle"/>
            <a:tailEnd len="sm" w="sm" type="none"/>
          </a:ln>
        </p:spPr>
      </p:cxnSp>
      <p:sp>
        <p:nvSpPr>
          <p:cNvPr id="597" name="Google Shape;597;p41"/>
          <p:cNvSpPr txBox="1"/>
          <p:nvPr/>
        </p:nvSpPr>
        <p:spPr>
          <a:xfrm>
            <a:off x="5177000" y="296500"/>
            <a:ext cx="598200" cy="31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00CA4E"/>
                </a:solidFill>
                <a:latin typeface="Arial"/>
                <a:ea typeface="Arial"/>
                <a:cs typeface="Arial"/>
                <a:sym typeface="Arial"/>
              </a:rPr>
              <a:t>…</a:t>
            </a:r>
            <a:endParaRPr b="1" i="0" sz="2000" u="none" cap="none" strike="noStrike">
              <a:solidFill>
                <a:srgbClr val="00CA4E"/>
              </a:solidFill>
              <a:latin typeface="Arial"/>
              <a:ea typeface="Arial"/>
              <a:cs typeface="Arial"/>
              <a:sym typeface="Arial"/>
            </a:endParaRPr>
          </a:p>
        </p:txBody>
      </p:sp>
      <p:sp>
        <p:nvSpPr>
          <p:cNvPr id="598" name="Google Shape;598;p41"/>
          <p:cNvSpPr txBox="1"/>
          <p:nvPr/>
        </p:nvSpPr>
        <p:spPr>
          <a:xfrm>
            <a:off x="6804350" y="95275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cantidad_personas=3</a:t>
            </a:r>
            <a:endParaRPr b="0" i="0" sz="1600" u="none" cap="none" strike="noStrike">
              <a:solidFill>
                <a:srgbClr val="00CA4E"/>
              </a:solidFill>
              <a:latin typeface="Arial"/>
              <a:ea typeface="Arial"/>
              <a:cs typeface="Arial"/>
              <a:sym typeface="Arial"/>
            </a:endParaRPr>
          </a:p>
        </p:txBody>
      </p:sp>
      <p:sp>
        <p:nvSpPr>
          <p:cNvPr id="599" name="Google Shape;599;p41"/>
          <p:cNvSpPr txBox="1"/>
          <p:nvPr/>
        </p:nvSpPr>
        <p:spPr>
          <a:xfrm rot="-5400000">
            <a:off x="5164625" y="2973225"/>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false</a:t>
            </a:r>
            <a:endParaRPr b="0" i="0" sz="1400" u="none" cap="none" strike="noStrike">
              <a:solidFill>
                <a:srgbClr val="000000"/>
              </a:solidFill>
              <a:latin typeface="Arial"/>
              <a:ea typeface="Arial"/>
              <a:cs typeface="Arial"/>
              <a:sym typeface="Arial"/>
            </a:endParaRPr>
          </a:p>
        </p:txBody>
      </p:sp>
      <p:sp>
        <p:nvSpPr>
          <p:cNvPr id="600" name="Google Shape;600;p41"/>
          <p:cNvSpPr txBox="1"/>
          <p:nvPr/>
        </p:nvSpPr>
        <p:spPr>
          <a:xfrm>
            <a:off x="5806000" y="2262063"/>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true</a:t>
            </a:r>
            <a:endParaRPr b="1" i="0" sz="800" u="none" cap="none" strike="noStrike">
              <a:solidFill>
                <a:srgbClr val="0184BC"/>
              </a:solidFill>
              <a:latin typeface="Arial"/>
              <a:ea typeface="Arial"/>
              <a:cs typeface="Arial"/>
              <a:sym typeface="Arial"/>
            </a:endParaRPr>
          </a:p>
        </p:txBody>
      </p:sp>
      <p:sp>
        <p:nvSpPr>
          <p:cNvPr id="601" name="Google Shape;601;p41"/>
          <p:cNvSpPr/>
          <p:nvPr/>
        </p:nvSpPr>
        <p:spPr>
          <a:xfrm>
            <a:off x="6174250" y="34688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602" name="Google Shape;602;p41"/>
          <p:cNvSpPr/>
          <p:nvPr/>
        </p:nvSpPr>
        <p:spPr>
          <a:xfrm>
            <a:off x="6174250" y="4118425"/>
            <a:ext cx="420300" cy="426900"/>
          </a:xfrm>
          <a:prstGeom prst="roundRect">
            <a:avLst>
              <a:gd fmla="val 7941" name="adj"/>
            </a:avLst>
          </a:prstGeom>
          <a:solidFill>
            <a:srgbClr val="00CA4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cxnSp>
        <p:nvCxnSpPr>
          <p:cNvPr id="603" name="Google Shape;603;p41"/>
          <p:cNvCxnSpPr>
            <a:stCxn id="586" idx="2"/>
            <a:endCxn id="601" idx="0"/>
          </p:cNvCxnSpPr>
          <p:nvPr/>
        </p:nvCxnSpPr>
        <p:spPr>
          <a:xfrm>
            <a:off x="6384400" y="3246175"/>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604" name="Google Shape;604;p41"/>
          <p:cNvCxnSpPr>
            <a:stCxn id="601" idx="2"/>
            <a:endCxn id="602" idx="0"/>
          </p:cNvCxnSpPr>
          <p:nvPr/>
        </p:nvCxnSpPr>
        <p:spPr>
          <a:xfrm>
            <a:off x="6384400" y="3895750"/>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605" name="Google Shape;605;p41"/>
          <p:cNvCxnSpPr>
            <a:stCxn id="602" idx="2"/>
            <a:endCxn id="593" idx="0"/>
          </p:cNvCxnSpPr>
          <p:nvPr/>
        </p:nvCxnSpPr>
        <p:spPr>
          <a:xfrm flipH="1" rot="5400000">
            <a:off x="4801000" y="2961925"/>
            <a:ext cx="2258400" cy="908400"/>
          </a:xfrm>
          <a:prstGeom prst="curvedConnector5">
            <a:avLst>
              <a:gd fmla="val -9376" name="adj1"/>
              <a:gd fmla="val -99309" name="adj2"/>
              <a:gd fmla="val 101104" name="adj3"/>
            </a:avLst>
          </a:prstGeom>
          <a:noFill/>
          <a:ln cap="flat" cmpd="sng" w="9525">
            <a:solidFill>
              <a:srgbClr val="CCCCCC"/>
            </a:solidFill>
            <a:prstDash val="solid"/>
            <a:round/>
            <a:headEnd len="sm" w="sm" type="none"/>
            <a:tailEnd len="med" w="med" type="triangle"/>
          </a:ln>
        </p:spPr>
      </p:cxnSp>
      <p:sp>
        <p:nvSpPr>
          <p:cNvPr id="606" name="Google Shape;606;p41"/>
          <p:cNvSpPr txBox="1"/>
          <p:nvPr/>
        </p:nvSpPr>
        <p:spPr>
          <a:xfrm>
            <a:off x="7369500" y="1542475"/>
            <a:ext cx="14628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contador=1</a:t>
            </a:r>
            <a:endParaRPr b="0" i="0" sz="1600" u="none" cap="none" strike="noStrike">
              <a:solidFill>
                <a:srgbClr val="00CA4E"/>
              </a:solidFill>
              <a:latin typeface="Arial"/>
              <a:ea typeface="Arial"/>
              <a:cs typeface="Arial"/>
              <a:sym typeface="Arial"/>
            </a:endParaRPr>
          </a:p>
        </p:txBody>
      </p:sp>
      <p:sp>
        <p:nvSpPr>
          <p:cNvPr id="607" name="Google Shape;607;p41"/>
          <p:cNvSpPr/>
          <p:nvPr/>
        </p:nvSpPr>
        <p:spPr>
          <a:xfrm>
            <a:off x="22500" y="3691738"/>
            <a:ext cx="598200" cy="162900"/>
          </a:xfrm>
          <a:prstGeom prst="homePlate">
            <a:avLst>
              <a:gd fmla="val 50000" name="adj"/>
            </a:avLst>
          </a:prstGeom>
          <a:solidFill>
            <a:srgbClr val="00CA4E"/>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41"/>
          <p:cNvSpPr txBox="1"/>
          <p:nvPr/>
        </p:nvSpPr>
        <p:spPr>
          <a:xfrm>
            <a:off x="6804350" y="519425"/>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edad_suma=12</a:t>
            </a:r>
            <a:endParaRPr b="0" i="0" sz="1600" u="none" cap="none" strike="noStrike">
              <a:solidFill>
                <a:srgbClr val="00CA4E"/>
              </a:solidFill>
              <a:latin typeface="Arial"/>
              <a:ea typeface="Arial"/>
              <a:cs typeface="Arial"/>
              <a:sym typeface="Arial"/>
            </a:endParaRPr>
          </a:p>
        </p:txBody>
      </p:sp>
      <p:sp>
        <p:nvSpPr>
          <p:cNvPr id="609" name="Google Shape;609;p41"/>
          <p:cNvSpPr txBox="1"/>
          <p:nvPr/>
        </p:nvSpPr>
        <p:spPr>
          <a:xfrm>
            <a:off x="6804350" y="14280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nueva_edad=12</a:t>
            </a:r>
            <a:endParaRPr b="0" i="0" sz="1600" u="none" cap="none" strike="noStrike">
              <a:solidFill>
                <a:srgbClr val="00CA4E"/>
              </a:solidFill>
              <a:latin typeface="Arial"/>
              <a:ea typeface="Arial"/>
              <a:cs typeface="Arial"/>
              <a:sym typeface="Arial"/>
            </a:endParaRPr>
          </a:p>
        </p:txBody>
      </p:sp>
      <p:sp>
        <p:nvSpPr>
          <p:cNvPr id="610" name="Google Shape;610;p41"/>
          <p:cNvSpPr/>
          <p:nvPr/>
        </p:nvSpPr>
        <p:spPr>
          <a:xfrm>
            <a:off x="22500" y="3139375"/>
            <a:ext cx="598200" cy="162900"/>
          </a:xfrm>
          <a:prstGeom prst="homePlate">
            <a:avLst>
              <a:gd fmla="val 50000" name="adj"/>
            </a:avLst>
          </a:prstGeom>
          <a:solidFill>
            <a:schemeClr val="accent4"/>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42"/>
          <p:cNvSpPr/>
          <p:nvPr/>
        </p:nvSpPr>
        <p:spPr>
          <a:xfrm rot="10800000">
            <a:off x="544342" y="2074825"/>
            <a:ext cx="3909600" cy="2179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616" name="Google Shape;616;p42"/>
          <p:cNvSpPr/>
          <p:nvPr/>
        </p:nvSpPr>
        <p:spPr>
          <a:xfrm rot="10800000">
            <a:off x="544345" y="1779675"/>
            <a:ext cx="3909600" cy="3969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617" name="Google Shape;617;p42"/>
          <p:cNvSpPr/>
          <p:nvPr/>
        </p:nvSpPr>
        <p:spPr>
          <a:xfrm>
            <a:off x="695755" y="1853541"/>
            <a:ext cx="193800" cy="193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618" name="Google Shape;618;p42"/>
          <p:cNvSpPr/>
          <p:nvPr/>
        </p:nvSpPr>
        <p:spPr>
          <a:xfrm>
            <a:off x="982622" y="1853541"/>
            <a:ext cx="193800" cy="193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619" name="Google Shape;619;p42"/>
          <p:cNvSpPr/>
          <p:nvPr/>
        </p:nvSpPr>
        <p:spPr>
          <a:xfrm>
            <a:off x="1269489" y="1853541"/>
            <a:ext cx="193800" cy="193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620" name="Google Shape;620;p42"/>
          <p:cNvSpPr txBox="1"/>
          <p:nvPr/>
        </p:nvSpPr>
        <p:spPr>
          <a:xfrm>
            <a:off x="544657" y="2104581"/>
            <a:ext cx="3909600" cy="2019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2</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3</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4</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5</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6</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7</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8</a:t>
            </a:r>
            <a:r>
              <a:rPr lang="es" sz="900">
                <a:solidFill>
                  <a:srgbClr val="383A42"/>
                </a:solidFill>
                <a:latin typeface="Ubuntu Mono"/>
                <a:ea typeface="Ubuntu Mono"/>
                <a:cs typeface="Ubuntu Mono"/>
                <a:sym typeface="Ubuntu Mono"/>
              </a:rPr>
              <a:t> </a:t>
            </a:r>
            <a:r>
              <a:rPr lang="es" sz="900">
                <a:solidFill>
                  <a:srgbClr val="A626A4"/>
                </a:solidFill>
                <a:latin typeface="Ubuntu Mono"/>
                <a:ea typeface="Ubuntu Mono"/>
                <a:cs typeface="Ubuntu Mono"/>
                <a:sym typeface="Ubuntu Mono"/>
              </a:rPr>
              <a:t>while</a:t>
            </a:r>
            <a:r>
              <a:rPr lang="es" sz="900">
                <a:solidFill>
                  <a:srgbClr val="383A42"/>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&lt;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9</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10</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11</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12</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986801"/>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13</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14</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cout</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50A14F"/>
                </a:solidFill>
                <a:latin typeface="Ubuntu Mono"/>
                <a:ea typeface="Ubuntu Mono"/>
                <a:cs typeface="Ubuntu Mono"/>
                <a:sym typeface="Ubuntu Mono"/>
              </a:rPr>
              <a:t>"Promedio: "</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endl</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p:txBody>
      </p:sp>
      <p:sp>
        <p:nvSpPr>
          <p:cNvPr id="621" name="Google Shape;621;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de flujo…</a:t>
            </a:r>
            <a:endParaRPr/>
          </a:p>
        </p:txBody>
      </p:sp>
      <p:sp>
        <p:nvSpPr>
          <p:cNvPr id="622" name="Google Shape;622;p42"/>
          <p:cNvSpPr/>
          <p:nvPr/>
        </p:nvSpPr>
        <p:spPr>
          <a:xfrm>
            <a:off x="6174250" y="2819275"/>
            <a:ext cx="420300" cy="426900"/>
          </a:xfrm>
          <a:prstGeom prst="roundRect">
            <a:avLst>
              <a:gd fmla="val 7941"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623" name="Google Shape;623;p42"/>
          <p:cNvSpPr/>
          <p:nvPr/>
        </p:nvSpPr>
        <p:spPr>
          <a:xfrm>
            <a:off x="5265950" y="9512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624" name="Google Shape;624;p42"/>
          <p:cNvSpPr/>
          <p:nvPr/>
        </p:nvSpPr>
        <p:spPr>
          <a:xfrm>
            <a:off x="5265950" y="15409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625" name="Google Shape;625;p42"/>
          <p:cNvCxnSpPr/>
          <p:nvPr/>
        </p:nvCxnSpPr>
        <p:spPr>
          <a:xfrm>
            <a:off x="5476100" y="142800"/>
            <a:ext cx="0" cy="218700"/>
          </a:xfrm>
          <a:prstGeom prst="straightConnector1">
            <a:avLst/>
          </a:prstGeom>
          <a:noFill/>
          <a:ln cap="flat" cmpd="sng" w="9525">
            <a:solidFill>
              <a:srgbClr val="CCCCCC"/>
            </a:solidFill>
            <a:prstDash val="solid"/>
            <a:round/>
            <a:headEnd len="sm" w="sm" type="none"/>
            <a:tailEnd len="med" w="med" type="triangle"/>
          </a:ln>
        </p:spPr>
      </p:cxnSp>
      <p:cxnSp>
        <p:nvCxnSpPr>
          <p:cNvPr id="626" name="Google Shape;626;p42"/>
          <p:cNvCxnSpPr>
            <a:endCxn id="623" idx="0"/>
          </p:cNvCxnSpPr>
          <p:nvPr/>
        </p:nvCxnSpPr>
        <p:spPr>
          <a:xfrm>
            <a:off x="5476100" y="7883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627" name="Google Shape;627;p42"/>
          <p:cNvCxnSpPr>
            <a:stCxn id="623" idx="2"/>
            <a:endCxn id="624" idx="0"/>
          </p:cNvCxnSpPr>
          <p:nvPr/>
        </p:nvCxnSpPr>
        <p:spPr>
          <a:xfrm>
            <a:off x="5476100" y="13781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628" name="Google Shape;628;p42"/>
          <p:cNvCxnSpPr>
            <a:stCxn id="624" idx="2"/>
            <a:endCxn id="629" idx="0"/>
          </p:cNvCxnSpPr>
          <p:nvPr/>
        </p:nvCxnSpPr>
        <p:spPr>
          <a:xfrm>
            <a:off x="5476100" y="1967875"/>
            <a:ext cx="0" cy="318900"/>
          </a:xfrm>
          <a:prstGeom prst="straightConnector1">
            <a:avLst/>
          </a:prstGeom>
          <a:noFill/>
          <a:ln cap="flat" cmpd="sng" w="9525">
            <a:solidFill>
              <a:srgbClr val="CCCCCC"/>
            </a:solidFill>
            <a:prstDash val="solid"/>
            <a:round/>
            <a:headEnd len="sm" w="sm" type="none"/>
            <a:tailEnd len="med" w="med" type="triangle"/>
          </a:ln>
        </p:spPr>
      </p:cxnSp>
      <p:sp>
        <p:nvSpPr>
          <p:cNvPr id="629" name="Google Shape;629;p42"/>
          <p:cNvSpPr/>
          <p:nvPr/>
        </p:nvSpPr>
        <p:spPr>
          <a:xfrm>
            <a:off x="5215100" y="2286850"/>
            <a:ext cx="522000" cy="522000"/>
          </a:xfrm>
          <a:prstGeom prst="diamond">
            <a:avLst/>
          </a:prstGeom>
          <a:solidFill>
            <a:srgbClr val="00CA4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630" name="Google Shape;630;p42"/>
          <p:cNvSpPr/>
          <p:nvPr/>
        </p:nvSpPr>
        <p:spPr>
          <a:xfrm>
            <a:off x="5265950" y="455570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cxnSp>
        <p:nvCxnSpPr>
          <p:cNvPr id="631" name="Google Shape;631;p42"/>
          <p:cNvCxnSpPr>
            <a:stCxn id="629" idx="2"/>
            <a:endCxn id="630" idx="0"/>
          </p:cNvCxnSpPr>
          <p:nvPr/>
        </p:nvCxnSpPr>
        <p:spPr>
          <a:xfrm>
            <a:off x="5476100" y="2808850"/>
            <a:ext cx="0" cy="1746900"/>
          </a:xfrm>
          <a:prstGeom prst="straightConnector1">
            <a:avLst/>
          </a:prstGeom>
          <a:noFill/>
          <a:ln cap="flat" cmpd="sng" w="9525">
            <a:solidFill>
              <a:srgbClr val="CCCCCC"/>
            </a:solidFill>
            <a:prstDash val="solid"/>
            <a:round/>
            <a:headEnd len="sm" w="sm" type="none"/>
            <a:tailEnd len="med" w="med" type="triangle"/>
          </a:ln>
        </p:spPr>
      </p:cxnSp>
      <p:cxnSp>
        <p:nvCxnSpPr>
          <p:cNvPr id="632" name="Google Shape;632;p42"/>
          <p:cNvCxnSpPr>
            <a:stCxn id="622" idx="0"/>
            <a:endCxn id="629" idx="3"/>
          </p:cNvCxnSpPr>
          <p:nvPr/>
        </p:nvCxnSpPr>
        <p:spPr>
          <a:xfrm flipH="1" rot="5400000">
            <a:off x="5924950" y="2359825"/>
            <a:ext cx="271500" cy="647400"/>
          </a:xfrm>
          <a:prstGeom prst="bentConnector2">
            <a:avLst/>
          </a:prstGeom>
          <a:noFill/>
          <a:ln cap="flat" cmpd="sng" w="9525">
            <a:solidFill>
              <a:srgbClr val="FF605C"/>
            </a:solidFill>
            <a:prstDash val="solid"/>
            <a:round/>
            <a:headEnd len="med" w="med" type="triangle"/>
            <a:tailEnd len="sm" w="sm" type="none"/>
          </a:ln>
        </p:spPr>
      </p:cxnSp>
      <p:sp>
        <p:nvSpPr>
          <p:cNvPr id="633" name="Google Shape;633;p42"/>
          <p:cNvSpPr txBox="1"/>
          <p:nvPr/>
        </p:nvSpPr>
        <p:spPr>
          <a:xfrm>
            <a:off x="5177000" y="296500"/>
            <a:ext cx="598200" cy="31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00CA4E"/>
                </a:solidFill>
                <a:latin typeface="Arial"/>
                <a:ea typeface="Arial"/>
                <a:cs typeface="Arial"/>
                <a:sym typeface="Arial"/>
              </a:rPr>
              <a:t>…</a:t>
            </a:r>
            <a:endParaRPr b="1" i="0" sz="2000" u="none" cap="none" strike="noStrike">
              <a:solidFill>
                <a:srgbClr val="00CA4E"/>
              </a:solidFill>
              <a:latin typeface="Arial"/>
              <a:ea typeface="Arial"/>
              <a:cs typeface="Arial"/>
              <a:sym typeface="Arial"/>
            </a:endParaRPr>
          </a:p>
        </p:txBody>
      </p:sp>
      <p:sp>
        <p:nvSpPr>
          <p:cNvPr id="634" name="Google Shape;634;p42"/>
          <p:cNvSpPr txBox="1"/>
          <p:nvPr/>
        </p:nvSpPr>
        <p:spPr>
          <a:xfrm>
            <a:off x="6804350" y="95275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cantidad_personas=3</a:t>
            </a:r>
            <a:endParaRPr b="0" i="0" sz="1600" u="none" cap="none" strike="noStrike">
              <a:solidFill>
                <a:srgbClr val="00CA4E"/>
              </a:solidFill>
              <a:latin typeface="Arial"/>
              <a:ea typeface="Arial"/>
              <a:cs typeface="Arial"/>
              <a:sym typeface="Arial"/>
            </a:endParaRPr>
          </a:p>
        </p:txBody>
      </p:sp>
      <p:sp>
        <p:nvSpPr>
          <p:cNvPr id="635" name="Google Shape;635;p42"/>
          <p:cNvSpPr txBox="1"/>
          <p:nvPr/>
        </p:nvSpPr>
        <p:spPr>
          <a:xfrm rot="-5400000">
            <a:off x="5164625" y="2973225"/>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false</a:t>
            </a:r>
            <a:endParaRPr b="0" i="0" sz="1400" u="none" cap="none" strike="noStrike">
              <a:solidFill>
                <a:srgbClr val="000000"/>
              </a:solidFill>
              <a:latin typeface="Arial"/>
              <a:ea typeface="Arial"/>
              <a:cs typeface="Arial"/>
              <a:sym typeface="Arial"/>
            </a:endParaRPr>
          </a:p>
        </p:txBody>
      </p:sp>
      <p:sp>
        <p:nvSpPr>
          <p:cNvPr id="636" name="Google Shape;636;p42"/>
          <p:cNvSpPr/>
          <p:nvPr/>
        </p:nvSpPr>
        <p:spPr>
          <a:xfrm>
            <a:off x="6174250" y="34688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637" name="Google Shape;637;p42"/>
          <p:cNvSpPr/>
          <p:nvPr/>
        </p:nvSpPr>
        <p:spPr>
          <a:xfrm>
            <a:off x="6174250" y="411842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cxnSp>
        <p:nvCxnSpPr>
          <p:cNvPr id="638" name="Google Shape;638;p42"/>
          <p:cNvCxnSpPr>
            <a:stCxn id="622" idx="2"/>
            <a:endCxn id="636" idx="0"/>
          </p:cNvCxnSpPr>
          <p:nvPr/>
        </p:nvCxnSpPr>
        <p:spPr>
          <a:xfrm>
            <a:off x="6384400" y="3246175"/>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639" name="Google Shape;639;p42"/>
          <p:cNvCxnSpPr>
            <a:stCxn id="636" idx="2"/>
            <a:endCxn id="637" idx="0"/>
          </p:cNvCxnSpPr>
          <p:nvPr/>
        </p:nvCxnSpPr>
        <p:spPr>
          <a:xfrm>
            <a:off x="6384400" y="3895750"/>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640" name="Google Shape;640;p42"/>
          <p:cNvCxnSpPr>
            <a:stCxn id="637" idx="2"/>
            <a:endCxn id="629" idx="0"/>
          </p:cNvCxnSpPr>
          <p:nvPr/>
        </p:nvCxnSpPr>
        <p:spPr>
          <a:xfrm flipH="1" rot="5400000">
            <a:off x="4801000" y="2961925"/>
            <a:ext cx="2258400" cy="908400"/>
          </a:xfrm>
          <a:prstGeom prst="curvedConnector5">
            <a:avLst>
              <a:gd fmla="val -9376" name="adj1"/>
              <a:gd fmla="val -99309" name="adj2"/>
              <a:gd fmla="val 101104" name="adj3"/>
            </a:avLst>
          </a:prstGeom>
          <a:noFill/>
          <a:ln cap="flat" cmpd="sng" w="9525">
            <a:solidFill>
              <a:srgbClr val="CCCCCC"/>
            </a:solidFill>
            <a:prstDash val="solid"/>
            <a:round/>
            <a:headEnd len="sm" w="sm" type="none"/>
            <a:tailEnd len="med" w="med" type="triangle"/>
          </a:ln>
        </p:spPr>
      </p:cxnSp>
      <p:sp>
        <p:nvSpPr>
          <p:cNvPr id="641" name="Google Shape;641;p42"/>
          <p:cNvSpPr txBox="1"/>
          <p:nvPr/>
        </p:nvSpPr>
        <p:spPr>
          <a:xfrm>
            <a:off x="7369500" y="1542475"/>
            <a:ext cx="14628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contador=1</a:t>
            </a:r>
            <a:endParaRPr b="0" i="0" sz="1600" u="none" cap="none" strike="noStrike">
              <a:solidFill>
                <a:srgbClr val="00CA4E"/>
              </a:solidFill>
              <a:latin typeface="Arial"/>
              <a:ea typeface="Arial"/>
              <a:cs typeface="Arial"/>
              <a:sym typeface="Arial"/>
            </a:endParaRPr>
          </a:p>
        </p:txBody>
      </p:sp>
      <p:sp>
        <p:nvSpPr>
          <p:cNvPr id="642" name="Google Shape;642;p42"/>
          <p:cNvSpPr/>
          <p:nvPr/>
        </p:nvSpPr>
        <p:spPr>
          <a:xfrm>
            <a:off x="22500" y="3134075"/>
            <a:ext cx="598200" cy="162900"/>
          </a:xfrm>
          <a:prstGeom prst="homePlate">
            <a:avLst>
              <a:gd fmla="val 50000" name="adj"/>
            </a:avLst>
          </a:prstGeom>
          <a:solidFill>
            <a:srgbClr val="00CA4E"/>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42"/>
          <p:cNvSpPr txBox="1"/>
          <p:nvPr/>
        </p:nvSpPr>
        <p:spPr>
          <a:xfrm>
            <a:off x="6804350" y="519425"/>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edad_suma=12</a:t>
            </a:r>
            <a:endParaRPr b="0" i="0" sz="1600" u="none" cap="none" strike="noStrike">
              <a:solidFill>
                <a:srgbClr val="00CA4E"/>
              </a:solidFill>
              <a:latin typeface="Arial"/>
              <a:ea typeface="Arial"/>
              <a:cs typeface="Arial"/>
              <a:sym typeface="Arial"/>
            </a:endParaRPr>
          </a:p>
        </p:txBody>
      </p:sp>
      <p:sp>
        <p:nvSpPr>
          <p:cNvPr id="644" name="Google Shape;644;p42"/>
          <p:cNvSpPr/>
          <p:nvPr/>
        </p:nvSpPr>
        <p:spPr>
          <a:xfrm>
            <a:off x="22500" y="3414313"/>
            <a:ext cx="598200" cy="162900"/>
          </a:xfrm>
          <a:prstGeom prst="homePlate">
            <a:avLst>
              <a:gd fmla="val 50000" name="adj"/>
            </a:avLst>
          </a:prstGeom>
          <a:solidFill>
            <a:schemeClr val="accent4"/>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42"/>
          <p:cNvSpPr txBox="1"/>
          <p:nvPr/>
        </p:nvSpPr>
        <p:spPr>
          <a:xfrm>
            <a:off x="5684600" y="2185875"/>
            <a:ext cx="7521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1500" u="none" cap="none" strike="noStrike">
                <a:solidFill>
                  <a:srgbClr val="FF605C"/>
                </a:solidFill>
                <a:latin typeface="Arial"/>
                <a:ea typeface="Arial"/>
                <a:cs typeface="Arial"/>
                <a:sym typeface="Arial"/>
              </a:rPr>
              <a:t>true</a:t>
            </a:r>
            <a:endParaRPr b="1" i="0" sz="1500" u="none" cap="none" strike="noStrike">
              <a:solidFill>
                <a:srgbClr val="FF605C"/>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43"/>
          <p:cNvSpPr/>
          <p:nvPr/>
        </p:nvSpPr>
        <p:spPr>
          <a:xfrm rot="10800000">
            <a:off x="544342" y="2074825"/>
            <a:ext cx="3909600" cy="2179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651" name="Google Shape;651;p43"/>
          <p:cNvSpPr/>
          <p:nvPr/>
        </p:nvSpPr>
        <p:spPr>
          <a:xfrm rot="10800000">
            <a:off x="544345" y="1779675"/>
            <a:ext cx="3909600" cy="3969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652" name="Google Shape;652;p43"/>
          <p:cNvSpPr/>
          <p:nvPr/>
        </p:nvSpPr>
        <p:spPr>
          <a:xfrm>
            <a:off x="695755" y="1853541"/>
            <a:ext cx="193800" cy="193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653" name="Google Shape;653;p43"/>
          <p:cNvSpPr/>
          <p:nvPr/>
        </p:nvSpPr>
        <p:spPr>
          <a:xfrm>
            <a:off x="982622" y="1853541"/>
            <a:ext cx="193800" cy="193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654" name="Google Shape;654;p43"/>
          <p:cNvSpPr/>
          <p:nvPr/>
        </p:nvSpPr>
        <p:spPr>
          <a:xfrm>
            <a:off x="1269489" y="1853541"/>
            <a:ext cx="193800" cy="193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655" name="Google Shape;655;p43"/>
          <p:cNvSpPr txBox="1"/>
          <p:nvPr/>
        </p:nvSpPr>
        <p:spPr>
          <a:xfrm>
            <a:off x="544657" y="2104581"/>
            <a:ext cx="3909600" cy="2019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2</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3</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4</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5</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6</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7</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8</a:t>
            </a:r>
            <a:r>
              <a:rPr lang="es" sz="900">
                <a:solidFill>
                  <a:srgbClr val="383A42"/>
                </a:solidFill>
                <a:latin typeface="Ubuntu Mono"/>
                <a:ea typeface="Ubuntu Mono"/>
                <a:cs typeface="Ubuntu Mono"/>
                <a:sym typeface="Ubuntu Mono"/>
              </a:rPr>
              <a:t> </a:t>
            </a:r>
            <a:r>
              <a:rPr lang="es" sz="900">
                <a:solidFill>
                  <a:srgbClr val="A626A4"/>
                </a:solidFill>
                <a:latin typeface="Ubuntu Mono"/>
                <a:ea typeface="Ubuntu Mono"/>
                <a:cs typeface="Ubuntu Mono"/>
                <a:sym typeface="Ubuntu Mono"/>
              </a:rPr>
              <a:t>while</a:t>
            </a:r>
            <a:r>
              <a:rPr lang="es" sz="900">
                <a:solidFill>
                  <a:srgbClr val="383A42"/>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&lt;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9</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10</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11</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12</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986801"/>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13</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14</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cout</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50A14F"/>
                </a:solidFill>
                <a:latin typeface="Ubuntu Mono"/>
                <a:ea typeface="Ubuntu Mono"/>
                <a:cs typeface="Ubuntu Mono"/>
                <a:sym typeface="Ubuntu Mono"/>
              </a:rPr>
              <a:t>"Promedio: "</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endl</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p:txBody>
      </p:sp>
      <p:sp>
        <p:nvSpPr>
          <p:cNvPr id="656" name="Google Shape;656;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de flujo…</a:t>
            </a:r>
            <a:endParaRPr/>
          </a:p>
        </p:txBody>
      </p:sp>
      <p:sp>
        <p:nvSpPr>
          <p:cNvPr id="657" name="Google Shape;657;p43"/>
          <p:cNvSpPr/>
          <p:nvPr/>
        </p:nvSpPr>
        <p:spPr>
          <a:xfrm>
            <a:off x="6174250" y="2819275"/>
            <a:ext cx="420300" cy="426900"/>
          </a:xfrm>
          <a:prstGeom prst="roundRect">
            <a:avLst>
              <a:gd fmla="val 7941" name="adj"/>
            </a:avLst>
          </a:prstGeom>
          <a:solidFill>
            <a:srgbClr val="00CA4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658" name="Google Shape;658;p43"/>
          <p:cNvSpPr/>
          <p:nvPr/>
        </p:nvSpPr>
        <p:spPr>
          <a:xfrm>
            <a:off x="5265950" y="9512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659" name="Google Shape;659;p43"/>
          <p:cNvSpPr/>
          <p:nvPr/>
        </p:nvSpPr>
        <p:spPr>
          <a:xfrm>
            <a:off x="5265950" y="15409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660" name="Google Shape;660;p43"/>
          <p:cNvCxnSpPr/>
          <p:nvPr/>
        </p:nvCxnSpPr>
        <p:spPr>
          <a:xfrm>
            <a:off x="5476100" y="142800"/>
            <a:ext cx="0" cy="218700"/>
          </a:xfrm>
          <a:prstGeom prst="straightConnector1">
            <a:avLst/>
          </a:prstGeom>
          <a:noFill/>
          <a:ln cap="flat" cmpd="sng" w="9525">
            <a:solidFill>
              <a:srgbClr val="CCCCCC"/>
            </a:solidFill>
            <a:prstDash val="solid"/>
            <a:round/>
            <a:headEnd len="sm" w="sm" type="none"/>
            <a:tailEnd len="med" w="med" type="triangle"/>
          </a:ln>
        </p:spPr>
      </p:cxnSp>
      <p:cxnSp>
        <p:nvCxnSpPr>
          <p:cNvPr id="661" name="Google Shape;661;p43"/>
          <p:cNvCxnSpPr>
            <a:endCxn id="658" idx="0"/>
          </p:cNvCxnSpPr>
          <p:nvPr/>
        </p:nvCxnSpPr>
        <p:spPr>
          <a:xfrm>
            <a:off x="5476100" y="7883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662" name="Google Shape;662;p43"/>
          <p:cNvCxnSpPr>
            <a:stCxn id="658" idx="2"/>
            <a:endCxn id="659" idx="0"/>
          </p:cNvCxnSpPr>
          <p:nvPr/>
        </p:nvCxnSpPr>
        <p:spPr>
          <a:xfrm>
            <a:off x="5476100" y="13781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663" name="Google Shape;663;p43"/>
          <p:cNvCxnSpPr>
            <a:stCxn id="659" idx="2"/>
            <a:endCxn id="664" idx="0"/>
          </p:cNvCxnSpPr>
          <p:nvPr/>
        </p:nvCxnSpPr>
        <p:spPr>
          <a:xfrm>
            <a:off x="5476100" y="1967875"/>
            <a:ext cx="0" cy="318900"/>
          </a:xfrm>
          <a:prstGeom prst="straightConnector1">
            <a:avLst/>
          </a:prstGeom>
          <a:noFill/>
          <a:ln cap="flat" cmpd="sng" w="9525">
            <a:solidFill>
              <a:srgbClr val="CCCCCC"/>
            </a:solidFill>
            <a:prstDash val="solid"/>
            <a:round/>
            <a:headEnd len="sm" w="sm" type="none"/>
            <a:tailEnd len="med" w="med" type="triangle"/>
          </a:ln>
        </p:spPr>
      </p:cxnSp>
      <p:sp>
        <p:nvSpPr>
          <p:cNvPr id="664" name="Google Shape;664;p43"/>
          <p:cNvSpPr/>
          <p:nvPr/>
        </p:nvSpPr>
        <p:spPr>
          <a:xfrm>
            <a:off x="5215100" y="2286850"/>
            <a:ext cx="522000" cy="522000"/>
          </a:xfrm>
          <a:prstGeom prst="diamond">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665" name="Google Shape;665;p43"/>
          <p:cNvSpPr/>
          <p:nvPr/>
        </p:nvSpPr>
        <p:spPr>
          <a:xfrm>
            <a:off x="5265950" y="455570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cxnSp>
        <p:nvCxnSpPr>
          <p:cNvPr id="666" name="Google Shape;666;p43"/>
          <p:cNvCxnSpPr>
            <a:stCxn id="664" idx="2"/>
            <a:endCxn id="665" idx="0"/>
          </p:cNvCxnSpPr>
          <p:nvPr/>
        </p:nvCxnSpPr>
        <p:spPr>
          <a:xfrm>
            <a:off x="5476100" y="2808850"/>
            <a:ext cx="0" cy="1746900"/>
          </a:xfrm>
          <a:prstGeom prst="straightConnector1">
            <a:avLst/>
          </a:prstGeom>
          <a:noFill/>
          <a:ln cap="flat" cmpd="sng" w="9525">
            <a:solidFill>
              <a:srgbClr val="CCCCCC"/>
            </a:solidFill>
            <a:prstDash val="solid"/>
            <a:round/>
            <a:headEnd len="sm" w="sm" type="none"/>
            <a:tailEnd len="med" w="med" type="triangle"/>
          </a:ln>
        </p:spPr>
      </p:cxnSp>
      <p:cxnSp>
        <p:nvCxnSpPr>
          <p:cNvPr id="667" name="Google Shape;667;p43"/>
          <p:cNvCxnSpPr>
            <a:stCxn id="657" idx="0"/>
            <a:endCxn id="664" idx="3"/>
          </p:cNvCxnSpPr>
          <p:nvPr/>
        </p:nvCxnSpPr>
        <p:spPr>
          <a:xfrm flipH="1" rot="5400000">
            <a:off x="5924950" y="2359825"/>
            <a:ext cx="271500" cy="647400"/>
          </a:xfrm>
          <a:prstGeom prst="bentConnector2">
            <a:avLst/>
          </a:prstGeom>
          <a:noFill/>
          <a:ln cap="flat" cmpd="sng" w="9525">
            <a:solidFill>
              <a:srgbClr val="CCCCCC"/>
            </a:solidFill>
            <a:prstDash val="solid"/>
            <a:round/>
            <a:headEnd len="med" w="med" type="triangle"/>
            <a:tailEnd len="sm" w="sm" type="none"/>
          </a:ln>
        </p:spPr>
      </p:cxnSp>
      <p:sp>
        <p:nvSpPr>
          <p:cNvPr id="668" name="Google Shape;668;p43"/>
          <p:cNvSpPr txBox="1"/>
          <p:nvPr/>
        </p:nvSpPr>
        <p:spPr>
          <a:xfrm>
            <a:off x="5177000" y="296500"/>
            <a:ext cx="598200" cy="31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00CA4E"/>
                </a:solidFill>
                <a:latin typeface="Arial"/>
                <a:ea typeface="Arial"/>
                <a:cs typeface="Arial"/>
                <a:sym typeface="Arial"/>
              </a:rPr>
              <a:t>…</a:t>
            </a:r>
            <a:endParaRPr b="1" i="0" sz="2000" u="none" cap="none" strike="noStrike">
              <a:solidFill>
                <a:srgbClr val="00CA4E"/>
              </a:solidFill>
              <a:latin typeface="Arial"/>
              <a:ea typeface="Arial"/>
              <a:cs typeface="Arial"/>
              <a:sym typeface="Arial"/>
            </a:endParaRPr>
          </a:p>
        </p:txBody>
      </p:sp>
      <p:sp>
        <p:nvSpPr>
          <p:cNvPr id="669" name="Google Shape;669;p43"/>
          <p:cNvSpPr txBox="1"/>
          <p:nvPr/>
        </p:nvSpPr>
        <p:spPr>
          <a:xfrm>
            <a:off x="6804350" y="95275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cantidad_personas=3</a:t>
            </a:r>
            <a:endParaRPr b="0" i="0" sz="1600" u="none" cap="none" strike="noStrike">
              <a:solidFill>
                <a:srgbClr val="00CA4E"/>
              </a:solidFill>
              <a:latin typeface="Arial"/>
              <a:ea typeface="Arial"/>
              <a:cs typeface="Arial"/>
              <a:sym typeface="Arial"/>
            </a:endParaRPr>
          </a:p>
        </p:txBody>
      </p:sp>
      <p:sp>
        <p:nvSpPr>
          <p:cNvPr id="670" name="Google Shape;670;p43"/>
          <p:cNvSpPr txBox="1"/>
          <p:nvPr/>
        </p:nvSpPr>
        <p:spPr>
          <a:xfrm rot="-5400000">
            <a:off x="5164625" y="2973225"/>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false</a:t>
            </a:r>
            <a:endParaRPr b="0" i="0" sz="1400" u="none" cap="none" strike="noStrike">
              <a:solidFill>
                <a:srgbClr val="000000"/>
              </a:solidFill>
              <a:latin typeface="Arial"/>
              <a:ea typeface="Arial"/>
              <a:cs typeface="Arial"/>
              <a:sym typeface="Arial"/>
            </a:endParaRPr>
          </a:p>
        </p:txBody>
      </p:sp>
      <p:sp>
        <p:nvSpPr>
          <p:cNvPr id="671" name="Google Shape;671;p43"/>
          <p:cNvSpPr txBox="1"/>
          <p:nvPr/>
        </p:nvSpPr>
        <p:spPr>
          <a:xfrm>
            <a:off x="5806000" y="2262063"/>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true</a:t>
            </a:r>
            <a:endParaRPr b="1" i="0" sz="800" u="none" cap="none" strike="noStrike">
              <a:solidFill>
                <a:srgbClr val="0184BC"/>
              </a:solidFill>
              <a:latin typeface="Arial"/>
              <a:ea typeface="Arial"/>
              <a:cs typeface="Arial"/>
              <a:sym typeface="Arial"/>
            </a:endParaRPr>
          </a:p>
        </p:txBody>
      </p:sp>
      <p:sp>
        <p:nvSpPr>
          <p:cNvPr id="672" name="Google Shape;672;p43"/>
          <p:cNvSpPr/>
          <p:nvPr/>
        </p:nvSpPr>
        <p:spPr>
          <a:xfrm>
            <a:off x="6174250" y="3468850"/>
            <a:ext cx="420300" cy="426900"/>
          </a:xfrm>
          <a:prstGeom prst="roundRect">
            <a:avLst>
              <a:gd fmla="val 7941"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673" name="Google Shape;673;p43"/>
          <p:cNvSpPr/>
          <p:nvPr/>
        </p:nvSpPr>
        <p:spPr>
          <a:xfrm>
            <a:off x="6174250" y="411842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cxnSp>
        <p:nvCxnSpPr>
          <p:cNvPr id="674" name="Google Shape;674;p43"/>
          <p:cNvCxnSpPr>
            <a:stCxn id="657" idx="2"/>
            <a:endCxn id="672" idx="0"/>
          </p:cNvCxnSpPr>
          <p:nvPr/>
        </p:nvCxnSpPr>
        <p:spPr>
          <a:xfrm>
            <a:off x="6384400" y="3246175"/>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675" name="Google Shape;675;p43"/>
          <p:cNvCxnSpPr>
            <a:stCxn id="672" idx="2"/>
            <a:endCxn id="673" idx="0"/>
          </p:cNvCxnSpPr>
          <p:nvPr/>
        </p:nvCxnSpPr>
        <p:spPr>
          <a:xfrm>
            <a:off x="6384400" y="3895750"/>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676" name="Google Shape;676;p43"/>
          <p:cNvCxnSpPr>
            <a:stCxn id="673" idx="2"/>
            <a:endCxn id="664" idx="0"/>
          </p:cNvCxnSpPr>
          <p:nvPr/>
        </p:nvCxnSpPr>
        <p:spPr>
          <a:xfrm flipH="1" rot="5400000">
            <a:off x="4801000" y="2961925"/>
            <a:ext cx="2258400" cy="908400"/>
          </a:xfrm>
          <a:prstGeom prst="curvedConnector5">
            <a:avLst>
              <a:gd fmla="val -9376" name="adj1"/>
              <a:gd fmla="val -99309" name="adj2"/>
              <a:gd fmla="val 101104" name="adj3"/>
            </a:avLst>
          </a:prstGeom>
          <a:noFill/>
          <a:ln cap="flat" cmpd="sng" w="9525">
            <a:solidFill>
              <a:srgbClr val="CCCCCC"/>
            </a:solidFill>
            <a:prstDash val="solid"/>
            <a:round/>
            <a:headEnd len="sm" w="sm" type="none"/>
            <a:tailEnd len="med" w="med" type="triangle"/>
          </a:ln>
        </p:spPr>
      </p:cxnSp>
      <p:sp>
        <p:nvSpPr>
          <p:cNvPr id="677" name="Google Shape;677;p43"/>
          <p:cNvSpPr txBox="1"/>
          <p:nvPr/>
        </p:nvSpPr>
        <p:spPr>
          <a:xfrm>
            <a:off x="7369500" y="1542475"/>
            <a:ext cx="14628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contador=1</a:t>
            </a:r>
            <a:endParaRPr b="0" i="0" sz="1600" u="none" cap="none" strike="noStrike">
              <a:solidFill>
                <a:srgbClr val="00CA4E"/>
              </a:solidFill>
              <a:latin typeface="Arial"/>
              <a:ea typeface="Arial"/>
              <a:cs typeface="Arial"/>
              <a:sym typeface="Arial"/>
            </a:endParaRPr>
          </a:p>
        </p:txBody>
      </p:sp>
      <p:sp>
        <p:nvSpPr>
          <p:cNvPr id="678" name="Google Shape;678;p43"/>
          <p:cNvSpPr/>
          <p:nvPr/>
        </p:nvSpPr>
        <p:spPr>
          <a:xfrm>
            <a:off x="22500" y="3414313"/>
            <a:ext cx="598200" cy="162900"/>
          </a:xfrm>
          <a:prstGeom prst="homePlate">
            <a:avLst>
              <a:gd fmla="val 50000" name="adj"/>
            </a:avLst>
          </a:prstGeom>
          <a:solidFill>
            <a:srgbClr val="00CA4E"/>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43"/>
          <p:cNvSpPr txBox="1"/>
          <p:nvPr/>
        </p:nvSpPr>
        <p:spPr>
          <a:xfrm>
            <a:off x="6804350" y="519425"/>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edad_suma=12</a:t>
            </a:r>
            <a:endParaRPr b="0" i="0" sz="1600" u="none" cap="none" strike="noStrike">
              <a:solidFill>
                <a:srgbClr val="00CA4E"/>
              </a:solidFill>
              <a:latin typeface="Arial"/>
              <a:ea typeface="Arial"/>
              <a:cs typeface="Arial"/>
              <a:sym typeface="Arial"/>
            </a:endParaRPr>
          </a:p>
        </p:txBody>
      </p:sp>
      <p:sp>
        <p:nvSpPr>
          <p:cNvPr id="680" name="Google Shape;680;p43"/>
          <p:cNvSpPr txBox="1"/>
          <p:nvPr/>
        </p:nvSpPr>
        <p:spPr>
          <a:xfrm>
            <a:off x="6804350" y="14280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nueva_edad=8</a:t>
            </a:r>
            <a:endParaRPr b="0" i="0" sz="1600" u="none" cap="none" strike="noStrike">
              <a:solidFill>
                <a:srgbClr val="00CA4E"/>
              </a:solidFill>
              <a:latin typeface="Arial"/>
              <a:ea typeface="Arial"/>
              <a:cs typeface="Arial"/>
              <a:sym typeface="Arial"/>
            </a:endParaRPr>
          </a:p>
        </p:txBody>
      </p:sp>
      <p:sp>
        <p:nvSpPr>
          <p:cNvPr id="681" name="Google Shape;681;p43"/>
          <p:cNvSpPr/>
          <p:nvPr/>
        </p:nvSpPr>
        <p:spPr>
          <a:xfrm>
            <a:off x="22500" y="3577225"/>
            <a:ext cx="598200" cy="162900"/>
          </a:xfrm>
          <a:prstGeom prst="homePlate">
            <a:avLst>
              <a:gd fmla="val 50000" name="adj"/>
            </a:avLst>
          </a:prstGeom>
          <a:solidFill>
            <a:schemeClr val="accent4"/>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44"/>
          <p:cNvSpPr/>
          <p:nvPr/>
        </p:nvSpPr>
        <p:spPr>
          <a:xfrm rot="10800000">
            <a:off x="544342" y="2074825"/>
            <a:ext cx="3909600" cy="2179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687" name="Google Shape;687;p44"/>
          <p:cNvSpPr/>
          <p:nvPr/>
        </p:nvSpPr>
        <p:spPr>
          <a:xfrm rot="10800000">
            <a:off x="544345" y="1779675"/>
            <a:ext cx="3909600" cy="3969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688" name="Google Shape;688;p44"/>
          <p:cNvSpPr/>
          <p:nvPr/>
        </p:nvSpPr>
        <p:spPr>
          <a:xfrm>
            <a:off x="695755" y="1853541"/>
            <a:ext cx="193800" cy="193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689" name="Google Shape;689;p44"/>
          <p:cNvSpPr/>
          <p:nvPr/>
        </p:nvSpPr>
        <p:spPr>
          <a:xfrm>
            <a:off x="982622" y="1853541"/>
            <a:ext cx="193800" cy="193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690" name="Google Shape;690;p44"/>
          <p:cNvSpPr/>
          <p:nvPr/>
        </p:nvSpPr>
        <p:spPr>
          <a:xfrm>
            <a:off x="1269489" y="1853541"/>
            <a:ext cx="193800" cy="193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691" name="Google Shape;691;p44"/>
          <p:cNvSpPr txBox="1"/>
          <p:nvPr/>
        </p:nvSpPr>
        <p:spPr>
          <a:xfrm>
            <a:off x="544657" y="2104581"/>
            <a:ext cx="3909600" cy="2019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2</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3</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4</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5</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6</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7</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8</a:t>
            </a:r>
            <a:r>
              <a:rPr lang="es" sz="900">
                <a:solidFill>
                  <a:srgbClr val="383A42"/>
                </a:solidFill>
                <a:latin typeface="Ubuntu Mono"/>
                <a:ea typeface="Ubuntu Mono"/>
                <a:cs typeface="Ubuntu Mono"/>
                <a:sym typeface="Ubuntu Mono"/>
              </a:rPr>
              <a:t> </a:t>
            </a:r>
            <a:r>
              <a:rPr lang="es" sz="900">
                <a:solidFill>
                  <a:srgbClr val="A626A4"/>
                </a:solidFill>
                <a:latin typeface="Ubuntu Mono"/>
                <a:ea typeface="Ubuntu Mono"/>
                <a:cs typeface="Ubuntu Mono"/>
                <a:sym typeface="Ubuntu Mono"/>
              </a:rPr>
              <a:t>while</a:t>
            </a:r>
            <a:r>
              <a:rPr lang="es" sz="900">
                <a:solidFill>
                  <a:srgbClr val="383A42"/>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&lt;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9</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10</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11</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12</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986801"/>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13</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14</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cout</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50A14F"/>
                </a:solidFill>
                <a:latin typeface="Ubuntu Mono"/>
                <a:ea typeface="Ubuntu Mono"/>
                <a:cs typeface="Ubuntu Mono"/>
                <a:sym typeface="Ubuntu Mono"/>
              </a:rPr>
              <a:t>"Promedio: "</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endl</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p:txBody>
      </p:sp>
      <p:sp>
        <p:nvSpPr>
          <p:cNvPr id="692" name="Google Shape;692;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de flujo…</a:t>
            </a:r>
            <a:endParaRPr/>
          </a:p>
        </p:txBody>
      </p:sp>
      <p:sp>
        <p:nvSpPr>
          <p:cNvPr id="693" name="Google Shape;693;p44"/>
          <p:cNvSpPr/>
          <p:nvPr/>
        </p:nvSpPr>
        <p:spPr>
          <a:xfrm>
            <a:off x="6174250" y="28192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694" name="Google Shape;694;p44"/>
          <p:cNvSpPr/>
          <p:nvPr/>
        </p:nvSpPr>
        <p:spPr>
          <a:xfrm>
            <a:off x="5265950" y="9512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695" name="Google Shape;695;p44"/>
          <p:cNvSpPr/>
          <p:nvPr/>
        </p:nvSpPr>
        <p:spPr>
          <a:xfrm>
            <a:off x="5265950" y="15409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696" name="Google Shape;696;p44"/>
          <p:cNvCxnSpPr/>
          <p:nvPr/>
        </p:nvCxnSpPr>
        <p:spPr>
          <a:xfrm>
            <a:off x="5476100" y="142800"/>
            <a:ext cx="0" cy="218700"/>
          </a:xfrm>
          <a:prstGeom prst="straightConnector1">
            <a:avLst/>
          </a:prstGeom>
          <a:noFill/>
          <a:ln cap="flat" cmpd="sng" w="9525">
            <a:solidFill>
              <a:srgbClr val="CCCCCC"/>
            </a:solidFill>
            <a:prstDash val="solid"/>
            <a:round/>
            <a:headEnd len="sm" w="sm" type="none"/>
            <a:tailEnd len="med" w="med" type="triangle"/>
          </a:ln>
        </p:spPr>
      </p:cxnSp>
      <p:cxnSp>
        <p:nvCxnSpPr>
          <p:cNvPr id="697" name="Google Shape;697;p44"/>
          <p:cNvCxnSpPr>
            <a:endCxn id="694" idx="0"/>
          </p:cNvCxnSpPr>
          <p:nvPr/>
        </p:nvCxnSpPr>
        <p:spPr>
          <a:xfrm>
            <a:off x="5476100" y="7883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698" name="Google Shape;698;p44"/>
          <p:cNvCxnSpPr>
            <a:stCxn id="694" idx="2"/>
            <a:endCxn id="695" idx="0"/>
          </p:cNvCxnSpPr>
          <p:nvPr/>
        </p:nvCxnSpPr>
        <p:spPr>
          <a:xfrm>
            <a:off x="5476100" y="13781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699" name="Google Shape;699;p44"/>
          <p:cNvCxnSpPr>
            <a:stCxn id="695" idx="2"/>
            <a:endCxn id="700" idx="0"/>
          </p:cNvCxnSpPr>
          <p:nvPr/>
        </p:nvCxnSpPr>
        <p:spPr>
          <a:xfrm>
            <a:off x="5476100" y="1967875"/>
            <a:ext cx="0" cy="318900"/>
          </a:xfrm>
          <a:prstGeom prst="straightConnector1">
            <a:avLst/>
          </a:prstGeom>
          <a:noFill/>
          <a:ln cap="flat" cmpd="sng" w="9525">
            <a:solidFill>
              <a:srgbClr val="CCCCCC"/>
            </a:solidFill>
            <a:prstDash val="solid"/>
            <a:round/>
            <a:headEnd len="sm" w="sm" type="none"/>
            <a:tailEnd len="med" w="med" type="triangle"/>
          </a:ln>
        </p:spPr>
      </p:cxnSp>
      <p:sp>
        <p:nvSpPr>
          <p:cNvPr id="700" name="Google Shape;700;p44"/>
          <p:cNvSpPr/>
          <p:nvPr/>
        </p:nvSpPr>
        <p:spPr>
          <a:xfrm>
            <a:off x="5215100" y="2286850"/>
            <a:ext cx="522000" cy="522000"/>
          </a:xfrm>
          <a:prstGeom prst="diamond">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701" name="Google Shape;701;p44"/>
          <p:cNvSpPr/>
          <p:nvPr/>
        </p:nvSpPr>
        <p:spPr>
          <a:xfrm>
            <a:off x="5265950" y="455570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cxnSp>
        <p:nvCxnSpPr>
          <p:cNvPr id="702" name="Google Shape;702;p44"/>
          <p:cNvCxnSpPr>
            <a:stCxn id="700" idx="2"/>
            <a:endCxn id="701" idx="0"/>
          </p:cNvCxnSpPr>
          <p:nvPr/>
        </p:nvCxnSpPr>
        <p:spPr>
          <a:xfrm>
            <a:off x="5476100" y="2808850"/>
            <a:ext cx="0" cy="1746900"/>
          </a:xfrm>
          <a:prstGeom prst="straightConnector1">
            <a:avLst/>
          </a:prstGeom>
          <a:noFill/>
          <a:ln cap="flat" cmpd="sng" w="9525">
            <a:solidFill>
              <a:srgbClr val="CCCCCC"/>
            </a:solidFill>
            <a:prstDash val="solid"/>
            <a:round/>
            <a:headEnd len="sm" w="sm" type="none"/>
            <a:tailEnd len="med" w="med" type="triangle"/>
          </a:ln>
        </p:spPr>
      </p:cxnSp>
      <p:cxnSp>
        <p:nvCxnSpPr>
          <p:cNvPr id="703" name="Google Shape;703;p44"/>
          <p:cNvCxnSpPr>
            <a:stCxn id="693" idx="0"/>
            <a:endCxn id="700" idx="3"/>
          </p:cNvCxnSpPr>
          <p:nvPr/>
        </p:nvCxnSpPr>
        <p:spPr>
          <a:xfrm flipH="1" rot="5400000">
            <a:off x="5924950" y="2359825"/>
            <a:ext cx="271500" cy="647400"/>
          </a:xfrm>
          <a:prstGeom prst="bentConnector2">
            <a:avLst/>
          </a:prstGeom>
          <a:noFill/>
          <a:ln cap="flat" cmpd="sng" w="9525">
            <a:solidFill>
              <a:srgbClr val="CCCCCC"/>
            </a:solidFill>
            <a:prstDash val="solid"/>
            <a:round/>
            <a:headEnd len="med" w="med" type="triangle"/>
            <a:tailEnd len="sm" w="sm" type="none"/>
          </a:ln>
        </p:spPr>
      </p:cxnSp>
      <p:sp>
        <p:nvSpPr>
          <p:cNvPr id="704" name="Google Shape;704;p44"/>
          <p:cNvSpPr txBox="1"/>
          <p:nvPr/>
        </p:nvSpPr>
        <p:spPr>
          <a:xfrm>
            <a:off x="5177000" y="296500"/>
            <a:ext cx="598200" cy="31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00CA4E"/>
                </a:solidFill>
                <a:latin typeface="Arial"/>
                <a:ea typeface="Arial"/>
                <a:cs typeface="Arial"/>
                <a:sym typeface="Arial"/>
              </a:rPr>
              <a:t>…</a:t>
            </a:r>
            <a:endParaRPr b="1" i="0" sz="2000" u="none" cap="none" strike="noStrike">
              <a:solidFill>
                <a:srgbClr val="00CA4E"/>
              </a:solidFill>
              <a:latin typeface="Arial"/>
              <a:ea typeface="Arial"/>
              <a:cs typeface="Arial"/>
              <a:sym typeface="Arial"/>
            </a:endParaRPr>
          </a:p>
        </p:txBody>
      </p:sp>
      <p:sp>
        <p:nvSpPr>
          <p:cNvPr id="705" name="Google Shape;705;p44"/>
          <p:cNvSpPr txBox="1"/>
          <p:nvPr/>
        </p:nvSpPr>
        <p:spPr>
          <a:xfrm>
            <a:off x="6804350" y="95275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cantidad_personas=3</a:t>
            </a:r>
            <a:endParaRPr b="0" i="0" sz="1600" u="none" cap="none" strike="noStrike">
              <a:solidFill>
                <a:srgbClr val="00CA4E"/>
              </a:solidFill>
              <a:latin typeface="Arial"/>
              <a:ea typeface="Arial"/>
              <a:cs typeface="Arial"/>
              <a:sym typeface="Arial"/>
            </a:endParaRPr>
          </a:p>
        </p:txBody>
      </p:sp>
      <p:sp>
        <p:nvSpPr>
          <p:cNvPr id="706" name="Google Shape;706;p44"/>
          <p:cNvSpPr txBox="1"/>
          <p:nvPr/>
        </p:nvSpPr>
        <p:spPr>
          <a:xfrm rot="-5400000">
            <a:off x="5164625" y="2973225"/>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false</a:t>
            </a:r>
            <a:endParaRPr b="0" i="0" sz="1400" u="none" cap="none" strike="noStrike">
              <a:solidFill>
                <a:srgbClr val="000000"/>
              </a:solidFill>
              <a:latin typeface="Arial"/>
              <a:ea typeface="Arial"/>
              <a:cs typeface="Arial"/>
              <a:sym typeface="Arial"/>
            </a:endParaRPr>
          </a:p>
        </p:txBody>
      </p:sp>
      <p:sp>
        <p:nvSpPr>
          <p:cNvPr id="707" name="Google Shape;707;p44"/>
          <p:cNvSpPr txBox="1"/>
          <p:nvPr/>
        </p:nvSpPr>
        <p:spPr>
          <a:xfrm>
            <a:off x="5806000" y="2262063"/>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true</a:t>
            </a:r>
            <a:endParaRPr b="1" i="0" sz="800" u="none" cap="none" strike="noStrike">
              <a:solidFill>
                <a:srgbClr val="0184BC"/>
              </a:solidFill>
              <a:latin typeface="Arial"/>
              <a:ea typeface="Arial"/>
              <a:cs typeface="Arial"/>
              <a:sym typeface="Arial"/>
            </a:endParaRPr>
          </a:p>
        </p:txBody>
      </p:sp>
      <p:sp>
        <p:nvSpPr>
          <p:cNvPr id="708" name="Google Shape;708;p44"/>
          <p:cNvSpPr/>
          <p:nvPr/>
        </p:nvSpPr>
        <p:spPr>
          <a:xfrm>
            <a:off x="6174250" y="3468850"/>
            <a:ext cx="420300" cy="426900"/>
          </a:xfrm>
          <a:prstGeom prst="roundRect">
            <a:avLst>
              <a:gd fmla="val 7941" name="adj"/>
            </a:avLst>
          </a:prstGeom>
          <a:solidFill>
            <a:srgbClr val="00CA4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709" name="Google Shape;709;p44"/>
          <p:cNvSpPr/>
          <p:nvPr/>
        </p:nvSpPr>
        <p:spPr>
          <a:xfrm>
            <a:off x="6174250" y="4118425"/>
            <a:ext cx="420300" cy="426900"/>
          </a:xfrm>
          <a:prstGeom prst="roundRect">
            <a:avLst>
              <a:gd fmla="val 7941"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cxnSp>
        <p:nvCxnSpPr>
          <p:cNvPr id="710" name="Google Shape;710;p44"/>
          <p:cNvCxnSpPr>
            <a:stCxn id="693" idx="2"/>
            <a:endCxn id="708" idx="0"/>
          </p:cNvCxnSpPr>
          <p:nvPr/>
        </p:nvCxnSpPr>
        <p:spPr>
          <a:xfrm>
            <a:off x="6384400" y="3246175"/>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711" name="Google Shape;711;p44"/>
          <p:cNvCxnSpPr>
            <a:stCxn id="708" idx="2"/>
            <a:endCxn id="709" idx="0"/>
          </p:cNvCxnSpPr>
          <p:nvPr/>
        </p:nvCxnSpPr>
        <p:spPr>
          <a:xfrm>
            <a:off x="6384400" y="3895750"/>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712" name="Google Shape;712;p44"/>
          <p:cNvCxnSpPr>
            <a:stCxn id="709" idx="2"/>
            <a:endCxn id="700" idx="0"/>
          </p:cNvCxnSpPr>
          <p:nvPr/>
        </p:nvCxnSpPr>
        <p:spPr>
          <a:xfrm flipH="1" rot="5400000">
            <a:off x="4801000" y="2961925"/>
            <a:ext cx="2258400" cy="908400"/>
          </a:xfrm>
          <a:prstGeom prst="curvedConnector5">
            <a:avLst>
              <a:gd fmla="val -9376" name="adj1"/>
              <a:gd fmla="val -99309" name="adj2"/>
              <a:gd fmla="val 101104" name="adj3"/>
            </a:avLst>
          </a:prstGeom>
          <a:noFill/>
          <a:ln cap="flat" cmpd="sng" w="9525">
            <a:solidFill>
              <a:srgbClr val="CCCCCC"/>
            </a:solidFill>
            <a:prstDash val="solid"/>
            <a:round/>
            <a:headEnd len="sm" w="sm" type="none"/>
            <a:tailEnd len="med" w="med" type="triangle"/>
          </a:ln>
        </p:spPr>
      </p:cxnSp>
      <p:sp>
        <p:nvSpPr>
          <p:cNvPr id="713" name="Google Shape;713;p44"/>
          <p:cNvSpPr txBox="1"/>
          <p:nvPr/>
        </p:nvSpPr>
        <p:spPr>
          <a:xfrm>
            <a:off x="7369500" y="1542475"/>
            <a:ext cx="14628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contador=1</a:t>
            </a:r>
            <a:endParaRPr b="0" i="0" sz="1600" u="none" cap="none" strike="noStrike">
              <a:solidFill>
                <a:srgbClr val="00CA4E"/>
              </a:solidFill>
              <a:latin typeface="Arial"/>
              <a:ea typeface="Arial"/>
              <a:cs typeface="Arial"/>
              <a:sym typeface="Arial"/>
            </a:endParaRPr>
          </a:p>
        </p:txBody>
      </p:sp>
      <p:sp>
        <p:nvSpPr>
          <p:cNvPr id="714" name="Google Shape;714;p44"/>
          <p:cNvSpPr/>
          <p:nvPr/>
        </p:nvSpPr>
        <p:spPr>
          <a:xfrm>
            <a:off x="22500" y="3549263"/>
            <a:ext cx="598200" cy="162900"/>
          </a:xfrm>
          <a:prstGeom prst="homePlate">
            <a:avLst>
              <a:gd fmla="val 50000" name="adj"/>
            </a:avLst>
          </a:prstGeom>
          <a:solidFill>
            <a:srgbClr val="00CA4E"/>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44"/>
          <p:cNvSpPr txBox="1"/>
          <p:nvPr/>
        </p:nvSpPr>
        <p:spPr>
          <a:xfrm>
            <a:off x="6804350" y="519425"/>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edad_suma=20</a:t>
            </a:r>
            <a:endParaRPr b="0" i="0" sz="1600" u="none" cap="none" strike="noStrike">
              <a:solidFill>
                <a:srgbClr val="00CA4E"/>
              </a:solidFill>
              <a:latin typeface="Arial"/>
              <a:ea typeface="Arial"/>
              <a:cs typeface="Arial"/>
              <a:sym typeface="Arial"/>
            </a:endParaRPr>
          </a:p>
        </p:txBody>
      </p:sp>
      <p:sp>
        <p:nvSpPr>
          <p:cNvPr id="716" name="Google Shape;716;p44"/>
          <p:cNvSpPr txBox="1"/>
          <p:nvPr/>
        </p:nvSpPr>
        <p:spPr>
          <a:xfrm>
            <a:off x="6804350" y="14280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nueva_edad=8</a:t>
            </a:r>
            <a:endParaRPr b="0" i="0" sz="1600" u="none" cap="none" strike="noStrike">
              <a:solidFill>
                <a:srgbClr val="00CA4E"/>
              </a:solidFill>
              <a:latin typeface="Arial"/>
              <a:ea typeface="Arial"/>
              <a:cs typeface="Arial"/>
              <a:sym typeface="Arial"/>
            </a:endParaRPr>
          </a:p>
        </p:txBody>
      </p:sp>
      <p:sp>
        <p:nvSpPr>
          <p:cNvPr id="717" name="Google Shape;717;p44"/>
          <p:cNvSpPr/>
          <p:nvPr/>
        </p:nvSpPr>
        <p:spPr>
          <a:xfrm>
            <a:off x="22500" y="3712175"/>
            <a:ext cx="598200" cy="162900"/>
          </a:xfrm>
          <a:prstGeom prst="homePlate">
            <a:avLst>
              <a:gd fmla="val 50000" name="adj"/>
            </a:avLst>
          </a:prstGeom>
          <a:solidFill>
            <a:schemeClr val="accent4"/>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45"/>
          <p:cNvSpPr/>
          <p:nvPr/>
        </p:nvSpPr>
        <p:spPr>
          <a:xfrm rot="10800000">
            <a:off x="544342" y="2074825"/>
            <a:ext cx="3909600" cy="2179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723" name="Google Shape;723;p45"/>
          <p:cNvSpPr/>
          <p:nvPr/>
        </p:nvSpPr>
        <p:spPr>
          <a:xfrm rot="10800000">
            <a:off x="544345" y="1779675"/>
            <a:ext cx="3909600" cy="3969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24" name="Google Shape;724;p45"/>
          <p:cNvSpPr/>
          <p:nvPr/>
        </p:nvSpPr>
        <p:spPr>
          <a:xfrm>
            <a:off x="695755" y="1853541"/>
            <a:ext cx="193800" cy="193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25" name="Google Shape;725;p45"/>
          <p:cNvSpPr/>
          <p:nvPr/>
        </p:nvSpPr>
        <p:spPr>
          <a:xfrm>
            <a:off x="982622" y="1853541"/>
            <a:ext cx="193800" cy="193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26" name="Google Shape;726;p45"/>
          <p:cNvSpPr/>
          <p:nvPr/>
        </p:nvSpPr>
        <p:spPr>
          <a:xfrm>
            <a:off x="1269489" y="1853541"/>
            <a:ext cx="193800" cy="193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27" name="Google Shape;727;p45"/>
          <p:cNvSpPr txBox="1"/>
          <p:nvPr/>
        </p:nvSpPr>
        <p:spPr>
          <a:xfrm>
            <a:off x="544657" y="2104581"/>
            <a:ext cx="3909600" cy="2019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2</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3</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4</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5</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6</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7</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8</a:t>
            </a:r>
            <a:r>
              <a:rPr lang="es" sz="900">
                <a:solidFill>
                  <a:srgbClr val="383A42"/>
                </a:solidFill>
                <a:latin typeface="Ubuntu Mono"/>
                <a:ea typeface="Ubuntu Mono"/>
                <a:cs typeface="Ubuntu Mono"/>
                <a:sym typeface="Ubuntu Mono"/>
              </a:rPr>
              <a:t> </a:t>
            </a:r>
            <a:r>
              <a:rPr lang="es" sz="900">
                <a:solidFill>
                  <a:srgbClr val="A626A4"/>
                </a:solidFill>
                <a:latin typeface="Ubuntu Mono"/>
                <a:ea typeface="Ubuntu Mono"/>
                <a:cs typeface="Ubuntu Mono"/>
                <a:sym typeface="Ubuntu Mono"/>
              </a:rPr>
              <a:t>while</a:t>
            </a:r>
            <a:r>
              <a:rPr lang="es" sz="900">
                <a:solidFill>
                  <a:srgbClr val="383A42"/>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&lt;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9</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10</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11</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12</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986801"/>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13</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14</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cout</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50A14F"/>
                </a:solidFill>
                <a:latin typeface="Ubuntu Mono"/>
                <a:ea typeface="Ubuntu Mono"/>
                <a:cs typeface="Ubuntu Mono"/>
                <a:sym typeface="Ubuntu Mono"/>
              </a:rPr>
              <a:t>"Promedio: "</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endl</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p:txBody>
      </p:sp>
      <p:sp>
        <p:nvSpPr>
          <p:cNvPr id="728" name="Google Shape;728;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de flujo…</a:t>
            </a:r>
            <a:endParaRPr/>
          </a:p>
        </p:txBody>
      </p:sp>
      <p:sp>
        <p:nvSpPr>
          <p:cNvPr id="729" name="Google Shape;729;p45"/>
          <p:cNvSpPr/>
          <p:nvPr/>
        </p:nvSpPr>
        <p:spPr>
          <a:xfrm>
            <a:off x="6174250" y="28192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730" name="Google Shape;730;p45"/>
          <p:cNvSpPr/>
          <p:nvPr/>
        </p:nvSpPr>
        <p:spPr>
          <a:xfrm>
            <a:off x="5265950" y="9512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731" name="Google Shape;731;p45"/>
          <p:cNvSpPr/>
          <p:nvPr/>
        </p:nvSpPr>
        <p:spPr>
          <a:xfrm>
            <a:off x="5265950" y="15409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732" name="Google Shape;732;p45"/>
          <p:cNvCxnSpPr/>
          <p:nvPr/>
        </p:nvCxnSpPr>
        <p:spPr>
          <a:xfrm>
            <a:off x="5476100" y="142800"/>
            <a:ext cx="0" cy="218700"/>
          </a:xfrm>
          <a:prstGeom prst="straightConnector1">
            <a:avLst/>
          </a:prstGeom>
          <a:noFill/>
          <a:ln cap="flat" cmpd="sng" w="9525">
            <a:solidFill>
              <a:srgbClr val="CCCCCC"/>
            </a:solidFill>
            <a:prstDash val="solid"/>
            <a:round/>
            <a:headEnd len="sm" w="sm" type="none"/>
            <a:tailEnd len="med" w="med" type="triangle"/>
          </a:ln>
        </p:spPr>
      </p:cxnSp>
      <p:cxnSp>
        <p:nvCxnSpPr>
          <p:cNvPr id="733" name="Google Shape;733;p45"/>
          <p:cNvCxnSpPr>
            <a:endCxn id="730" idx="0"/>
          </p:cNvCxnSpPr>
          <p:nvPr/>
        </p:nvCxnSpPr>
        <p:spPr>
          <a:xfrm>
            <a:off x="5476100" y="7883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734" name="Google Shape;734;p45"/>
          <p:cNvCxnSpPr>
            <a:stCxn id="730" idx="2"/>
            <a:endCxn id="731" idx="0"/>
          </p:cNvCxnSpPr>
          <p:nvPr/>
        </p:nvCxnSpPr>
        <p:spPr>
          <a:xfrm>
            <a:off x="5476100" y="13781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735" name="Google Shape;735;p45"/>
          <p:cNvCxnSpPr>
            <a:stCxn id="731" idx="2"/>
            <a:endCxn id="736" idx="0"/>
          </p:cNvCxnSpPr>
          <p:nvPr/>
        </p:nvCxnSpPr>
        <p:spPr>
          <a:xfrm>
            <a:off x="5476100" y="1967875"/>
            <a:ext cx="0" cy="318900"/>
          </a:xfrm>
          <a:prstGeom prst="straightConnector1">
            <a:avLst/>
          </a:prstGeom>
          <a:noFill/>
          <a:ln cap="flat" cmpd="sng" w="9525">
            <a:solidFill>
              <a:srgbClr val="CCCCCC"/>
            </a:solidFill>
            <a:prstDash val="solid"/>
            <a:round/>
            <a:headEnd len="sm" w="sm" type="none"/>
            <a:tailEnd len="med" w="med" type="triangle"/>
          </a:ln>
        </p:spPr>
      </p:cxnSp>
      <p:sp>
        <p:nvSpPr>
          <p:cNvPr id="736" name="Google Shape;736;p45"/>
          <p:cNvSpPr/>
          <p:nvPr/>
        </p:nvSpPr>
        <p:spPr>
          <a:xfrm>
            <a:off x="5215100" y="2286850"/>
            <a:ext cx="522000" cy="522000"/>
          </a:xfrm>
          <a:prstGeom prst="diamond">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737" name="Google Shape;737;p45"/>
          <p:cNvSpPr/>
          <p:nvPr/>
        </p:nvSpPr>
        <p:spPr>
          <a:xfrm>
            <a:off x="5265950" y="455570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cxnSp>
        <p:nvCxnSpPr>
          <p:cNvPr id="738" name="Google Shape;738;p45"/>
          <p:cNvCxnSpPr>
            <a:stCxn id="736" idx="2"/>
            <a:endCxn id="737" idx="0"/>
          </p:cNvCxnSpPr>
          <p:nvPr/>
        </p:nvCxnSpPr>
        <p:spPr>
          <a:xfrm>
            <a:off x="5476100" y="2808850"/>
            <a:ext cx="0" cy="1746900"/>
          </a:xfrm>
          <a:prstGeom prst="straightConnector1">
            <a:avLst/>
          </a:prstGeom>
          <a:noFill/>
          <a:ln cap="flat" cmpd="sng" w="9525">
            <a:solidFill>
              <a:srgbClr val="CCCCCC"/>
            </a:solidFill>
            <a:prstDash val="solid"/>
            <a:round/>
            <a:headEnd len="sm" w="sm" type="none"/>
            <a:tailEnd len="med" w="med" type="triangle"/>
          </a:ln>
        </p:spPr>
      </p:cxnSp>
      <p:cxnSp>
        <p:nvCxnSpPr>
          <p:cNvPr id="739" name="Google Shape;739;p45"/>
          <p:cNvCxnSpPr>
            <a:stCxn id="729" idx="0"/>
            <a:endCxn id="736" idx="3"/>
          </p:cNvCxnSpPr>
          <p:nvPr/>
        </p:nvCxnSpPr>
        <p:spPr>
          <a:xfrm flipH="1" rot="5400000">
            <a:off x="5924950" y="2359825"/>
            <a:ext cx="271500" cy="647400"/>
          </a:xfrm>
          <a:prstGeom prst="bentConnector2">
            <a:avLst/>
          </a:prstGeom>
          <a:noFill/>
          <a:ln cap="flat" cmpd="sng" w="9525">
            <a:solidFill>
              <a:srgbClr val="CCCCCC"/>
            </a:solidFill>
            <a:prstDash val="solid"/>
            <a:round/>
            <a:headEnd len="med" w="med" type="triangle"/>
            <a:tailEnd len="sm" w="sm" type="none"/>
          </a:ln>
        </p:spPr>
      </p:cxnSp>
      <p:sp>
        <p:nvSpPr>
          <p:cNvPr id="740" name="Google Shape;740;p45"/>
          <p:cNvSpPr txBox="1"/>
          <p:nvPr/>
        </p:nvSpPr>
        <p:spPr>
          <a:xfrm>
            <a:off x="5177000" y="296500"/>
            <a:ext cx="598200" cy="31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00CA4E"/>
                </a:solidFill>
                <a:latin typeface="Arial"/>
                <a:ea typeface="Arial"/>
                <a:cs typeface="Arial"/>
                <a:sym typeface="Arial"/>
              </a:rPr>
              <a:t>…</a:t>
            </a:r>
            <a:endParaRPr b="1" i="0" sz="2000" u="none" cap="none" strike="noStrike">
              <a:solidFill>
                <a:srgbClr val="00CA4E"/>
              </a:solidFill>
              <a:latin typeface="Arial"/>
              <a:ea typeface="Arial"/>
              <a:cs typeface="Arial"/>
              <a:sym typeface="Arial"/>
            </a:endParaRPr>
          </a:p>
        </p:txBody>
      </p:sp>
      <p:sp>
        <p:nvSpPr>
          <p:cNvPr id="741" name="Google Shape;741;p45"/>
          <p:cNvSpPr txBox="1"/>
          <p:nvPr/>
        </p:nvSpPr>
        <p:spPr>
          <a:xfrm>
            <a:off x="6804350" y="95275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cantidad_personas=3</a:t>
            </a:r>
            <a:endParaRPr b="0" i="0" sz="1600" u="none" cap="none" strike="noStrike">
              <a:solidFill>
                <a:srgbClr val="00CA4E"/>
              </a:solidFill>
              <a:latin typeface="Arial"/>
              <a:ea typeface="Arial"/>
              <a:cs typeface="Arial"/>
              <a:sym typeface="Arial"/>
            </a:endParaRPr>
          </a:p>
        </p:txBody>
      </p:sp>
      <p:sp>
        <p:nvSpPr>
          <p:cNvPr id="742" name="Google Shape;742;p45"/>
          <p:cNvSpPr txBox="1"/>
          <p:nvPr/>
        </p:nvSpPr>
        <p:spPr>
          <a:xfrm rot="-5400000">
            <a:off x="5164625" y="2973225"/>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false</a:t>
            </a:r>
            <a:endParaRPr b="0" i="0" sz="1400" u="none" cap="none" strike="noStrike">
              <a:solidFill>
                <a:srgbClr val="000000"/>
              </a:solidFill>
              <a:latin typeface="Arial"/>
              <a:ea typeface="Arial"/>
              <a:cs typeface="Arial"/>
              <a:sym typeface="Arial"/>
            </a:endParaRPr>
          </a:p>
        </p:txBody>
      </p:sp>
      <p:sp>
        <p:nvSpPr>
          <p:cNvPr id="743" name="Google Shape;743;p45"/>
          <p:cNvSpPr txBox="1"/>
          <p:nvPr/>
        </p:nvSpPr>
        <p:spPr>
          <a:xfrm>
            <a:off x="5806000" y="2262063"/>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true</a:t>
            </a:r>
            <a:endParaRPr b="1" i="0" sz="800" u="none" cap="none" strike="noStrike">
              <a:solidFill>
                <a:srgbClr val="0184BC"/>
              </a:solidFill>
              <a:latin typeface="Arial"/>
              <a:ea typeface="Arial"/>
              <a:cs typeface="Arial"/>
              <a:sym typeface="Arial"/>
            </a:endParaRPr>
          </a:p>
        </p:txBody>
      </p:sp>
      <p:sp>
        <p:nvSpPr>
          <p:cNvPr id="744" name="Google Shape;744;p45"/>
          <p:cNvSpPr/>
          <p:nvPr/>
        </p:nvSpPr>
        <p:spPr>
          <a:xfrm>
            <a:off x="6174250" y="34688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745" name="Google Shape;745;p45"/>
          <p:cNvSpPr/>
          <p:nvPr/>
        </p:nvSpPr>
        <p:spPr>
          <a:xfrm>
            <a:off x="6174250" y="4118425"/>
            <a:ext cx="420300" cy="426900"/>
          </a:xfrm>
          <a:prstGeom prst="roundRect">
            <a:avLst>
              <a:gd fmla="val 7941" name="adj"/>
            </a:avLst>
          </a:prstGeom>
          <a:solidFill>
            <a:srgbClr val="00CA4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cxnSp>
        <p:nvCxnSpPr>
          <p:cNvPr id="746" name="Google Shape;746;p45"/>
          <p:cNvCxnSpPr>
            <a:stCxn id="729" idx="2"/>
            <a:endCxn id="744" idx="0"/>
          </p:cNvCxnSpPr>
          <p:nvPr/>
        </p:nvCxnSpPr>
        <p:spPr>
          <a:xfrm>
            <a:off x="6384400" y="3246175"/>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747" name="Google Shape;747;p45"/>
          <p:cNvCxnSpPr>
            <a:stCxn id="744" idx="2"/>
            <a:endCxn id="745" idx="0"/>
          </p:cNvCxnSpPr>
          <p:nvPr/>
        </p:nvCxnSpPr>
        <p:spPr>
          <a:xfrm>
            <a:off x="6384400" y="3895750"/>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748" name="Google Shape;748;p45"/>
          <p:cNvCxnSpPr>
            <a:stCxn id="745" idx="2"/>
            <a:endCxn id="736" idx="0"/>
          </p:cNvCxnSpPr>
          <p:nvPr/>
        </p:nvCxnSpPr>
        <p:spPr>
          <a:xfrm flipH="1" rot="5400000">
            <a:off x="4801000" y="2961925"/>
            <a:ext cx="2258400" cy="908400"/>
          </a:xfrm>
          <a:prstGeom prst="curvedConnector5">
            <a:avLst>
              <a:gd fmla="val -9376" name="adj1"/>
              <a:gd fmla="val -99309" name="adj2"/>
              <a:gd fmla="val 101104" name="adj3"/>
            </a:avLst>
          </a:prstGeom>
          <a:noFill/>
          <a:ln cap="flat" cmpd="sng" w="9525">
            <a:solidFill>
              <a:srgbClr val="CCCCCC"/>
            </a:solidFill>
            <a:prstDash val="solid"/>
            <a:round/>
            <a:headEnd len="sm" w="sm" type="none"/>
            <a:tailEnd len="med" w="med" type="triangle"/>
          </a:ln>
        </p:spPr>
      </p:cxnSp>
      <p:sp>
        <p:nvSpPr>
          <p:cNvPr id="749" name="Google Shape;749;p45"/>
          <p:cNvSpPr txBox="1"/>
          <p:nvPr/>
        </p:nvSpPr>
        <p:spPr>
          <a:xfrm>
            <a:off x="7369500" y="1542475"/>
            <a:ext cx="14628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contador=2</a:t>
            </a:r>
            <a:endParaRPr b="0" i="0" sz="1600" u="none" cap="none" strike="noStrike">
              <a:solidFill>
                <a:srgbClr val="00CA4E"/>
              </a:solidFill>
              <a:latin typeface="Arial"/>
              <a:ea typeface="Arial"/>
              <a:cs typeface="Arial"/>
              <a:sym typeface="Arial"/>
            </a:endParaRPr>
          </a:p>
        </p:txBody>
      </p:sp>
      <p:sp>
        <p:nvSpPr>
          <p:cNvPr id="750" name="Google Shape;750;p45"/>
          <p:cNvSpPr/>
          <p:nvPr/>
        </p:nvSpPr>
        <p:spPr>
          <a:xfrm>
            <a:off x="22500" y="3691738"/>
            <a:ext cx="598200" cy="162900"/>
          </a:xfrm>
          <a:prstGeom prst="homePlate">
            <a:avLst>
              <a:gd fmla="val 50000" name="adj"/>
            </a:avLst>
          </a:prstGeom>
          <a:solidFill>
            <a:srgbClr val="00CA4E"/>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45"/>
          <p:cNvSpPr txBox="1"/>
          <p:nvPr/>
        </p:nvSpPr>
        <p:spPr>
          <a:xfrm>
            <a:off x="6804350" y="519425"/>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edad_suma=20</a:t>
            </a:r>
            <a:endParaRPr b="0" i="0" sz="1600" u="none" cap="none" strike="noStrike">
              <a:solidFill>
                <a:srgbClr val="00CA4E"/>
              </a:solidFill>
              <a:latin typeface="Arial"/>
              <a:ea typeface="Arial"/>
              <a:cs typeface="Arial"/>
              <a:sym typeface="Arial"/>
            </a:endParaRPr>
          </a:p>
        </p:txBody>
      </p:sp>
      <p:sp>
        <p:nvSpPr>
          <p:cNvPr id="752" name="Google Shape;752;p45"/>
          <p:cNvSpPr txBox="1"/>
          <p:nvPr/>
        </p:nvSpPr>
        <p:spPr>
          <a:xfrm>
            <a:off x="6804350" y="14280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nueva_edad=8</a:t>
            </a:r>
            <a:endParaRPr b="0" i="0" sz="1600" u="none" cap="none" strike="noStrike">
              <a:solidFill>
                <a:srgbClr val="00CA4E"/>
              </a:solidFill>
              <a:latin typeface="Arial"/>
              <a:ea typeface="Arial"/>
              <a:cs typeface="Arial"/>
              <a:sym typeface="Arial"/>
            </a:endParaRPr>
          </a:p>
        </p:txBody>
      </p:sp>
      <p:sp>
        <p:nvSpPr>
          <p:cNvPr id="753" name="Google Shape;753;p45"/>
          <p:cNvSpPr/>
          <p:nvPr/>
        </p:nvSpPr>
        <p:spPr>
          <a:xfrm>
            <a:off x="22500" y="3120025"/>
            <a:ext cx="598200" cy="162900"/>
          </a:xfrm>
          <a:prstGeom prst="homePlate">
            <a:avLst>
              <a:gd fmla="val 50000" name="adj"/>
            </a:avLst>
          </a:prstGeom>
          <a:solidFill>
            <a:schemeClr val="accent4"/>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46"/>
          <p:cNvSpPr/>
          <p:nvPr/>
        </p:nvSpPr>
        <p:spPr>
          <a:xfrm rot="10800000">
            <a:off x="544342" y="2074825"/>
            <a:ext cx="3909600" cy="2179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759" name="Google Shape;759;p46"/>
          <p:cNvSpPr/>
          <p:nvPr/>
        </p:nvSpPr>
        <p:spPr>
          <a:xfrm rot="10800000">
            <a:off x="544345" y="1779675"/>
            <a:ext cx="3909600" cy="3969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60" name="Google Shape;760;p46"/>
          <p:cNvSpPr/>
          <p:nvPr/>
        </p:nvSpPr>
        <p:spPr>
          <a:xfrm>
            <a:off x="695755" y="1853541"/>
            <a:ext cx="193800" cy="193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61" name="Google Shape;761;p46"/>
          <p:cNvSpPr/>
          <p:nvPr/>
        </p:nvSpPr>
        <p:spPr>
          <a:xfrm>
            <a:off x="982622" y="1853541"/>
            <a:ext cx="193800" cy="193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62" name="Google Shape;762;p46"/>
          <p:cNvSpPr/>
          <p:nvPr/>
        </p:nvSpPr>
        <p:spPr>
          <a:xfrm>
            <a:off x="1269489" y="1853541"/>
            <a:ext cx="193800" cy="193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63" name="Google Shape;763;p46"/>
          <p:cNvSpPr txBox="1"/>
          <p:nvPr/>
        </p:nvSpPr>
        <p:spPr>
          <a:xfrm>
            <a:off x="544657" y="2104581"/>
            <a:ext cx="3909600" cy="2019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2</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3</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4</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5</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6</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7</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8</a:t>
            </a:r>
            <a:r>
              <a:rPr lang="es" sz="900">
                <a:solidFill>
                  <a:srgbClr val="383A42"/>
                </a:solidFill>
                <a:latin typeface="Ubuntu Mono"/>
                <a:ea typeface="Ubuntu Mono"/>
                <a:cs typeface="Ubuntu Mono"/>
                <a:sym typeface="Ubuntu Mono"/>
              </a:rPr>
              <a:t> </a:t>
            </a:r>
            <a:r>
              <a:rPr lang="es" sz="900">
                <a:solidFill>
                  <a:srgbClr val="A626A4"/>
                </a:solidFill>
                <a:latin typeface="Ubuntu Mono"/>
                <a:ea typeface="Ubuntu Mono"/>
                <a:cs typeface="Ubuntu Mono"/>
                <a:sym typeface="Ubuntu Mono"/>
              </a:rPr>
              <a:t>while</a:t>
            </a:r>
            <a:r>
              <a:rPr lang="es" sz="900">
                <a:solidFill>
                  <a:srgbClr val="383A42"/>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&lt;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9</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10</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11</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12</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986801"/>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13</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14</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cout</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50A14F"/>
                </a:solidFill>
                <a:latin typeface="Ubuntu Mono"/>
                <a:ea typeface="Ubuntu Mono"/>
                <a:cs typeface="Ubuntu Mono"/>
                <a:sym typeface="Ubuntu Mono"/>
              </a:rPr>
              <a:t>"Promedio: "</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endl</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p:txBody>
      </p:sp>
      <p:sp>
        <p:nvSpPr>
          <p:cNvPr id="764" name="Google Shape;764;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de flujo…</a:t>
            </a:r>
            <a:endParaRPr/>
          </a:p>
        </p:txBody>
      </p:sp>
      <p:sp>
        <p:nvSpPr>
          <p:cNvPr id="765" name="Google Shape;765;p46"/>
          <p:cNvSpPr/>
          <p:nvPr/>
        </p:nvSpPr>
        <p:spPr>
          <a:xfrm>
            <a:off x="6174250" y="2819275"/>
            <a:ext cx="420300" cy="426900"/>
          </a:xfrm>
          <a:prstGeom prst="roundRect">
            <a:avLst>
              <a:gd fmla="val 7941"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766" name="Google Shape;766;p46"/>
          <p:cNvSpPr/>
          <p:nvPr/>
        </p:nvSpPr>
        <p:spPr>
          <a:xfrm>
            <a:off x="5265950" y="9512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767" name="Google Shape;767;p46"/>
          <p:cNvSpPr/>
          <p:nvPr/>
        </p:nvSpPr>
        <p:spPr>
          <a:xfrm>
            <a:off x="5265950" y="15409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768" name="Google Shape;768;p46"/>
          <p:cNvCxnSpPr/>
          <p:nvPr/>
        </p:nvCxnSpPr>
        <p:spPr>
          <a:xfrm>
            <a:off x="5476100" y="142800"/>
            <a:ext cx="0" cy="218700"/>
          </a:xfrm>
          <a:prstGeom prst="straightConnector1">
            <a:avLst/>
          </a:prstGeom>
          <a:noFill/>
          <a:ln cap="flat" cmpd="sng" w="9525">
            <a:solidFill>
              <a:srgbClr val="CCCCCC"/>
            </a:solidFill>
            <a:prstDash val="solid"/>
            <a:round/>
            <a:headEnd len="sm" w="sm" type="none"/>
            <a:tailEnd len="med" w="med" type="triangle"/>
          </a:ln>
        </p:spPr>
      </p:cxnSp>
      <p:cxnSp>
        <p:nvCxnSpPr>
          <p:cNvPr id="769" name="Google Shape;769;p46"/>
          <p:cNvCxnSpPr>
            <a:endCxn id="766" idx="0"/>
          </p:cNvCxnSpPr>
          <p:nvPr/>
        </p:nvCxnSpPr>
        <p:spPr>
          <a:xfrm>
            <a:off x="5476100" y="7883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770" name="Google Shape;770;p46"/>
          <p:cNvCxnSpPr>
            <a:stCxn id="766" idx="2"/>
            <a:endCxn id="767" idx="0"/>
          </p:cNvCxnSpPr>
          <p:nvPr/>
        </p:nvCxnSpPr>
        <p:spPr>
          <a:xfrm>
            <a:off x="5476100" y="13781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771" name="Google Shape;771;p46"/>
          <p:cNvCxnSpPr>
            <a:stCxn id="767" idx="2"/>
            <a:endCxn id="772" idx="0"/>
          </p:cNvCxnSpPr>
          <p:nvPr/>
        </p:nvCxnSpPr>
        <p:spPr>
          <a:xfrm>
            <a:off x="5476100" y="1967875"/>
            <a:ext cx="0" cy="318900"/>
          </a:xfrm>
          <a:prstGeom prst="straightConnector1">
            <a:avLst/>
          </a:prstGeom>
          <a:noFill/>
          <a:ln cap="flat" cmpd="sng" w="9525">
            <a:solidFill>
              <a:srgbClr val="CCCCCC"/>
            </a:solidFill>
            <a:prstDash val="solid"/>
            <a:round/>
            <a:headEnd len="sm" w="sm" type="none"/>
            <a:tailEnd len="med" w="med" type="triangle"/>
          </a:ln>
        </p:spPr>
      </p:cxnSp>
      <p:sp>
        <p:nvSpPr>
          <p:cNvPr id="772" name="Google Shape;772;p46"/>
          <p:cNvSpPr/>
          <p:nvPr/>
        </p:nvSpPr>
        <p:spPr>
          <a:xfrm>
            <a:off x="5215100" y="2286850"/>
            <a:ext cx="522000" cy="522000"/>
          </a:xfrm>
          <a:prstGeom prst="diamond">
            <a:avLst/>
          </a:prstGeom>
          <a:solidFill>
            <a:srgbClr val="00CA4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773" name="Google Shape;773;p46"/>
          <p:cNvSpPr/>
          <p:nvPr/>
        </p:nvSpPr>
        <p:spPr>
          <a:xfrm>
            <a:off x="5265950" y="455570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cxnSp>
        <p:nvCxnSpPr>
          <p:cNvPr id="774" name="Google Shape;774;p46"/>
          <p:cNvCxnSpPr>
            <a:stCxn id="772" idx="2"/>
            <a:endCxn id="773" idx="0"/>
          </p:cNvCxnSpPr>
          <p:nvPr/>
        </p:nvCxnSpPr>
        <p:spPr>
          <a:xfrm>
            <a:off x="5476100" y="2808850"/>
            <a:ext cx="0" cy="1746900"/>
          </a:xfrm>
          <a:prstGeom prst="straightConnector1">
            <a:avLst/>
          </a:prstGeom>
          <a:noFill/>
          <a:ln cap="flat" cmpd="sng" w="9525">
            <a:solidFill>
              <a:srgbClr val="CCCCCC"/>
            </a:solidFill>
            <a:prstDash val="solid"/>
            <a:round/>
            <a:headEnd len="sm" w="sm" type="none"/>
            <a:tailEnd len="med" w="med" type="triangle"/>
          </a:ln>
        </p:spPr>
      </p:cxnSp>
      <p:cxnSp>
        <p:nvCxnSpPr>
          <p:cNvPr id="775" name="Google Shape;775;p46"/>
          <p:cNvCxnSpPr>
            <a:stCxn id="765" idx="0"/>
            <a:endCxn id="772" idx="3"/>
          </p:cNvCxnSpPr>
          <p:nvPr/>
        </p:nvCxnSpPr>
        <p:spPr>
          <a:xfrm flipH="1" rot="5400000">
            <a:off x="5924950" y="2359825"/>
            <a:ext cx="271500" cy="647400"/>
          </a:xfrm>
          <a:prstGeom prst="bentConnector2">
            <a:avLst/>
          </a:prstGeom>
          <a:noFill/>
          <a:ln cap="flat" cmpd="sng" w="9525">
            <a:solidFill>
              <a:srgbClr val="FF605C"/>
            </a:solidFill>
            <a:prstDash val="solid"/>
            <a:round/>
            <a:headEnd len="med" w="med" type="triangle"/>
            <a:tailEnd len="sm" w="sm" type="none"/>
          </a:ln>
        </p:spPr>
      </p:cxnSp>
      <p:sp>
        <p:nvSpPr>
          <p:cNvPr id="776" name="Google Shape;776;p46"/>
          <p:cNvSpPr txBox="1"/>
          <p:nvPr/>
        </p:nvSpPr>
        <p:spPr>
          <a:xfrm>
            <a:off x="5177000" y="296500"/>
            <a:ext cx="598200" cy="31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00CA4E"/>
                </a:solidFill>
                <a:latin typeface="Arial"/>
                <a:ea typeface="Arial"/>
                <a:cs typeface="Arial"/>
                <a:sym typeface="Arial"/>
              </a:rPr>
              <a:t>…</a:t>
            </a:r>
            <a:endParaRPr b="1" i="0" sz="2000" u="none" cap="none" strike="noStrike">
              <a:solidFill>
                <a:srgbClr val="00CA4E"/>
              </a:solidFill>
              <a:latin typeface="Arial"/>
              <a:ea typeface="Arial"/>
              <a:cs typeface="Arial"/>
              <a:sym typeface="Arial"/>
            </a:endParaRPr>
          </a:p>
        </p:txBody>
      </p:sp>
      <p:sp>
        <p:nvSpPr>
          <p:cNvPr id="777" name="Google Shape;777;p46"/>
          <p:cNvSpPr txBox="1"/>
          <p:nvPr/>
        </p:nvSpPr>
        <p:spPr>
          <a:xfrm>
            <a:off x="6804350" y="95275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cantidad_personas=3</a:t>
            </a:r>
            <a:endParaRPr b="0" i="0" sz="1600" u="none" cap="none" strike="noStrike">
              <a:solidFill>
                <a:srgbClr val="00CA4E"/>
              </a:solidFill>
              <a:latin typeface="Arial"/>
              <a:ea typeface="Arial"/>
              <a:cs typeface="Arial"/>
              <a:sym typeface="Arial"/>
            </a:endParaRPr>
          </a:p>
        </p:txBody>
      </p:sp>
      <p:sp>
        <p:nvSpPr>
          <p:cNvPr id="778" name="Google Shape;778;p46"/>
          <p:cNvSpPr txBox="1"/>
          <p:nvPr/>
        </p:nvSpPr>
        <p:spPr>
          <a:xfrm rot="-5400000">
            <a:off x="5164625" y="2973225"/>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false</a:t>
            </a:r>
            <a:endParaRPr b="0" i="0" sz="1400" u="none" cap="none" strike="noStrike">
              <a:solidFill>
                <a:srgbClr val="000000"/>
              </a:solidFill>
              <a:latin typeface="Arial"/>
              <a:ea typeface="Arial"/>
              <a:cs typeface="Arial"/>
              <a:sym typeface="Arial"/>
            </a:endParaRPr>
          </a:p>
        </p:txBody>
      </p:sp>
      <p:sp>
        <p:nvSpPr>
          <p:cNvPr id="779" name="Google Shape;779;p46"/>
          <p:cNvSpPr/>
          <p:nvPr/>
        </p:nvSpPr>
        <p:spPr>
          <a:xfrm>
            <a:off x="6174250" y="34688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780" name="Google Shape;780;p46"/>
          <p:cNvSpPr/>
          <p:nvPr/>
        </p:nvSpPr>
        <p:spPr>
          <a:xfrm>
            <a:off x="6174250" y="411842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cxnSp>
        <p:nvCxnSpPr>
          <p:cNvPr id="781" name="Google Shape;781;p46"/>
          <p:cNvCxnSpPr>
            <a:stCxn id="765" idx="2"/>
            <a:endCxn id="779" idx="0"/>
          </p:cNvCxnSpPr>
          <p:nvPr/>
        </p:nvCxnSpPr>
        <p:spPr>
          <a:xfrm>
            <a:off x="6384400" y="3246175"/>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782" name="Google Shape;782;p46"/>
          <p:cNvCxnSpPr>
            <a:stCxn id="779" idx="2"/>
            <a:endCxn id="780" idx="0"/>
          </p:cNvCxnSpPr>
          <p:nvPr/>
        </p:nvCxnSpPr>
        <p:spPr>
          <a:xfrm>
            <a:off x="6384400" y="3895750"/>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783" name="Google Shape;783;p46"/>
          <p:cNvCxnSpPr>
            <a:stCxn id="780" idx="2"/>
            <a:endCxn id="772" idx="0"/>
          </p:cNvCxnSpPr>
          <p:nvPr/>
        </p:nvCxnSpPr>
        <p:spPr>
          <a:xfrm flipH="1" rot="5400000">
            <a:off x="4801000" y="2961925"/>
            <a:ext cx="2258400" cy="908400"/>
          </a:xfrm>
          <a:prstGeom prst="curvedConnector5">
            <a:avLst>
              <a:gd fmla="val -9376" name="adj1"/>
              <a:gd fmla="val -99309" name="adj2"/>
              <a:gd fmla="val 101104" name="adj3"/>
            </a:avLst>
          </a:prstGeom>
          <a:noFill/>
          <a:ln cap="flat" cmpd="sng" w="9525">
            <a:solidFill>
              <a:srgbClr val="CCCCCC"/>
            </a:solidFill>
            <a:prstDash val="solid"/>
            <a:round/>
            <a:headEnd len="sm" w="sm" type="none"/>
            <a:tailEnd len="med" w="med" type="triangle"/>
          </a:ln>
        </p:spPr>
      </p:cxnSp>
      <p:sp>
        <p:nvSpPr>
          <p:cNvPr id="784" name="Google Shape;784;p46"/>
          <p:cNvSpPr txBox="1"/>
          <p:nvPr/>
        </p:nvSpPr>
        <p:spPr>
          <a:xfrm>
            <a:off x="7369500" y="1542475"/>
            <a:ext cx="14628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contador=2</a:t>
            </a:r>
            <a:endParaRPr b="0" i="0" sz="1600" u="none" cap="none" strike="noStrike">
              <a:solidFill>
                <a:srgbClr val="00CA4E"/>
              </a:solidFill>
              <a:latin typeface="Arial"/>
              <a:ea typeface="Arial"/>
              <a:cs typeface="Arial"/>
              <a:sym typeface="Arial"/>
            </a:endParaRPr>
          </a:p>
        </p:txBody>
      </p:sp>
      <p:sp>
        <p:nvSpPr>
          <p:cNvPr id="785" name="Google Shape;785;p46"/>
          <p:cNvSpPr/>
          <p:nvPr/>
        </p:nvSpPr>
        <p:spPr>
          <a:xfrm>
            <a:off x="22500" y="3134075"/>
            <a:ext cx="598200" cy="162900"/>
          </a:xfrm>
          <a:prstGeom prst="homePlate">
            <a:avLst>
              <a:gd fmla="val 50000" name="adj"/>
            </a:avLst>
          </a:prstGeom>
          <a:solidFill>
            <a:srgbClr val="00CA4E"/>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46"/>
          <p:cNvSpPr txBox="1"/>
          <p:nvPr/>
        </p:nvSpPr>
        <p:spPr>
          <a:xfrm>
            <a:off x="6804350" y="519425"/>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edad_suma=20</a:t>
            </a:r>
            <a:endParaRPr b="0" i="0" sz="1600" u="none" cap="none" strike="noStrike">
              <a:solidFill>
                <a:srgbClr val="00CA4E"/>
              </a:solidFill>
              <a:latin typeface="Arial"/>
              <a:ea typeface="Arial"/>
              <a:cs typeface="Arial"/>
              <a:sym typeface="Arial"/>
            </a:endParaRPr>
          </a:p>
        </p:txBody>
      </p:sp>
      <p:sp>
        <p:nvSpPr>
          <p:cNvPr id="787" name="Google Shape;787;p46"/>
          <p:cNvSpPr txBox="1"/>
          <p:nvPr/>
        </p:nvSpPr>
        <p:spPr>
          <a:xfrm>
            <a:off x="6804350" y="14280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nueva_edad=8</a:t>
            </a:r>
            <a:endParaRPr b="0" i="0" sz="1600" u="none" cap="none" strike="noStrike">
              <a:solidFill>
                <a:srgbClr val="00CA4E"/>
              </a:solidFill>
              <a:latin typeface="Arial"/>
              <a:ea typeface="Arial"/>
              <a:cs typeface="Arial"/>
              <a:sym typeface="Arial"/>
            </a:endParaRPr>
          </a:p>
        </p:txBody>
      </p:sp>
      <p:sp>
        <p:nvSpPr>
          <p:cNvPr id="788" name="Google Shape;788;p46"/>
          <p:cNvSpPr txBox="1"/>
          <p:nvPr/>
        </p:nvSpPr>
        <p:spPr>
          <a:xfrm>
            <a:off x="5684600" y="2185875"/>
            <a:ext cx="7521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1500" u="none" cap="none" strike="noStrike">
                <a:solidFill>
                  <a:srgbClr val="FF605C"/>
                </a:solidFill>
                <a:latin typeface="Arial"/>
                <a:ea typeface="Arial"/>
                <a:cs typeface="Arial"/>
                <a:sym typeface="Arial"/>
              </a:rPr>
              <a:t>true</a:t>
            </a:r>
            <a:endParaRPr b="1" i="0" sz="1500" u="none" cap="none" strike="noStrike">
              <a:solidFill>
                <a:srgbClr val="FF605C"/>
              </a:solidFill>
              <a:latin typeface="Arial"/>
              <a:ea typeface="Arial"/>
              <a:cs typeface="Arial"/>
              <a:sym typeface="Arial"/>
            </a:endParaRPr>
          </a:p>
        </p:txBody>
      </p:sp>
      <p:sp>
        <p:nvSpPr>
          <p:cNvPr id="789" name="Google Shape;789;p46"/>
          <p:cNvSpPr/>
          <p:nvPr/>
        </p:nvSpPr>
        <p:spPr>
          <a:xfrm>
            <a:off x="22500" y="3414313"/>
            <a:ext cx="598200" cy="162900"/>
          </a:xfrm>
          <a:prstGeom prst="homePlate">
            <a:avLst>
              <a:gd fmla="val 50000" name="adj"/>
            </a:avLst>
          </a:prstGeom>
          <a:solidFill>
            <a:schemeClr val="accent4"/>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47"/>
          <p:cNvSpPr/>
          <p:nvPr/>
        </p:nvSpPr>
        <p:spPr>
          <a:xfrm rot="10800000">
            <a:off x="544342" y="2074825"/>
            <a:ext cx="3909600" cy="2179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795" name="Google Shape;795;p47"/>
          <p:cNvSpPr/>
          <p:nvPr/>
        </p:nvSpPr>
        <p:spPr>
          <a:xfrm rot="10800000">
            <a:off x="544345" y="1779675"/>
            <a:ext cx="3909600" cy="3969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96" name="Google Shape;796;p47"/>
          <p:cNvSpPr/>
          <p:nvPr/>
        </p:nvSpPr>
        <p:spPr>
          <a:xfrm>
            <a:off x="695755" y="1853541"/>
            <a:ext cx="193800" cy="193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97" name="Google Shape;797;p47"/>
          <p:cNvSpPr/>
          <p:nvPr/>
        </p:nvSpPr>
        <p:spPr>
          <a:xfrm>
            <a:off x="982622" y="1853541"/>
            <a:ext cx="193800" cy="193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98" name="Google Shape;798;p47"/>
          <p:cNvSpPr/>
          <p:nvPr/>
        </p:nvSpPr>
        <p:spPr>
          <a:xfrm>
            <a:off x="1269489" y="1853541"/>
            <a:ext cx="193800" cy="193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799" name="Google Shape;799;p47"/>
          <p:cNvSpPr txBox="1"/>
          <p:nvPr/>
        </p:nvSpPr>
        <p:spPr>
          <a:xfrm>
            <a:off x="544657" y="2104581"/>
            <a:ext cx="3909600" cy="2019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2</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3</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4</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5</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6</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7</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8</a:t>
            </a:r>
            <a:r>
              <a:rPr lang="es" sz="900">
                <a:solidFill>
                  <a:srgbClr val="383A42"/>
                </a:solidFill>
                <a:latin typeface="Ubuntu Mono"/>
                <a:ea typeface="Ubuntu Mono"/>
                <a:cs typeface="Ubuntu Mono"/>
                <a:sym typeface="Ubuntu Mono"/>
              </a:rPr>
              <a:t> </a:t>
            </a:r>
            <a:r>
              <a:rPr lang="es" sz="900">
                <a:solidFill>
                  <a:srgbClr val="A626A4"/>
                </a:solidFill>
                <a:latin typeface="Ubuntu Mono"/>
                <a:ea typeface="Ubuntu Mono"/>
                <a:cs typeface="Ubuntu Mono"/>
                <a:sym typeface="Ubuntu Mono"/>
              </a:rPr>
              <a:t>while</a:t>
            </a:r>
            <a:r>
              <a:rPr lang="es" sz="900">
                <a:solidFill>
                  <a:srgbClr val="383A42"/>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&lt;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9</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10</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11</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12</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986801"/>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13</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14</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cout</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50A14F"/>
                </a:solidFill>
                <a:latin typeface="Ubuntu Mono"/>
                <a:ea typeface="Ubuntu Mono"/>
                <a:cs typeface="Ubuntu Mono"/>
                <a:sym typeface="Ubuntu Mono"/>
              </a:rPr>
              <a:t>"Promedio: "</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endl</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p:txBody>
      </p:sp>
      <p:sp>
        <p:nvSpPr>
          <p:cNvPr id="800" name="Google Shape;800;p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de flujo…</a:t>
            </a:r>
            <a:endParaRPr/>
          </a:p>
        </p:txBody>
      </p:sp>
      <p:sp>
        <p:nvSpPr>
          <p:cNvPr id="801" name="Google Shape;801;p47"/>
          <p:cNvSpPr/>
          <p:nvPr/>
        </p:nvSpPr>
        <p:spPr>
          <a:xfrm>
            <a:off x="6174250" y="2819275"/>
            <a:ext cx="420300" cy="426900"/>
          </a:xfrm>
          <a:prstGeom prst="roundRect">
            <a:avLst>
              <a:gd fmla="val 7941" name="adj"/>
            </a:avLst>
          </a:prstGeom>
          <a:solidFill>
            <a:srgbClr val="00CA4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802" name="Google Shape;802;p47"/>
          <p:cNvSpPr/>
          <p:nvPr/>
        </p:nvSpPr>
        <p:spPr>
          <a:xfrm>
            <a:off x="5265950" y="9512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803" name="Google Shape;803;p47"/>
          <p:cNvSpPr/>
          <p:nvPr/>
        </p:nvSpPr>
        <p:spPr>
          <a:xfrm>
            <a:off x="5265950" y="15409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804" name="Google Shape;804;p47"/>
          <p:cNvCxnSpPr/>
          <p:nvPr/>
        </p:nvCxnSpPr>
        <p:spPr>
          <a:xfrm>
            <a:off x="5476100" y="142800"/>
            <a:ext cx="0" cy="218700"/>
          </a:xfrm>
          <a:prstGeom prst="straightConnector1">
            <a:avLst/>
          </a:prstGeom>
          <a:noFill/>
          <a:ln cap="flat" cmpd="sng" w="9525">
            <a:solidFill>
              <a:srgbClr val="CCCCCC"/>
            </a:solidFill>
            <a:prstDash val="solid"/>
            <a:round/>
            <a:headEnd len="sm" w="sm" type="none"/>
            <a:tailEnd len="med" w="med" type="triangle"/>
          </a:ln>
        </p:spPr>
      </p:cxnSp>
      <p:cxnSp>
        <p:nvCxnSpPr>
          <p:cNvPr id="805" name="Google Shape;805;p47"/>
          <p:cNvCxnSpPr>
            <a:endCxn id="802" idx="0"/>
          </p:cNvCxnSpPr>
          <p:nvPr/>
        </p:nvCxnSpPr>
        <p:spPr>
          <a:xfrm>
            <a:off x="5476100" y="7883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806" name="Google Shape;806;p47"/>
          <p:cNvCxnSpPr>
            <a:stCxn id="802" idx="2"/>
            <a:endCxn id="803" idx="0"/>
          </p:cNvCxnSpPr>
          <p:nvPr/>
        </p:nvCxnSpPr>
        <p:spPr>
          <a:xfrm>
            <a:off x="5476100" y="13781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807" name="Google Shape;807;p47"/>
          <p:cNvCxnSpPr>
            <a:stCxn id="803" idx="2"/>
            <a:endCxn id="808" idx="0"/>
          </p:cNvCxnSpPr>
          <p:nvPr/>
        </p:nvCxnSpPr>
        <p:spPr>
          <a:xfrm>
            <a:off x="5476100" y="1967875"/>
            <a:ext cx="0" cy="318900"/>
          </a:xfrm>
          <a:prstGeom prst="straightConnector1">
            <a:avLst/>
          </a:prstGeom>
          <a:noFill/>
          <a:ln cap="flat" cmpd="sng" w="9525">
            <a:solidFill>
              <a:srgbClr val="CCCCCC"/>
            </a:solidFill>
            <a:prstDash val="solid"/>
            <a:round/>
            <a:headEnd len="sm" w="sm" type="none"/>
            <a:tailEnd len="med" w="med" type="triangle"/>
          </a:ln>
        </p:spPr>
      </p:cxnSp>
      <p:sp>
        <p:nvSpPr>
          <p:cNvPr id="808" name="Google Shape;808;p47"/>
          <p:cNvSpPr/>
          <p:nvPr/>
        </p:nvSpPr>
        <p:spPr>
          <a:xfrm>
            <a:off x="5215100" y="2286850"/>
            <a:ext cx="522000" cy="522000"/>
          </a:xfrm>
          <a:prstGeom prst="diamond">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809" name="Google Shape;809;p47"/>
          <p:cNvSpPr/>
          <p:nvPr/>
        </p:nvSpPr>
        <p:spPr>
          <a:xfrm>
            <a:off x="5265950" y="455570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cxnSp>
        <p:nvCxnSpPr>
          <p:cNvPr id="810" name="Google Shape;810;p47"/>
          <p:cNvCxnSpPr>
            <a:stCxn id="808" idx="2"/>
            <a:endCxn id="809" idx="0"/>
          </p:cNvCxnSpPr>
          <p:nvPr/>
        </p:nvCxnSpPr>
        <p:spPr>
          <a:xfrm>
            <a:off x="5476100" y="2808850"/>
            <a:ext cx="0" cy="1746900"/>
          </a:xfrm>
          <a:prstGeom prst="straightConnector1">
            <a:avLst/>
          </a:prstGeom>
          <a:noFill/>
          <a:ln cap="flat" cmpd="sng" w="9525">
            <a:solidFill>
              <a:srgbClr val="CCCCCC"/>
            </a:solidFill>
            <a:prstDash val="solid"/>
            <a:round/>
            <a:headEnd len="sm" w="sm" type="none"/>
            <a:tailEnd len="med" w="med" type="triangle"/>
          </a:ln>
        </p:spPr>
      </p:cxnSp>
      <p:cxnSp>
        <p:nvCxnSpPr>
          <p:cNvPr id="811" name="Google Shape;811;p47"/>
          <p:cNvCxnSpPr>
            <a:stCxn id="801" idx="0"/>
            <a:endCxn id="808" idx="3"/>
          </p:cNvCxnSpPr>
          <p:nvPr/>
        </p:nvCxnSpPr>
        <p:spPr>
          <a:xfrm flipH="1" rot="5400000">
            <a:off x="5924950" y="2359825"/>
            <a:ext cx="271500" cy="647400"/>
          </a:xfrm>
          <a:prstGeom prst="bentConnector2">
            <a:avLst/>
          </a:prstGeom>
          <a:noFill/>
          <a:ln cap="flat" cmpd="sng" w="9525">
            <a:solidFill>
              <a:srgbClr val="CCCCCC"/>
            </a:solidFill>
            <a:prstDash val="solid"/>
            <a:round/>
            <a:headEnd len="med" w="med" type="triangle"/>
            <a:tailEnd len="sm" w="sm" type="none"/>
          </a:ln>
        </p:spPr>
      </p:cxnSp>
      <p:sp>
        <p:nvSpPr>
          <p:cNvPr id="812" name="Google Shape;812;p47"/>
          <p:cNvSpPr txBox="1"/>
          <p:nvPr/>
        </p:nvSpPr>
        <p:spPr>
          <a:xfrm>
            <a:off x="5177000" y="296500"/>
            <a:ext cx="598200" cy="31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00CA4E"/>
                </a:solidFill>
                <a:latin typeface="Arial"/>
                <a:ea typeface="Arial"/>
                <a:cs typeface="Arial"/>
                <a:sym typeface="Arial"/>
              </a:rPr>
              <a:t>…</a:t>
            </a:r>
            <a:endParaRPr b="1" i="0" sz="2000" u="none" cap="none" strike="noStrike">
              <a:solidFill>
                <a:srgbClr val="00CA4E"/>
              </a:solidFill>
              <a:latin typeface="Arial"/>
              <a:ea typeface="Arial"/>
              <a:cs typeface="Arial"/>
              <a:sym typeface="Arial"/>
            </a:endParaRPr>
          </a:p>
        </p:txBody>
      </p:sp>
      <p:sp>
        <p:nvSpPr>
          <p:cNvPr id="813" name="Google Shape;813;p47"/>
          <p:cNvSpPr txBox="1"/>
          <p:nvPr/>
        </p:nvSpPr>
        <p:spPr>
          <a:xfrm>
            <a:off x="6804350" y="95275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cantidad_personas=3</a:t>
            </a:r>
            <a:endParaRPr b="0" i="0" sz="1600" u="none" cap="none" strike="noStrike">
              <a:solidFill>
                <a:srgbClr val="00CA4E"/>
              </a:solidFill>
              <a:latin typeface="Arial"/>
              <a:ea typeface="Arial"/>
              <a:cs typeface="Arial"/>
              <a:sym typeface="Arial"/>
            </a:endParaRPr>
          </a:p>
        </p:txBody>
      </p:sp>
      <p:sp>
        <p:nvSpPr>
          <p:cNvPr id="814" name="Google Shape;814;p47"/>
          <p:cNvSpPr txBox="1"/>
          <p:nvPr/>
        </p:nvSpPr>
        <p:spPr>
          <a:xfrm rot="-5400000">
            <a:off x="5164625" y="2973225"/>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false</a:t>
            </a:r>
            <a:endParaRPr b="0" i="0" sz="1400" u="none" cap="none" strike="noStrike">
              <a:solidFill>
                <a:srgbClr val="000000"/>
              </a:solidFill>
              <a:latin typeface="Arial"/>
              <a:ea typeface="Arial"/>
              <a:cs typeface="Arial"/>
              <a:sym typeface="Arial"/>
            </a:endParaRPr>
          </a:p>
        </p:txBody>
      </p:sp>
      <p:sp>
        <p:nvSpPr>
          <p:cNvPr id="815" name="Google Shape;815;p47"/>
          <p:cNvSpPr txBox="1"/>
          <p:nvPr/>
        </p:nvSpPr>
        <p:spPr>
          <a:xfrm>
            <a:off x="5806000" y="2262063"/>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true</a:t>
            </a:r>
            <a:endParaRPr b="1" i="0" sz="800" u="none" cap="none" strike="noStrike">
              <a:solidFill>
                <a:srgbClr val="0184BC"/>
              </a:solidFill>
              <a:latin typeface="Arial"/>
              <a:ea typeface="Arial"/>
              <a:cs typeface="Arial"/>
              <a:sym typeface="Arial"/>
            </a:endParaRPr>
          </a:p>
        </p:txBody>
      </p:sp>
      <p:sp>
        <p:nvSpPr>
          <p:cNvPr id="816" name="Google Shape;816;p47"/>
          <p:cNvSpPr/>
          <p:nvPr/>
        </p:nvSpPr>
        <p:spPr>
          <a:xfrm>
            <a:off x="6174250" y="3468850"/>
            <a:ext cx="420300" cy="426900"/>
          </a:xfrm>
          <a:prstGeom prst="roundRect">
            <a:avLst>
              <a:gd fmla="val 7941"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817" name="Google Shape;817;p47"/>
          <p:cNvSpPr/>
          <p:nvPr/>
        </p:nvSpPr>
        <p:spPr>
          <a:xfrm>
            <a:off x="6174250" y="411842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cxnSp>
        <p:nvCxnSpPr>
          <p:cNvPr id="818" name="Google Shape;818;p47"/>
          <p:cNvCxnSpPr>
            <a:stCxn id="801" idx="2"/>
            <a:endCxn id="816" idx="0"/>
          </p:cNvCxnSpPr>
          <p:nvPr/>
        </p:nvCxnSpPr>
        <p:spPr>
          <a:xfrm>
            <a:off x="6384400" y="3246175"/>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819" name="Google Shape;819;p47"/>
          <p:cNvCxnSpPr>
            <a:stCxn id="816" idx="2"/>
            <a:endCxn id="817" idx="0"/>
          </p:cNvCxnSpPr>
          <p:nvPr/>
        </p:nvCxnSpPr>
        <p:spPr>
          <a:xfrm>
            <a:off x="6384400" y="3895750"/>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820" name="Google Shape;820;p47"/>
          <p:cNvCxnSpPr>
            <a:stCxn id="817" idx="2"/>
            <a:endCxn id="808" idx="0"/>
          </p:cNvCxnSpPr>
          <p:nvPr/>
        </p:nvCxnSpPr>
        <p:spPr>
          <a:xfrm flipH="1" rot="5400000">
            <a:off x="4801000" y="2961925"/>
            <a:ext cx="2258400" cy="908400"/>
          </a:xfrm>
          <a:prstGeom prst="curvedConnector5">
            <a:avLst>
              <a:gd fmla="val -9376" name="adj1"/>
              <a:gd fmla="val -99309" name="adj2"/>
              <a:gd fmla="val 101104" name="adj3"/>
            </a:avLst>
          </a:prstGeom>
          <a:noFill/>
          <a:ln cap="flat" cmpd="sng" w="9525">
            <a:solidFill>
              <a:srgbClr val="CCCCCC"/>
            </a:solidFill>
            <a:prstDash val="solid"/>
            <a:round/>
            <a:headEnd len="sm" w="sm" type="none"/>
            <a:tailEnd len="med" w="med" type="triangle"/>
          </a:ln>
        </p:spPr>
      </p:cxnSp>
      <p:sp>
        <p:nvSpPr>
          <p:cNvPr id="821" name="Google Shape;821;p47"/>
          <p:cNvSpPr txBox="1"/>
          <p:nvPr/>
        </p:nvSpPr>
        <p:spPr>
          <a:xfrm>
            <a:off x="7369500" y="1542475"/>
            <a:ext cx="14628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contador=2</a:t>
            </a:r>
            <a:endParaRPr b="0" i="0" sz="1600" u="none" cap="none" strike="noStrike">
              <a:solidFill>
                <a:srgbClr val="00CA4E"/>
              </a:solidFill>
              <a:latin typeface="Arial"/>
              <a:ea typeface="Arial"/>
              <a:cs typeface="Arial"/>
              <a:sym typeface="Arial"/>
            </a:endParaRPr>
          </a:p>
        </p:txBody>
      </p:sp>
      <p:sp>
        <p:nvSpPr>
          <p:cNvPr id="822" name="Google Shape;822;p47"/>
          <p:cNvSpPr/>
          <p:nvPr/>
        </p:nvSpPr>
        <p:spPr>
          <a:xfrm>
            <a:off x="22500" y="3414313"/>
            <a:ext cx="598200" cy="162900"/>
          </a:xfrm>
          <a:prstGeom prst="homePlate">
            <a:avLst>
              <a:gd fmla="val 50000" name="adj"/>
            </a:avLst>
          </a:prstGeom>
          <a:solidFill>
            <a:srgbClr val="00CA4E"/>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47"/>
          <p:cNvSpPr txBox="1"/>
          <p:nvPr/>
        </p:nvSpPr>
        <p:spPr>
          <a:xfrm>
            <a:off x="6804350" y="519425"/>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edad_suma=20</a:t>
            </a:r>
            <a:endParaRPr b="0" i="0" sz="1600" u="none" cap="none" strike="noStrike">
              <a:solidFill>
                <a:srgbClr val="00CA4E"/>
              </a:solidFill>
              <a:latin typeface="Arial"/>
              <a:ea typeface="Arial"/>
              <a:cs typeface="Arial"/>
              <a:sym typeface="Arial"/>
            </a:endParaRPr>
          </a:p>
        </p:txBody>
      </p:sp>
      <p:sp>
        <p:nvSpPr>
          <p:cNvPr id="824" name="Google Shape;824;p47"/>
          <p:cNvSpPr txBox="1"/>
          <p:nvPr/>
        </p:nvSpPr>
        <p:spPr>
          <a:xfrm>
            <a:off x="6804350" y="14280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nueva_edad=11</a:t>
            </a:r>
            <a:endParaRPr b="0" i="0" sz="1600" u="none" cap="none" strike="noStrike">
              <a:solidFill>
                <a:srgbClr val="00CA4E"/>
              </a:solidFill>
              <a:latin typeface="Arial"/>
              <a:ea typeface="Arial"/>
              <a:cs typeface="Arial"/>
              <a:sym typeface="Arial"/>
            </a:endParaRPr>
          </a:p>
        </p:txBody>
      </p:sp>
      <p:sp>
        <p:nvSpPr>
          <p:cNvPr id="825" name="Google Shape;825;p47"/>
          <p:cNvSpPr/>
          <p:nvPr/>
        </p:nvSpPr>
        <p:spPr>
          <a:xfrm>
            <a:off x="22500" y="3577225"/>
            <a:ext cx="598200" cy="162900"/>
          </a:xfrm>
          <a:prstGeom prst="homePlate">
            <a:avLst>
              <a:gd fmla="val 50000" name="adj"/>
            </a:avLst>
          </a:prstGeom>
          <a:solidFill>
            <a:schemeClr val="accent4"/>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48"/>
          <p:cNvSpPr/>
          <p:nvPr/>
        </p:nvSpPr>
        <p:spPr>
          <a:xfrm rot="10800000">
            <a:off x="544342" y="2074825"/>
            <a:ext cx="3909600" cy="2179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831" name="Google Shape;831;p48"/>
          <p:cNvSpPr/>
          <p:nvPr/>
        </p:nvSpPr>
        <p:spPr>
          <a:xfrm rot="10800000">
            <a:off x="544345" y="1779675"/>
            <a:ext cx="3909600" cy="3969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32" name="Google Shape;832;p48"/>
          <p:cNvSpPr/>
          <p:nvPr/>
        </p:nvSpPr>
        <p:spPr>
          <a:xfrm>
            <a:off x="695755" y="1853541"/>
            <a:ext cx="193800" cy="193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33" name="Google Shape;833;p48"/>
          <p:cNvSpPr/>
          <p:nvPr/>
        </p:nvSpPr>
        <p:spPr>
          <a:xfrm>
            <a:off x="982622" y="1853541"/>
            <a:ext cx="193800" cy="193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34" name="Google Shape;834;p48"/>
          <p:cNvSpPr/>
          <p:nvPr/>
        </p:nvSpPr>
        <p:spPr>
          <a:xfrm>
            <a:off x="1269489" y="1853541"/>
            <a:ext cx="193800" cy="193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35" name="Google Shape;835;p48"/>
          <p:cNvSpPr txBox="1"/>
          <p:nvPr/>
        </p:nvSpPr>
        <p:spPr>
          <a:xfrm>
            <a:off x="544657" y="2104581"/>
            <a:ext cx="3909600" cy="2019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2</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3</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4</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5</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6</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7</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8</a:t>
            </a:r>
            <a:r>
              <a:rPr lang="es" sz="900">
                <a:solidFill>
                  <a:srgbClr val="383A42"/>
                </a:solidFill>
                <a:latin typeface="Ubuntu Mono"/>
                <a:ea typeface="Ubuntu Mono"/>
                <a:cs typeface="Ubuntu Mono"/>
                <a:sym typeface="Ubuntu Mono"/>
              </a:rPr>
              <a:t> </a:t>
            </a:r>
            <a:r>
              <a:rPr lang="es" sz="900">
                <a:solidFill>
                  <a:srgbClr val="A626A4"/>
                </a:solidFill>
                <a:latin typeface="Ubuntu Mono"/>
                <a:ea typeface="Ubuntu Mono"/>
                <a:cs typeface="Ubuntu Mono"/>
                <a:sym typeface="Ubuntu Mono"/>
              </a:rPr>
              <a:t>while</a:t>
            </a:r>
            <a:r>
              <a:rPr lang="es" sz="900">
                <a:solidFill>
                  <a:srgbClr val="383A42"/>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&lt;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9</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10</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11</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12</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986801"/>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13</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14</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cout</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50A14F"/>
                </a:solidFill>
                <a:latin typeface="Ubuntu Mono"/>
                <a:ea typeface="Ubuntu Mono"/>
                <a:cs typeface="Ubuntu Mono"/>
                <a:sym typeface="Ubuntu Mono"/>
              </a:rPr>
              <a:t>"Promedio: "</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endl</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p:txBody>
      </p:sp>
      <p:sp>
        <p:nvSpPr>
          <p:cNvPr id="836" name="Google Shape;836;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de flujo…</a:t>
            </a:r>
            <a:endParaRPr/>
          </a:p>
        </p:txBody>
      </p:sp>
      <p:sp>
        <p:nvSpPr>
          <p:cNvPr id="837" name="Google Shape;837;p48"/>
          <p:cNvSpPr/>
          <p:nvPr/>
        </p:nvSpPr>
        <p:spPr>
          <a:xfrm>
            <a:off x="6174250" y="28192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838" name="Google Shape;838;p48"/>
          <p:cNvSpPr/>
          <p:nvPr/>
        </p:nvSpPr>
        <p:spPr>
          <a:xfrm>
            <a:off x="5265950" y="9512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839" name="Google Shape;839;p48"/>
          <p:cNvSpPr/>
          <p:nvPr/>
        </p:nvSpPr>
        <p:spPr>
          <a:xfrm>
            <a:off x="5265950" y="15409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840" name="Google Shape;840;p48"/>
          <p:cNvCxnSpPr/>
          <p:nvPr/>
        </p:nvCxnSpPr>
        <p:spPr>
          <a:xfrm>
            <a:off x="5476100" y="142800"/>
            <a:ext cx="0" cy="218700"/>
          </a:xfrm>
          <a:prstGeom prst="straightConnector1">
            <a:avLst/>
          </a:prstGeom>
          <a:noFill/>
          <a:ln cap="flat" cmpd="sng" w="9525">
            <a:solidFill>
              <a:srgbClr val="CCCCCC"/>
            </a:solidFill>
            <a:prstDash val="solid"/>
            <a:round/>
            <a:headEnd len="sm" w="sm" type="none"/>
            <a:tailEnd len="med" w="med" type="triangle"/>
          </a:ln>
        </p:spPr>
      </p:cxnSp>
      <p:cxnSp>
        <p:nvCxnSpPr>
          <p:cNvPr id="841" name="Google Shape;841;p48"/>
          <p:cNvCxnSpPr>
            <a:endCxn id="838" idx="0"/>
          </p:cNvCxnSpPr>
          <p:nvPr/>
        </p:nvCxnSpPr>
        <p:spPr>
          <a:xfrm>
            <a:off x="5476100" y="7883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842" name="Google Shape;842;p48"/>
          <p:cNvCxnSpPr>
            <a:stCxn id="838" idx="2"/>
            <a:endCxn id="839" idx="0"/>
          </p:cNvCxnSpPr>
          <p:nvPr/>
        </p:nvCxnSpPr>
        <p:spPr>
          <a:xfrm>
            <a:off x="5476100" y="13781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843" name="Google Shape;843;p48"/>
          <p:cNvCxnSpPr>
            <a:stCxn id="839" idx="2"/>
            <a:endCxn id="844" idx="0"/>
          </p:cNvCxnSpPr>
          <p:nvPr/>
        </p:nvCxnSpPr>
        <p:spPr>
          <a:xfrm>
            <a:off x="5476100" y="1967875"/>
            <a:ext cx="0" cy="318900"/>
          </a:xfrm>
          <a:prstGeom prst="straightConnector1">
            <a:avLst/>
          </a:prstGeom>
          <a:noFill/>
          <a:ln cap="flat" cmpd="sng" w="9525">
            <a:solidFill>
              <a:srgbClr val="CCCCCC"/>
            </a:solidFill>
            <a:prstDash val="solid"/>
            <a:round/>
            <a:headEnd len="sm" w="sm" type="none"/>
            <a:tailEnd len="med" w="med" type="triangle"/>
          </a:ln>
        </p:spPr>
      </p:cxnSp>
      <p:sp>
        <p:nvSpPr>
          <p:cNvPr id="844" name="Google Shape;844;p48"/>
          <p:cNvSpPr/>
          <p:nvPr/>
        </p:nvSpPr>
        <p:spPr>
          <a:xfrm>
            <a:off x="5215100" y="2286850"/>
            <a:ext cx="522000" cy="522000"/>
          </a:xfrm>
          <a:prstGeom prst="diamond">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845" name="Google Shape;845;p48"/>
          <p:cNvSpPr/>
          <p:nvPr/>
        </p:nvSpPr>
        <p:spPr>
          <a:xfrm>
            <a:off x="5265950" y="455570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cxnSp>
        <p:nvCxnSpPr>
          <p:cNvPr id="846" name="Google Shape;846;p48"/>
          <p:cNvCxnSpPr>
            <a:stCxn id="844" idx="2"/>
            <a:endCxn id="845" idx="0"/>
          </p:cNvCxnSpPr>
          <p:nvPr/>
        </p:nvCxnSpPr>
        <p:spPr>
          <a:xfrm>
            <a:off x="5476100" y="2808850"/>
            <a:ext cx="0" cy="1746900"/>
          </a:xfrm>
          <a:prstGeom prst="straightConnector1">
            <a:avLst/>
          </a:prstGeom>
          <a:noFill/>
          <a:ln cap="flat" cmpd="sng" w="9525">
            <a:solidFill>
              <a:srgbClr val="CCCCCC"/>
            </a:solidFill>
            <a:prstDash val="solid"/>
            <a:round/>
            <a:headEnd len="sm" w="sm" type="none"/>
            <a:tailEnd len="med" w="med" type="triangle"/>
          </a:ln>
        </p:spPr>
      </p:cxnSp>
      <p:cxnSp>
        <p:nvCxnSpPr>
          <p:cNvPr id="847" name="Google Shape;847;p48"/>
          <p:cNvCxnSpPr>
            <a:stCxn id="837" idx="0"/>
            <a:endCxn id="844" idx="3"/>
          </p:cNvCxnSpPr>
          <p:nvPr/>
        </p:nvCxnSpPr>
        <p:spPr>
          <a:xfrm flipH="1" rot="5400000">
            <a:off x="5924950" y="2359825"/>
            <a:ext cx="271500" cy="647400"/>
          </a:xfrm>
          <a:prstGeom prst="bentConnector2">
            <a:avLst/>
          </a:prstGeom>
          <a:noFill/>
          <a:ln cap="flat" cmpd="sng" w="9525">
            <a:solidFill>
              <a:srgbClr val="CCCCCC"/>
            </a:solidFill>
            <a:prstDash val="solid"/>
            <a:round/>
            <a:headEnd len="med" w="med" type="triangle"/>
            <a:tailEnd len="sm" w="sm" type="none"/>
          </a:ln>
        </p:spPr>
      </p:cxnSp>
      <p:sp>
        <p:nvSpPr>
          <p:cNvPr id="848" name="Google Shape;848;p48"/>
          <p:cNvSpPr txBox="1"/>
          <p:nvPr/>
        </p:nvSpPr>
        <p:spPr>
          <a:xfrm>
            <a:off x="5177000" y="296500"/>
            <a:ext cx="598200" cy="31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00CA4E"/>
                </a:solidFill>
                <a:latin typeface="Arial"/>
                <a:ea typeface="Arial"/>
                <a:cs typeface="Arial"/>
                <a:sym typeface="Arial"/>
              </a:rPr>
              <a:t>…</a:t>
            </a:r>
            <a:endParaRPr b="1" i="0" sz="2000" u="none" cap="none" strike="noStrike">
              <a:solidFill>
                <a:srgbClr val="00CA4E"/>
              </a:solidFill>
              <a:latin typeface="Arial"/>
              <a:ea typeface="Arial"/>
              <a:cs typeface="Arial"/>
              <a:sym typeface="Arial"/>
            </a:endParaRPr>
          </a:p>
        </p:txBody>
      </p:sp>
      <p:sp>
        <p:nvSpPr>
          <p:cNvPr id="849" name="Google Shape;849;p48"/>
          <p:cNvSpPr txBox="1"/>
          <p:nvPr/>
        </p:nvSpPr>
        <p:spPr>
          <a:xfrm>
            <a:off x="6804350" y="95275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cantidad_personas=3</a:t>
            </a:r>
            <a:endParaRPr b="0" i="0" sz="1600" u="none" cap="none" strike="noStrike">
              <a:solidFill>
                <a:srgbClr val="00CA4E"/>
              </a:solidFill>
              <a:latin typeface="Arial"/>
              <a:ea typeface="Arial"/>
              <a:cs typeface="Arial"/>
              <a:sym typeface="Arial"/>
            </a:endParaRPr>
          </a:p>
        </p:txBody>
      </p:sp>
      <p:sp>
        <p:nvSpPr>
          <p:cNvPr id="850" name="Google Shape;850;p48"/>
          <p:cNvSpPr txBox="1"/>
          <p:nvPr/>
        </p:nvSpPr>
        <p:spPr>
          <a:xfrm rot="-5400000">
            <a:off x="5164625" y="2973225"/>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false</a:t>
            </a:r>
            <a:endParaRPr b="0" i="0" sz="1400" u="none" cap="none" strike="noStrike">
              <a:solidFill>
                <a:srgbClr val="000000"/>
              </a:solidFill>
              <a:latin typeface="Arial"/>
              <a:ea typeface="Arial"/>
              <a:cs typeface="Arial"/>
              <a:sym typeface="Arial"/>
            </a:endParaRPr>
          </a:p>
        </p:txBody>
      </p:sp>
      <p:sp>
        <p:nvSpPr>
          <p:cNvPr id="851" name="Google Shape;851;p48"/>
          <p:cNvSpPr txBox="1"/>
          <p:nvPr/>
        </p:nvSpPr>
        <p:spPr>
          <a:xfrm>
            <a:off x="5806000" y="2262063"/>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true</a:t>
            </a:r>
            <a:endParaRPr b="1" i="0" sz="800" u="none" cap="none" strike="noStrike">
              <a:solidFill>
                <a:srgbClr val="0184BC"/>
              </a:solidFill>
              <a:latin typeface="Arial"/>
              <a:ea typeface="Arial"/>
              <a:cs typeface="Arial"/>
              <a:sym typeface="Arial"/>
            </a:endParaRPr>
          </a:p>
        </p:txBody>
      </p:sp>
      <p:sp>
        <p:nvSpPr>
          <p:cNvPr id="852" name="Google Shape;852;p48"/>
          <p:cNvSpPr/>
          <p:nvPr/>
        </p:nvSpPr>
        <p:spPr>
          <a:xfrm>
            <a:off x="6174250" y="3468850"/>
            <a:ext cx="420300" cy="426900"/>
          </a:xfrm>
          <a:prstGeom prst="roundRect">
            <a:avLst>
              <a:gd fmla="val 7941" name="adj"/>
            </a:avLst>
          </a:prstGeom>
          <a:solidFill>
            <a:srgbClr val="00CA4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853" name="Google Shape;853;p48"/>
          <p:cNvSpPr/>
          <p:nvPr/>
        </p:nvSpPr>
        <p:spPr>
          <a:xfrm>
            <a:off x="6174250" y="4118425"/>
            <a:ext cx="420300" cy="426900"/>
          </a:xfrm>
          <a:prstGeom prst="roundRect">
            <a:avLst>
              <a:gd fmla="val 7941"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cxnSp>
        <p:nvCxnSpPr>
          <p:cNvPr id="854" name="Google Shape;854;p48"/>
          <p:cNvCxnSpPr>
            <a:stCxn id="837" idx="2"/>
            <a:endCxn id="852" idx="0"/>
          </p:cNvCxnSpPr>
          <p:nvPr/>
        </p:nvCxnSpPr>
        <p:spPr>
          <a:xfrm>
            <a:off x="6384400" y="3246175"/>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855" name="Google Shape;855;p48"/>
          <p:cNvCxnSpPr>
            <a:stCxn id="852" idx="2"/>
            <a:endCxn id="853" idx="0"/>
          </p:cNvCxnSpPr>
          <p:nvPr/>
        </p:nvCxnSpPr>
        <p:spPr>
          <a:xfrm>
            <a:off x="6384400" y="3895750"/>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856" name="Google Shape;856;p48"/>
          <p:cNvCxnSpPr>
            <a:stCxn id="853" idx="2"/>
            <a:endCxn id="844" idx="0"/>
          </p:cNvCxnSpPr>
          <p:nvPr/>
        </p:nvCxnSpPr>
        <p:spPr>
          <a:xfrm flipH="1" rot="5400000">
            <a:off x="4801000" y="2961925"/>
            <a:ext cx="2258400" cy="908400"/>
          </a:xfrm>
          <a:prstGeom prst="curvedConnector5">
            <a:avLst>
              <a:gd fmla="val -9376" name="adj1"/>
              <a:gd fmla="val -99309" name="adj2"/>
              <a:gd fmla="val 101104" name="adj3"/>
            </a:avLst>
          </a:prstGeom>
          <a:noFill/>
          <a:ln cap="flat" cmpd="sng" w="9525">
            <a:solidFill>
              <a:srgbClr val="CCCCCC"/>
            </a:solidFill>
            <a:prstDash val="solid"/>
            <a:round/>
            <a:headEnd len="sm" w="sm" type="none"/>
            <a:tailEnd len="med" w="med" type="triangle"/>
          </a:ln>
        </p:spPr>
      </p:cxnSp>
      <p:sp>
        <p:nvSpPr>
          <p:cNvPr id="857" name="Google Shape;857;p48"/>
          <p:cNvSpPr txBox="1"/>
          <p:nvPr/>
        </p:nvSpPr>
        <p:spPr>
          <a:xfrm>
            <a:off x="7369500" y="1542475"/>
            <a:ext cx="14628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contador=2</a:t>
            </a:r>
            <a:endParaRPr b="0" i="0" sz="1600" u="none" cap="none" strike="noStrike">
              <a:solidFill>
                <a:srgbClr val="00CA4E"/>
              </a:solidFill>
              <a:latin typeface="Arial"/>
              <a:ea typeface="Arial"/>
              <a:cs typeface="Arial"/>
              <a:sym typeface="Arial"/>
            </a:endParaRPr>
          </a:p>
        </p:txBody>
      </p:sp>
      <p:sp>
        <p:nvSpPr>
          <p:cNvPr id="858" name="Google Shape;858;p48"/>
          <p:cNvSpPr/>
          <p:nvPr/>
        </p:nvSpPr>
        <p:spPr>
          <a:xfrm>
            <a:off x="22500" y="3549263"/>
            <a:ext cx="598200" cy="162900"/>
          </a:xfrm>
          <a:prstGeom prst="homePlate">
            <a:avLst>
              <a:gd fmla="val 50000" name="adj"/>
            </a:avLst>
          </a:prstGeom>
          <a:solidFill>
            <a:srgbClr val="00CA4E"/>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48"/>
          <p:cNvSpPr txBox="1"/>
          <p:nvPr/>
        </p:nvSpPr>
        <p:spPr>
          <a:xfrm>
            <a:off x="6804350" y="519425"/>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edad_suma=31</a:t>
            </a:r>
            <a:endParaRPr b="0" i="0" sz="1600" u="none" cap="none" strike="noStrike">
              <a:solidFill>
                <a:srgbClr val="00CA4E"/>
              </a:solidFill>
              <a:latin typeface="Arial"/>
              <a:ea typeface="Arial"/>
              <a:cs typeface="Arial"/>
              <a:sym typeface="Arial"/>
            </a:endParaRPr>
          </a:p>
        </p:txBody>
      </p:sp>
      <p:sp>
        <p:nvSpPr>
          <p:cNvPr id="860" name="Google Shape;860;p48"/>
          <p:cNvSpPr txBox="1"/>
          <p:nvPr/>
        </p:nvSpPr>
        <p:spPr>
          <a:xfrm>
            <a:off x="6804350" y="14280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nueva_edad=11</a:t>
            </a:r>
            <a:endParaRPr b="0" i="0" sz="1600" u="none" cap="none" strike="noStrike">
              <a:solidFill>
                <a:srgbClr val="00CA4E"/>
              </a:solidFill>
              <a:latin typeface="Arial"/>
              <a:ea typeface="Arial"/>
              <a:cs typeface="Arial"/>
              <a:sym typeface="Arial"/>
            </a:endParaRPr>
          </a:p>
        </p:txBody>
      </p:sp>
      <p:sp>
        <p:nvSpPr>
          <p:cNvPr id="861" name="Google Shape;861;p48"/>
          <p:cNvSpPr/>
          <p:nvPr/>
        </p:nvSpPr>
        <p:spPr>
          <a:xfrm>
            <a:off x="22500" y="3712175"/>
            <a:ext cx="598200" cy="162900"/>
          </a:xfrm>
          <a:prstGeom prst="homePlate">
            <a:avLst>
              <a:gd fmla="val 50000" name="adj"/>
            </a:avLst>
          </a:prstGeom>
          <a:solidFill>
            <a:schemeClr val="accent4"/>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49"/>
          <p:cNvSpPr/>
          <p:nvPr/>
        </p:nvSpPr>
        <p:spPr>
          <a:xfrm rot="10800000">
            <a:off x="544342" y="2074825"/>
            <a:ext cx="3909600" cy="2179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867" name="Google Shape;867;p49"/>
          <p:cNvSpPr/>
          <p:nvPr/>
        </p:nvSpPr>
        <p:spPr>
          <a:xfrm rot="10800000">
            <a:off x="544345" y="1779675"/>
            <a:ext cx="3909600" cy="3969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68" name="Google Shape;868;p49"/>
          <p:cNvSpPr/>
          <p:nvPr/>
        </p:nvSpPr>
        <p:spPr>
          <a:xfrm>
            <a:off x="695755" y="1853541"/>
            <a:ext cx="193800" cy="193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69" name="Google Shape;869;p49"/>
          <p:cNvSpPr/>
          <p:nvPr/>
        </p:nvSpPr>
        <p:spPr>
          <a:xfrm>
            <a:off x="982622" y="1853541"/>
            <a:ext cx="193800" cy="193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70" name="Google Shape;870;p49"/>
          <p:cNvSpPr/>
          <p:nvPr/>
        </p:nvSpPr>
        <p:spPr>
          <a:xfrm>
            <a:off x="1269489" y="1853541"/>
            <a:ext cx="193800" cy="193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871" name="Google Shape;871;p49"/>
          <p:cNvSpPr txBox="1"/>
          <p:nvPr/>
        </p:nvSpPr>
        <p:spPr>
          <a:xfrm>
            <a:off x="544657" y="2104581"/>
            <a:ext cx="3909600" cy="2019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2</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3</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4</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5</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6</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7</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8</a:t>
            </a:r>
            <a:r>
              <a:rPr lang="es" sz="900">
                <a:solidFill>
                  <a:srgbClr val="383A42"/>
                </a:solidFill>
                <a:latin typeface="Ubuntu Mono"/>
                <a:ea typeface="Ubuntu Mono"/>
                <a:cs typeface="Ubuntu Mono"/>
                <a:sym typeface="Ubuntu Mono"/>
              </a:rPr>
              <a:t> </a:t>
            </a:r>
            <a:r>
              <a:rPr lang="es" sz="900">
                <a:solidFill>
                  <a:srgbClr val="A626A4"/>
                </a:solidFill>
                <a:latin typeface="Ubuntu Mono"/>
                <a:ea typeface="Ubuntu Mono"/>
                <a:cs typeface="Ubuntu Mono"/>
                <a:sym typeface="Ubuntu Mono"/>
              </a:rPr>
              <a:t>while</a:t>
            </a:r>
            <a:r>
              <a:rPr lang="es" sz="900">
                <a:solidFill>
                  <a:srgbClr val="383A42"/>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&lt;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9</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10</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11</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12</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986801"/>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13</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14</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cout</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50A14F"/>
                </a:solidFill>
                <a:latin typeface="Ubuntu Mono"/>
                <a:ea typeface="Ubuntu Mono"/>
                <a:cs typeface="Ubuntu Mono"/>
                <a:sym typeface="Ubuntu Mono"/>
              </a:rPr>
              <a:t>"Promedio: "</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endl</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p:txBody>
      </p:sp>
      <p:sp>
        <p:nvSpPr>
          <p:cNvPr id="872" name="Google Shape;872;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de flujo…</a:t>
            </a:r>
            <a:endParaRPr/>
          </a:p>
        </p:txBody>
      </p:sp>
      <p:sp>
        <p:nvSpPr>
          <p:cNvPr id="873" name="Google Shape;873;p49"/>
          <p:cNvSpPr/>
          <p:nvPr/>
        </p:nvSpPr>
        <p:spPr>
          <a:xfrm>
            <a:off x="6174250" y="28192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874" name="Google Shape;874;p49"/>
          <p:cNvSpPr/>
          <p:nvPr/>
        </p:nvSpPr>
        <p:spPr>
          <a:xfrm>
            <a:off x="5265950" y="9512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875" name="Google Shape;875;p49"/>
          <p:cNvSpPr/>
          <p:nvPr/>
        </p:nvSpPr>
        <p:spPr>
          <a:xfrm>
            <a:off x="5265950" y="15409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876" name="Google Shape;876;p49"/>
          <p:cNvCxnSpPr/>
          <p:nvPr/>
        </p:nvCxnSpPr>
        <p:spPr>
          <a:xfrm>
            <a:off x="5476100" y="142800"/>
            <a:ext cx="0" cy="218700"/>
          </a:xfrm>
          <a:prstGeom prst="straightConnector1">
            <a:avLst/>
          </a:prstGeom>
          <a:noFill/>
          <a:ln cap="flat" cmpd="sng" w="9525">
            <a:solidFill>
              <a:srgbClr val="CCCCCC"/>
            </a:solidFill>
            <a:prstDash val="solid"/>
            <a:round/>
            <a:headEnd len="sm" w="sm" type="none"/>
            <a:tailEnd len="med" w="med" type="triangle"/>
          </a:ln>
        </p:spPr>
      </p:cxnSp>
      <p:cxnSp>
        <p:nvCxnSpPr>
          <p:cNvPr id="877" name="Google Shape;877;p49"/>
          <p:cNvCxnSpPr>
            <a:endCxn id="874" idx="0"/>
          </p:cNvCxnSpPr>
          <p:nvPr/>
        </p:nvCxnSpPr>
        <p:spPr>
          <a:xfrm>
            <a:off x="5476100" y="7883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878" name="Google Shape;878;p49"/>
          <p:cNvCxnSpPr>
            <a:stCxn id="874" idx="2"/>
            <a:endCxn id="875" idx="0"/>
          </p:cNvCxnSpPr>
          <p:nvPr/>
        </p:nvCxnSpPr>
        <p:spPr>
          <a:xfrm>
            <a:off x="5476100" y="13781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879" name="Google Shape;879;p49"/>
          <p:cNvCxnSpPr>
            <a:stCxn id="875" idx="2"/>
            <a:endCxn id="880" idx="0"/>
          </p:cNvCxnSpPr>
          <p:nvPr/>
        </p:nvCxnSpPr>
        <p:spPr>
          <a:xfrm>
            <a:off x="5476100" y="1967875"/>
            <a:ext cx="0" cy="318900"/>
          </a:xfrm>
          <a:prstGeom prst="straightConnector1">
            <a:avLst/>
          </a:prstGeom>
          <a:noFill/>
          <a:ln cap="flat" cmpd="sng" w="9525">
            <a:solidFill>
              <a:srgbClr val="CCCCCC"/>
            </a:solidFill>
            <a:prstDash val="solid"/>
            <a:round/>
            <a:headEnd len="sm" w="sm" type="none"/>
            <a:tailEnd len="med" w="med" type="triangle"/>
          </a:ln>
        </p:spPr>
      </p:cxnSp>
      <p:sp>
        <p:nvSpPr>
          <p:cNvPr id="880" name="Google Shape;880;p49"/>
          <p:cNvSpPr/>
          <p:nvPr/>
        </p:nvSpPr>
        <p:spPr>
          <a:xfrm>
            <a:off x="5215100" y="2286850"/>
            <a:ext cx="522000" cy="522000"/>
          </a:xfrm>
          <a:prstGeom prst="diamond">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881" name="Google Shape;881;p49"/>
          <p:cNvSpPr/>
          <p:nvPr/>
        </p:nvSpPr>
        <p:spPr>
          <a:xfrm>
            <a:off x="5265950" y="455570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cxnSp>
        <p:nvCxnSpPr>
          <p:cNvPr id="882" name="Google Shape;882;p49"/>
          <p:cNvCxnSpPr>
            <a:stCxn id="880" idx="2"/>
            <a:endCxn id="881" idx="0"/>
          </p:cNvCxnSpPr>
          <p:nvPr/>
        </p:nvCxnSpPr>
        <p:spPr>
          <a:xfrm>
            <a:off x="5476100" y="2808850"/>
            <a:ext cx="0" cy="1746900"/>
          </a:xfrm>
          <a:prstGeom prst="straightConnector1">
            <a:avLst/>
          </a:prstGeom>
          <a:noFill/>
          <a:ln cap="flat" cmpd="sng" w="9525">
            <a:solidFill>
              <a:srgbClr val="CCCCCC"/>
            </a:solidFill>
            <a:prstDash val="solid"/>
            <a:round/>
            <a:headEnd len="sm" w="sm" type="none"/>
            <a:tailEnd len="med" w="med" type="triangle"/>
          </a:ln>
        </p:spPr>
      </p:cxnSp>
      <p:cxnSp>
        <p:nvCxnSpPr>
          <p:cNvPr id="883" name="Google Shape;883;p49"/>
          <p:cNvCxnSpPr>
            <a:stCxn id="873" idx="0"/>
            <a:endCxn id="880" idx="3"/>
          </p:cNvCxnSpPr>
          <p:nvPr/>
        </p:nvCxnSpPr>
        <p:spPr>
          <a:xfrm flipH="1" rot="5400000">
            <a:off x="5924950" y="2359825"/>
            <a:ext cx="271500" cy="647400"/>
          </a:xfrm>
          <a:prstGeom prst="bentConnector2">
            <a:avLst/>
          </a:prstGeom>
          <a:noFill/>
          <a:ln cap="flat" cmpd="sng" w="9525">
            <a:solidFill>
              <a:srgbClr val="CCCCCC"/>
            </a:solidFill>
            <a:prstDash val="solid"/>
            <a:round/>
            <a:headEnd len="med" w="med" type="triangle"/>
            <a:tailEnd len="sm" w="sm" type="none"/>
          </a:ln>
        </p:spPr>
      </p:cxnSp>
      <p:sp>
        <p:nvSpPr>
          <p:cNvPr id="884" name="Google Shape;884;p49"/>
          <p:cNvSpPr txBox="1"/>
          <p:nvPr/>
        </p:nvSpPr>
        <p:spPr>
          <a:xfrm>
            <a:off x="5177000" y="296500"/>
            <a:ext cx="598200" cy="31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00CA4E"/>
                </a:solidFill>
                <a:latin typeface="Arial"/>
                <a:ea typeface="Arial"/>
                <a:cs typeface="Arial"/>
                <a:sym typeface="Arial"/>
              </a:rPr>
              <a:t>…</a:t>
            </a:r>
            <a:endParaRPr b="1" i="0" sz="2000" u="none" cap="none" strike="noStrike">
              <a:solidFill>
                <a:srgbClr val="00CA4E"/>
              </a:solidFill>
              <a:latin typeface="Arial"/>
              <a:ea typeface="Arial"/>
              <a:cs typeface="Arial"/>
              <a:sym typeface="Arial"/>
            </a:endParaRPr>
          </a:p>
        </p:txBody>
      </p:sp>
      <p:sp>
        <p:nvSpPr>
          <p:cNvPr id="885" name="Google Shape;885;p49"/>
          <p:cNvSpPr txBox="1"/>
          <p:nvPr/>
        </p:nvSpPr>
        <p:spPr>
          <a:xfrm>
            <a:off x="6804350" y="95275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cantidad_personas=3</a:t>
            </a:r>
            <a:endParaRPr b="0" i="0" sz="1600" u="none" cap="none" strike="noStrike">
              <a:solidFill>
                <a:srgbClr val="00CA4E"/>
              </a:solidFill>
              <a:latin typeface="Arial"/>
              <a:ea typeface="Arial"/>
              <a:cs typeface="Arial"/>
              <a:sym typeface="Arial"/>
            </a:endParaRPr>
          </a:p>
        </p:txBody>
      </p:sp>
      <p:sp>
        <p:nvSpPr>
          <p:cNvPr id="886" name="Google Shape;886;p49"/>
          <p:cNvSpPr txBox="1"/>
          <p:nvPr/>
        </p:nvSpPr>
        <p:spPr>
          <a:xfrm rot="-5400000">
            <a:off x="5164625" y="2973225"/>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false</a:t>
            </a:r>
            <a:endParaRPr b="0" i="0" sz="1400" u="none" cap="none" strike="noStrike">
              <a:solidFill>
                <a:srgbClr val="000000"/>
              </a:solidFill>
              <a:latin typeface="Arial"/>
              <a:ea typeface="Arial"/>
              <a:cs typeface="Arial"/>
              <a:sym typeface="Arial"/>
            </a:endParaRPr>
          </a:p>
        </p:txBody>
      </p:sp>
      <p:sp>
        <p:nvSpPr>
          <p:cNvPr id="887" name="Google Shape;887;p49"/>
          <p:cNvSpPr txBox="1"/>
          <p:nvPr/>
        </p:nvSpPr>
        <p:spPr>
          <a:xfrm>
            <a:off x="5806000" y="2262063"/>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true</a:t>
            </a:r>
            <a:endParaRPr b="1" i="0" sz="800" u="none" cap="none" strike="noStrike">
              <a:solidFill>
                <a:srgbClr val="0184BC"/>
              </a:solidFill>
              <a:latin typeface="Arial"/>
              <a:ea typeface="Arial"/>
              <a:cs typeface="Arial"/>
              <a:sym typeface="Arial"/>
            </a:endParaRPr>
          </a:p>
        </p:txBody>
      </p:sp>
      <p:sp>
        <p:nvSpPr>
          <p:cNvPr id="888" name="Google Shape;888;p49"/>
          <p:cNvSpPr/>
          <p:nvPr/>
        </p:nvSpPr>
        <p:spPr>
          <a:xfrm>
            <a:off x="6174250" y="34688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889" name="Google Shape;889;p49"/>
          <p:cNvSpPr/>
          <p:nvPr/>
        </p:nvSpPr>
        <p:spPr>
          <a:xfrm>
            <a:off x="6174250" y="4118425"/>
            <a:ext cx="420300" cy="426900"/>
          </a:xfrm>
          <a:prstGeom prst="roundRect">
            <a:avLst>
              <a:gd fmla="val 7941" name="adj"/>
            </a:avLst>
          </a:prstGeom>
          <a:solidFill>
            <a:srgbClr val="00CA4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cxnSp>
        <p:nvCxnSpPr>
          <p:cNvPr id="890" name="Google Shape;890;p49"/>
          <p:cNvCxnSpPr>
            <a:stCxn id="873" idx="2"/>
            <a:endCxn id="888" idx="0"/>
          </p:cNvCxnSpPr>
          <p:nvPr/>
        </p:nvCxnSpPr>
        <p:spPr>
          <a:xfrm>
            <a:off x="6384400" y="3246175"/>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891" name="Google Shape;891;p49"/>
          <p:cNvCxnSpPr>
            <a:stCxn id="888" idx="2"/>
            <a:endCxn id="889" idx="0"/>
          </p:cNvCxnSpPr>
          <p:nvPr/>
        </p:nvCxnSpPr>
        <p:spPr>
          <a:xfrm>
            <a:off x="6384400" y="3895750"/>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892" name="Google Shape;892;p49"/>
          <p:cNvCxnSpPr>
            <a:stCxn id="889" idx="2"/>
            <a:endCxn id="880" idx="0"/>
          </p:cNvCxnSpPr>
          <p:nvPr/>
        </p:nvCxnSpPr>
        <p:spPr>
          <a:xfrm flipH="1" rot="5400000">
            <a:off x="4801000" y="2961925"/>
            <a:ext cx="2258400" cy="908400"/>
          </a:xfrm>
          <a:prstGeom prst="curvedConnector5">
            <a:avLst>
              <a:gd fmla="val -9376" name="adj1"/>
              <a:gd fmla="val -99309" name="adj2"/>
              <a:gd fmla="val 101104" name="adj3"/>
            </a:avLst>
          </a:prstGeom>
          <a:noFill/>
          <a:ln cap="flat" cmpd="sng" w="9525">
            <a:solidFill>
              <a:srgbClr val="CCCCCC"/>
            </a:solidFill>
            <a:prstDash val="solid"/>
            <a:round/>
            <a:headEnd len="sm" w="sm" type="none"/>
            <a:tailEnd len="med" w="med" type="triangle"/>
          </a:ln>
        </p:spPr>
      </p:cxnSp>
      <p:sp>
        <p:nvSpPr>
          <p:cNvPr id="893" name="Google Shape;893;p49"/>
          <p:cNvSpPr txBox="1"/>
          <p:nvPr/>
        </p:nvSpPr>
        <p:spPr>
          <a:xfrm>
            <a:off x="7369500" y="1542475"/>
            <a:ext cx="14628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contador=3</a:t>
            </a:r>
            <a:endParaRPr b="0" i="0" sz="1600" u="none" cap="none" strike="noStrike">
              <a:solidFill>
                <a:srgbClr val="00CA4E"/>
              </a:solidFill>
              <a:latin typeface="Arial"/>
              <a:ea typeface="Arial"/>
              <a:cs typeface="Arial"/>
              <a:sym typeface="Arial"/>
            </a:endParaRPr>
          </a:p>
        </p:txBody>
      </p:sp>
      <p:sp>
        <p:nvSpPr>
          <p:cNvPr id="894" name="Google Shape;894;p49"/>
          <p:cNvSpPr/>
          <p:nvPr/>
        </p:nvSpPr>
        <p:spPr>
          <a:xfrm>
            <a:off x="22500" y="3691738"/>
            <a:ext cx="598200" cy="162900"/>
          </a:xfrm>
          <a:prstGeom prst="homePlate">
            <a:avLst>
              <a:gd fmla="val 50000" name="adj"/>
            </a:avLst>
          </a:prstGeom>
          <a:solidFill>
            <a:srgbClr val="00CA4E"/>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49"/>
          <p:cNvSpPr txBox="1"/>
          <p:nvPr/>
        </p:nvSpPr>
        <p:spPr>
          <a:xfrm>
            <a:off x="6804350" y="519425"/>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edad_suma=31</a:t>
            </a:r>
            <a:endParaRPr b="0" i="0" sz="1600" u="none" cap="none" strike="noStrike">
              <a:solidFill>
                <a:srgbClr val="00CA4E"/>
              </a:solidFill>
              <a:latin typeface="Arial"/>
              <a:ea typeface="Arial"/>
              <a:cs typeface="Arial"/>
              <a:sym typeface="Arial"/>
            </a:endParaRPr>
          </a:p>
        </p:txBody>
      </p:sp>
      <p:sp>
        <p:nvSpPr>
          <p:cNvPr id="896" name="Google Shape;896;p49"/>
          <p:cNvSpPr txBox="1"/>
          <p:nvPr/>
        </p:nvSpPr>
        <p:spPr>
          <a:xfrm>
            <a:off x="6804350" y="14280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nueva_edad=11</a:t>
            </a:r>
            <a:endParaRPr b="0" i="0" sz="1600" u="none" cap="none" strike="noStrike">
              <a:solidFill>
                <a:srgbClr val="00CA4E"/>
              </a:solidFill>
              <a:latin typeface="Arial"/>
              <a:ea typeface="Arial"/>
              <a:cs typeface="Arial"/>
              <a:sym typeface="Arial"/>
            </a:endParaRPr>
          </a:p>
        </p:txBody>
      </p:sp>
      <p:sp>
        <p:nvSpPr>
          <p:cNvPr id="897" name="Google Shape;897;p49"/>
          <p:cNvSpPr/>
          <p:nvPr/>
        </p:nvSpPr>
        <p:spPr>
          <a:xfrm>
            <a:off x="22500" y="3163925"/>
            <a:ext cx="598200" cy="162900"/>
          </a:xfrm>
          <a:prstGeom prst="homePlate">
            <a:avLst>
              <a:gd fmla="val 50000" name="adj"/>
            </a:avLst>
          </a:prstGeom>
          <a:solidFill>
            <a:schemeClr val="accent4"/>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50"/>
          <p:cNvSpPr/>
          <p:nvPr/>
        </p:nvSpPr>
        <p:spPr>
          <a:xfrm rot="10800000">
            <a:off x="544342" y="2074825"/>
            <a:ext cx="3909600" cy="2179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903" name="Google Shape;903;p50"/>
          <p:cNvSpPr/>
          <p:nvPr/>
        </p:nvSpPr>
        <p:spPr>
          <a:xfrm rot="10800000">
            <a:off x="544345" y="1779675"/>
            <a:ext cx="3909600" cy="3969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04" name="Google Shape;904;p50"/>
          <p:cNvSpPr/>
          <p:nvPr/>
        </p:nvSpPr>
        <p:spPr>
          <a:xfrm>
            <a:off x="695755" y="1853541"/>
            <a:ext cx="193800" cy="193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05" name="Google Shape;905;p50"/>
          <p:cNvSpPr/>
          <p:nvPr/>
        </p:nvSpPr>
        <p:spPr>
          <a:xfrm>
            <a:off x="982622" y="1853541"/>
            <a:ext cx="193800" cy="193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06" name="Google Shape;906;p50"/>
          <p:cNvSpPr/>
          <p:nvPr/>
        </p:nvSpPr>
        <p:spPr>
          <a:xfrm>
            <a:off x="1269489" y="1853541"/>
            <a:ext cx="193800" cy="193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07" name="Google Shape;907;p50"/>
          <p:cNvSpPr txBox="1"/>
          <p:nvPr/>
        </p:nvSpPr>
        <p:spPr>
          <a:xfrm>
            <a:off x="544657" y="2104581"/>
            <a:ext cx="3909600" cy="2019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2</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3</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4</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5</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6</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7</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8</a:t>
            </a:r>
            <a:r>
              <a:rPr lang="es" sz="900">
                <a:solidFill>
                  <a:srgbClr val="383A42"/>
                </a:solidFill>
                <a:latin typeface="Ubuntu Mono"/>
                <a:ea typeface="Ubuntu Mono"/>
                <a:cs typeface="Ubuntu Mono"/>
                <a:sym typeface="Ubuntu Mono"/>
              </a:rPr>
              <a:t> </a:t>
            </a:r>
            <a:r>
              <a:rPr lang="es" sz="900">
                <a:solidFill>
                  <a:srgbClr val="A626A4"/>
                </a:solidFill>
                <a:latin typeface="Ubuntu Mono"/>
                <a:ea typeface="Ubuntu Mono"/>
                <a:cs typeface="Ubuntu Mono"/>
                <a:sym typeface="Ubuntu Mono"/>
              </a:rPr>
              <a:t>while</a:t>
            </a:r>
            <a:r>
              <a:rPr lang="es" sz="900">
                <a:solidFill>
                  <a:srgbClr val="383A42"/>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&lt;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9</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10</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11</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12</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986801"/>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13</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14</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cout</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50A14F"/>
                </a:solidFill>
                <a:latin typeface="Ubuntu Mono"/>
                <a:ea typeface="Ubuntu Mono"/>
                <a:cs typeface="Ubuntu Mono"/>
                <a:sym typeface="Ubuntu Mono"/>
              </a:rPr>
              <a:t>"Promedio: "</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endl</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p:txBody>
      </p:sp>
      <p:sp>
        <p:nvSpPr>
          <p:cNvPr id="908" name="Google Shape;908;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de flujo…</a:t>
            </a:r>
            <a:endParaRPr/>
          </a:p>
        </p:txBody>
      </p:sp>
      <p:sp>
        <p:nvSpPr>
          <p:cNvPr id="909" name="Google Shape;909;p50"/>
          <p:cNvSpPr/>
          <p:nvPr/>
        </p:nvSpPr>
        <p:spPr>
          <a:xfrm>
            <a:off x="6174250" y="28192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910" name="Google Shape;910;p50"/>
          <p:cNvSpPr/>
          <p:nvPr/>
        </p:nvSpPr>
        <p:spPr>
          <a:xfrm>
            <a:off x="5265950" y="9512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911" name="Google Shape;911;p50"/>
          <p:cNvSpPr/>
          <p:nvPr/>
        </p:nvSpPr>
        <p:spPr>
          <a:xfrm>
            <a:off x="5265950" y="15409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912" name="Google Shape;912;p50"/>
          <p:cNvCxnSpPr/>
          <p:nvPr/>
        </p:nvCxnSpPr>
        <p:spPr>
          <a:xfrm>
            <a:off x="5476100" y="142800"/>
            <a:ext cx="0" cy="218700"/>
          </a:xfrm>
          <a:prstGeom prst="straightConnector1">
            <a:avLst/>
          </a:prstGeom>
          <a:noFill/>
          <a:ln cap="flat" cmpd="sng" w="9525">
            <a:solidFill>
              <a:srgbClr val="CCCCCC"/>
            </a:solidFill>
            <a:prstDash val="solid"/>
            <a:round/>
            <a:headEnd len="sm" w="sm" type="none"/>
            <a:tailEnd len="med" w="med" type="triangle"/>
          </a:ln>
        </p:spPr>
      </p:cxnSp>
      <p:cxnSp>
        <p:nvCxnSpPr>
          <p:cNvPr id="913" name="Google Shape;913;p50"/>
          <p:cNvCxnSpPr>
            <a:endCxn id="910" idx="0"/>
          </p:cNvCxnSpPr>
          <p:nvPr/>
        </p:nvCxnSpPr>
        <p:spPr>
          <a:xfrm>
            <a:off x="5476100" y="7883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914" name="Google Shape;914;p50"/>
          <p:cNvCxnSpPr>
            <a:stCxn id="910" idx="2"/>
            <a:endCxn id="911" idx="0"/>
          </p:cNvCxnSpPr>
          <p:nvPr/>
        </p:nvCxnSpPr>
        <p:spPr>
          <a:xfrm>
            <a:off x="5476100" y="13781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915" name="Google Shape;915;p50"/>
          <p:cNvCxnSpPr>
            <a:stCxn id="911" idx="2"/>
            <a:endCxn id="916" idx="0"/>
          </p:cNvCxnSpPr>
          <p:nvPr/>
        </p:nvCxnSpPr>
        <p:spPr>
          <a:xfrm>
            <a:off x="5476100" y="1967875"/>
            <a:ext cx="0" cy="318900"/>
          </a:xfrm>
          <a:prstGeom prst="straightConnector1">
            <a:avLst/>
          </a:prstGeom>
          <a:noFill/>
          <a:ln cap="flat" cmpd="sng" w="9525">
            <a:solidFill>
              <a:srgbClr val="CCCCCC"/>
            </a:solidFill>
            <a:prstDash val="solid"/>
            <a:round/>
            <a:headEnd len="sm" w="sm" type="none"/>
            <a:tailEnd len="med" w="med" type="triangle"/>
          </a:ln>
        </p:spPr>
      </p:cxnSp>
      <p:sp>
        <p:nvSpPr>
          <p:cNvPr id="916" name="Google Shape;916;p50"/>
          <p:cNvSpPr/>
          <p:nvPr/>
        </p:nvSpPr>
        <p:spPr>
          <a:xfrm>
            <a:off x="5215100" y="2286850"/>
            <a:ext cx="522000" cy="522000"/>
          </a:xfrm>
          <a:prstGeom prst="diamond">
            <a:avLst/>
          </a:prstGeom>
          <a:solidFill>
            <a:srgbClr val="00CA4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917" name="Google Shape;917;p50"/>
          <p:cNvSpPr/>
          <p:nvPr/>
        </p:nvSpPr>
        <p:spPr>
          <a:xfrm>
            <a:off x="5265950" y="4555700"/>
            <a:ext cx="420300" cy="426900"/>
          </a:xfrm>
          <a:prstGeom prst="roundRect">
            <a:avLst>
              <a:gd fmla="val 7941"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cxnSp>
        <p:nvCxnSpPr>
          <p:cNvPr id="918" name="Google Shape;918;p50"/>
          <p:cNvCxnSpPr>
            <a:stCxn id="916" idx="2"/>
            <a:endCxn id="917" idx="0"/>
          </p:cNvCxnSpPr>
          <p:nvPr/>
        </p:nvCxnSpPr>
        <p:spPr>
          <a:xfrm>
            <a:off x="5476100" y="2808850"/>
            <a:ext cx="0" cy="1746900"/>
          </a:xfrm>
          <a:prstGeom prst="straightConnector1">
            <a:avLst/>
          </a:prstGeom>
          <a:noFill/>
          <a:ln cap="flat" cmpd="sng" w="9525">
            <a:solidFill>
              <a:srgbClr val="FF605C"/>
            </a:solidFill>
            <a:prstDash val="solid"/>
            <a:round/>
            <a:headEnd len="sm" w="sm" type="none"/>
            <a:tailEnd len="med" w="med" type="triangle"/>
          </a:ln>
        </p:spPr>
      </p:cxnSp>
      <p:cxnSp>
        <p:nvCxnSpPr>
          <p:cNvPr id="919" name="Google Shape;919;p50"/>
          <p:cNvCxnSpPr>
            <a:stCxn id="909" idx="0"/>
            <a:endCxn id="916" idx="3"/>
          </p:cNvCxnSpPr>
          <p:nvPr/>
        </p:nvCxnSpPr>
        <p:spPr>
          <a:xfrm flipH="1" rot="5400000">
            <a:off x="5924950" y="2359825"/>
            <a:ext cx="271500" cy="647400"/>
          </a:xfrm>
          <a:prstGeom prst="bentConnector2">
            <a:avLst/>
          </a:prstGeom>
          <a:noFill/>
          <a:ln cap="flat" cmpd="sng" w="9525">
            <a:solidFill>
              <a:srgbClr val="CCCCCC"/>
            </a:solidFill>
            <a:prstDash val="solid"/>
            <a:round/>
            <a:headEnd len="med" w="med" type="triangle"/>
            <a:tailEnd len="sm" w="sm" type="none"/>
          </a:ln>
        </p:spPr>
      </p:cxnSp>
      <p:sp>
        <p:nvSpPr>
          <p:cNvPr id="920" name="Google Shape;920;p50"/>
          <p:cNvSpPr txBox="1"/>
          <p:nvPr/>
        </p:nvSpPr>
        <p:spPr>
          <a:xfrm>
            <a:off x="5177000" y="296500"/>
            <a:ext cx="598200" cy="31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00CA4E"/>
                </a:solidFill>
                <a:latin typeface="Arial"/>
                <a:ea typeface="Arial"/>
                <a:cs typeface="Arial"/>
                <a:sym typeface="Arial"/>
              </a:rPr>
              <a:t>…</a:t>
            </a:r>
            <a:endParaRPr b="1" i="0" sz="2000" u="none" cap="none" strike="noStrike">
              <a:solidFill>
                <a:srgbClr val="00CA4E"/>
              </a:solidFill>
              <a:latin typeface="Arial"/>
              <a:ea typeface="Arial"/>
              <a:cs typeface="Arial"/>
              <a:sym typeface="Arial"/>
            </a:endParaRPr>
          </a:p>
        </p:txBody>
      </p:sp>
      <p:sp>
        <p:nvSpPr>
          <p:cNvPr id="921" name="Google Shape;921;p50"/>
          <p:cNvSpPr txBox="1"/>
          <p:nvPr/>
        </p:nvSpPr>
        <p:spPr>
          <a:xfrm>
            <a:off x="6804350" y="95275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cantidad_personas=3</a:t>
            </a:r>
            <a:endParaRPr b="0" i="0" sz="1600" u="none" cap="none" strike="noStrike">
              <a:solidFill>
                <a:srgbClr val="00CA4E"/>
              </a:solidFill>
              <a:latin typeface="Arial"/>
              <a:ea typeface="Arial"/>
              <a:cs typeface="Arial"/>
              <a:sym typeface="Arial"/>
            </a:endParaRPr>
          </a:p>
        </p:txBody>
      </p:sp>
      <p:sp>
        <p:nvSpPr>
          <p:cNvPr id="922" name="Google Shape;922;p50"/>
          <p:cNvSpPr txBox="1"/>
          <p:nvPr/>
        </p:nvSpPr>
        <p:spPr>
          <a:xfrm rot="-5400000">
            <a:off x="4862075" y="3201850"/>
            <a:ext cx="8097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u="none" cap="none" strike="noStrike">
                <a:solidFill>
                  <a:srgbClr val="FF605C"/>
                </a:solidFill>
                <a:latin typeface="Arial"/>
                <a:ea typeface="Arial"/>
                <a:cs typeface="Arial"/>
                <a:sym typeface="Arial"/>
              </a:rPr>
              <a:t>false</a:t>
            </a:r>
            <a:endParaRPr b="0" i="0" sz="2000" u="none" cap="none" strike="noStrike">
              <a:solidFill>
                <a:srgbClr val="FF605C"/>
              </a:solidFill>
              <a:latin typeface="Arial"/>
              <a:ea typeface="Arial"/>
              <a:cs typeface="Arial"/>
              <a:sym typeface="Arial"/>
            </a:endParaRPr>
          </a:p>
        </p:txBody>
      </p:sp>
      <p:sp>
        <p:nvSpPr>
          <p:cNvPr id="923" name="Google Shape;923;p50"/>
          <p:cNvSpPr txBox="1"/>
          <p:nvPr/>
        </p:nvSpPr>
        <p:spPr>
          <a:xfrm>
            <a:off x="5806000" y="2262063"/>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true</a:t>
            </a:r>
            <a:endParaRPr b="1" i="0" sz="800" u="none" cap="none" strike="noStrike">
              <a:solidFill>
                <a:srgbClr val="0184BC"/>
              </a:solidFill>
              <a:latin typeface="Arial"/>
              <a:ea typeface="Arial"/>
              <a:cs typeface="Arial"/>
              <a:sym typeface="Arial"/>
            </a:endParaRPr>
          </a:p>
        </p:txBody>
      </p:sp>
      <p:sp>
        <p:nvSpPr>
          <p:cNvPr id="924" name="Google Shape;924;p50"/>
          <p:cNvSpPr/>
          <p:nvPr/>
        </p:nvSpPr>
        <p:spPr>
          <a:xfrm>
            <a:off x="6174250" y="34688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925" name="Google Shape;925;p50"/>
          <p:cNvSpPr/>
          <p:nvPr/>
        </p:nvSpPr>
        <p:spPr>
          <a:xfrm>
            <a:off x="6174250" y="411842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cxnSp>
        <p:nvCxnSpPr>
          <p:cNvPr id="926" name="Google Shape;926;p50"/>
          <p:cNvCxnSpPr>
            <a:stCxn id="909" idx="2"/>
            <a:endCxn id="924" idx="0"/>
          </p:cNvCxnSpPr>
          <p:nvPr/>
        </p:nvCxnSpPr>
        <p:spPr>
          <a:xfrm>
            <a:off x="6384400" y="3246175"/>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927" name="Google Shape;927;p50"/>
          <p:cNvCxnSpPr>
            <a:stCxn id="924" idx="2"/>
            <a:endCxn id="925" idx="0"/>
          </p:cNvCxnSpPr>
          <p:nvPr/>
        </p:nvCxnSpPr>
        <p:spPr>
          <a:xfrm>
            <a:off x="6384400" y="3895750"/>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928" name="Google Shape;928;p50"/>
          <p:cNvCxnSpPr>
            <a:stCxn id="925" idx="2"/>
            <a:endCxn id="916" idx="0"/>
          </p:cNvCxnSpPr>
          <p:nvPr/>
        </p:nvCxnSpPr>
        <p:spPr>
          <a:xfrm flipH="1" rot="5400000">
            <a:off x="4801000" y="2961925"/>
            <a:ext cx="2258400" cy="908400"/>
          </a:xfrm>
          <a:prstGeom prst="curvedConnector5">
            <a:avLst>
              <a:gd fmla="val -9376" name="adj1"/>
              <a:gd fmla="val -99309" name="adj2"/>
              <a:gd fmla="val 101104" name="adj3"/>
            </a:avLst>
          </a:prstGeom>
          <a:noFill/>
          <a:ln cap="flat" cmpd="sng" w="9525">
            <a:solidFill>
              <a:srgbClr val="CCCCCC"/>
            </a:solidFill>
            <a:prstDash val="solid"/>
            <a:round/>
            <a:headEnd len="sm" w="sm" type="none"/>
            <a:tailEnd len="med" w="med" type="triangle"/>
          </a:ln>
        </p:spPr>
      </p:cxnSp>
      <p:sp>
        <p:nvSpPr>
          <p:cNvPr id="929" name="Google Shape;929;p50"/>
          <p:cNvSpPr txBox="1"/>
          <p:nvPr/>
        </p:nvSpPr>
        <p:spPr>
          <a:xfrm>
            <a:off x="7369500" y="1542475"/>
            <a:ext cx="14628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contador=3</a:t>
            </a:r>
            <a:endParaRPr b="0" i="0" sz="1600" u="none" cap="none" strike="noStrike">
              <a:solidFill>
                <a:srgbClr val="00CA4E"/>
              </a:solidFill>
              <a:latin typeface="Arial"/>
              <a:ea typeface="Arial"/>
              <a:cs typeface="Arial"/>
              <a:sym typeface="Arial"/>
            </a:endParaRPr>
          </a:p>
        </p:txBody>
      </p:sp>
      <p:sp>
        <p:nvSpPr>
          <p:cNvPr id="930" name="Google Shape;930;p50"/>
          <p:cNvSpPr/>
          <p:nvPr/>
        </p:nvSpPr>
        <p:spPr>
          <a:xfrm>
            <a:off x="22500" y="3134075"/>
            <a:ext cx="598200" cy="162900"/>
          </a:xfrm>
          <a:prstGeom prst="homePlate">
            <a:avLst>
              <a:gd fmla="val 50000" name="adj"/>
            </a:avLst>
          </a:prstGeom>
          <a:solidFill>
            <a:srgbClr val="00CA4E"/>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50"/>
          <p:cNvSpPr txBox="1"/>
          <p:nvPr/>
        </p:nvSpPr>
        <p:spPr>
          <a:xfrm>
            <a:off x="6804350" y="519425"/>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edad_suma=31</a:t>
            </a:r>
            <a:endParaRPr b="0" i="0" sz="1600" u="none" cap="none" strike="noStrike">
              <a:solidFill>
                <a:srgbClr val="00CA4E"/>
              </a:solidFill>
              <a:latin typeface="Arial"/>
              <a:ea typeface="Arial"/>
              <a:cs typeface="Arial"/>
              <a:sym typeface="Arial"/>
            </a:endParaRPr>
          </a:p>
        </p:txBody>
      </p:sp>
      <p:sp>
        <p:nvSpPr>
          <p:cNvPr id="932" name="Google Shape;932;p50"/>
          <p:cNvSpPr txBox="1"/>
          <p:nvPr/>
        </p:nvSpPr>
        <p:spPr>
          <a:xfrm>
            <a:off x="6804350" y="14280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nueva_edad=11</a:t>
            </a:r>
            <a:endParaRPr b="0" i="0" sz="1600" u="none" cap="none" strike="noStrike">
              <a:solidFill>
                <a:srgbClr val="00CA4E"/>
              </a:solidFill>
              <a:latin typeface="Arial"/>
              <a:ea typeface="Arial"/>
              <a:cs typeface="Arial"/>
              <a:sym typeface="Arial"/>
            </a:endParaRPr>
          </a:p>
        </p:txBody>
      </p:sp>
      <p:sp>
        <p:nvSpPr>
          <p:cNvPr id="933" name="Google Shape;933;p50"/>
          <p:cNvSpPr/>
          <p:nvPr/>
        </p:nvSpPr>
        <p:spPr>
          <a:xfrm>
            <a:off x="22500" y="3960675"/>
            <a:ext cx="598200" cy="162900"/>
          </a:xfrm>
          <a:prstGeom prst="homePlate">
            <a:avLst>
              <a:gd fmla="val 50000" name="adj"/>
            </a:avLst>
          </a:prstGeom>
          <a:solidFill>
            <a:schemeClr val="accent4"/>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Diagrama de flujo…</a:t>
            </a:r>
            <a:endParaRPr/>
          </a:p>
        </p:txBody>
      </p:sp>
      <p:sp>
        <p:nvSpPr>
          <p:cNvPr id="939" name="Google Shape;939;p51"/>
          <p:cNvSpPr/>
          <p:nvPr/>
        </p:nvSpPr>
        <p:spPr>
          <a:xfrm rot="10800000">
            <a:off x="544342" y="2074825"/>
            <a:ext cx="3909600" cy="2179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940" name="Google Shape;940;p51"/>
          <p:cNvSpPr/>
          <p:nvPr/>
        </p:nvSpPr>
        <p:spPr>
          <a:xfrm rot="10800000">
            <a:off x="544345" y="1779675"/>
            <a:ext cx="3909600" cy="3969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41" name="Google Shape;941;p51"/>
          <p:cNvSpPr/>
          <p:nvPr/>
        </p:nvSpPr>
        <p:spPr>
          <a:xfrm>
            <a:off x="695755" y="1853541"/>
            <a:ext cx="193800" cy="1938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42" name="Google Shape;942;p51"/>
          <p:cNvSpPr/>
          <p:nvPr/>
        </p:nvSpPr>
        <p:spPr>
          <a:xfrm>
            <a:off x="982622" y="1853541"/>
            <a:ext cx="193800" cy="1938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43" name="Google Shape;943;p51"/>
          <p:cNvSpPr/>
          <p:nvPr/>
        </p:nvSpPr>
        <p:spPr>
          <a:xfrm>
            <a:off x="1269489" y="1853541"/>
            <a:ext cx="193800" cy="1938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44" name="Google Shape;944;p51"/>
          <p:cNvSpPr txBox="1"/>
          <p:nvPr/>
        </p:nvSpPr>
        <p:spPr>
          <a:xfrm>
            <a:off x="544657" y="2104581"/>
            <a:ext cx="3909600" cy="2019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2</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3</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4</a:t>
            </a:r>
            <a:r>
              <a:rPr lang="es" sz="900">
                <a:solidFill>
                  <a:srgbClr val="383A42"/>
                </a:solidFill>
                <a:latin typeface="Ubuntu Mono"/>
                <a:ea typeface="Ubuntu Mono"/>
                <a:cs typeface="Ubuntu Mono"/>
                <a:sym typeface="Ubuntu Mono"/>
              </a:rPr>
              <a:t> </a:t>
            </a:r>
            <a:r>
              <a:rPr lang="es" sz="900">
                <a:solidFill>
                  <a:srgbClr val="27292F"/>
                </a:solidFill>
                <a:latin typeface="Ubuntu Mono"/>
                <a:ea typeface="Ubuntu Mono"/>
                <a:cs typeface="Ubuntu Mono"/>
                <a:sym typeface="Ubuntu Mono"/>
              </a:rPr>
              <a:t>int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986801"/>
                </a:solidFill>
                <a:latin typeface="Ubuntu Mono"/>
                <a:ea typeface="Ubuntu Mono"/>
                <a:cs typeface="Ubuntu Mono"/>
                <a:sym typeface="Ubuntu Mono"/>
              </a:rPr>
              <a:t>0</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5</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6</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7</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8</a:t>
            </a:r>
            <a:r>
              <a:rPr lang="es" sz="900">
                <a:solidFill>
                  <a:srgbClr val="383A42"/>
                </a:solidFill>
                <a:latin typeface="Ubuntu Mono"/>
                <a:ea typeface="Ubuntu Mono"/>
                <a:cs typeface="Ubuntu Mono"/>
                <a:sym typeface="Ubuntu Mono"/>
              </a:rPr>
              <a:t> </a:t>
            </a:r>
            <a:r>
              <a:rPr lang="es" sz="900">
                <a:solidFill>
                  <a:srgbClr val="A626A4"/>
                </a:solidFill>
                <a:latin typeface="Ubuntu Mono"/>
                <a:ea typeface="Ubuntu Mono"/>
                <a:cs typeface="Ubuntu Mono"/>
                <a:sym typeface="Ubuntu Mono"/>
              </a:rPr>
              <a:t>while</a:t>
            </a:r>
            <a:r>
              <a:rPr lang="es" sz="900">
                <a:solidFill>
                  <a:srgbClr val="383A42"/>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contador</a:t>
            </a:r>
            <a:r>
              <a:rPr lang="es" sz="900">
                <a:solidFill>
                  <a:srgbClr val="0184BC"/>
                </a:solidFill>
                <a:latin typeface="Ubuntu Mono"/>
                <a:ea typeface="Ubuntu Mono"/>
                <a:cs typeface="Ubuntu Mono"/>
                <a:sym typeface="Ubuntu Mono"/>
              </a:rPr>
              <a:t>&lt;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383A42"/>
                </a:solidFill>
                <a:latin typeface="Ubuntu Mono"/>
                <a:ea typeface="Ubuntu Mono"/>
                <a:cs typeface="Ubuntu Mono"/>
                <a:sym typeface="Ubuntu Mono"/>
              </a:rPr>
              <a:t> </a:t>
            </a:r>
            <a:r>
              <a:rPr lang="es" sz="900">
                <a:solidFill>
                  <a:srgbClr val="929292"/>
                </a:solidFill>
                <a:latin typeface="Ubuntu Mono"/>
                <a:ea typeface="Ubuntu Mono"/>
                <a:cs typeface="Ubuntu Mono"/>
                <a:sym typeface="Ubuntu Mono"/>
              </a:rPr>
              <a:t>9</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10</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cin</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&gt;&gt;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11</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nueva_edad</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12</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contador</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a:t>
            </a:r>
            <a:r>
              <a:rPr lang="es" sz="900">
                <a:solidFill>
                  <a:srgbClr val="383A42"/>
                </a:solidFill>
                <a:latin typeface="Ubuntu Mono"/>
                <a:ea typeface="Ubuntu Mono"/>
                <a:cs typeface="Ubuntu Mono"/>
                <a:sym typeface="Ubuntu Mono"/>
              </a:rPr>
              <a:t> </a:t>
            </a:r>
            <a:r>
              <a:rPr lang="es" sz="900">
                <a:solidFill>
                  <a:srgbClr val="986801"/>
                </a:solidFill>
                <a:latin typeface="Ubuntu Mono"/>
                <a:ea typeface="Ubuntu Mono"/>
                <a:cs typeface="Ubuntu Mono"/>
                <a:sym typeface="Ubuntu Mono"/>
              </a:rPr>
              <a:t>1</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13</a:t>
            </a:r>
            <a:r>
              <a:rPr lang="es" sz="900">
                <a:solidFill>
                  <a:srgbClr val="383A42"/>
                </a:solidFill>
                <a:latin typeface="Ubuntu Mono"/>
                <a:ea typeface="Ubuntu Mono"/>
                <a:cs typeface="Ubuntu Mono"/>
                <a:sym typeface="Ubuntu Mono"/>
              </a:rPr>
              <a:t> }</a:t>
            </a:r>
            <a:endParaRPr sz="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900"/>
              <a:buFont typeface="Arial"/>
              <a:buNone/>
            </a:pPr>
            <a:r>
              <a:rPr lang="es" sz="900">
                <a:solidFill>
                  <a:srgbClr val="929292"/>
                </a:solidFill>
                <a:latin typeface="Ubuntu Mono"/>
                <a:ea typeface="Ubuntu Mono"/>
                <a:cs typeface="Ubuntu Mono"/>
                <a:sym typeface="Ubuntu Mono"/>
              </a:rPr>
              <a:t>14</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cout</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50A14F"/>
                </a:solidFill>
                <a:latin typeface="Ubuntu Mono"/>
                <a:ea typeface="Ubuntu Mono"/>
                <a:cs typeface="Ubuntu Mono"/>
                <a:sym typeface="Ubuntu Mono"/>
              </a:rPr>
              <a:t>"Promedio: "</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edad_suma</a:t>
            </a:r>
            <a:r>
              <a:rPr lang="es" sz="900">
                <a:solidFill>
                  <a:srgbClr val="0184BC"/>
                </a:solidFill>
                <a:latin typeface="Ubuntu Mono"/>
                <a:ea typeface="Ubuntu Mono"/>
                <a:cs typeface="Ubuntu Mono"/>
                <a:sym typeface="Ubuntu Mono"/>
              </a:rPr>
              <a:t>/</a:t>
            </a:r>
            <a:r>
              <a:rPr lang="es" sz="900">
                <a:solidFill>
                  <a:srgbClr val="E06C75"/>
                </a:solidFill>
                <a:latin typeface="Ubuntu Mono"/>
                <a:ea typeface="Ubuntu Mono"/>
                <a:cs typeface="Ubuntu Mono"/>
                <a:sym typeface="Ubuntu Mono"/>
              </a:rPr>
              <a:t>cantidad_personas</a:t>
            </a:r>
            <a:r>
              <a:rPr lang="es" sz="900">
                <a:solidFill>
                  <a:srgbClr val="383A42"/>
                </a:solidFill>
                <a:latin typeface="Ubuntu Mono"/>
                <a:ea typeface="Ubuntu Mono"/>
                <a:cs typeface="Ubuntu Mono"/>
                <a:sym typeface="Ubuntu Mono"/>
              </a:rPr>
              <a:t> </a:t>
            </a:r>
            <a:r>
              <a:rPr lang="es" sz="900">
                <a:solidFill>
                  <a:srgbClr val="0184BC"/>
                </a:solidFill>
                <a:latin typeface="Ubuntu Mono"/>
                <a:ea typeface="Ubuntu Mono"/>
                <a:cs typeface="Ubuntu Mono"/>
                <a:sym typeface="Ubuntu Mono"/>
              </a:rPr>
              <a:t>&lt;&lt;</a:t>
            </a:r>
            <a:r>
              <a:rPr lang="es" sz="900">
                <a:solidFill>
                  <a:srgbClr val="383A42"/>
                </a:solidFill>
                <a:latin typeface="Ubuntu Mono"/>
                <a:ea typeface="Ubuntu Mono"/>
                <a:cs typeface="Ubuntu Mono"/>
                <a:sym typeface="Ubuntu Mono"/>
              </a:rPr>
              <a:t> </a:t>
            </a:r>
            <a:r>
              <a:rPr lang="es" sz="900">
                <a:solidFill>
                  <a:srgbClr val="E06C75"/>
                </a:solidFill>
                <a:latin typeface="Ubuntu Mono"/>
                <a:ea typeface="Ubuntu Mono"/>
                <a:cs typeface="Ubuntu Mono"/>
                <a:sym typeface="Ubuntu Mono"/>
              </a:rPr>
              <a:t>endl</a:t>
            </a:r>
            <a:r>
              <a:rPr lang="es" sz="900">
                <a:solidFill>
                  <a:srgbClr val="383A42"/>
                </a:solidFill>
                <a:latin typeface="Ubuntu Mono"/>
                <a:ea typeface="Ubuntu Mono"/>
                <a:cs typeface="Ubuntu Mono"/>
                <a:sym typeface="Ubuntu Mono"/>
              </a:rPr>
              <a:t>;</a:t>
            </a:r>
            <a:endParaRPr sz="900">
              <a:solidFill>
                <a:srgbClr val="383A42"/>
              </a:solidFill>
              <a:latin typeface="Ubuntu Mono"/>
              <a:ea typeface="Ubuntu Mono"/>
              <a:cs typeface="Ubuntu Mono"/>
              <a:sym typeface="Ubuntu Mono"/>
            </a:endParaRPr>
          </a:p>
        </p:txBody>
      </p:sp>
      <p:sp>
        <p:nvSpPr>
          <p:cNvPr id="945" name="Google Shape;945;p51"/>
          <p:cNvSpPr/>
          <p:nvPr/>
        </p:nvSpPr>
        <p:spPr>
          <a:xfrm>
            <a:off x="6174250" y="28192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946" name="Google Shape;946;p51"/>
          <p:cNvSpPr/>
          <p:nvPr/>
        </p:nvSpPr>
        <p:spPr>
          <a:xfrm>
            <a:off x="5265950" y="9512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947" name="Google Shape;947;p51"/>
          <p:cNvSpPr/>
          <p:nvPr/>
        </p:nvSpPr>
        <p:spPr>
          <a:xfrm>
            <a:off x="5265950" y="154097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948" name="Google Shape;948;p51"/>
          <p:cNvCxnSpPr/>
          <p:nvPr/>
        </p:nvCxnSpPr>
        <p:spPr>
          <a:xfrm>
            <a:off x="5476100" y="142800"/>
            <a:ext cx="0" cy="218700"/>
          </a:xfrm>
          <a:prstGeom prst="straightConnector1">
            <a:avLst/>
          </a:prstGeom>
          <a:noFill/>
          <a:ln cap="flat" cmpd="sng" w="9525">
            <a:solidFill>
              <a:srgbClr val="CCCCCC"/>
            </a:solidFill>
            <a:prstDash val="solid"/>
            <a:round/>
            <a:headEnd len="sm" w="sm" type="none"/>
            <a:tailEnd len="med" w="med" type="triangle"/>
          </a:ln>
        </p:spPr>
      </p:cxnSp>
      <p:cxnSp>
        <p:nvCxnSpPr>
          <p:cNvPr id="949" name="Google Shape;949;p51"/>
          <p:cNvCxnSpPr>
            <a:endCxn id="946" idx="0"/>
          </p:cNvCxnSpPr>
          <p:nvPr/>
        </p:nvCxnSpPr>
        <p:spPr>
          <a:xfrm>
            <a:off x="5476100" y="7883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950" name="Google Shape;950;p51"/>
          <p:cNvCxnSpPr>
            <a:stCxn id="946" idx="2"/>
            <a:endCxn id="947" idx="0"/>
          </p:cNvCxnSpPr>
          <p:nvPr/>
        </p:nvCxnSpPr>
        <p:spPr>
          <a:xfrm>
            <a:off x="5476100" y="1378150"/>
            <a:ext cx="0" cy="162900"/>
          </a:xfrm>
          <a:prstGeom prst="straightConnector1">
            <a:avLst/>
          </a:prstGeom>
          <a:noFill/>
          <a:ln cap="flat" cmpd="sng" w="9525">
            <a:solidFill>
              <a:srgbClr val="CCCCCC"/>
            </a:solidFill>
            <a:prstDash val="solid"/>
            <a:round/>
            <a:headEnd len="sm" w="sm" type="none"/>
            <a:tailEnd len="med" w="med" type="triangle"/>
          </a:ln>
        </p:spPr>
      </p:cxnSp>
      <p:cxnSp>
        <p:nvCxnSpPr>
          <p:cNvPr id="951" name="Google Shape;951;p51"/>
          <p:cNvCxnSpPr>
            <a:stCxn id="947" idx="2"/>
            <a:endCxn id="952" idx="0"/>
          </p:cNvCxnSpPr>
          <p:nvPr/>
        </p:nvCxnSpPr>
        <p:spPr>
          <a:xfrm>
            <a:off x="5476100" y="1967875"/>
            <a:ext cx="0" cy="318900"/>
          </a:xfrm>
          <a:prstGeom prst="straightConnector1">
            <a:avLst/>
          </a:prstGeom>
          <a:noFill/>
          <a:ln cap="flat" cmpd="sng" w="9525">
            <a:solidFill>
              <a:srgbClr val="CCCCCC"/>
            </a:solidFill>
            <a:prstDash val="solid"/>
            <a:round/>
            <a:headEnd len="sm" w="sm" type="none"/>
            <a:tailEnd len="med" w="med" type="triangle"/>
          </a:ln>
        </p:spPr>
      </p:cxnSp>
      <p:sp>
        <p:nvSpPr>
          <p:cNvPr id="952" name="Google Shape;952;p51"/>
          <p:cNvSpPr/>
          <p:nvPr/>
        </p:nvSpPr>
        <p:spPr>
          <a:xfrm>
            <a:off x="5215100" y="2286850"/>
            <a:ext cx="522000" cy="522000"/>
          </a:xfrm>
          <a:prstGeom prst="diamond">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953" name="Google Shape;953;p51"/>
          <p:cNvSpPr/>
          <p:nvPr/>
        </p:nvSpPr>
        <p:spPr>
          <a:xfrm>
            <a:off x="5265950" y="4555700"/>
            <a:ext cx="420300" cy="426900"/>
          </a:xfrm>
          <a:prstGeom prst="roundRect">
            <a:avLst>
              <a:gd fmla="val 7941" name="adj"/>
            </a:avLst>
          </a:prstGeom>
          <a:solidFill>
            <a:srgbClr val="00CA4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cxnSp>
        <p:nvCxnSpPr>
          <p:cNvPr id="954" name="Google Shape;954;p51"/>
          <p:cNvCxnSpPr>
            <a:stCxn id="952" idx="2"/>
            <a:endCxn id="953" idx="0"/>
          </p:cNvCxnSpPr>
          <p:nvPr/>
        </p:nvCxnSpPr>
        <p:spPr>
          <a:xfrm>
            <a:off x="5476100" y="2808850"/>
            <a:ext cx="0" cy="1746900"/>
          </a:xfrm>
          <a:prstGeom prst="straightConnector1">
            <a:avLst/>
          </a:prstGeom>
          <a:noFill/>
          <a:ln cap="flat" cmpd="sng" w="9525">
            <a:solidFill>
              <a:srgbClr val="CCCCCC"/>
            </a:solidFill>
            <a:prstDash val="solid"/>
            <a:round/>
            <a:headEnd len="sm" w="sm" type="none"/>
            <a:tailEnd len="med" w="med" type="triangle"/>
          </a:ln>
        </p:spPr>
      </p:cxnSp>
      <p:cxnSp>
        <p:nvCxnSpPr>
          <p:cNvPr id="955" name="Google Shape;955;p51"/>
          <p:cNvCxnSpPr>
            <a:stCxn id="945" idx="0"/>
            <a:endCxn id="952" idx="3"/>
          </p:cNvCxnSpPr>
          <p:nvPr/>
        </p:nvCxnSpPr>
        <p:spPr>
          <a:xfrm flipH="1" rot="5400000">
            <a:off x="5924950" y="2359825"/>
            <a:ext cx="271500" cy="647400"/>
          </a:xfrm>
          <a:prstGeom prst="bentConnector2">
            <a:avLst/>
          </a:prstGeom>
          <a:noFill/>
          <a:ln cap="flat" cmpd="sng" w="9525">
            <a:solidFill>
              <a:srgbClr val="CCCCCC"/>
            </a:solidFill>
            <a:prstDash val="solid"/>
            <a:round/>
            <a:headEnd len="med" w="med" type="triangle"/>
            <a:tailEnd len="sm" w="sm" type="none"/>
          </a:ln>
        </p:spPr>
      </p:cxnSp>
      <p:sp>
        <p:nvSpPr>
          <p:cNvPr id="956" name="Google Shape;956;p51"/>
          <p:cNvSpPr txBox="1"/>
          <p:nvPr/>
        </p:nvSpPr>
        <p:spPr>
          <a:xfrm>
            <a:off x="5177000" y="296500"/>
            <a:ext cx="598200" cy="31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00CA4E"/>
                </a:solidFill>
                <a:latin typeface="Arial"/>
                <a:ea typeface="Arial"/>
                <a:cs typeface="Arial"/>
                <a:sym typeface="Arial"/>
              </a:rPr>
              <a:t>…</a:t>
            </a:r>
            <a:endParaRPr b="1" i="0" sz="2000" u="none" cap="none" strike="noStrike">
              <a:solidFill>
                <a:srgbClr val="00CA4E"/>
              </a:solidFill>
              <a:latin typeface="Arial"/>
              <a:ea typeface="Arial"/>
              <a:cs typeface="Arial"/>
              <a:sym typeface="Arial"/>
            </a:endParaRPr>
          </a:p>
        </p:txBody>
      </p:sp>
      <p:sp>
        <p:nvSpPr>
          <p:cNvPr id="957" name="Google Shape;957;p51"/>
          <p:cNvSpPr txBox="1"/>
          <p:nvPr/>
        </p:nvSpPr>
        <p:spPr>
          <a:xfrm>
            <a:off x="6804350" y="95275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cantidad_personas=3</a:t>
            </a:r>
            <a:endParaRPr b="0" i="0" sz="1600" u="none" cap="none" strike="noStrike">
              <a:solidFill>
                <a:srgbClr val="00CA4E"/>
              </a:solidFill>
              <a:latin typeface="Arial"/>
              <a:ea typeface="Arial"/>
              <a:cs typeface="Arial"/>
              <a:sym typeface="Arial"/>
            </a:endParaRPr>
          </a:p>
        </p:txBody>
      </p:sp>
      <p:sp>
        <p:nvSpPr>
          <p:cNvPr id="958" name="Google Shape;958;p51"/>
          <p:cNvSpPr txBox="1"/>
          <p:nvPr/>
        </p:nvSpPr>
        <p:spPr>
          <a:xfrm rot="-5400000">
            <a:off x="5164625" y="2973225"/>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false</a:t>
            </a:r>
            <a:endParaRPr b="0" i="0" sz="1400" u="none" cap="none" strike="noStrike">
              <a:solidFill>
                <a:srgbClr val="000000"/>
              </a:solidFill>
              <a:latin typeface="Arial"/>
              <a:ea typeface="Arial"/>
              <a:cs typeface="Arial"/>
              <a:sym typeface="Arial"/>
            </a:endParaRPr>
          </a:p>
        </p:txBody>
      </p:sp>
      <p:sp>
        <p:nvSpPr>
          <p:cNvPr id="959" name="Google Shape;959;p51"/>
          <p:cNvSpPr txBox="1"/>
          <p:nvPr/>
        </p:nvSpPr>
        <p:spPr>
          <a:xfrm>
            <a:off x="5806000" y="2262063"/>
            <a:ext cx="5094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s" sz="800" u="none" cap="none" strike="noStrike">
                <a:solidFill>
                  <a:srgbClr val="0184BC"/>
                </a:solidFill>
                <a:latin typeface="Arial"/>
                <a:ea typeface="Arial"/>
                <a:cs typeface="Arial"/>
                <a:sym typeface="Arial"/>
              </a:rPr>
              <a:t>true</a:t>
            </a:r>
            <a:endParaRPr b="1" i="0" sz="800" u="none" cap="none" strike="noStrike">
              <a:solidFill>
                <a:srgbClr val="0184BC"/>
              </a:solidFill>
              <a:latin typeface="Arial"/>
              <a:ea typeface="Arial"/>
              <a:cs typeface="Arial"/>
              <a:sym typeface="Arial"/>
            </a:endParaRPr>
          </a:p>
        </p:txBody>
      </p:sp>
      <p:sp>
        <p:nvSpPr>
          <p:cNvPr id="960" name="Google Shape;960;p51"/>
          <p:cNvSpPr/>
          <p:nvPr/>
        </p:nvSpPr>
        <p:spPr>
          <a:xfrm>
            <a:off x="6174250" y="3468850"/>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961" name="Google Shape;961;p51"/>
          <p:cNvSpPr/>
          <p:nvPr/>
        </p:nvSpPr>
        <p:spPr>
          <a:xfrm>
            <a:off x="6174250" y="4118425"/>
            <a:ext cx="420300" cy="426900"/>
          </a:xfrm>
          <a:prstGeom prst="roundRect">
            <a:avLst>
              <a:gd fmla="val 7941" name="adj"/>
            </a:avLst>
          </a:prstGeom>
          <a:solidFill>
            <a:srgbClr val="D9D9D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cxnSp>
        <p:nvCxnSpPr>
          <p:cNvPr id="962" name="Google Shape;962;p51"/>
          <p:cNvCxnSpPr>
            <a:stCxn id="945" idx="2"/>
            <a:endCxn id="960" idx="0"/>
          </p:cNvCxnSpPr>
          <p:nvPr/>
        </p:nvCxnSpPr>
        <p:spPr>
          <a:xfrm>
            <a:off x="6384400" y="3246175"/>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963" name="Google Shape;963;p51"/>
          <p:cNvCxnSpPr>
            <a:stCxn id="960" idx="2"/>
            <a:endCxn id="961" idx="0"/>
          </p:cNvCxnSpPr>
          <p:nvPr/>
        </p:nvCxnSpPr>
        <p:spPr>
          <a:xfrm>
            <a:off x="6384400" y="3895750"/>
            <a:ext cx="0" cy="222600"/>
          </a:xfrm>
          <a:prstGeom prst="straightConnector1">
            <a:avLst/>
          </a:prstGeom>
          <a:noFill/>
          <a:ln cap="flat" cmpd="sng" w="9525">
            <a:solidFill>
              <a:srgbClr val="CCCCCC"/>
            </a:solidFill>
            <a:prstDash val="solid"/>
            <a:round/>
            <a:headEnd len="sm" w="sm" type="none"/>
            <a:tailEnd len="med" w="med" type="triangle"/>
          </a:ln>
        </p:spPr>
      </p:cxnSp>
      <p:cxnSp>
        <p:nvCxnSpPr>
          <p:cNvPr id="964" name="Google Shape;964;p51"/>
          <p:cNvCxnSpPr>
            <a:stCxn id="961" idx="2"/>
            <a:endCxn id="952" idx="0"/>
          </p:cNvCxnSpPr>
          <p:nvPr/>
        </p:nvCxnSpPr>
        <p:spPr>
          <a:xfrm flipH="1" rot="5400000">
            <a:off x="4801000" y="2961925"/>
            <a:ext cx="2258400" cy="908400"/>
          </a:xfrm>
          <a:prstGeom prst="curvedConnector5">
            <a:avLst>
              <a:gd fmla="val -9376" name="adj1"/>
              <a:gd fmla="val -99309" name="adj2"/>
              <a:gd fmla="val 101104" name="adj3"/>
            </a:avLst>
          </a:prstGeom>
          <a:noFill/>
          <a:ln cap="flat" cmpd="sng" w="9525">
            <a:solidFill>
              <a:srgbClr val="CCCCCC"/>
            </a:solidFill>
            <a:prstDash val="solid"/>
            <a:round/>
            <a:headEnd len="sm" w="sm" type="none"/>
            <a:tailEnd len="med" w="med" type="triangle"/>
          </a:ln>
        </p:spPr>
      </p:cxnSp>
      <p:sp>
        <p:nvSpPr>
          <p:cNvPr id="965" name="Google Shape;965;p51"/>
          <p:cNvSpPr txBox="1"/>
          <p:nvPr/>
        </p:nvSpPr>
        <p:spPr>
          <a:xfrm>
            <a:off x="7369500" y="1542475"/>
            <a:ext cx="14628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contador=3</a:t>
            </a:r>
            <a:endParaRPr b="0" i="0" sz="1600" u="none" cap="none" strike="noStrike">
              <a:solidFill>
                <a:srgbClr val="00CA4E"/>
              </a:solidFill>
              <a:latin typeface="Arial"/>
              <a:ea typeface="Arial"/>
              <a:cs typeface="Arial"/>
              <a:sym typeface="Arial"/>
            </a:endParaRPr>
          </a:p>
        </p:txBody>
      </p:sp>
      <p:sp>
        <p:nvSpPr>
          <p:cNvPr id="966" name="Google Shape;966;p51"/>
          <p:cNvSpPr/>
          <p:nvPr/>
        </p:nvSpPr>
        <p:spPr>
          <a:xfrm>
            <a:off x="22500" y="3960675"/>
            <a:ext cx="598200" cy="162900"/>
          </a:xfrm>
          <a:prstGeom prst="homePlate">
            <a:avLst>
              <a:gd fmla="val 50000" name="adj"/>
            </a:avLst>
          </a:prstGeom>
          <a:solidFill>
            <a:srgbClr val="00CA4E"/>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51"/>
          <p:cNvSpPr txBox="1"/>
          <p:nvPr/>
        </p:nvSpPr>
        <p:spPr>
          <a:xfrm>
            <a:off x="6804350" y="519425"/>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edad_suma=31</a:t>
            </a:r>
            <a:endParaRPr b="0" i="0" sz="1600" u="none" cap="none" strike="noStrike">
              <a:solidFill>
                <a:srgbClr val="00CA4E"/>
              </a:solidFill>
              <a:latin typeface="Arial"/>
              <a:ea typeface="Arial"/>
              <a:cs typeface="Arial"/>
              <a:sym typeface="Arial"/>
            </a:endParaRPr>
          </a:p>
        </p:txBody>
      </p:sp>
      <p:sp>
        <p:nvSpPr>
          <p:cNvPr id="968" name="Google Shape;968;p51"/>
          <p:cNvSpPr txBox="1"/>
          <p:nvPr/>
        </p:nvSpPr>
        <p:spPr>
          <a:xfrm>
            <a:off x="6804350" y="142800"/>
            <a:ext cx="2196900" cy="4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 sz="1600" u="none" cap="none" strike="noStrike">
                <a:solidFill>
                  <a:srgbClr val="00CA4E"/>
                </a:solidFill>
                <a:latin typeface="Arial"/>
                <a:ea typeface="Arial"/>
                <a:cs typeface="Arial"/>
                <a:sym typeface="Arial"/>
              </a:rPr>
              <a:t>nueva_edad=11</a:t>
            </a:r>
            <a:endParaRPr b="0" i="0" sz="1600" u="none" cap="none" strike="noStrike">
              <a:solidFill>
                <a:srgbClr val="00CA4E"/>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¿Qué pasa con este programa?</a:t>
            </a:r>
            <a:endParaRPr/>
          </a:p>
        </p:txBody>
      </p:sp>
      <p:sp>
        <p:nvSpPr>
          <p:cNvPr id="974" name="Google Shape;974;p52"/>
          <p:cNvSpPr/>
          <p:nvPr/>
        </p:nvSpPr>
        <p:spPr>
          <a:xfrm rot="10800000">
            <a:off x="1839689" y="1621825"/>
            <a:ext cx="5464200" cy="30720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975" name="Google Shape;975;p52"/>
          <p:cNvSpPr/>
          <p:nvPr/>
        </p:nvSpPr>
        <p:spPr>
          <a:xfrm rot="10800000">
            <a:off x="1839686" y="1182427"/>
            <a:ext cx="5464200" cy="591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76" name="Google Shape;976;p52"/>
          <p:cNvSpPr/>
          <p:nvPr/>
        </p:nvSpPr>
        <p:spPr>
          <a:xfrm>
            <a:off x="2065072" y="1292534"/>
            <a:ext cx="288600" cy="2886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77" name="Google Shape;977;p52"/>
          <p:cNvSpPr/>
          <p:nvPr/>
        </p:nvSpPr>
        <p:spPr>
          <a:xfrm>
            <a:off x="2492124" y="1292534"/>
            <a:ext cx="288600" cy="2886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78" name="Google Shape;978;p52"/>
          <p:cNvSpPr/>
          <p:nvPr/>
        </p:nvSpPr>
        <p:spPr>
          <a:xfrm>
            <a:off x="2919177" y="1292534"/>
            <a:ext cx="288600" cy="2886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79" name="Google Shape;979;p52"/>
          <p:cNvSpPr txBox="1"/>
          <p:nvPr/>
        </p:nvSpPr>
        <p:spPr>
          <a:xfrm>
            <a:off x="1840111" y="1663895"/>
            <a:ext cx="5464200" cy="28461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1</a:t>
            </a:r>
            <a:r>
              <a:rPr lang="es" sz="2100">
                <a:solidFill>
                  <a:srgbClr val="383A42"/>
                </a:solidFill>
                <a:latin typeface="Ubuntu Mono"/>
                <a:ea typeface="Ubuntu Mono"/>
                <a:cs typeface="Ubuntu Mono"/>
                <a:sym typeface="Ubuntu Mono"/>
              </a:rPr>
              <a:t> </a:t>
            </a:r>
            <a:r>
              <a:rPr lang="es" sz="2100">
                <a:solidFill>
                  <a:srgbClr val="27292F"/>
                </a:solidFill>
                <a:latin typeface="Ubuntu Mono"/>
                <a:ea typeface="Ubuntu Mono"/>
                <a:cs typeface="Ubuntu Mono"/>
                <a:sym typeface="Ubuntu Mono"/>
              </a:rPr>
              <a:t>int</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0184BC"/>
                </a:solidFill>
                <a:latin typeface="Ubuntu Mono"/>
                <a:ea typeface="Ubuntu Mono"/>
                <a:cs typeface="Ubuntu Mono"/>
                <a:sym typeface="Ubuntu Mono"/>
              </a:rPr>
              <a:t>=</a:t>
            </a:r>
            <a:r>
              <a:rPr lang="es" sz="2100">
                <a:solidFill>
                  <a:srgbClr val="986801"/>
                </a:solidFill>
                <a:latin typeface="Ubuntu Mono"/>
                <a:ea typeface="Ubuntu Mono"/>
                <a:cs typeface="Ubuntu Mono"/>
                <a:sym typeface="Ubuntu Mono"/>
              </a:rPr>
              <a:t>0</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2</a:t>
            </a:r>
            <a:r>
              <a:rPr lang="es" sz="2100">
                <a:solidFill>
                  <a:srgbClr val="383A42"/>
                </a:solidFill>
                <a:latin typeface="Ubuntu Mono"/>
                <a:ea typeface="Ubuntu Mono"/>
                <a:cs typeface="Ubuntu Mono"/>
                <a:sym typeface="Ubuntu Mono"/>
              </a:rPr>
              <a:t> </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3</a:t>
            </a:r>
            <a:r>
              <a:rPr lang="es" sz="2100">
                <a:solidFill>
                  <a:srgbClr val="383A42"/>
                </a:solidFill>
                <a:latin typeface="Ubuntu Mono"/>
                <a:ea typeface="Ubuntu Mono"/>
                <a:cs typeface="Ubuntu Mono"/>
                <a:sym typeface="Ubuntu Mono"/>
              </a:rPr>
              <a:t> </a:t>
            </a:r>
            <a:r>
              <a:rPr lang="es" sz="2100">
                <a:solidFill>
                  <a:srgbClr val="A626A4"/>
                </a:solidFill>
                <a:latin typeface="Ubuntu Mono"/>
                <a:ea typeface="Ubuntu Mono"/>
                <a:cs typeface="Ubuntu Mono"/>
                <a:sym typeface="Ubuntu Mono"/>
              </a:rPr>
              <a:t>while</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0184BC"/>
                </a:solidFill>
                <a:latin typeface="Ubuntu Mono"/>
                <a:ea typeface="Ubuntu Mono"/>
                <a:cs typeface="Ubuntu Mono"/>
                <a:sym typeface="Ubuntu Mono"/>
              </a:rPr>
              <a:t>&lt;</a:t>
            </a:r>
            <a:r>
              <a:rPr lang="es" sz="2100">
                <a:solidFill>
                  <a:srgbClr val="986801"/>
                </a:solidFill>
                <a:latin typeface="Ubuntu Mono"/>
                <a:ea typeface="Ubuntu Mono"/>
                <a:cs typeface="Ubuntu Mono"/>
                <a:sym typeface="Ubuntu Mono"/>
              </a:rPr>
              <a:t>10</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4</a:t>
            </a:r>
            <a:r>
              <a:rPr lang="es" sz="2100">
                <a:solidFill>
                  <a:srgbClr val="383A42"/>
                </a:solidFill>
                <a:latin typeface="Ubuntu Mono"/>
                <a:ea typeface="Ubuntu Mono"/>
                <a:cs typeface="Ubuntu Mono"/>
                <a:sym typeface="Ubuntu Mono"/>
              </a:rPr>
              <a:t> {</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5</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cout</a:t>
            </a:r>
            <a:r>
              <a:rPr lang="es" sz="2100">
                <a:solidFill>
                  <a:srgbClr val="383A42"/>
                </a:solidFill>
                <a:latin typeface="Ubuntu Mono"/>
                <a:ea typeface="Ubuntu Mono"/>
                <a:cs typeface="Ubuntu Mono"/>
                <a:sym typeface="Ubuntu Mono"/>
              </a:rPr>
              <a:t> </a:t>
            </a:r>
            <a:r>
              <a:rPr lang="es" sz="2100">
                <a:solidFill>
                  <a:srgbClr val="0184BC"/>
                </a:solidFill>
                <a:latin typeface="Ubuntu Mono"/>
                <a:ea typeface="Ubuntu Mono"/>
                <a:cs typeface="Ubuntu Mono"/>
                <a:sym typeface="Ubuntu Mono"/>
              </a:rPr>
              <a:t>&lt;&lt;</a:t>
            </a:r>
            <a:r>
              <a:rPr lang="es" sz="2100">
                <a:solidFill>
                  <a:srgbClr val="383A42"/>
                </a:solidFill>
                <a:latin typeface="Ubuntu Mono"/>
                <a:ea typeface="Ubuntu Mono"/>
                <a:cs typeface="Ubuntu Mono"/>
                <a:sym typeface="Ubuntu Mono"/>
              </a:rPr>
              <a:t> </a:t>
            </a:r>
            <a:r>
              <a:rPr lang="es" sz="2100">
                <a:solidFill>
                  <a:srgbClr val="50A14F"/>
                </a:solidFill>
                <a:latin typeface="Ubuntu Mono"/>
                <a:ea typeface="Ubuntu Mono"/>
                <a:cs typeface="Ubuntu Mono"/>
                <a:sym typeface="Ubuntu Mono"/>
              </a:rPr>
              <a:t>"Numero: "</a:t>
            </a:r>
            <a:r>
              <a:rPr lang="es" sz="2100">
                <a:solidFill>
                  <a:srgbClr val="383A42"/>
                </a:solidFill>
                <a:latin typeface="Ubuntu Mono"/>
                <a:ea typeface="Ubuntu Mono"/>
                <a:cs typeface="Ubuntu Mono"/>
                <a:sym typeface="Ubuntu Mono"/>
              </a:rPr>
              <a:t> </a:t>
            </a:r>
            <a:r>
              <a:rPr lang="es" sz="2100">
                <a:solidFill>
                  <a:srgbClr val="0184BC"/>
                </a:solidFill>
                <a:latin typeface="Ubuntu Mono"/>
                <a:ea typeface="Ubuntu Mono"/>
                <a:cs typeface="Ubuntu Mono"/>
                <a:sym typeface="Ubuntu Mono"/>
              </a:rPr>
              <a:t>&lt;&lt;</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6</a:t>
            </a:r>
            <a:r>
              <a:rPr lang="es" sz="2100">
                <a:solidFill>
                  <a:srgbClr val="383A42"/>
                </a:solidFill>
                <a:latin typeface="Ubuntu Mono"/>
                <a:ea typeface="Ubuntu Mono"/>
                <a:cs typeface="Ubuntu Mono"/>
                <a:sym typeface="Ubuntu Mono"/>
              </a:rPr>
              <a:t> }</a:t>
            </a:r>
            <a:endParaRPr sz="2100">
              <a:solidFill>
                <a:srgbClr val="383A42"/>
              </a:solidFill>
              <a:latin typeface="Ubuntu Mono"/>
              <a:ea typeface="Ubuntu Mono"/>
              <a:cs typeface="Ubuntu Mono"/>
              <a:sym typeface="Ubuntu Mon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5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sz="7000"/>
              <a:t>Terminación</a:t>
            </a:r>
            <a:endParaRPr sz="7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¿Qué pasa con este programa?</a:t>
            </a:r>
            <a:endParaRPr/>
          </a:p>
        </p:txBody>
      </p:sp>
      <p:sp>
        <p:nvSpPr>
          <p:cNvPr id="990" name="Google Shape;990;p54"/>
          <p:cNvSpPr/>
          <p:nvPr/>
        </p:nvSpPr>
        <p:spPr>
          <a:xfrm rot="10800000">
            <a:off x="1839689" y="1621725"/>
            <a:ext cx="5464200" cy="29559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991" name="Google Shape;991;p54"/>
          <p:cNvSpPr/>
          <p:nvPr/>
        </p:nvSpPr>
        <p:spPr>
          <a:xfrm rot="10800000">
            <a:off x="1839686" y="1182427"/>
            <a:ext cx="5464200" cy="591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92" name="Google Shape;992;p54"/>
          <p:cNvSpPr/>
          <p:nvPr/>
        </p:nvSpPr>
        <p:spPr>
          <a:xfrm>
            <a:off x="2065072" y="1292534"/>
            <a:ext cx="288600" cy="2886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93" name="Google Shape;993;p54"/>
          <p:cNvSpPr/>
          <p:nvPr/>
        </p:nvSpPr>
        <p:spPr>
          <a:xfrm>
            <a:off x="2492124" y="1292534"/>
            <a:ext cx="288600" cy="2886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94" name="Google Shape;994;p54"/>
          <p:cNvSpPr/>
          <p:nvPr/>
        </p:nvSpPr>
        <p:spPr>
          <a:xfrm>
            <a:off x="2919177" y="1292534"/>
            <a:ext cx="288600" cy="2886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995" name="Google Shape;995;p54"/>
          <p:cNvSpPr txBox="1"/>
          <p:nvPr/>
        </p:nvSpPr>
        <p:spPr>
          <a:xfrm>
            <a:off x="1840111" y="1662305"/>
            <a:ext cx="5464200" cy="27384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1</a:t>
            </a:r>
            <a:r>
              <a:rPr lang="es" sz="2100">
                <a:solidFill>
                  <a:srgbClr val="383A42"/>
                </a:solidFill>
                <a:latin typeface="Ubuntu Mono"/>
                <a:ea typeface="Ubuntu Mono"/>
                <a:cs typeface="Ubuntu Mono"/>
                <a:sym typeface="Ubuntu Mono"/>
              </a:rPr>
              <a:t> </a:t>
            </a:r>
            <a:r>
              <a:rPr lang="es" sz="2100">
                <a:solidFill>
                  <a:srgbClr val="27292F"/>
                </a:solidFill>
                <a:latin typeface="Ubuntu Mono"/>
                <a:ea typeface="Ubuntu Mono"/>
                <a:cs typeface="Ubuntu Mono"/>
                <a:sym typeface="Ubuntu Mono"/>
              </a:rPr>
              <a:t>int</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0184BC"/>
                </a:solidFill>
                <a:latin typeface="Ubuntu Mono"/>
                <a:ea typeface="Ubuntu Mono"/>
                <a:cs typeface="Ubuntu Mono"/>
                <a:sym typeface="Ubuntu Mono"/>
              </a:rPr>
              <a:t>=</a:t>
            </a:r>
            <a:r>
              <a:rPr lang="es" sz="2100">
                <a:solidFill>
                  <a:srgbClr val="986801"/>
                </a:solidFill>
                <a:latin typeface="Ubuntu Mono"/>
                <a:ea typeface="Ubuntu Mono"/>
                <a:cs typeface="Ubuntu Mono"/>
                <a:sym typeface="Ubuntu Mono"/>
              </a:rPr>
              <a:t>0</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2</a:t>
            </a:r>
            <a:r>
              <a:rPr lang="es" sz="2100">
                <a:solidFill>
                  <a:srgbClr val="383A42"/>
                </a:solidFill>
                <a:latin typeface="Ubuntu Mono"/>
                <a:ea typeface="Ubuntu Mono"/>
                <a:cs typeface="Ubuntu Mono"/>
                <a:sym typeface="Ubuntu Mono"/>
              </a:rPr>
              <a:t> </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3</a:t>
            </a:r>
            <a:r>
              <a:rPr lang="es" sz="2100">
                <a:solidFill>
                  <a:srgbClr val="383A42"/>
                </a:solidFill>
                <a:latin typeface="Ubuntu Mono"/>
                <a:ea typeface="Ubuntu Mono"/>
                <a:cs typeface="Ubuntu Mono"/>
                <a:sym typeface="Ubuntu Mono"/>
              </a:rPr>
              <a:t> </a:t>
            </a:r>
            <a:r>
              <a:rPr lang="es" sz="2100">
                <a:solidFill>
                  <a:srgbClr val="A626A4"/>
                </a:solidFill>
                <a:latin typeface="Ubuntu Mono"/>
                <a:ea typeface="Ubuntu Mono"/>
                <a:cs typeface="Ubuntu Mono"/>
                <a:sym typeface="Ubuntu Mono"/>
              </a:rPr>
              <a:t>while</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0184BC"/>
                </a:solidFill>
                <a:latin typeface="Ubuntu Mono"/>
                <a:ea typeface="Ubuntu Mono"/>
                <a:cs typeface="Ubuntu Mono"/>
                <a:sym typeface="Ubuntu Mono"/>
              </a:rPr>
              <a:t>&lt;</a:t>
            </a:r>
            <a:r>
              <a:rPr lang="es" sz="2100">
                <a:solidFill>
                  <a:srgbClr val="986801"/>
                </a:solidFill>
                <a:latin typeface="Ubuntu Mono"/>
                <a:ea typeface="Ubuntu Mono"/>
                <a:cs typeface="Ubuntu Mono"/>
                <a:sym typeface="Ubuntu Mono"/>
              </a:rPr>
              <a:t>10</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4</a:t>
            </a:r>
            <a:r>
              <a:rPr lang="es" sz="2100">
                <a:solidFill>
                  <a:srgbClr val="383A42"/>
                </a:solidFill>
                <a:latin typeface="Ubuntu Mono"/>
                <a:ea typeface="Ubuntu Mono"/>
                <a:cs typeface="Ubuntu Mono"/>
                <a:sym typeface="Ubuntu Mono"/>
              </a:rPr>
              <a:t> {</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5</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cout</a:t>
            </a:r>
            <a:r>
              <a:rPr lang="es" sz="2100">
                <a:solidFill>
                  <a:srgbClr val="383A42"/>
                </a:solidFill>
                <a:latin typeface="Ubuntu Mono"/>
                <a:ea typeface="Ubuntu Mono"/>
                <a:cs typeface="Ubuntu Mono"/>
                <a:sym typeface="Ubuntu Mono"/>
              </a:rPr>
              <a:t> </a:t>
            </a:r>
            <a:r>
              <a:rPr lang="es" sz="2100">
                <a:solidFill>
                  <a:srgbClr val="0184BC"/>
                </a:solidFill>
                <a:latin typeface="Ubuntu Mono"/>
                <a:ea typeface="Ubuntu Mono"/>
                <a:cs typeface="Ubuntu Mono"/>
                <a:sym typeface="Ubuntu Mono"/>
              </a:rPr>
              <a:t>&lt;&lt;</a:t>
            </a:r>
            <a:r>
              <a:rPr lang="es" sz="2100">
                <a:solidFill>
                  <a:srgbClr val="383A42"/>
                </a:solidFill>
                <a:latin typeface="Ubuntu Mono"/>
                <a:ea typeface="Ubuntu Mono"/>
                <a:cs typeface="Ubuntu Mono"/>
                <a:sym typeface="Ubuntu Mono"/>
              </a:rPr>
              <a:t> </a:t>
            </a:r>
            <a:r>
              <a:rPr lang="es" sz="2100">
                <a:solidFill>
                  <a:srgbClr val="50A14F"/>
                </a:solidFill>
                <a:latin typeface="Ubuntu Mono"/>
                <a:ea typeface="Ubuntu Mono"/>
                <a:cs typeface="Ubuntu Mono"/>
                <a:sym typeface="Ubuntu Mono"/>
              </a:rPr>
              <a:t>"Numero: "</a:t>
            </a:r>
            <a:r>
              <a:rPr lang="es" sz="2100">
                <a:solidFill>
                  <a:srgbClr val="383A42"/>
                </a:solidFill>
                <a:latin typeface="Ubuntu Mono"/>
                <a:ea typeface="Ubuntu Mono"/>
                <a:cs typeface="Ubuntu Mono"/>
                <a:sym typeface="Ubuntu Mono"/>
              </a:rPr>
              <a:t> </a:t>
            </a:r>
            <a:r>
              <a:rPr lang="es" sz="2100">
                <a:solidFill>
                  <a:srgbClr val="0184BC"/>
                </a:solidFill>
                <a:latin typeface="Ubuntu Mono"/>
                <a:ea typeface="Ubuntu Mono"/>
                <a:cs typeface="Ubuntu Mono"/>
                <a:sym typeface="Ubuntu Mono"/>
              </a:rPr>
              <a:t>&lt;&lt;</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6</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0184BC"/>
                </a:solidFill>
                <a:latin typeface="Ubuntu Mono"/>
                <a:ea typeface="Ubuntu Mono"/>
                <a:cs typeface="Ubuntu Mono"/>
                <a:sym typeface="Ubuntu Mono"/>
              </a:rPr>
              <a:t>++</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7</a:t>
            </a:r>
            <a:r>
              <a:rPr lang="es" sz="2100">
                <a:solidFill>
                  <a:srgbClr val="383A42"/>
                </a:solidFill>
                <a:latin typeface="Ubuntu Mono"/>
                <a:ea typeface="Ubuntu Mono"/>
                <a:cs typeface="Ubuntu Mono"/>
                <a:sym typeface="Ubuntu Mono"/>
              </a:rPr>
              <a:t> }</a:t>
            </a:r>
            <a:endParaRPr sz="2100">
              <a:solidFill>
                <a:srgbClr val="383A42"/>
              </a:solidFill>
              <a:latin typeface="Ubuntu Mono"/>
              <a:ea typeface="Ubuntu Mono"/>
              <a:cs typeface="Ubuntu Mono"/>
              <a:sym typeface="Ubuntu Mon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55"/>
          <p:cNvSpPr/>
          <p:nvPr/>
        </p:nvSpPr>
        <p:spPr>
          <a:xfrm rot="10800000">
            <a:off x="1839689" y="1621725"/>
            <a:ext cx="5464200" cy="29559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001" name="Google Shape;1001;p55"/>
          <p:cNvSpPr/>
          <p:nvPr/>
        </p:nvSpPr>
        <p:spPr>
          <a:xfrm rot="10800000">
            <a:off x="1839686" y="1182427"/>
            <a:ext cx="5464200" cy="5910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02" name="Google Shape;1002;p55"/>
          <p:cNvSpPr/>
          <p:nvPr/>
        </p:nvSpPr>
        <p:spPr>
          <a:xfrm>
            <a:off x="2065072" y="1292534"/>
            <a:ext cx="288600" cy="2886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03" name="Google Shape;1003;p55"/>
          <p:cNvSpPr/>
          <p:nvPr/>
        </p:nvSpPr>
        <p:spPr>
          <a:xfrm>
            <a:off x="2492124" y="1292534"/>
            <a:ext cx="288600" cy="2886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04" name="Google Shape;1004;p55"/>
          <p:cNvSpPr/>
          <p:nvPr/>
        </p:nvSpPr>
        <p:spPr>
          <a:xfrm>
            <a:off x="2919177" y="1292534"/>
            <a:ext cx="288600" cy="2886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05" name="Google Shape;1005;p55"/>
          <p:cNvSpPr txBox="1"/>
          <p:nvPr/>
        </p:nvSpPr>
        <p:spPr>
          <a:xfrm>
            <a:off x="1840111" y="1662305"/>
            <a:ext cx="5464200" cy="27384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1</a:t>
            </a:r>
            <a:r>
              <a:rPr lang="es" sz="2100">
                <a:solidFill>
                  <a:srgbClr val="383A42"/>
                </a:solidFill>
                <a:latin typeface="Ubuntu Mono"/>
                <a:ea typeface="Ubuntu Mono"/>
                <a:cs typeface="Ubuntu Mono"/>
                <a:sym typeface="Ubuntu Mono"/>
              </a:rPr>
              <a:t> </a:t>
            </a:r>
            <a:r>
              <a:rPr lang="es" sz="2100">
                <a:solidFill>
                  <a:srgbClr val="27292F"/>
                </a:solidFill>
                <a:latin typeface="Ubuntu Mono"/>
                <a:ea typeface="Ubuntu Mono"/>
                <a:cs typeface="Ubuntu Mono"/>
                <a:sym typeface="Ubuntu Mono"/>
              </a:rPr>
              <a:t>int</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0184BC"/>
                </a:solidFill>
                <a:latin typeface="Ubuntu Mono"/>
                <a:ea typeface="Ubuntu Mono"/>
                <a:cs typeface="Ubuntu Mono"/>
                <a:sym typeface="Ubuntu Mono"/>
              </a:rPr>
              <a:t>=</a:t>
            </a:r>
            <a:r>
              <a:rPr lang="es" sz="2100">
                <a:solidFill>
                  <a:srgbClr val="986801"/>
                </a:solidFill>
                <a:latin typeface="Ubuntu Mono"/>
                <a:ea typeface="Ubuntu Mono"/>
                <a:cs typeface="Ubuntu Mono"/>
                <a:sym typeface="Ubuntu Mono"/>
              </a:rPr>
              <a:t>0</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2</a:t>
            </a:r>
            <a:r>
              <a:rPr lang="es" sz="2100">
                <a:solidFill>
                  <a:srgbClr val="383A42"/>
                </a:solidFill>
                <a:latin typeface="Ubuntu Mono"/>
                <a:ea typeface="Ubuntu Mono"/>
                <a:cs typeface="Ubuntu Mono"/>
                <a:sym typeface="Ubuntu Mono"/>
              </a:rPr>
              <a:t> </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3</a:t>
            </a:r>
            <a:r>
              <a:rPr lang="es" sz="2100">
                <a:solidFill>
                  <a:srgbClr val="383A42"/>
                </a:solidFill>
                <a:latin typeface="Ubuntu Mono"/>
                <a:ea typeface="Ubuntu Mono"/>
                <a:cs typeface="Ubuntu Mono"/>
                <a:sym typeface="Ubuntu Mono"/>
              </a:rPr>
              <a:t> </a:t>
            </a:r>
            <a:r>
              <a:rPr lang="es" sz="2100">
                <a:solidFill>
                  <a:srgbClr val="A626A4"/>
                </a:solidFill>
                <a:latin typeface="Ubuntu Mono"/>
                <a:ea typeface="Ubuntu Mono"/>
                <a:cs typeface="Ubuntu Mono"/>
                <a:sym typeface="Ubuntu Mono"/>
              </a:rPr>
              <a:t>while</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0184BC"/>
                </a:solidFill>
                <a:latin typeface="Ubuntu Mono"/>
                <a:ea typeface="Ubuntu Mono"/>
                <a:cs typeface="Ubuntu Mono"/>
                <a:sym typeface="Ubuntu Mono"/>
              </a:rPr>
              <a:t>&lt;</a:t>
            </a:r>
            <a:r>
              <a:rPr lang="es" sz="2100">
                <a:solidFill>
                  <a:srgbClr val="986801"/>
                </a:solidFill>
                <a:latin typeface="Ubuntu Mono"/>
                <a:ea typeface="Ubuntu Mono"/>
                <a:cs typeface="Ubuntu Mono"/>
                <a:sym typeface="Ubuntu Mono"/>
              </a:rPr>
              <a:t>10</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4</a:t>
            </a:r>
            <a:r>
              <a:rPr lang="es" sz="2100">
                <a:solidFill>
                  <a:srgbClr val="383A42"/>
                </a:solidFill>
                <a:latin typeface="Ubuntu Mono"/>
                <a:ea typeface="Ubuntu Mono"/>
                <a:cs typeface="Ubuntu Mono"/>
                <a:sym typeface="Ubuntu Mono"/>
              </a:rPr>
              <a:t> {</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5</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cout</a:t>
            </a:r>
            <a:r>
              <a:rPr lang="es" sz="2100">
                <a:solidFill>
                  <a:srgbClr val="383A42"/>
                </a:solidFill>
                <a:latin typeface="Ubuntu Mono"/>
                <a:ea typeface="Ubuntu Mono"/>
                <a:cs typeface="Ubuntu Mono"/>
                <a:sym typeface="Ubuntu Mono"/>
              </a:rPr>
              <a:t> </a:t>
            </a:r>
            <a:r>
              <a:rPr lang="es" sz="2100">
                <a:solidFill>
                  <a:srgbClr val="0184BC"/>
                </a:solidFill>
                <a:latin typeface="Ubuntu Mono"/>
                <a:ea typeface="Ubuntu Mono"/>
                <a:cs typeface="Ubuntu Mono"/>
                <a:sym typeface="Ubuntu Mono"/>
              </a:rPr>
              <a:t>&lt;&lt;</a:t>
            </a:r>
            <a:r>
              <a:rPr lang="es" sz="2100">
                <a:solidFill>
                  <a:srgbClr val="383A42"/>
                </a:solidFill>
                <a:latin typeface="Ubuntu Mono"/>
                <a:ea typeface="Ubuntu Mono"/>
                <a:cs typeface="Ubuntu Mono"/>
                <a:sym typeface="Ubuntu Mono"/>
              </a:rPr>
              <a:t> </a:t>
            </a:r>
            <a:r>
              <a:rPr lang="es" sz="2100">
                <a:solidFill>
                  <a:srgbClr val="50A14F"/>
                </a:solidFill>
                <a:latin typeface="Ubuntu Mono"/>
                <a:ea typeface="Ubuntu Mono"/>
                <a:cs typeface="Ubuntu Mono"/>
                <a:sym typeface="Ubuntu Mono"/>
              </a:rPr>
              <a:t>"Numero: "</a:t>
            </a:r>
            <a:r>
              <a:rPr lang="es" sz="2100">
                <a:solidFill>
                  <a:srgbClr val="383A42"/>
                </a:solidFill>
                <a:latin typeface="Ubuntu Mono"/>
                <a:ea typeface="Ubuntu Mono"/>
                <a:cs typeface="Ubuntu Mono"/>
                <a:sym typeface="Ubuntu Mono"/>
              </a:rPr>
              <a:t> </a:t>
            </a:r>
            <a:r>
              <a:rPr lang="es" sz="2100">
                <a:solidFill>
                  <a:srgbClr val="0184BC"/>
                </a:solidFill>
                <a:latin typeface="Ubuntu Mono"/>
                <a:ea typeface="Ubuntu Mono"/>
                <a:cs typeface="Ubuntu Mono"/>
                <a:sym typeface="Ubuntu Mono"/>
              </a:rPr>
              <a:t>&lt;&lt;</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6</a:t>
            </a:r>
            <a:r>
              <a:rPr lang="es" sz="2100">
                <a:solidFill>
                  <a:srgbClr val="383A42"/>
                </a:solidFill>
                <a:latin typeface="Ubuntu Mono"/>
                <a:ea typeface="Ubuntu Mono"/>
                <a:cs typeface="Ubuntu Mono"/>
                <a:sym typeface="Ubuntu Mono"/>
              </a:rPr>
              <a:t> 		</a:t>
            </a:r>
            <a:r>
              <a:rPr lang="es" sz="2100">
                <a:solidFill>
                  <a:srgbClr val="E06C75"/>
                </a:solidFill>
                <a:latin typeface="Ubuntu Mono"/>
                <a:ea typeface="Ubuntu Mono"/>
                <a:cs typeface="Ubuntu Mono"/>
                <a:sym typeface="Ubuntu Mono"/>
              </a:rPr>
              <a:t>i</a:t>
            </a:r>
            <a:r>
              <a:rPr lang="es" sz="2100">
                <a:solidFill>
                  <a:srgbClr val="0184BC"/>
                </a:solidFill>
                <a:latin typeface="Ubuntu Mono"/>
                <a:ea typeface="Ubuntu Mono"/>
                <a:cs typeface="Ubuntu Mono"/>
                <a:sym typeface="Ubuntu Mono"/>
              </a:rPr>
              <a:t>++</a:t>
            </a:r>
            <a:r>
              <a:rPr lang="es" sz="2100">
                <a:solidFill>
                  <a:srgbClr val="383A42"/>
                </a:solidFill>
                <a:latin typeface="Ubuntu Mono"/>
                <a:ea typeface="Ubuntu Mono"/>
                <a:cs typeface="Ubuntu Mono"/>
                <a:sym typeface="Ubuntu Mono"/>
              </a:rPr>
              <a:t>;</a:t>
            </a:r>
            <a:endParaRPr sz="21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2100"/>
              <a:buFont typeface="Arial"/>
              <a:buNone/>
            </a:pPr>
            <a:r>
              <a:rPr lang="es" sz="2100">
                <a:solidFill>
                  <a:srgbClr val="383A42"/>
                </a:solidFill>
                <a:latin typeface="Ubuntu Mono"/>
                <a:ea typeface="Ubuntu Mono"/>
                <a:cs typeface="Ubuntu Mono"/>
                <a:sym typeface="Ubuntu Mono"/>
              </a:rPr>
              <a:t> </a:t>
            </a:r>
            <a:r>
              <a:rPr lang="es" sz="2100">
                <a:solidFill>
                  <a:srgbClr val="929292"/>
                </a:solidFill>
                <a:latin typeface="Ubuntu Mono"/>
                <a:ea typeface="Ubuntu Mono"/>
                <a:cs typeface="Ubuntu Mono"/>
                <a:sym typeface="Ubuntu Mono"/>
              </a:rPr>
              <a:t>7</a:t>
            </a:r>
            <a:r>
              <a:rPr lang="es" sz="2100">
                <a:solidFill>
                  <a:srgbClr val="383A42"/>
                </a:solidFill>
                <a:latin typeface="Ubuntu Mono"/>
                <a:ea typeface="Ubuntu Mono"/>
                <a:cs typeface="Ubuntu Mono"/>
                <a:sym typeface="Ubuntu Mono"/>
              </a:rPr>
              <a:t> }</a:t>
            </a:r>
            <a:endParaRPr sz="2100">
              <a:solidFill>
                <a:srgbClr val="383A42"/>
              </a:solidFill>
              <a:latin typeface="Ubuntu Mono"/>
              <a:ea typeface="Ubuntu Mono"/>
              <a:cs typeface="Ubuntu Mono"/>
              <a:sym typeface="Ubuntu Mono"/>
            </a:endParaRPr>
          </a:p>
        </p:txBody>
      </p:sp>
      <p:sp>
        <p:nvSpPr>
          <p:cNvPr id="1006" name="Google Shape;1006;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¿Qué pasa con este programa?</a:t>
            </a:r>
            <a:endParaRPr/>
          </a:p>
        </p:txBody>
      </p:sp>
      <p:sp>
        <p:nvSpPr>
          <p:cNvPr id="1007" name="Google Shape;1007;p55"/>
          <p:cNvSpPr/>
          <p:nvPr/>
        </p:nvSpPr>
        <p:spPr>
          <a:xfrm rot="-531091">
            <a:off x="1562883" y="3750522"/>
            <a:ext cx="7231221" cy="1054169"/>
          </a:xfrm>
          <a:prstGeom prst="roundRect">
            <a:avLst>
              <a:gd fmla="val 9075"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⚠️⚠️⚠️SIEMPRE CONTROLAR QUE LAS </a:t>
            </a:r>
            <a:r>
              <a:rPr b="1" i="0" lang="es" sz="1400" u="none" cap="none" strike="noStrike">
                <a:solidFill>
                  <a:srgbClr val="000000"/>
                </a:solidFill>
              </a:rPr>
              <a:t>VARIABLES</a:t>
            </a:r>
            <a:r>
              <a:rPr b="0" i="0" lang="es" sz="1400" u="none" cap="none" strike="noStrike">
                <a:solidFill>
                  <a:srgbClr val="000000"/>
                </a:solidFill>
                <a:latin typeface="Arial"/>
                <a:ea typeface="Arial"/>
                <a:cs typeface="Arial"/>
                <a:sym typeface="Arial"/>
              </a:rPr>
              <a:t> QUE PERTENECEN A LA  </a:t>
            </a:r>
            <a:r>
              <a:rPr b="1" lang="es"/>
              <a:t>CONDICIÓN</a:t>
            </a:r>
            <a:r>
              <a:rPr b="1" i="0" lang="es" sz="1400" u="none" cap="none" strike="noStrike">
                <a:solidFill>
                  <a:srgbClr val="000000"/>
                </a:solidFill>
              </a:rPr>
              <a:t> DE CORTE</a:t>
            </a:r>
            <a:r>
              <a:rPr b="0" i="0" lang="es" sz="1400" u="none" cap="none" strike="noStrike">
                <a:solidFill>
                  <a:srgbClr val="000000"/>
                </a:solidFill>
                <a:latin typeface="Arial"/>
                <a:ea typeface="Arial"/>
                <a:cs typeface="Arial"/>
                <a:sym typeface="Arial"/>
              </a:rPr>
              <a:t> SE MODIFIQUEN DE MANERA QUE </a:t>
            </a:r>
            <a:r>
              <a:rPr b="1" i="0" lang="es" sz="1400" u="none" cap="none" strike="noStrike">
                <a:solidFill>
                  <a:srgbClr val="000000"/>
                </a:solidFill>
              </a:rPr>
              <a:t>EN ALGUN MOMEN</a:t>
            </a:r>
            <a:r>
              <a:rPr b="1" lang="es"/>
              <a:t>T</a:t>
            </a:r>
            <a:r>
              <a:rPr b="1" i="0" lang="es" sz="1400" u="none" cap="none" strike="noStrike">
                <a:solidFill>
                  <a:srgbClr val="000000"/>
                </a:solidFill>
              </a:rPr>
              <a:t>O SE ALCANCE LA TERMINACIÓN DEL CICLO</a:t>
            </a:r>
            <a:r>
              <a:rPr b="0" i="0" lang="e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56"/>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Validación de Datos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5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Validación de Datos</a:t>
            </a:r>
            <a:endParaRPr/>
          </a:p>
        </p:txBody>
      </p:sp>
      <p:sp>
        <p:nvSpPr>
          <p:cNvPr id="1018" name="Google Shape;1018;p57"/>
          <p:cNvSpPr txBox="1"/>
          <p:nvPr>
            <p:ph idx="1" type="body"/>
          </p:nvPr>
        </p:nvSpPr>
        <p:spPr>
          <a:xfrm>
            <a:off x="311700" y="1152475"/>
            <a:ext cx="24906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1200"/>
              </a:spcAft>
              <a:buSzPts val="1800"/>
              <a:buNone/>
            </a:pPr>
            <a:r>
              <a:rPr lang="es" sz="1500"/>
              <a:t>Se necesita un programa en el que un usuario ingrese un valor entero que representa la temperatura medida por un sensor, el cual registra valores entre -25 y 87 grados. En caso de ingresar un valor fuera del rango, el programa debe volver a pedir un nuevo ingreso hasta que sea válido.</a:t>
            </a:r>
            <a:endParaRPr sz="15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5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Validación de Datos</a:t>
            </a:r>
            <a:endParaRPr/>
          </a:p>
        </p:txBody>
      </p:sp>
      <p:sp>
        <p:nvSpPr>
          <p:cNvPr id="1024" name="Google Shape;1024;p58"/>
          <p:cNvSpPr txBox="1"/>
          <p:nvPr>
            <p:ph idx="1" type="body"/>
          </p:nvPr>
        </p:nvSpPr>
        <p:spPr>
          <a:xfrm>
            <a:off x="311700" y="1152475"/>
            <a:ext cx="24906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1200"/>
              </a:spcAft>
              <a:buSzPts val="1800"/>
              <a:buNone/>
            </a:pPr>
            <a:r>
              <a:rPr lang="es" sz="1500"/>
              <a:t>Se necesita un programa en el que un usuario ingrese un valor entero que representa la temperatura medida por un sensor, el cual registra valores entre -25 y 87 grados. En caso de ingresar un valor fuera del rango, el programa debe volver a pedir un nuevo ingreso hasta que sea válido.</a:t>
            </a:r>
            <a:endParaRPr sz="1500"/>
          </a:p>
        </p:txBody>
      </p:sp>
      <p:sp>
        <p:nvSpPr>
          <p:cNvPr id="1025" name="Google Shape;1025;p58"/>
          <p:cNvSpPr/>
          <p:nvPr/>
        </p:nvSpPr>
        <p:spPr>
          <a:xfrm rot="10800000">
            <a:off x="3253578" y="1699075"/>
            <a:ext cx="53901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026" name="Google Shape;1026;p58"/>
          <p:cNvSpPr/>
          <p:nvPr/>
        </p:nvSpPr>
        <p:spPr>
          <a:xfrm rot="10800000">
            <a:off x="3253582" y="1304800"/>
            <a:ext cx="53901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27" name="Google Shape;1027;p58"/>
          <p:cNvSpPr/>
          <p:nvPr/>
        </p:nvSpPr>
        <p:spPr>
          <a:xfrm>
            <a:off x="3455961" y="1403675"/>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28" name="Google Shape;1028;p58"/>
          <p:cNvSpPr/>
          <p:nvPr/>
        </p:nvSpPr>
        <p:spPr>
          <a:xfrm>
            <a:off x="3839164" y="1403675"/>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29" name="Google Shape;1029;p58"/>
          <p:cNvSpPr/>
          <p:nvPr/>
        </p:nvSpPr>
        <p:spPr>
          <a:xfrm>
            <a:off x="4222366" y="1403675"/>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30" name="Google Shape;1030;p58"/>
          <p:cNvSpPr txBox="1"/>
          <p:nvPr/>
        </p:nvSpPr>
        <p:spPr>
          <a:xfrm>
            <a:off x="3254224" y="1739030"/>
            <a:ext cx="53901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lang="es" sz="1900">
                <a:solidFill>
                  <a:srgbClr val="383A42"/>
                </a:solidFill>
                <a:latin typeface="Ubuntu Mono"/>
                <a:ea typeface="Ubuntu Mono"/>
                <a:cs typeface="Ubuntu Mono"/>
                <a:sym typeface="Ubuntu Mono"/>
              </a:rPr>
              <a:t> </a:t>
            </a:r>
            <a:r>
              <a:rPr lang="es" sz="1900">
                <a:solidFill>
                  <a:srgbClr val="929292"/>
                </a:solidFill>
                <a:latin typeface="Ubuntu Mono"/>
                <a:ea typeface="Ubuntu Mono"/>
                <a:cs typeface="Ubuntu Mono"/>
                <a:sym typeface="Ubuntu Mono"/>
              </a:rPr>
              <a:t>1</a:t>
            </a:r>
            <a:r>
              <a:rPr lang="es" sz="1900">
                <a:solidFill>
                  <a:srgbClr val="383A42"/>
                </a:solidFill>
                <a:latin typeface="Ubuntu Mono"/>
                <a:ea typeface="Ubuntu Mono"/>
                <a:cs typeface="Ubuntu Mono"/>
                <a:sym typeface="Ubuntu Mono"/>
              </a:rPr>
              <a:t> </a:t>
            </a:r>
            <a:r>
              <a:rPr lang="es" sz="1900">
                <a:solidFill>
                  <a:srgbClr val="27292F"/>
                </a:solidFill>
                <a:latin typeface="Ubuntu Mono"/>
                <a:ea typeface="Ubuntu Mono"/>
                <a:cs typeface="Ubuntu Mono"/>
                <a:sym typeface="Ubuntu Mono"/>
              </a:rPr>
              <a:t>int</a:t>
            </a:r>
            <a:r>
              <a:rPr lang="es" sz="1900">
                <a:solidFill>
                  <a:srgbClr val="383A42"/>
                </a:solidFill>
                <a:latin typeface="Ubuntu Mono"/>
                <a:ea typeface="Ubuntu Mono"/>
                <a:cs typeface="Ubuntu Mono"/>
                <a:sym typeface="Ubuntu Mono"/>
              </a:rPr>
              <a:t> </a:t>
            </a:r>
            <a:r>
              <a:rPr lang="es" sz="1900">
                <a:solidFill>
                  <a:srgbClr val="E06C75"/>
                </a:solidFill>
                <a:latin typeface="Ubuntu Mono"/>
                <a:ea typeface="Ubuntu Mono"/>
                <a:cs typeface="Ubuntu Mono"/>
                <a:sym typeface="Ubuntu Mono"/>
              </a:rPr>
              <a:t>temp</a:t>
            </a:r>
            <a:r>
              <a:rPr lang="es" sz="1900">
                <a:solidFill>
                  <a:srgbClr val="383A42"/>
                </a:solidFill>
                <a:latin typeface="Ubuntu Mono"/>
                <a:ea typeface="Ubuntu Mono"/>
                <a:cs typeface="Ubuntu Mono"/>
                <a:sym typeface="Ubuntu Mono"/>
              </a:rPr>
              <a:t>;</a:t>
            </a:r>
            <a:endParaRPr sz="1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900"/>
              <a:buFont typeface="Arial"/>
              <a:buNone/>
            </a:pPr>
            <a:r>
              <a:rPr lang="es" sz="1900">
                <a:solidFill>
                  <a:srgbClr val="383A42"/>
                </a:solidFill>
                <a:latin typeface="Ubuntu Mono"/>
                <a:ea typeface="Ubuntu Mono"/>
                <a:cs typeface="Ubuntu Mono"/>
                <a:sym typeface="Ubuntu Mono"/>
              </a:rPr>
              <a:t> </a:t>
            </a:r>
            <a:r>
              <a:rPr lang="es" sz="1900">
                <a:solidFill>
                  <a:srgbClr val="929292"/>
                </a:solidFill>
                <a:latin typeface="Ubuntu Mono"/>
                <a:ea typeface="Ubuntu Mono"/>
                <a:cs typeface="Ubuntu Mono"/>
                <a:sym typeface="Ubuntu Mono"/>
              </a:rPr>
              <a:t>2</a:t>
            </a:r>
            <a:r>
              <a:rPr lang="es" sz="1900">
                <a:solidFill>
                  <a:srgbClr val="383A42"/>
                </a:solidFill>
                <a:latin typeface="Ubuntu Mono"/>
                <a:ea typeface="Ubuntu Mono"/>
                <a:cs typeface="Ubuntu Mono"/>
                <a:sym typeface="Ubuntu Mono"/>
              </a:rPr>
              <a:t> </a:t>
            </a:r>
            <a:r>
              <a:rPr lang="es" sz="1900">
                <a:solidFill>
                  <a:srgbClr val="E06C75"/>
                </a:solidFill>
                <a:latin typeface="Ubuntu Mono"/>
                <a:ea typeface="Ubuntu Mono"/>
                <a:cs typeface="Ubuntu Mono"/>
                <a:sym typeface="Ubuntu Mono"/>
              </a:rPr>
              <a:t>cout</a:t>
            </a:r>
            <a:r>
              <a:rPr lang="es" sz="1900">
                <a:solidFill>
                  <a:srgbClr val="383A42"/>
                </a:solidFill>
                <a:latin typeface="Ubuntu Mono"/>
                <a:ea typeface="Ubuntu Mono"/>
                <a:cs typeface="Ubuntu Mono"/>
                <a:sym typeface="Ubuntu Mono"/>
              </a:rPr>
              <a:t> </a:t>
            </a:r>
            <a:r>
              <a:rPr lang="es" sz="1900">
                <a:solidFill>
                  <a:srgbClr val="0184BC"/>
                </a:solidFill>
                <a:latin typeface="Ubuntu Mono"/>
                <a:ea typeface="Ubuntu Mono"/>
                <a:cs typeface="Ubuntu Mono"/>
                <a:sym typeface="Ubuntu Mono"/>
              </a:rPr>
              <a:t>&lt;&lt;</a:t>
            </a:r>
            <a:r>
              <a:rPr lang="es" sz="1900">
                <a:solidFill>
                  <a:srgbClr val="383A42"/>
                </a:solidFill>
                <a:latin typeface="Ubuntu Mono"/>
                <a:ea typeface="Ubuntu Mono"/>
                <a:cs typeface="Ubuntu Mono"/>
                <a:sym typeface="Ubuntu Mono"/>
              </a:rPr>
              <a:t> </a:t>
            </a:r>
            <a:r>
              <a:rPr lang="es" sz="1900">
                <a:solidFill>
                  <a:srgbClr val="50A14F"/>
                </a:solidFill>
                <a:latin typeface="Ubuntu Mono"/>
                <a:ea typeface="Ubuntu Mono"/>
                <a:cs typeface="Ubuntu Mono"/>
                <a:sym typeface="Ubuntu Mono"/>
              </a:rPr>
              <a:t>"Ingrese T entre -25 y 87"</a:t>
            </a:r>
            <a:r>
              <a:rPr lang="es" sz="1900">
                <a:solidFill>
                  <a:srgbClr val="383A42"/>
                </a:solidFill>
                <a:latin typeface="Ubuntu Mono"/>
                <a:ea typeface="Ubuntu Mono"/>
                <a:cs typeface="Ubuntu Mono"/>
                <a:sym typeface="Ubuntu Mono"/>
              </a:rPr>
              <a:t>;</a:t>
            </a:r>
            <a:endParaRPr sz="1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900"/>
              <a:buFont typeface="Arial"/>
              <a:buNone/>
            </a:pPr>
            <a:r>
              <a:rPr lang="es" sz="1900">
                <a:solidFill>
                  <a:srgbClr val="383A42"/>
                </a:solidFill>
                <a:latin typeface="Ubuntu Mono"/>
                <a:ea typeface="Ubuntu Mono"/>
                <a:cs typeface="Ubuntu Mono"/>
                <a:sym typeface="Ubuntu Mono"/>
              </a:rPr>
              <a:t> </a:t>
            </a:r>
            <a:r>
              <a:rPr lang="es" sz="1900">
                <a:solidFill>
                  <a:srgbClr val="929292"/>
                </a:solidFill>
                <a:latin typeface="Ubuntu Mono"/>
                <a:ea typeface="Ubuntu Mono"/>
                <a:cs typeface="Ubuntu Mono"/>
                <a:sym typeface="Ubuntu Mono"/>
              </a:rPr>
              <a:t>3</a:t>
            </a:r>
            <a:r>
              <a:rPr lang="es" sz="1900">
                <a:solidFill>
                  <a:srgbClr val="383A42"/>
                </a:solidFill>
                <a:latin typeface="Ubuntu Mono"/>
                <a:ea typeface="Ubuntu Mono"/>
                <a:cs typeface="Ubuntu Mono"/>
                <a:sym typeface="Ubuntu Mono"/>
              </a:rPr>
              <a:t> </a:t>
            </a:r>
            <a:r>
              <a:rPr lang="es" sz="1900">
                <a:solidFill>
                  <a:srgbClr val="E06C75"/>
                </a:solidFill>
                <a:latin typeface="Ubuntu Mono"/>
                <a:ea typeface="Ubuntu Mono"/>
                <a:cs typeface="Ubuntu Mono"/>
                <a:sym typeface="Ubuntu Mono"/>
              </a:rPr>
              <a:t>cin</a:t>
            </a:r>
            <a:r>
              <a:rPr lang="es" sz="1900">
                <a:solidFill>
                  <a:srgbClr val="383A42"/>
                </a:solidFill>
                <a:latin typeface="Ubuntu Mono"/>
                <a:ea typeface="Ubuntu Mono"/>
                <a:cs typeface="Ubuntu Mono"/>
                <a:sym typeface="Ubuntu Mono"/>
              </a:rPr>
              <a:t> </a:t>
            </a:r>
            <a:r>
              <a:rPr lang="es" sz="1900">
                <a:solidFill>
                  <a:srgbClr val="0184BC"/>
                </a:solidFill>
                <a:latin typeface="Ubuntu Mono"/>
                <a:ea typeface="Ubuntu Mono"/>
                <a:cs typeface="Ubuntu Mono"/>
                <a:sym typeface="Ubuntu Mono"/>
              </a:rPr>
              <a:t>&gt;&gt;</a:t>
            </a:r>
            <a:r>
              <a:rPr lang="es" sz="1900">
                <a:solidFill>
                  <a:srgbClr val="383A42"/>
                </a:solidFill>
                <a:latin typeface="Ubuntu Mono"/>
                <a:ea typeface="Ubuntu Mono"/>
                <a:cs typeface="Ubuntu Mono"/>
                <a:sym typeface="Ubuntu Mono"/>
              </a:rPr>
              <a:t> </a:t>
            </a:r>
            <a:r>
              <a:rPr lang="es" sz="1900">
                <a:solidFill>
                  <a:srgbClr val="E06C75"/>
                </a:solidFill>
                <a:latin typeface="Ubuntu Mono"/>
                <a:ea typeface="Ubuntu Mono"/>
                <a:cs typeface="Ubuntu Mono"/>
                <a:sym typeface="Ubuntu Mono"/>
              </a:rPr>
              <a:t>temp</a:t>
            </a:r>
            <a:r>
              <a:rPr lang="es" sz="1900">
                <a:solidFill>
                  <a:srgbClr val="383A42"/>
                </a:solidFill>
                <a:latin typeface="Ubuntu Mono"/>
                <a:ea typeface="Ubuntu Mono"/>
                <a:cs typeface="Ubuntu Mono"/>
                <a:sym typeface="Ubuntu Mono"/>
              </a:rPr>
              <a:t>;</a:t>
            </a:r>
            <a:endParaRPr sz="1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900"/>
              <a:buFont typeface="Arial"/>
              <a:buNone/>
            </a:pPr>
            <a:r>
              <a:rPr lang="es" sz="1900">
                <a:solidFill>
                  <a:srgbClr val="383A42"/>
                </a:solidFill>
                <a:latin typeface="Ubuntu Mono"/>
                <a:ea typeface="Ubuntu Mono"/>
                <a:cs typeface="Ubuntu Mono"/>
                <a:sym typeface="Ubuntu Mono"/>
              </a:rPr>
              <a:t> </a:t>
            </a:r>
            <a:r>
              <a:rPr lang="es" sz="1900">
                <a:solidFill>
                  <a:srgbClr val="929292"/>
                </a:solidFill>
                <a:latin typeface="Ubuntu Mono"/>
                <a:ea typeface="Ubuntu Mono"/>
                <a:cs typeface="Ubuntu Mono"/>
                <a:sym typeface="Ubuntu Mono"/>
              </a:rPr>
              <a:t>4</a:t>
            </a:r>
            <a:r>
              <a:rPr lang="es" sz="1900">
                <a:solidFill>
                  <a:srgbClr val="383A42"/>
                </a:solidFill>
                <a:latin typeface="Ubuntu Mono"/>
                <a:ea typeface="Ubuntu Mono"/>
                <a:cs typeface="Ubuntu Mono"/>
                <a:sym typeface="Ubuntu Mono"/>
              </a:rPr>
              <a:t> </a:t>
            </a:r>
            <a:r>
              <a:rPr lang="es" sz="1900">
                <a:solidFill>
                  <a:srgbClr val="A626A4"/>
                </a:solidFill>
                <a:latin typeface="Ubuntu Mono"/>
                <a:ea typeface="Ubuntu Mono"/>
                <a:cs typeface="Ubuntu Mono"/>
                <a:sym typeface="Ubuntu Mono"/>
              </a:rPr>
              <a:t>while</a:t>
            </a:r>
            <a:r>
              <a:rPr lang="es" sz="1900">
                <a:solidFill>
                  <a:srgbClr val="383A42"/>
                </a:solidFill>
                <a:latin typeface="Ubuntu Mono"/>
                <a:ea typeface="Ubuntu Mono"/>
                <a:cs typeface="Ubuntu Mono"/>
                <a:sym typeface="Ubuntu Mono"/>
              </a:rPr>
              <a:t> (</a:t>
            </a:r>
            <a:r>
              <a:rPr lang="es" sz="1900">
                <a:solidFill>
                  <a:srgbClr val="E06C75"/>
                </a:solidFill>
                <a:latin typeface="Ubuntu Mono"/>
                <a:ea typeface="Ubuntu Mono"/>
                <a:cs typeface="Ubuntu Mono"/>
                <a:sym typeface="Ubuntu Mono"/>
              </a:rPr>
              <a:t>temp</a:t>
            </a:r>
            <a:r>
              <a:rPr lang="es" sz="1900">
                <a:solidFill>
                  <a:srgbClr val="0184BC"/>
                </a:solidFill>
                <a:latin typeface="Ubuntu Mono"/>
                <a:ea typeface="Ubuntu Mono"/>
                <a:cs typeface="Ubuntu Mono"/>
                <a:sym typeface="Ubuntu Mono"/>
              </a:rPr>
              <a:t>&lt;-</a:t>
            </a:r>
            <a:r>
              <a:rPr lang="es" sz="1900">
                <a:solidFill>
                  <a:srgbClr val="986801"/>
                </a:solidFill>
                <a:latin typeface="Ubuntu Mono"/>
                <a:ea typeface="Ubuntu Mono"/>
                <a:cs typeface="Ubuntu Mono"/>
                <a:sym typeface="Ubuntu Mono"/>
              </a:rPr>
              <a:t>25</a:t>
            </a:r>
            <a:r>
              <a:rPr lang="es" sz="1900">
                <a:solidFill>
                  <a:srgbClr val="383A42"/>
                </a:solidFill>
                <a:latin typeface="Ubuntu Mono"/>
                <a:ea typeface="Ubuntu Mono"/>
                <a:cs typeface="Ubuntu Mono"/>
                <a:sym typeface="Ubuntu Mono"/>
              </a:rPr>
              <a:t> </a:t>
            </a:r>
            <a:r>
              <a:rPr lang="es" sz="1900">
                <a:solidFill>
                  <a:srgbClr val="A626A4"/>
                </a:solidFill>
                <a:latin typeface="Ubuntu Mono"/>
                <a:ea typeface="Ubuntu Mono"/>
                <a:cs typeface="Ubuntu Mono"/>
                <a:sym typeface="Ubuntu Mono"/>
              </a:rPr>
              <a:t>or</a:t>
            </a:r>
            <a:r>
              <a:rPr lang="es" sz="1900">
                <a:solidFill>
                  <a:srgbClr val="383A42"/>
                </a:solidFill>
                <a:latin typeface="Ubuntu Mono"/>
                <a:ea typeface="Ubuntu Mono"/>
                <a:cs typeface="Ubuntu Mono"/>
                <a:sym typeface="Ubuntu Mono"/>
              </a:rPr>
              <a:t> </a:t>
            </a:r>
            <a:r>
              <a:rPr lang="es" sz="1900">
                <a:solidFill>
                  <a:srgbClr val="E06C75"/>
                </a:solidFill>
                <a:latin typeface="Ubuntu Mono"/>
                <a:ea typeface="Ubuntu Mono"/>
                <a:cs typeface="Ubuntu Mono"/>
                <a:sym typeface="Ubuntu Mono"/>
              </a:rPr>
              <a:t>temp</a:t>
            </a:r>
            <a:r>
              <a:rPr lang="es" sz="1900">
                <a:solidFill>
                  <a:srgbClr val="0184BC"/>
                </a:solidFill>
                <a:latin typeface="Ubuntu Mono"/>
                <a:ea typeface="Ubuntu Mono"/>
                <a:cs typeface="Ubuntu Mono"/>
                <a:sym typeface="Ubuntu Mono"/>
              </a:rPr>
              <a:t>&gt;</a:t>
            </a:r>
            <a:r>
              <a:rPr lang="es" sz="1900">
                <a:solidFill>
                  <a:srgbClr val="986801"/>
                </a:solidFill>
                <a:latin typeface="Ubuntu Mono"/>
                <a:ea typeface="Ubuntu Mono"/>
                <a:cs typeface="Ubuntu Mono"/>
                <a:sym typeface="Ubuntu Mono"/>
              </a:rPr>
              <a:t>87</a:t>
            </a:r>
            <a:r>
              <a:rPr lang="es" sz="1900">
                <a:solidFill>
                  <a:srgbClr val="383A42"/>
                </a:solidFill>
                <a:latin typeface="Ubuntu Mono"/>
                <a:ea typeface="Ubuntu Mono"/>
                <a:cs typeface="Ubuntu Mono"/>
                <a:sym typeface="Ubuntu Mono"/>
              </a:rPr>
              <a:t>)</a:t>
            </a:r>
            <a:endParaRPr sz="1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900"/>
              <a:buFont typeface="Arial"/>
              <a:buNone/>
            </a:pPr>
            <a:r>
              <a:rPr lang="es" sz="1900">
                <a:solidFill>
                  <a:srgbClr val="383A42"/>
                </a:solidFill>
                <a:latin typeface="Ubuntu Mono"/>
                <a:ea typeface="Ubuntu Mono"/>
                <a:cs typeface="Ubuntu Mono"/>
                <a:sym typeface="Ubuntu Mono"/>
              </a:rPr>
              <a:t> </a:t>
            </a:r>
            <a:r>
              <a:rPr lang="es" sz="1900">
                <a:solidFill>
                  <a:srgbClr val="929292"/>
                </a:solidFill>
                <a:latin typeface="Ubuntu Mono"/>
                <a:ea typeface="Ubuntu Mono"/>
                <a:cs typeface="Ubuntu Mono"/>
                <a:sym typeface="Ubuntu Mono"/>
              </a:rPr>
              <a:t>5</a:t>
            </a:r>
            <a:r>
              <a:rPr lang="es" sz="1900">
                <a:solidFill>
                  <a:srgbClr val="383A42"/>
                </a:solidFill>
                <a:latin typeface="Ubuntu Mono"/>
                <a:ea typeface="Ubuntu Mono"/>
                <a:cs typeface="Ubuntu Mono"/>
                <a:sym typeface="Ubuntu Mono"/>
              </a:rPr>
              <a:t> {</a:t>
            </a:r>
            <a:endParaRPr sz="1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900"/>
              <a:buFont typeface="Arial"/>
              <a:buNone/>
            </a:pPr>
            <a:r>
              <a:rPr lang="es" sz="1900">
                <a:solidFill>
                  <a:srgbClr val="383A42"/>
                </a:solidFill>
                <a:latin typeface="Ubuntu Mono"/>
                <a:ea typeface="Ubuntu Mono"/>
                <a:cs typeface="Ubuntu Mono"/>
                <a:sym typeface="Ubuntu Mono"/>
              </a:rPr>
              <a:t> </a:t>
            </a:r>
            <a:r>
              <a:rPr lang="es" sz="1900">
                <a:solidFill>
                  <a:srgbClr val="929292"/>
                </a:solidFill>
                <a:latin typeface="Ubuntu Mono"/>
                <a:ea typeface="Ubuntu Mono"/>
                <a:cs typeface="Ubuntu Mono"/>
                <a:sym typeface="Ubuntu Mono"/>
              </a:rPr>
              <a:t>6</a:t>
            </a:r>
            <a:r>
              <a:rPr lang="es" sz="1900">
                <a:solidFill>
                  <a:srgbClr val="383A42"/>
                </a:solidFill>
                <a:latin typeface="Ubuntu Mono"/>
                <a:ea typeface="Ubuntu Mono"/>
                <a:cs typeface="Ubuntu Mono"/>
                <a:sym typeface="Ubuntu Mono"/>
              </a:rPr>
              <a:t> 		</a:t>
            </a:r>
            <a:r>
              <a:rPr lang="es" sz="1900">
                <a:solidFill>
                  <a:srgbClr val="E06C75"/>
                </a:solidFill>
                <a:latin typeface="Ubuntu Mono"/>
                <a:ea typeface="Ubuntu Mono"/>
                <a:cs typeface="Ubuntu Mono"/>
                <a:sym typeface="Ubuntu Mono"/>
              </a:rPr>
              <a:t>cout</a:t>
            </a:r>
            <a:r>
              <a:rPr lang="es" sz="1900">
                <a:solidFill>
                  <a:srgbClr val="383A42"/>
                </a:solidFill>
                <a:latin typeface="Ubuntu Mono"/>
                <a:ea typeface="Ubuntu Mono"/>
                <a:cs typeface="Ubuntu Mono"/>
                <a:sym typeface="Ubuntu Mono"/>
              </a:rPr>
              <a:t> </a:t>
            </a:r>
            <a:r>
              <a:rPr lang="es" sz="1900">
                <a:solidFill>
                  <a:srgbClr val="0184BC"/>
                </a:solidFill>
                <a:latin typeface="Ubuntu Mono"/>
                <a:ea typeface="Ubuntu Mono"/>
                <a:cs typeface="Ubuntu Mono"/>
                <a:sym typeface="Ubuntu Mono"/>
              </a:rPr>
              <a:t>&lt;&lt;</a:t>
            </a:r>
            <a:r>
              <a:rPr lang="es" sz="1900">
                <a:solidFill>
                  <a:srgbClr val="383A42"/>
                </a:solidFill>
                <a:latin typeface="Ubuntu Mono"/>
                <a:ea typeface="Ubuntu Mono"/>
                <a:cs typeface="Ubuntu Mono"/>
                <a:sym typeface="Ubuntu Mono"/>
              </a:rPr>
              <a:t> </a:t>
            </a:r>
            <a:r>
              <a:rPr lang="es" sz="1900">
                <a:solidFill>
                  <a:srgbClr val="50A14F"/>
                </a:solidFill>
                <a:latin typeface="Ubuntu Mono"/>
                <a:ea typeface="Ubuntu Mono"/>
                <a:cs typeface="Ubuntu Mono"/>
                <a:sym typeface="Ubuntu Mono"/>
              </a:rPr>
              <a:t>"Error, vuelva a ingresar”;</a:t>
            </a:r>
            <a:endParaRPr sz="1900">
              <a:solidFill>
                <a:srgbClr val="50A14F"/>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900"/>
              <a:buFont typeface="Arial"/>
              <a:buNone/>
            </a:pPr>
            <a:r>
              <a:rPr lang="es" sz="1900">
                <a:solidFill>
                  <a:srgbClr val="383A42"/>
                </a:solidFill>
                <a:latin typeface="Ubuntu Mono"/>
                <a:ea typeface="Ubuntu Mono"/>
                <a:cs typeface="Ubuntu Mono"/>
                <a:sym typeface="Ubuntu Mono"/>
              </a:rPr>
              <a:t> </a:t>
            </a:r>
            <a:r>
              <a:rPr lang="es" sz="1900">
                <a:solidFill>
                  <a:srgbClr val="929292"/>
                </a:solidFill>
                <a:latin typeface="Ubuntu Mono"/>
                <a:ea typeface="Ubuntu Mono"/>
                <a:cs typeface="Ubuntu Mono"/>
                <a:sym typeface="Ubuntu Mono"/>
              </a:rPr>
              <a:t>7</a:t>
            </a:r>
            <a:r>
              <a:rPr lang="es" sz="1900">
                <a:solidFill>
                  <a:srgbClr val="383A42"/>
                </a:solidFill>
                <a:latin typeface="Ubuntu Mono"/>
                <a:ea typeface="Ubuntu Mono"/>
                <a:cs typeface="Ubuntu Mono"/>
                <a:sym typeface="Ubuntu Mono"/>
              </a:rPr>
              <a:t> 		</a:t>
            </a:r>
            <a:r>
              <a:rPr lang="es" sz="1900">
                <a:solidFill>
                  <a:srgbClr val="E06C75"/>
                </a:solidFill>
                <a:latin typeface="Ubuntu Mono"/>
                <a:ea typeface="Ubuntu Mono"/>
                <a:cs typeface="Ubuntu Mono"/>
                <a:sym typeface="Ubuntu Mono"/>
              </a:rPr>
              <a:t>cin</a:t>
            </a:r>
            <a:r>
              <a:rPr lang="es" sz="1900">
                <a:solidFill>
                  <a:srgbClr val="383A42"/>
                </a:solidFill>
                <a:latin typeface="Ubuntu Mono"/>
                <a:ea typeface="Ubuntu Mono"/>
                <a:cs typeface="Ubuntu Mono"/>
                <a:sym typeface="Ubuntu Mono"/>
              </a:rPr>
              <a:t> </a:t>
            </a:r>
            <a:r>
              <a:rPr lang="es" sz="1900">
                <a:solidFill>
                  <a:srgbClr val="0184BC"/>
                </a:solidFill>
                <a:latin typeface="Ubuntu Mono"/>
                <a:ea typeface="Ubuntu Mono"/>
                <a:cs typeface="Ubuntu Mono"/>
                <a:sym typeface="Ubuntu Mono"/>
              </a:rPr>
              <a:t>&gt;&gt;</a:t>
            </a:r>
            <a:r>
              <a:rPr lang="es" sz="1900">
                <a:solidFill>
                  <a:srgbClr val="383A42"/>
                </a:solidFill>
                <a:latin typeface="Ubuntu Mono"/>
                <a:ea typeface="Ubuntu Mono"/>
                <a:cs typeface="Ubuntu Mono"/>
                <a:sym typeface="Ubuntu Mono"/>
              </a:rPr>
              <a:t> </a:t>
            </a:r>
            <a:r>
              <a:rPr lang="es" sz="1900">
                <a:solidFill>
                  <a:srgbClr val="E06C75"/>
                </a:solidFill>
                <a:latin typeface="Ubuntu Mono"/>
                <a:ea typeface="Ubuntu Mono"/>
                <a:cs typeface="Ubuntu Mono"/>
                <a:sym typeface="Ubuntu Mono"/>
              </a:rPr>
              <a:t>temp</a:t>
            </a:r>
            <a:r>
              <a:rPr lang="es" sz="1900">
                <a:solidFill>
                  <a:srgbClr val="383A42"/>
                </a:solidFill>
                <a:latin typeface="Ubuntu Mono"/>
                <a:ea typeface="Ubuntu Mono"/>
                <a:cs typeface="Ubuntu Mono"/>
                <a:sym typeface="Ubuntu Mono"/>
              </a:rPr>
              <a:t>;</a:t>
            </a:r>
            <a:endParaRPr sz="1900">
              <a:solidFill>
                <a:srgbClr val="383A42"/>
              </a:solidFill>
              <a:latin typeface="Ubuntu Mono"/>
              <a:ea typeface="Ubuntu Mono"/>
              <a:cs typeface="Ubuntu Mono"/>
              <a:sym typeface="Ubuntu Mono"/>
            </a:endParaRPr>
          </a:p>
          <a:p>
            <a:pPr indent="0" lvl="0" marL="0" marR="0" rtl="0" algn="l">
              <a:lnSpc>
                <a:spcPct val="100000"/>
              </a:lnSpc>
              <a:spcBef>
                <a:spcPts val="0"/>
              </a:spcBef>
              <a:spcAft>
                <a:spcPts val="0"/>
              </a:spcAft>
              <a:buClr>
                <a:srgbClr val="000000"/>
              </a:buClr>
              <a:buSzPts val="1900"/>
              <a:buFont typeface="Arial"/>
              <a:buNone/>
            </a:pPr>
            <a:r>
              <a:rPr lang="es" sz="1900">
                <a:solidFill>
                  <a:srgbClr val="383A42"/>
                </a:solidFill>
                <a:latin typeface="Ubuntu Mono"/>
                <a:ea typeface="Ubuntu Mono"/>
                <a:cs typeface="Ubuntu Mono"/>
                <a:sym typeface="Ubuntu Mono"/>
              </a:rPr>
              <a:t> </a:t>
            </a:r>
            <a:r>
              <a:rPr lang="es" sz="1900">
                <a:solidFill>
                  <a:srgbClr val="929292"/>
                </a:solidFill>
                <a:latin typeface="Ubuntu Mono"/>
                <a:ea typeface="Ubuntu Mono"/>
                <a:cs typeface="Ubuntu Mono"/>
                <a:sym typeface="Ubuntu Mono"/>
              </a:rPr>
              <a:t>8</a:t>
            </a:r>
            <a:r>
              <a:rPr lang="es" sz="1900">
                <a:solidFill>
                  <a:srgbClr val="383A42"/>
                </a:solidFill>
                <a:latin typeface="Ubuntu Mono"/>
                <a:ea typeface="Ubuntu Mono"/>
                <a:cs typeface="Ubuntu Mono"/>
                <a:sym typeface="Ubuntu Mono"/>
              </a:rPr>
              <a:t> }</a:t>
            </a:r>
            <a:endParaRPr sz="1900">
              <a:solidFill>
                <a:srgbClr val="383A42"/>
              </a:solidFill>
              <a:latin typeface="Ubuntu Mono"/>
              <a:ea typeface="Ubuntu Mono"/>
              <a:cs typeface="Ubuntu Mono"/>
              <a:sym typeface="Ubuntu Mon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59"/>
          <p:cNvSpPr txBox="1"/>
          <p:nvPr>
            <p:ph type="title"/>
          </p:nvPr>
        </p:nvSpPr>
        <p:spPr>
          <a:xfrm>
            <a:off x="490250" y="450150"/>
            <a:ext cx="8743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Contadores/Acumuladores</a:t>
            </a:r>
            <a:endParaRPr/>
          </a:p>
          <a:p>
            <a:pPr indent="0" lvl="0" marL="0" rtl="0" algn="l">
              <a:spcBef>
                <a:spcPts val="0"/>
              </a:spcBef>
              <a:spcAft>
                <a:spcPts val="0"/>
              </a:spcAft>
              <a:buNone/>
            </a:pPr>
            <a:r>
              <a:rPr lang="es"/>
              <a:t>Sumatoria hasta 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6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111111"/>
              <a:buNone/>
            </a:pPr>
            <a:r>
              <a:rPr lang="es"/>
              <a:t>Sumatoria hasta N - Contadores/Acumuladores</a:t>
            </a:r>
            <a:endParaRPr/>
          </a:p>
          <a:p>
            <a:pPr indent="0" lvl="0" marL="0" rtl="0" algn="l">
              <a:lnSpc>
                <a:spcPct val="100000"/>
              </a:lnSpc>
              <a:spcBef>
                <a:spcPts val="0"/>
              </a:spcBef>
              <a:spcAft>
                <a:spcPts val="0"/>
              </a:spcAft>
              <a:buSzPct val="111111"/>
              <a:buNone/>
            </a:pPr>
            <a:r>
              <a:t/>
            </a:r>
            <a:endParaRPr/>
          </a:p>
        </p:txBody>
      </p:sp>
      <p:sp>
        <p:nvSpPr>
          <p:cNvPr id="1041" name="Google Shape;1041;p60"/>
          <p:cNvSpPr txBox="1"/>
          <p:nvPr>
            <p:ph idx="1" type="body"/>
          </p:nvPr>
        </p:nvSpPr>
        <p:spPr>
          <a:xfrm>
            <a:off x="311700" y="1152475"/>
            <a:ext cx="33174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Un programa que calcula la sumatoria de los valores entre 0 y un número N ingresado por el usuario.</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111111"/>
              <a:buNone/>
            </a:pPr>
            <a:r>
              <a:rPr lang="es"/>
              <a:t>Sumatoria hasta N - Contadores/Acumuladores</a:t>
            </a:r>
            <a:endParaRPr/>
          </a:p>
          <a:p>
            <a:pPr indent="0" lvl="0" marL="0" rtl="0" algn="l">
              <a:lnSpc>
                <a:spcPct val="100000"/>
              </a:lnSpc>
              <a:spcBef>
                <a:spcPts val="0"/>
              </a:spcBef>
              <a:spcAft>
                <a:spcPts val="0"/>
              </a:spcAft>
              <a:buSzPct val="111111"/>
              <a:buNone/>
            </a:pPr>
            <a:r>
              <a:t/>
            </a:r>
            <a:endParaRPr/>
          </a:p>
        </p:txBody>
      </p:sp>
      <p:sp>
        <p:nvSpPr>
          <p:cNvPr id="1047" name="Google Shape;1047;p61"/>
          <p:cNvSpPr txBox="1"/>
          <p:nvPr>
            <p:ph idx="1" type="body"/>
          </p:nvPr>
        </p:nvSpPr>
        <p:spPr>
          <a:xfrm>
            <a:off x="311700" y="1152475"/>
            <a:ext cx="33174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Un programa que calcula la sumatoria de los valores entre 0 y un número N ingresado por el usuario.</a:t>
            </a:r>
            <a:endParaRPr/>
          </a:p>
        </p:txBody>
      </p:sp>
      <p:sp>
        <p:nvSpPr>
          <p:cNvPr id="1048" name="Google Shape;1048;p61"/>
          <p:cNvSpPr/>
          <p:nvPr/>
        </p:nvSpPr>
        <p:spPr>
          <a:xfrm rot="10800000">
            <a:off x="5768215" y="1394275"/>
            <a:ext cx="27183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049" name="Google Shape;1049;p61"/>
          <p:cNvSpPr/>
          <p:nvPr/>
        </p:nvSpPr>
        <p:spPr>
          <a:xfrm rot="10800000">
            <a:off x="5768217" y="999998"/>
            <a:ext cx="271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50" name="Google Shape;1050;p61"/>
          <p:cNvSpPr/>
          <p:nvPr/>
        </p:nvSpPr>
        <p:spPr>
          <a:xfrm>
            <a:off x="5970561" y="1098875"/>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51" name="Google Shape;1051;p61"/>
          <p:cNvSpPr/>
          <p:nvPr/>
        </p:nvSpPr>
        <p:spPr>
          <a:xfrm>
            <a:off x="6353764" y="1098875"/>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52" name="Google Shape;1052;p61"/>
          <p:cNvSpPr/>
          <p:nvPr/>
        </p:nvSpPr>
        <p:spPr>
          <a:xfrm>
            <a:off x="6736966" y="1098875"/>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53" name="Google Shape;1053;p61"/>
          <p:cNvSpPr txBox="1"/>
          <p:nvPr/>
        </p:nvSpPr>
        <p:spPr>
          <a:xfrm>
            <a:off x="5768504" y="1434228"/>
            <a:ext cx="27183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1</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2</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cin</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&gt;&gt;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3</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4</a:t>
            </a:r>
            <a:r>
              <a:rPr b="0" i="0" lang="es" sz="1900" u="none" cap="none" strike="noStrike">
                <a:solidFill>
                  <a:srgbClr val="383A42"/>
                </a:solidFill>
                <a:latin typeface="Arial"/>
                <a:ea typeface="Arial"/>
                <a:cs typeface="Arial"/>
                <a:sym typeface="Arial"/>
              </a:rPr>
              <a:t>  </a:t>
            </a:r>
            <a:r>
              <a:rPr b="0" i="0" lang="es" sz="1900" u="none" cap="none" strike="noStrike">
                <a:solidFill>
                  <a:srgbClr val="A626A4"/>
                </a:solidFill>
                <a:latin typeface="Arial"/>
                <a:ea typeface="Arial"/>
                <a:cs typeface="Arial"/>
                <a:sym typeface="Arial"/>
              </a:rPr>
              <a:t>while</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&lt;=</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5</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6</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7</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8</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111111"/>
              <a:buNone/>
            </a:pPr>
            <a:r>
              <a:rPr lang="es"/>
              <a:t>Sumatoria hasta N - Contadores/Acumuladores</a:t>
            </a:r>
            <a:endParaRPr/>
          </a:p>
          <a:p>
            <a:pPr indent="0" lvl="0" marL="0" rtl="0" algn="l">
              <a:lnSpc>
                <a:spcPct val="100000"/>
              </a:lnSpc>
              <a:spcBef>
                <a:spcPts val="0"/>
              </a:spcBef>
              <a:spcAft>
                <a:spcPts val="0"/>
              </a:spcAft>
              <a:buSzPct val="111111"/>
              <a:buNone/>
            </a:pPr>
            <a:r>
              <a:t/>
            </a:r>
            <a:endParaRPr/>
          </a:p>
        </p:txBody>
      </p:sp>
      <p:sp>
        <p:nvSpPr>
          <p:cNvPr id="1059" name="Google Shape;1059;p62"/>
          <p:cNvSpPr txBox="1"/>
          <p:nvPr>
            <p:ph idx="1" type="body"/>
          </p:nvPr>
        </p:nvSpPr>
        <p:spPr>
          <a:xfrm>
            <a:off x="311700" y="1152475"/>
            <a:ext cx="33174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Un programa que calcula la sumatoria de los valores entre 0 y un número N ingresado por el usuario.</a:t>
            </a:r>
            <a:endParaRPr/>
          </a:p>
        </p:txBody>
      </p:sp>
      <p:sp>
        <p:nvSpPr>
          <p:cNvPr id="1060" name="Google Shape;1060;p62"/>
          <p:cNvSpPr/>
          <p:nvPr/>
        </p:nvSpPr>
        <p:spPr>
          <a:xfrm rot="10800000">
            <a:off x="5768215" y="1394275"/>
            <a:ext cx="27183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061" name="Google Shape;1061;p62"/>
          <p:cNvSpPr/>
          <p:nvPr/>
        </p:nvSpPr>
        <p:spPr>
          <a:xfrm rot="10800000">
            <a:off x="5768217" y="999998"/>
            <a:ext cx="271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62" name="Google Shape;1062;p62"/>
          <p:cNvSpPr/>
          <p:nvPr/>
        </p:nvSpPr>
        <p:spPr>
          <a:xfrm>
            <a:off x="5970561" y="1098875"/>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63" name="Google Shape;1063;p62"/>
          <p:cNvSpPr/>
          <p:nvPr/>
        </p:nvSpPr>
        <p:spPr>
          <a:xfrm>
            <a:off x="6353764" y="1098875"/>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64" name="Google Shape;1064;p62"/>
          <p:cNvSpPr/>
          <p:nvPr/>
        </p:nvSpPr>
        <p:spPr>
          <a:xfrm>
            <a:off x="6736966" y="1098875"/>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65" name="Google Shape;1065;p62"/>
          <p:cNvSpPr txBox="1"/>
          <p:nvPr/>
        </p:nvSpPr>
        <p:spPr>
          <a:xfrm>
            <a:off x="5768504" y="1434228"/>
            <a:ext cx="27183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1</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2</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cin</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&gt;&gt;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3</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4</a:t>
            </a:r>
            <a:r>
              <a:rPr b="0" i="0" lang="es" sz="1900" u="none" cap="none" strike="noStrike">
                <a:solidFill>
                  <a:srgbClr val="383A42"/>
                </a:solidFill>
                <a:latin typeface="Arial"/>
                <a:ea typeface="Arial"/>
                <a:cs typeface="Arial"/>
                <a:sym typeface="Arial"/>
              </a:rPr>
              <a:t>  </a:t>
            </a:r>
            <a:r>
              <a:rPr b="0" i="0" lang="es" sz="1900" u="none" cap="none" strike="noStrike">
                <a:solidFill>
                  <a:srgbClr val="A626A4"/>
                </a:solidFill>
                <a:latin typeface="Arial"/>
                <a:ea typeface="Arial"/>
                <a:cs typeface="Arial"/>
                <a:sym typeface="Arial"/>
              </a:rPr>
              <a:t>while</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&lt;=</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5</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6</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7</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8</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p:txBody>
      </p:sp>
      <p:sp>
        <p:nvSpPr>
          <p:cNvPr id="1066" name="Google Shape;1066;p62"/>
          <p:cNvSpPr/>
          <p:nvPr/>
        </p:nvSpPr>
        <p:spPr>
          <a:xfrm>
            <a:off x="6187975" y="2107725"/>
            <a:ext cx="860100" cy="299100"/>
          </a:xfrm>
          <a:prstGeom prst="roundRect">
            <a:avLst>
              <a:gd fmla="val 29321"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62"/>
          <p:cNvSpPr/>
          <p:nvPr/>
        </p:nvSpPr>
        <p:spPr>
          <a:xfrm>
            <a:off x="569850" y="2765650"/>
            <a:ext cx="2699100" cy="392100"/>
          </a:xfrm>
          <a:prstGeom prst="roundRect">
            <a:avLst>
              <a:gd fmla="val 16667"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Inicializar el contador</a:t>
            </a:r>
            <a:endParaRPr b="0" i="0" sz="1400" u="none" cap="none" strike="noStrike">
              <a:solidFill>
                <a:schemeClr val="dk2"/>
              </a:solidFill>
              <a:latin typeface="Arial"/>
              <a:ea typeface="Arial"/>
              <a:cs typeface="Arial"/>
              <a:sym typeface="Arial"/>
            </a:endParaRPr>
          </a:p>
        </p:txBody>
      </p:sp>
      <p:cxnSp>
        <p:nvCxnSpPr>
          <p:cNvPr id="1068" name="Google Shape;1068;p62"/>
          <p:cNvCxnSpPr>
            <a:stCxn id="1067" idx="3"/>
            <a:endCxn id="1066" idx="1"/>
          </p:cNvCxnSpPr>
          <p:nvPr/>
        </p:nvCxnSpPr>
        <p:spPr>
          <a:xfrm flipH="1" rot="10800000">
            <a:off x="3268950" y="2257300"/>
            <a:ext cx="2919000" cy="704400"/>
          </a:xfrm>
          <a:prstGeom prst="straightConnector1">
            <a:avLst/>
          </a:prstGeom>
          <a:noFill/>
          <a:ln cap="flat" cmpd="sng" w="19050">
            <a:solidFill>
              <a:srgbClr val="188038"/>
            </a:solidFill>
            <a:prstDash val="solid"/>
            <a:round/>
            <a:headEnd len="sm" w="sm" type="none"/>
            <a:tailEnd len="sm" w="sm" type="none"/>
          </a:ln>
        </p:spPr>
      </p:cxn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p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111111"/>
              <a:buNone/>
            </a:pPr>
            <a:r>
              <a:rPr lang="es"/>
              <a:t>Sumatoria hasta N - Contadores/Acumuladores</a:t>
            </a:r>
            <a:endParaRPr/>
          </a:p>
        </p:txBody>
      </p:sp>
      <p:sp>
        <p:nvSpPr>
          <p:cNvPr id="1074" name="Google Shape;1074;p63"/>
          <p:cNvSpPr txBox="1"/>
          <p:nvPr>
            <p:ph idx="1" type="body"/>
          </p:nvPr>
        </p:nvSpPr>
        <p:spPr>
          <a:xfrm>
            <a:off x="311700" y="1152475"/>
            <a:ext cx="33174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Un programa que calcula la sumatoria de los valores entre 0 y un número N ingresado por el usuario.</a:t>
            </a:r>
            <a:endParaRPr/>
          </a:p>
        </p:txBody>
      </p:sp>
      <p:sp>
        <p:nvSpPr>
          <p:cNvPr id="1075" name="Google Shape;1075;p63"/>
          <p:cNvSpPr/>
          <p:nvPr/>
        </p:nvSpPr>
        <p:spPr>
          <a:xfrm rot="10800000">
            <a:off x="5768215" y="1394275"/>
            <a:ext cx="27183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076" name="Google Shape;1076;p63"/>
          <p:cNvSpPr/>
          <p:nvPr/>
        </p:nvSpPr>
        <p:spPr>
          <a:xfrm rot="10800000">
            <a:off x="5768217" y="999998"/>
            <a:ext cx="271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77" name="Google Shape;1077;p63"/>
          <p:cNvSpPr/>
          <p:nvPr/>
        </p:nvSpPr>
        <p:spPr>
          <a:xfrm>
            <a:off x="5970561" y="1098875"/>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78" name="Google Shape;1078;p63"/>
          <p:cNvSpPr/>
          <p:nvPr/>
        </p:nvSpPr>
        <p:spPr>
          <a:xfrm>
            <a:off x="6353764" y="1098875"/>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79" name="Google Shape;1079;p63"/>
          <p:cNvSpPr/>
          <p:nvPr/>
        </p:nvSpPr>
        <p:spPr>
          <a:xfrm>
            <a:off x="6736966" y="1098875"/>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80" name="Google Shape;1080;p63"/>
          <p:cNvSpPr txBox="1"/>
          <p:nvPr/>
        </p:nvSpPr>
        <p:spPr>
          <a:xfrm>
            <a:off x="5768504" y="1434228"/>
            <a:ext cx="27183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1</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2</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cin</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&gt;&gt;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3</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4</a:t>
            </a:r>
            <a:r>
              <a:rPr b="0" i="0" lang="es" sz="1900" u="none" cap="none" strike="noStrike">
                <a:solidFill>
                  <a:srgbClr val="383A42"/>
                </a:solidFill>
                <a:latin typeface="Arial"/>
                <a:ea typeface="Arial"/>
                <a:cs typeface="Arial"/>
                <a:sym typeface="Arial"/>
              </a:rPr>
              <a:t>  </a:t>
            </a:r>
            <a:r>
              <a:rPr b="0" i="0" lang="es" sz="1900" u="none" cap="none" strike="noStrike">
                <a:solidFill>
                  <a:srgbClr val="A626A4"/>
                </a:solidFill>
                <a:latin typeface="Arial"/>
                <a:ea typeface="Arial"/>
                <a:cs typeface="Arial"/>
                <a:sym typeface="Arial"/>
              </a:rPr>
              <a:t>while</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&lt;=</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5</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6</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7</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8</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p:txBody>
      </p:sp>
      <p:sp>
        <p:nvSpPr>
          <p:cNvPr id="1081" name="Google Shape;1081;p63"/>
          <p:cNvSpPr/>
          <p:nvPr/>
        </p:nvSpPr>
        <p:spPr>
          <a:xfrm>
            <a:off x="6187975" y="2107725"/>
            <a:ext cx="860100" cy="299100"/>
          </a:xfrm>
          <a:prstGeom prst="roundRect">
            <a:avLst>
              <a:gd fmla="val 29321"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63"/>
          <p:cNvSpPr/>
          <p:nvPr/>
        </p:nvSpPr>
        <p:spPr>
          <a:xfrm>
            <a:off x="569850" y="2765650"/>
            <a:ext cx="2699100" cy="392100"/>
          </a:xfrm>
          <a:prstGeom prst="roundRect">
            <a:avLst>
              <a:gd fmla="val 16667"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Inicializar el contador</a:t>
            </a:r>
            <a:endParaRPr b="0" i="0" sz="1400" u="none" cap="none" strike="noStrike">
              <a:solidFill>
                <a:schemeClr val="dk2"/>
              </a:solidFill>
              <a:latin typeface="Arial"/>
              <a:ea typeface="Arial"/>
              <a:cs typeface="Arial"/>
              <a:sym typeface="Arial"/>
            </a:endParaRPr>
          </a:p>
        </p:txBody>
      </p:sp>
      <p:cxnSp>
        <p:nvCxnSpPr>
          <p:cNvPr id="1083" name="Google Shape;1083;p63"/>
          <p:cNvCxnSpPr>
            <a:stCxn id="1082" idx="3"/>
            <a:endCxn id="1081" idx="1"/>
          </p:cNvCxnSpPr>
          <p:nvPr/>
        </p:nvCxnSpPr>
        <p:spPr>
          <a:xfrm flipH="1" rot="10800000">
            <a:off x="3268950" y="2257300"/>
            <a:ext cx="2919000" cy="704400"/>
          </a:xfrm>
          <a:prstGeom prst="straightConnector1">
            <a:avLst/>
          </a:prstGeom>
          <a:noFill/>
          <a:ln cap="flat" cmpd="sng" w="19050">
            <a:solidFill>
              <a:srgbClr val="188038"/>
            </a:solidFill>
            <a:prstDash val="solid"/>
            <a:round/>
            <a:headEnd len="sm" w="sm" type="none"/>
            <a:tailEnd len="sm" w="sm" type="none"/>
          </a:ln>
        </p:spPr>
      </p:cxnSp>
      <p:sp>
        <p:nvSpPr>
          <p:cNvPr id="1084" name="Google Shape;1084;p63"/>
          <p:cNvSpPr/>
          <p:nvPr/>
        </p:nvSpPr>
        <p:spPr>
          <a:xfrm>
            <a:off x="6787800" y="2376800"/>
            <a:ext cx="860100" cy="344400"/>
          </a:xfrm>
          <a:prstGeom prst="roundRect">
            <a:avLst>
              <a:gd fmla="val 29321"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63"/>
          <p:cNvSpPr/>
          <p:nvPr/>
        </p:nvSpPr>
        <p:spPr>
          <a:xfrm>
            <a:off x="569850" y="3282575"/>
            <a:ext cx="2699100" cy="530400"/>
          </a:xfrm>
          <a:prstGeom prst="roundRect">
            <a:avLst>
              <a:gd fmla="val 16667"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Definimos la condición de ejecución del cuerpo del ciclo</a:t>
            </a:r>
            <a:endParaRPr b="0" i="0" sz="1400" u="none" cap="none" strike="noStrike">
              <a:solidFill>
                <a:schemeClr val="dk2"/>
              </a:solidFill>
              <a:latin typeface="Arial"/>
              <a:ea typeface="Arial"/>
              <a:cs typeface="Arial"/>
              <a:sym typeface="Arial"/>
            </a:endParaRPr>
          </a:p>
        </p:txBody>
      </p:sp>
      <p:cxnSp>
        <p:nvCxnSpPr>
          <p:cNvPr id="1086" name="Google Shape;1086;p63"/>
          <p:cNvCxnSpPr>
            <a:stCxn id="1085" idx="3"/>
            <a:endCxn id="1084" idx="1"/>
          </p:cNvCxnSpPr>
          <p:nvPr/>
        </p:nvCxnSpPr>
        <p:spPr>
          <a:xfrm flipH="1" rot="10800000">
            <a:off x="3268950" y="2549075"/>
            <a:ext cx="3519000" cy="998700"/>
          </a:xfrm>
          <a:prstGeom prst="straightConnector1">
            <a:avLst/>
          </a:prstGeom>
          <a:noFill/>
          <a:ln cap="flat" cmpd="sng" w="19050">
            <a:solidFill>
              <a:srgbClr val="188038"/>
            </a:solidFill>
            <a:prstDash val="solid"/>
            <a:round/>
            <a:headEnd len="sm" w="sm" type="none"/>
            <a:tailEnd len="sm" w="sm" type="none"/>
          </a:ln>
        </p:spPr>
      </p:cxn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6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spcBef>
                <a:spcPts val="0"/>
              </a:spcBef>
              <a:spcAft>
                <a:spcPts val="0"/>
              </a:spcAft>
              <a:buSzPct val="111111"/>
              <a:buNone/>
            </a:pPr>
            <a:r>
              <a:rPr lang="es"/>
              <a:t>Sumatoria hasta N - Contadores/Acumuladores</a:t>
            </a:r>
            <a:endParaRPr/>
          </a:p>
          <a:p>
            <a:pPr indent="0" lvl="0" marL="0" rtl="0" algn="l">
              <a:lnSpc>
                <a:spcPct val="100000"/>
              </a:lnSpc>
              <a:spcBef>
                <a:spcPts val="0"/>
              </a:spcBef>
              <a:spcAft>
                <a:spcPts val="0"/>
              </a:spcAft>
              <a:buSzPct val="111111"/>
              <a:buNone/>
            </a:pPr>
            <a:r>
              <a:t/>
            </a:r>
            <a:endParaRPr/>
          </a:p>
        </p:txBody>
      </p:sp>
      <p:sp>
        <p:nvSpPr>
          <p:cNvPr id="1092" name="Google Shape;1092;p64"/>
          <p:cNvSpPr txBox="1"/>
          <p:nvPr>
            <p:ph idx="1" type="body"/>
          </p:nvPr>
        </p:nvSpPr>
        <p:spPr>
          <a:xfrm>
            <a:off x="311700" y="1152475"/>
            <a:ext cx="33174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Un programa que calcula la sumatoria de los valores entre 0 y un número N ingresado por el usuario.</a:t>
            </a:r>
            <a:endParaRPr/>
          </a:p>
        </p:txBody>
      </p:sp>
      <p:sp>
        <p:nvSpPr>
          <p:cNvPr id="1093" name="Google Shape;1093;p64"/>
          <p:cNvSpPr/>
          <p:nvPr/>
        </p:nvSpPr>
        <p:spPr>
          <a:xfrm rot="10800000">
            <a:off x="5768215" y="1394275"/>
            <a:ext cx="27183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094" name="Google Shape;1094;p64"/>
          <p:cNvSpPr/>
          <p:nvPr/>
        </p:nvSpPr>
        <p:spPr>
          <a:xfrm rot="10800000">
            <a:off x="5768217" y="999998"/>
            <a:ext cx="271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95" name="Google Shape;1095;p64"/>
          <p:cNvSpPr/>
          <p:nvPr/>
        </p:nvSpPr>
        <p:spPr>
          <a:xfrm>
            <a:off x="5970561" y="1098875"/>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96" name="Google Shape;1096;p64"/>
          <p:cNvSpPr/>
          <p:nvPr/>
        </p:nvSpPr>
        <p:spPr>
          <a:xfrm>
            <a:off x="6353764" y="1098875"/>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97" name="Google Shape;1097;p64"/>
          <p:cNvSpPr/>
          <p:nvPr/>
        </p:nvSpPr>
        <p:spPr>
          <a:xfrm>
            <a:off x="6736966" y="1098875"/>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098" name="Google Shape;1098;p64"/>
          <p:cNvSpPr txBox="1"/>
          <p:nvPr/>
        </p:nvSpPr>
        <p:spPr>
          <a:xfrm>
            <a:off x="5768504" y="1434228"/>
            <a:ext cx="27183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1</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2</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cin</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&gt;&gt;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3</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4</a:t>
            </a:r>
            <a:r>
              <a:rPr b="0" i="0" lang="es" sz="1900" u="none" cap="none" strike="noStrike">
                <a:solidFill>
                  <a:srgbClr val="383A42"/>
                </a:solidFill>
                <a:latin typeface="Arial"/>
                <a:ea typeface="Arial"/>
                <a:cs typeface="Arial"/>
                <a:sym typeface="Arial"/>
              </a:rPr>
              <a:t>  </a:t>
            </a:r>
            <a:r>
              <a:rPr b="0" i="0" lang="es" sz="1900" u="none" cap="none" strike="noStrike">
                <a:solidFill>
                  <a:srgbClr val="A626A4"/>
                </a:solidFill>
                <a:latin typeface="Arial"/>
                <a:ea typeface="Arial"/>
                <a:cs typeface="Arial"/>
                <a:sym typeface="Arial"/>
              </a:rPr>
              <a:t>while</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&lt;=</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5</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6</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7</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8</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p:txBody>
      </p:sp>
      <p:sp>
        <p:nvSpPr>
          <p:cNvPr id="1099" name="Google Shape;1099;p64"/>
          <p:cNvSpPr/>
          <p:nvPr/>
        </p:nvSpPr>
        <p:spPr>
          <a:xfrm>
            <a:off x="6187975" y="2107725"/>
            <a:ext cx="860100" cy="299100"/>
          </a:xfrm>
          <a:prstGeom prst="roundRect">
            <a:avLst>
              <a:gd fmla="val 29321"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64"/>
          <p:cNvSpPr/>
          <p:nvPr/>
        </p:nvSpPr>
        <p:spPr>
          <a:xfrm>
            <a:off x="569850" y="2765650"/>
            <a:ext cx="2699100" cy="392100"/>
          </a:xfrm>
          <a:prstGeom prst="roundRect">
            <a:avLst>
              <a:gd fmla="val 16667"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Inicializar el contador</a:t>
            </a:r>
            <a:endParaRPr b="0" i="0" sz="1400" u="none" cap="none" strike="noStrike">
              <a:solidFill>
                <a:schemeClr val="dk2"/>
              </a:solidFill>
              <a:latin typeface="Arial"/>
              <a:ea typeface="Arial"/>
              <a:cs typeface="Arial"/>
              <a:sym typeface="Arial"/>
            </a:endParaRPr>
          </a:p>
        </p:txBody>
      </p:sp>
      <p:cxnSp>
        <p:nvCxnSpPr>
          <p:cNvPr id="1101" name="Google Shape;1101;p64"/>
          <p:cNvCxnSpPr>
            <a:stCxn id="1100" idx="3"/>
            <a:endCxn id="1099" idx="1"/>
          </p:cNvCxnSpPr>
          <p:nvPr/>
        </p:nvCxnSpPr>
        <p:spPr>
          <a:xfrm flipH="1" rot="10800000">
            <a:off x="3268950" y="2257300"/>
            <a:ext cx="2919000" cy="704400"/>
          </a:xfrm>
          <a:prstGeom prst="straightConnector1">
            <a:avLst/>
          </a:prstGeom>
          <a:noFill/>
          <a:ln cap="flat" cmpd="sng" w="19050">
            <a:solidFill>
              <a:srgbClr val="188038"/>
            </a:solidFill>
            <a:prstDash val="solid"/>
            <a:round/>
            <a:headEnd len="sm" w="sm" type="none"/>
            <a:tailEnd len="sm" w="sm" type="none"/>
          </a:ln>
        </p:spPr>
      </p:cxnSp>
      <p:sp>
        <p:nvSpPr>
          <p:cNvPr id="1102" name="Google Shape;1102;p64"/>
          <p:cNvSpPr/>
          <p:nvPr/>
        </p:nvSpPr>
        <p:spPr>
          <a:xfrm>
            <a:off x="6787800" y="2376800"/>
            <a:ext cx="860100" cy="344400"/>
          </a:xfrm>
          <a:prstGeom prst="roundRect">
            <a:avLst>
              <a:gd fmla="val 29321"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64"/>
          <p:cNvSpPr/>
          <p:nvPr/>
        </p:nvSpPr>
        <p:spPr>
          <a:xfrm>
            <a:off x="569850" y="3282575"/>
            <a:ext cx="2699100" cy="530400"/>
          </a:xfrm>
          <a:prstGeom prst="roundRect">
            <a:avLst>
              <a:gd fmla="val 16667"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Definimos la condición de ejecución del cuerpo del ciclo</a:t>
            </a:r>
            <a:endParaRPr b="0" i="0" sz="1400" u="none" cap="none" strike="noStrike">
              <a:solidFill>
                <a:schemeClr val="dk2"/>
              </a:solidFill>
              <a:latin typeface="Arial"/>
              <a:ea typeface="Arial"/>
              <a:cs typeface="Arial"/>
              <a:sym typeface="Arial"/>
            </a:endParaRPr>
          </a:p>
        </p:txBody>
      </p:sp>
      <p:cxnSp>
        <p:nvCxnSpPr>
          <p:cNvPr id="1104" name="Google Shape;1104;p64"/>
          <p:cNvCxnSpPr>
            <a:stCxn id="1103" idx="3"/>
            <a:endCxn id="1102" idx="1"/>
          </p:cNvCxnSpPr>
          <p:nvPr/>
        </p:nvCxnSpPr>
        <p:spPr>
          <a:xfrm flipH="1" rot="10800000">
            <a:off x="3268950" y="2549075"/>
            <a:ext cx="3519000" cy="998700"/>
          </a:xfrm>
          <a:prstGeom prst="straightConnector1">
            <a:avLst/>
          </a:prstGeom>
          <a:noFill/>
          <a:ln cap="flat" cmpd="sng" w="19050">
            <a:solidFill>
              <a:srgbClr val="188038"/>
            </a:solidFill>
            <a:prstDash val="solid"/>
            <a:round/>
            <a:headEnd len="sm" w="sm" type="none"/>
            <a:tailEnd len="sm" w="sm" type="none"/>
          </a:ln>
        </p:spPr>
      </p:cxnSp>
      <p:sp>
        <p:nvSpPr>
          <p:cNvPr id="1105" name="Google Shape;1105;p64"/>
          <p:cNvSpPr/>
          <p:nvPr/>
        </p:nvSpPr>
        <p:spPr>
          <a:xfrm>
            <a:off x="6736975" y="2938175"/>
            <a:ext cx="1120800" cy="344400"/>
          </a:xfrm>
          <a:prstGeom prst="roundRect">
            <a:avLst>
              <a:gd fmla="val 29321"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64"/>
          <p:cNvSpPr/>
          <p:nvPr/>
        </p:nvSpPr>
        <p:spPr>
          <a:xfrm>
            <a:off x="569850" y="3937800"/>
            <a:ext cx="2699100" cy="392100"/>
          </a:xfrm>
          <a:prstGeom prst="roundRect">
            <a:avLst>
              <a:gd fmla="val 16667"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Definimos el cuerpo del bucle</a:t>
            </a:r>
            <a:endParaRPr b="0" i="0" sz="1400" u="none" cap="none" strike="noStrike">
              <a:solidFill>
                <a:schemeClr val="dk2"/>
              </a:solidFill>
              <a:latin typeface="Arial"/>
              <a:ea typeface="Arial"/>
              <a:cs typeface="Arial"/>
              <a:sym typeface="Arial"/>
            </a:endParaRPr>
          </a:p>
        </p:txBody>
      </p:sp>
      <p:cxnSp>
        <p:nvCxnSpPr>
          <p:cNvPr id="1107" name="Google Shape;1107;p64"/>
          <p:cNvCxnSpPr>
            <a:stCxn id="1106" idx="3"/>
            <a:endCxn id="1105" idx="1"/>
          </p:cNvCxnSpPr>
          <p:nvPr/>
        </p:nvCxnSpPr>
        <p:spPr>
          <a:xfrm flipH="1" rot="10800000">
            <a:off x="3268950" y="3110250"/>
            <a:ext cx="3468000" cy="1023600"/>
          </a:xfrm>
          <a:prstGeom prst="straightConnector1">
            <a:avLst/>
          </a:prstGeom>
          <a:noFill/>
          <a:ln cap="flat" cmpd="sng" w="19050">
            <a:solidFill>
              <a:srgbClr val="188038"/>
            </a:solidFill>
            <a:prstDash val="solid"/>
            <a:round/>
            <a:headEnd len="sm" w="sm" type="none"/>
            <a:tailEnd len="sm" w="sm" type="none"/>
          </a:ln>
        </p:spPr>
      </p:cxn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6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Sumatoria hasta N - Contadores/Acumuladores</a:t>
            </a:r>
            <a:endParaRPr/>
          </a:p>
        </p:txBody>
      </p:sp>
      <p:sp>
        <p:nvSpPr>
          <p:cNvPr id="1113" name="Google Shape;1113;p65"/>
          <p:cNvSpPr txBox="1"/>
          <p:nvPr>
            <p:ph idx="1" type="body"/>
          </p:nvPr>
        </p:nvSpPr>
        <p:spPr>
          <a:xfrm>
            <a:off x="311700" y="1152475"/>
            <a:ext cx="3317400" cy="1613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Un programa que calcula la sumatoria de los valores entre 0 y un número N ingresado por el usuario.</a:t>
            </a:r>
            <a:endParaRPr/>
          </a:p>
        </p:txBody>
      </p:sp>
      <p:sp>
        <p:nvSpPr>
          <p:cNvPr id="1114" name="Google Shape;1114;p65"/>
          <p:cNvSpPr/>
          <p:nvPr/>
        </p:nvSpPr>
        <p:spPr>
          <a:xfrm rot="10800000">
            <a:off x="5768215" y="1394275"/>
            <a:ext cx="27183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115" name="Google Shape;1115;p65"/>
          <p:cNvSpPr/>
          <p:nvPr/>
        </p:nvSpPr>
        <p:spPr>
          <a:xfrm rot="10800000">
            <a:off x="5768217" y="999998"/>
            <a:ext cx="271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16" name="Google Shape;1116;p65"/>
          <p:cNvSpPr/>
          <p:nvPr/>
        </p:nvSpPr>
        <p:spPr>
          <a:xfrm>
            <a:off x="5970561" y="1098875"/>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17" name="Google Shape;1117;p65"/>
          <p:cNvSpPr/>
          <p:nvPr/>
        </p:nvSpPr>
        <p:spPr>
          <a:xfrm>
            <a:off x="6353764" y="1098875"/>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18" name="Google Shape;1118;p65"/>
          <p:cNvSpPr/>
          <p:nvPr/>
        </p:nvSpPr>
        <p:spPr>
          <a:xfrm>
            <a:off x="6736966" y="1098875"/>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19" name="Google Shape;1119;p65"/>
          <p:cNvSpPr txBox="1"/>
          <p:nvPr/>
        </p:nvSpPr>
        <p:spPr>
          <a:xfrm>
            <a:off x="5768504" y="1434228"/>
            <a:ext cx="27183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1</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2</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cin</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&gt;&gt;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3</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4</a:t>
            </a:r>
            <a:r>
              <a:rPr b="0" i="0" lang="es" sz="1900" u="none" cap="none" strike="noStrike">
                <a:solidFill>
                  <a:srgbClr val="383A42"/>
                </a:solidFill>
                <a:latin typeface="Arial"/>
                <a:ea typeface="Arial"/>
                <a:cs typeface="Arial"/>
                <a:sym typeface="Arial"/>
              </a:rPr>
              <a:t>  </a:t>
            </a:r>
            <a:r>
              <a:rPr b="0" i="0" lang="es" sz="1900" u="none" cap="none" strike="noStrike">
                <a:solidFill>
                  <a:srgbClr val="A626A4"/>
                </a:solidFill>
                <a:latin typeface="Arial"/>
                <a:ea typeface="Arial"/>
                <a:cs typeface="Arial"/>
                <a:sym typeface="Arial"/>
              </a:rPr>
              <a:t>while</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&lt;=</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5</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6</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7</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8</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p:txBody>
      </p:sp>
      <p:sp>
        <p:nvSpPr>
          <p:cNvPr id="1120" name="Google Shape;1120;p65"/>
          <p:cNvSpPr/>
          <p:nvPr/>
        </p:nvSpPr>
        <p:spPr>
          <a:xfrm>
            <a:off x="6187975" y="2107725"/>
            <a:ext cx="860100" cy="299100"/>
          </a:xfrm>
          <a:prstGeom prst="roundRect">
            <a:avLst>
              <a:gd fmla="val 29321"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65"/>
          <p:cNvSpPr/>
          <p:nvPr/>
        </p:nvSpPr>
        <p:spPr>
          <a:xfrm>
            <a:off x="569850" y="2765650"/>
            <a:ext cx="2699100" cy="392100"/>
          </a:xfrm>
          <a:prstGeom prst="roundRect">
            <a:avLst>
              <a:gd fmla="val 16667"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Inicializar el contador</a:t>
            </a:r>
            <a:endParaRPr b="0" i="0" sz="1400" u="none" cap="none" strike="noStrike">
              <a:solidFill>
                <a:schemeClr val="dk2"/>
              </a:solidFill>
              <a:latin typeface="Arial"/>
              <a:ea typeface="Arial"/>
              <a:cs typeface="Arial"/>
              <a:sym typeface="Arial"/>
            </a:endParaRPr>
          </a:p>
        </p:txBody>
      </p:sp>
      <p:cxnSp>
        <p:nvCxnSpPr>
          <p:cNvPr id="1122" name="Google Shape;1122;p65"/>
          <p:cNvCxnSpPr>
            <a:stCxn id="1121" idx="3"/>
            <a:endCxn id="1120" idx="1"/>
          </p:cNvCxnSpPr>
          <p:nvPr/>
        </p:nvCxnSpPr>
        <p:spPr>
          <a:xfrm flipH="1" rot="10800000">
            <a:off x="3268950" y="2257300"/>
            <a:ext cx="2919000" cy="704400"/>
          </a:xfrm>
          <a:prstGeom prst="straightConnector1">
            <a:avLst/>
          </a:prstGeom>
          <a:noFill/>
          <a:ln cap="flat" cmpd="sng" w="19050">
            <a:solidFill>
              <a:srgbClr val="188038"/>
            </a:solidFill>
            <a:prstDash val="solid"/>
            <a:round/>
            <a:headEnd len="sm" w="sm" type="none"/>
            <a:tailEnd len="sm" w="sm" type="none"/>
          </a:ln>
        </p:spPr>
      </p:cxnSp>
      <p:sp>
        <p:nvSpPr>
          <p:cNvPr id="1123" name="Google Shape;1123;p65"/>
          <p:cNvSpPr/>
          <p:nvPr/>
        </p:nvSpPr>
        <p:spPr>
          <a:xfrm>
            <a:off x="6787800" y="2376800"/>
            <a:ext cx="860100" cy="344400"/>
          </a:xfrm>
          <a:prstGeom prst="roundRect">
            <a:avLst>
              <a:gd fmla="val 29321"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65"/>
          <p:cNvSpPr/>
          <p:nvPr/>
        </p:nvSpPr>
        <p:spPr>
          <a:xfrm>
            <a:off x="569850" y="3282575"/>
            <a:ext cx="2699100" cy="530400"/>
          </a:xfrm>
          <a:prstGeom prst="roundRect">
            <a:avLst>
              <a:gd fmla="val 16667"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Definimos la condición de ejecución del cuerpo del ciclo</a:t>
            </a:r>
            <a:endParaRPr b="0" i="0" sz="1400" u="none" cap="none" strike="noStrike">
              <a:solidFill>
                <a:schemeClr val="dk2"/>
              </a:solidFill>
              <a:latin typeface="Arial"/>
              <a:ea typeface="Arial"/>
              <a:cs typeface="Arial"/>
              <a:sym typeface="Arial"/>
            </a:endParaRPr>
          </a:p>
        </p:txBody>
      </p:sp>
      <p:cxnSp>
        <p:nvCxnSpPr>
          <p:cNvPr id="1125" name="Google Shape;1125;p65"/>
          <p:cNvCxnSpPr>
            <a:stCxn id="1124" idx="3"/>
            <a:endCxn id="1123" idx="1"/>
          </p:cNvCxnSpPr>
          <p:nvPr/>
        </p:nvCxnSpPr>
        <p:spPr>
          <a:xfrm flipH="1" rot="10800000">
            <a:off x="3268950" y="2549075"/>
            <a:ext cx="3519000" cy="998700"/>
          </a:xfrm>
          <a:prstGeom prst="straightConnector1">
            <a:avLst/>
          </a:prstGeom>
          <a:noFill/>
          <a:ln cap="flat" cmpd="sng" w="19050">
            <a:solidFill>
              <a:srgbClr val="188038"/>
            </a:solidFill>
            <a:prstDash val="solid"/>
            <a:round/>
            <a:headEnd len="sm" w="sm" type="none"/>
            <a:tailEnd len="sm" w="sm" type="none"/>
          </a:ln>
        </p:spPr>
      </p:cxnSp>
      <p:sp>
        <p:nvSpPr>
          <p:cNvPr id="1126" name="Google Shape;1126;p65"/>
          <p:cNvSpPr/>
          <p:nvPr/>
        </p:nvSpPr>
        <p:spPr>
          <a:xfrm>
            <a:off x="6736975" y="2938175"/>
            <a:ext cx="1120800" cy="344400"/>
          </a:xfrm>
          <a:prstGeom prst="roundRect">
            <a:avLst>
              <a:gd fmla="val 29321"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65"/>
          <p:cNvSpPr/>
          <p:nvPr/>
        </p:nvSpPr>
        <p:spPr>
          <a:xfrm>
            <a:off x="569850" y="3937800"/>
            <a:ext cx="2699100" cy="392100"/>
          </a:xfrm>
          <a:prstGeom prst="roundRect">
            <a:avLst>
              <a:gd fmla="val 16667"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Definimos el cuerpo del bucle</a:t>
            </a:r>
            <a:endParaRPr b="0" i="0" sz="1400" u="none" cap="none" strike="noStrike">
              <a:solidFill>
                <a:schemeClr val="dk2"/>
              </a:solidFill>
              <a:latin typeface="Arial"/>
              <a:ea typeface="Arial"/>
              <a:cs typeface="Arial"/>
              <a:sym typeface="Arial"/>
            </a:endParaRPr>
          </a:p>
        </p:txBody>
      </p:sp>
      <p:cxnSp>
        <p:nvCxnSpPr>
          <p:cNvPr id="1128" name="Google Shape;1128;p65"/>
          <p:cNvCxnSpPr>
            <a:stCxn id="1127" idx="3"/>
            <a:endCxn id="1126" idx="1"/>
          </p:cNvCxnSpPr>
          <p:nvPr/>
        </p:nvCxnSpPr>
        <p:spPr>
          <a:xfrm flipH="1" rot="10800000">
            <a:off x="3268950" y="3110250"/>
            <a:ext cx="3468000" cy="1023600"/>
          </a:xfrm>
          <a:prstGeom prst="straightConnector1">
            <a:avLst/>
          </a:prstGeom>
          <a:noFill/>
          <a:ln cap="flat" cmpd="sng" w="19050">
            <a:solidFill>
              <a:srgbClr val="188038"/>
            </a:solidFill>
            <a:prstDash val="solid"/>
            <a:round/>
            <a:headEnd len="sm" w="sm" type="none"/>
            <a:tailEnd len="sm" w="sm" type="none"/>
          </a:ln>
        </p:spPr>
      </p:cxnSp>
      <p:sp>
        <p:nvSpPr>
          <p:cNvPr id="1129" name="Google Shape;1129;p65"/>
          <p:cNvSpPr/>
          <p:nvPr/>
        </p:nvSpPr>
        <p:spPr>
          <a:xfrm>
            <a:off x="6657450" y="3252575"/>
            <a:ext cx="577800" cy="344400"/>
          </a:xfrm>
          <a:prstGeom prst="roundRect">
            <a:avLst>
              <a:gd fmla="val 29321"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65"/>
          <p:cNvSpPr/>
          <p:nvPr/>
        </p:nvSpPr>
        <p:spPr>
          <a:xfrm>
            <a:off x="569850" y="4454725"/>
            <a:ext cx="2699100" cy="640500"/>
          </a:xfrm>
          <a:prstGeom prst="roundRect">
            <a:avLst>
              <a:gd fmla="val 16667" name="adj"/>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Arial"/>
                <a:ea typeface="Arial"/>
                <a:cs typeface="Arial"/>
                <a:sym typeface="Arial"/>
              </a:rPr>
              <a:t>Actualizamos variable que pertenece a la expresión de la condición</a:t>
            </a:r>
            <a:endParaRPr b="0" i="0" sz="1400" u="none" cap="none" strike="noStrike">
              <a:solidFill>
                <a:schemeClr val="dk2"/>
              </a:solidFill>
              <a:latin typeface="Arial"/>
              <a:ea typeface="Arial"/>
              <a:cs typeface="Arial"/>
              <a:sym typeface="Arial"/>
            </a:endParaRPr>
          </a:p>
        </p:txBody>
      </p:sp>
      <p:cxnSp>
        <p:nvCxnSpPr>
          <p:cNvPr id="1131" name="Google Shape;1131;p65"/>
          <p:cNvCxnSpPr>
            <a:stCxn id="1130" idx="3"/>
            <a:endCxn id="1129" idx="1"/>
          </p:cNvCxnSpPr>
          <p:nvPr/>
        </p:nvCxnSpPr>
        <p:spPr>
          <a:xfrm flipH="1" rot="10800000">
            <a:off x="3268950" y="3424675"/>
            <a:ext cx="3388500" cy="1350300"/>
          </a:xfrm>
          <a:prstGeom prst="straightConnector1">
            <a:avLst/>
          </a:prstGeom>
          <a:noFill/>
          <a:ln cap="flat" cmpd="sng" w="19050">
            <a:solidFill>
              <a:srgbClr val="188038"/>
            </a:solidFill>
            <a:prstDash val="solid"/>
            <a:round/>
            <a:headEnd len="sm" w="sm" type="none"/>
            <a:tailEnd len="sm" w="sm" type="none"/>
          </a:ln>
        </p:spPr>
      </p:cxn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6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sz="7000"/>
              <a:t>Ciclos de </a:t>
            </a:r>
            <a:br>
              <a:rPr lang="es" sz="7000"/>
            </a:br>
            <a:r>
              <a:rPr lang="es" sz="7000"/>
              <a:t>Repetición</a:t>
            </a:r>
            <a:endParaRPr sz="7000"/>
          </a:p>
          <a:p>
            <a:pPr indent="0" lvl="0" marL="0" rtl="0" algn="l">
              <a:lnSpc>
                <a:spcPct val="100000"/>
              </a:lnSpc>
              <a:spcBef>
                <a:spcPts val="0"/>
              </a:spcBef>
              <a:spcAft>
                <a:spcPts val="0"/>
              </a:spcAft>
              <a:buSzPts val="4800"/>
              <a:buNone/>
            </a:pPr>
            <a:r>
              <a:rPr lang="es" sz="7000"/>
              <a:t>Definida</a:t>
            </a:r>
            <a:endParaRPr sz="70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6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Ciclos/Bucles/Repeticiones</a:t>
            </a:r>
            <a:endParaRPr b="1">
              <a:solidFill>
                <a:schemeClr val="accent4"/>
              </a:solidFill>
            </a:endParaRPr>
          </a:p>
        </p:txBody>
      </p:sp>
      <p:sp>
        <p:nvSpPr>
          <p:cNvPr id="1142" name="Google Shape;1142;p67"/>
          <p:cNvSpPr txBox="1"/>
          <p:nvPr>
            <p:ph idx="1" type="body"/>
          </p:nvPr>
        </p:nvSpPr>
        <p:spPr>
          <a:xfrm>
            <a:off x="311700" y="3362275"/>
            <a:ext cx="8520600" cy="17418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SzPts val="1800"/>
              <a:buChar char="●"/>
            </a:pPr>
            <a:r>
              <a:rPr lang="es" sz="2400">
                <a:solidFill>
                  <a:srgbClr val="8E7CC3"/>
                </a:solidFill>
                <a:latin typeface="Roboto Mono Medium"/>
                <a:ea typeface="Roboto Mono Medium"/>
                <a:cs typeface="Roboto Mono Medium"/>
                <a:sym typeface="Roboto Mono Medium"/>
              </a:rPr>
              <a:t>sent</a:t>
            </a:r>
            <a:r>
              <a:rPr baseline="30000" lang="es" sz="2400">
                <a:solidFill>
                  <a:srgbClr val="8E7CC3"/>
                </a:solidFill>
                <a:latin typeface="Roboto Mono Medium"/>
                <a:ea typeface="Roboto Mono Medium"/>
                <a:cs typeface="Roboto Mono Medium"/>
                <a:sym typeface="Roboto Mono Medium"/>
              </a:rPr>
              <a:t>1 </a:t>
            </a:r>
            <a:r>
              <a:rPr lang="es" sz="2000"/>
              <a:t>se ejecuta una </a:t>
            </a:r>
            <a:r>
              <a:rPr b="1" lang="es" sz="2000">
                <a:solidFill>
                  <a:srgbClr val="8E7CC3"/>
                </a:solidFill>
              </a:rPr>
              <a:t>única</a:t>
            </a:r>
            <a:r>
              <a:rPr lang="es" sz="2000"/>
              <a:t> vez </a:t>
            </a:r>
            <a:r>
              <a:rPr b="1" lang="es" sz="2000">
                <a:solidFill>
                  <a:srgbClr val="8E7CC3"/>
                </a:solidFill>
              </a:rPr>
              <a:t>antes</a:t>
            </a:r>
            <a:r>
              <a:rPr lang="es" sz="2000"/>
              <a:t> del cuerpo del ciclo.</a:t>
            </a:r>
            <a:endParaRPr sz="2000"/>
          </a:p>
          <a:p>
            <a:pPr indent="-342900" lvl="0" marL="457200" rtl="0" algn="l">
              <a:lnSpc>
                <a:spcPct val="115000"/>
              </a:lnSpc>
              <a:spcBef>
                <a:spcPts val="0"/>
              </a:spcBef>
              <a:spcAft>
                <a:spcPts val="0"/>
              </a:spcAft>
              <a:buSzPts val="1800"/>
              <a:buChar char="●"/>
            </a:pPr>
            <a:r>
              <a:rPr lang="es" sz="2400">
                <a:solidFill>
                  <a:schemeClr val="accent4"/>
                </a:solidFill>
                <a:latin typeface="Roboto Mono Medium"/>
                <a:ea typeface="Roboto Mono Medium"/>
                <a:cs typeface="Roboto Mono Medium"/>
                <a:sym typeface="Roboto Mono Medium"/>
              </a:rPr>
              <a:t>expr </a:t>
            </a:r>
            <a:r>
              <a:rPr lang="es" sz="2000"/>
              <a:t>es la </a:t>
            </a:r>
            <a:r>
              <a:rPr b="1" lang="es" sz="2000">
                <a:solidFill>
                  <a:schemeClr val="accent4"/>
                </a:solidFill>
              </a:rPr>
              <a:t>condición de ejecución</a:t>
            </a:r>
            <a:r>
              <a:rPr lang="es" sz="2000"/>
              <a:t> del bucle.</a:t>
            </a:r>
            <a:endParaRPr sz="2400">
              <a:solidFill>
                <a:schemeClr val="accent4"/>
              </a:solidFill>
              <a:latin typeface="Roboto Mono Medium"/>
              <a:ea typeface="Roboto Mono Medium"/>
              <a:cs typeface="Roboto Mono Medium"/>
              <a:sym typeface="Roboto Mono Medium"/>
            </a:endParaRPr>
          </a:p>
          <a:p>
            <a:pPr indent="-342900" lvl="0" marL="457200" rtl="0" algn="l">
              <a:lnSpc>
                <a:spcPct val="115000"/>
              </a:lnSpc>
              <a:spcBef>
                <a:spcPts val="0"/>
              </a:spcBef>
              <a:spcAft>
                <a:spcPts val="0"/>
              </a:spcAft>
              <a:buSzPts val="1800"/>
              <a:buChar char="●"/>
            </a:pPr>
            <a:r>
              <a:rPr lang="es" sz="2400">
                <a:solidFill>
                  <a:srgbClr val="6D9EEB"/>
                </a:solidFill>
                <a:latin typeface="Roboto Mono Medium"/>
                <a:ea typeface="Roboto Mono Medium"/>
                <a:cs typeface="Roboto Mono Medium"/>
                <a:sym typeface="Roboto Mono Medium"/>
              </a:rPr>
              <a:t>sent</a:t>
            </a:r>
            <a:r>
              <a:rPr baseline="30000" lang="es" sz="2400">
                <a:solidFill>
                  <a:srgbClr val="6D9EEB"/>
                </a:solidFill>
                <a:latin typeface="Roboto Mono Medium"/>
                <a:ea typeface="Roboto Mono Medium"/>
                <a:cs typeface="Roboto Mono Medium"/>
                <a:sym typeface="Roboto Mono Medium"/>
              </a:rPr>
              <a:t>2 </a:t>
            </a:r>
            <a:r>
              <a:rPr lang="es" sz="2000"/>
              <a:t>se ejecuta </a:t>
            </a:r>
            <a:r>
              <a:rPr b="1" lang="es" sz="2000">
                <a:solidFill>
                  <a:srgbClr val="6D9EEB"/>
                </a:solidFill>
              </a:rPr>
              <a:t>después de cada ejecución</a:t>
            </a:r>
            <a:r>
              <a:rPr lang="es" sz="2000"/>
              <a:t> del cuerpo del ciclo.</a:t>
            </a:r>
            <a:endParaRPr sz="2000"/>
          </a:p>
        </p:txBody>
      </p:sp>
      <p:sp>
        <p:nvSpPr>
          <p:cNvPr id="1143" name="Google Shape;1143;p67"/>
          <p:cNvSpPr txBox="1"/>
          <p:nvPr/>
        </p:nvSpPr>
        <p:spPr>
          <a:xfrm>
            <a:off x="2517875" y="1105475"/>
            <a:ext cx="5784600" cy="21135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15000"/>
              </a:lnSpc>
              <a:spcBef>
                <a:spcPts val="0"/>
              </a:spcBef>
              <a:spcAft>
                <a:spcPts val="0"/>
              </a:spcAft>
              <a:buClr>
                <a:srgbClr val="000000"/>
              </a:buClr>
              <a:buSzPts val="2200"/>
              <a:buFont typeface="Arial"/>
              <a:buNone/>
            </a:pPr>
            <a:r>
              <a:rPr b="0" i="0" lang="es" sz="2200" u="none" cap="none" strike="noStrike">
                <a:solidFill>
                  <a:schemeClr val="accent5"/>
                </a:solidFill>
                <a:latin typeface="Roboto Mono Medium"/>
                <a:ea typeface="Roboto Mono Medium"/>
                <a:cs typeface="Roboto Mono Medium"/>
                <a:sym typeface="Roboto Mono Medium"/>
              </a:rPr>
              <a:t>for</a:t>
            </a:r>
            <a:r>
              <a:rPr b="0" i="0" lang="es" sz="2200" u="none" cap="none" strike="noStrike">
                <a:solidFill>
                  <a:srgbClr val="ADADAD"/>
                </a:solidFill>
                <a:latin typeface="Roboto Mono Medium"/>
                <a:ea typeface="Roboto Mono Medium"/>
                <a:cs typeface="Roboto Mono Medium"/>
                <a:sym typeface="Roboto Mono Medium"/>
              </a:rPr>
              <a:t> </a:t>
            </a:r>
            <a:r>
              <a:rPr b="0" i="0" lang="es" sz="2200" u="none" cap="none" strike="noStrike">
                <a:solidFill>
                  <a:schemeClr val="dk2"/>
                </a:solidFill>
                <a:latin typeface="Roboto Mono Medium"/>
                <a:ea typeface="Roboto Mono Medium"/>
                <a:cs typeface="Roboto Mono Medium"/>
                <a:sym typeface="Roboto Mono Medium"/>
              </a:rPr>
              <a:t>(</a:t>
            </a:r>
            <a:r>
              <a:rPr b="0" i="0" lang="es" sz="2200" u="none" cap="none" strike="noStrike">
                <a:solidFill>
                  <a:srgbClr val="8E7CC3"/>
                </a:solidFill>
                <a:latin typeface="Roboto Mono Medium"/>
                <a:ea typeface="Roboto Mono Medium"/>
                <a:cs typeface="Roboto Mono Medium"/>
                <a:sym typeface="Roboto Mono Medium"/>
              </a:rPr>
              <a:t>sent</a:t>
            </a:r>
            <a:r>
              <a:rPr b="0" baseline="30000" i="0" lang="es" sz="2200" u="none" cap="none" strike="noStrike">
                <a:solidFill>
                  <a:srgbClr val="8E7CC3"/>
                </a:solidFill>
                <a:latin typeface="Roboto Mono Medium"/>
                <a:ea typeface="Roboto Mono Medium"/>
                <a:cs typeface="Roboto Mono Medium"/>
                <a:sym typeface="Roboto Mono Medium"/>
              </a:rPr>
              <a:t>1</a:t>
            </a:r>
            <a:r>
              <a:rPr b="0" i="0" lang="es" sz="2200" u="none" cap="none" strike="noStrike">
                <a:solidFill>
                  <a:srgbClr val="ADADAD"/>
                </a:solidFill>
                <a:latin typeface="Roboto Mono Medium"/>
                <a:ea typeface="Roboto Mono Medium"/>
                <a:cs typeface="Roboto Mono Medium"/>
                <a:sym typeface="Roboto Mono Medium"/>
              </a:rPr>
              <a:t>;</a:t>
            </a:r>
            <a:r>
              <a:rPr b="0" i="0" lang="es" sz="2200" u="none" cap="none" strike="noStrike">
                <a:solidFill>
                  <a:srgbClr val="FFAB40"/>
                </a:solidFill>
                <a:latin typeface="Roboto Mono Medium"/>
                <a:ea typeface="Roboto Mono Medium"/>
                <a:cs typeface="Roboto Mono Medium"/>
                <a:sym typeface="Roboto Mono Medium"/>
              </a:rPr>
              <a:t> expr</a:t>
            </a:r>
            <a:r>
              <a:rPr b="0" i="0" lang="es" sz="2200" u="none" cap="none" strike="noStrike">
                <a:solidFill>
                  <a:srgbClr val="ADADAD"/>
                </a:solidFill>
                <a:latin typeface="Roboto Mono Medium"/>
                <a:ea typeface="Roboto Mono Medium"/>
                <a:cs typeface="Roboto Mono Medium"/>
                <a:sym typeface="Roboto Mono Medium"/>
              </a:rPr>
              <a:t>;</a:t>
            </a:r>
            <a:r>
              <a:rPr b="0" i="0" lang="es" sz="2200" u="none" cap="none" strike="noStrike">
                <a:solidFill>
                  <a:srgbClr val="FFAB40"/>
                </a:solidFill>
                <a:latin typeface="Roboto Mono Medium"/>
                <a:ea typeface="Roboto Mono Medium"/>
                <a:cs typeface="Roboto Mono Medium"/>
                <a:sym typeface="Roboto Mono Medium"/>
              </a:rPr>
              <a:t> </a:t>
            </a:r>
            <a:r>
              <a:rPr b="0" i="0" lang="es" sz="2200" u="none" cap="none" strike="noStrike">
                <a:solidFill>
                  <a:srgbClr val="6D9EEB"/>
                </a:solidFill>
                <a:latin typeface="Roboto Mono Medium"/>
                <a:ea typeface="Roboto Mono Medium"/>
                <a:cs typeface="Roboto Mono Medium"/>
                <a:sym typeface="Roboto Mono Medium"/>
              </a:rPr>
              <a:t>sent</a:t>
            </a:r>
            <a:r>
              <a:rPr b="0" baseline="30000" i="0" lang="es" sz="2200" u="none" cap="none" strike="noStrike">
                <a:solidFill>
                  <a:srgbClr val="6D9EEB"/>
                </a:solidFill>
                <a:latin typeface="Roboto Mono Medium"/>
                <a:ea typeface="Roboto Mono Medium"/>
                <a:cs typeface="Roboto Mono Medium"/>
                <a:sym typeface="Roboto Mono Medium"/>
              </a:rPr>
              <a:t>2</a:t>
            </a:r>
            <a:r>
              <a:rPr b="0" i="0" lang="es" sz="2200" u="none" cap="none" strike="noStrike">
                <a:solidFill>
                  <a:schemeClr val="dk2"/>
                </a:solidFill>
                <a:latin typeface="Roboto Mono Medium"/>
                <a:ea typeface="Roboto Mono Medium"/>
                <a:cs typeface="Roboto Mono Medium"/>
                <a:sym typeface="Roboto Mono Medium"/>
              </a:rPr>
              <a:t>)</a:t>
            </a:r>
            <a:endParaRPr b="0" i="0" sz="2200" u="none" cap="none" strike="noStrike">
              <a:solidFill>
                <a:schemeClr val="dk2"/>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0"/>
              </a:spcAft>
              <a:buClr>
                <a:srgbClr val="000000"/>
              </a:buClr>
              <a:buSzPts val="2200"/>
              <a:buFont typeface="Arial"/>
              <a:buNone/>
            </a:pPr>
            <a:r>
              <a:rPr b="0" i="0" lang="es" sz="2200" u="none" cap="none" strike="noStrike">
                <a:solidFill>
                  <a:schemeClr val="dk2"/>
                </a:solidFill>
                <a:latin typeface="Roboto Mono Medium"/>
                <a:ea typeface="Roboto Mono Medium"/>
                <a:cs typeface="Roboto Mono Medium"/>
                <a:sym typeface="Roboto Mono Medium"/>
              </a:rPr>
              <a:t>{</a:t>
            </a:r>
            <a:endParaRPr b="0" i="0" sz="2200" u="none" cap="none" strike="noStrike">
              <a:solidFill>
                <a:schemeClr val="dk2"/>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0"/>
              </a:spcAft>
              <a:buClr>
                <a:srgbClr val="000000"/>
              </a:buClr>
              <a:buSzPts val="2200"/>
              <a:buFont typeface="Arial"/>
              <a:buNone/>
            </a:pPr>
            <a:r>
              <a:rPr b="0" i="0" lang="es" sz="2200" u="none" cap="none" strike="noStrike">
                <a:solidFill>
                  <a:srgbClr val="ADADAD"/>
                </a:solidFill>
                <a:latin typeface="Roboto Mono Medium"/>
                <a:ea typeface="Roboto Mono Medium"/>
                <a:cs typeface="Roboto Mono Medium"/>
                <a:sym typeface="Roboto Mono Medium"/>
              </a:rPr>
              <a:t>	   </a:t>
            </a:r>
            <a:r>
              <a:rPr b="0" i="0" lang="es" sz="2200" u="none" cap="none" strike="noStrike">
                <a:solidFill>
                  <a:srgbClr val="009688"/>
                </a:solidFill>
                <a:latin typeface="Roboto Mono Medium"/>
                <a:ea typeface="Roboto Mono Medium"/>
                <a:cs typeface="Roboto Mono Medium"/>
                <a:sym typeface="Roboto Mono Medium"/>
              </a:rPr>
              <a:t>prog</a:t>
            </a:r>
            <a:endParaRPr b="0" i="0" sz="2200" u="none" cap="none" strike="noStrike">
              <a:solidFill>
                <a:srgbClr val="009688"/>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1200"/>
              </a:spcAft>
              <a:buClr>
                <a:srgbClr val="000000"/>
              </a:buClr>
              <a:buSzPts val="2200"/>
              <a:buFont typeface="Arial"/>
              <a:buNone/>
            </a:pPr>
            <a:r>
              <a:rPr b="0" i="0" lang="es" sz="2200" u="none" cap="none" strike="noStrike">
                <a:solidFill>
                  <a:schemeClr val="dk2"/>
                </a:solidFill>
                <a:latin typeface="Roboto Mono Medium"/>
                <a:ea typeface="Roboto Mono Medium"/>
                <a:cs typeface="Roboto Mono Medium"/>
                <a:sym typeface="Roboto Mono Medium"/>
              </a:rPr>
              <a:t>}</a:t>
            </a:r>
            <a:endParaRPr b="0" i="0" sz="2200" u="none" cap="none" strike="noStrike">
              <a:solidFill>
                <a:schemeClr val="dk2"/>
              </a:solidFill>
              <a:latin typeface="Roboto Mono Medium"/>
              <a:ea typeface="Roboto Mono Medium"/>
              <a:cs typeface="Roboto Mono Medium"/>
              <a:sym typeface="Roboto Mono Medium"/>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Sumatoria hasta N (</a:t>
            </a:r>
            <a:r>
              <a:rPr lang="es">
                <a:solidFill>
                  <a:schemeClr val="accent4"/>
                </a:solidFill>
              </a:rPr>
              <a:t>for</a:t>
            </a:r>
            <a:r>
              <a:rPr lang="es"/>
              <a:t> edition)</a:t>
            </a:r>
            <a:endParaRPr/>
          </a:p>
        </p:txBody>
      </p:sp>
      <p:sp>
        <p:nvSpPr>
          <p:cNvPr id="1149" name="Google Shape;1149;p68"/>
          <p:cNvSpPr/>
          <p:nvPr/>
        </p:nvSpPr>
        <p:spPr>
          <a:xfrm rot="10800000">
            <a:off x="414790" y="1836650"/>
            <a:ext cx="27183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150" name="Google Shape;1150;p68"/>
          <p:cNvSpPr/>
          <p:nvPr/>
        </p:nvSpPr>
        <p:spPr>
          <a:xfrm rot="10800000">
            <a:off x="414792" y="1442373"/>
            <a:ext cx="271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51" name="Google Shape;1151;p68"/>
          <p:cNvSpPr/>
          <p:nvPr/>
        </p:nvSpPr>
        <p:spPr>
          <a:xfrm>
            <a:off x="617136" y="15412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52" name="Google Shape;1152;p68"/>
          <p:cNvSpPr/>
          <p:nvPr/>
        </p:nvSpPr>
        <p:spPr>
          <a:xfrm>
            <a:off x="1000339" y="15412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53" name="Google Shape;1153;p68"/>
          <p:cNvSpPr/>
          <p:nvPr/>
        </p:nvSpPr>
        <p:spPr>
          <a:xfrm>
            <a:off x="1383541" y="15412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54" name="Google Shape;1154;p68"/>
          <p:cNvSpPr txBox="1"/>
          <p:nvPr/>
        </p:nvSpPr>
        <p:spPr>
          <a:xfrm>
            <a:off x="415079" y="1876603"/>
            <a:ext cx="27183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1</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2</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cin</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&gt;&gt;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3</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4</a:t>
            </a:r>
            <a:r>
              <a:rPr b="0" i="0" lang="es" sz="1900" u="none" cap="none" strike="noStrike">
                <a:solidFill>
                  <a:srgbClr val="383A42"/>
                </a:solidFill>
                <a:latin typeface="Arial"/>
                <a:ea typeface="Arial"/>
                <a:cs typeface="Arial"/>
                <a:sym typeface="Arial"/>
              </a:rPr>
              <a:t>  </a:t>
            </a:r>
            <a:r>
              <a:rPr b="0" i="0" lang="es" sz="1900" u="none" cap="none" strike="noStrike">
                <a:solidFill>
                  <a:srgbClr val="A626A4"/>
                </a:solidFill>
                <a:latin typeface="Arial"/>
                <a:ea typeface="Arial"/>
                <a:cs typeface="Arial"/>
                <a:sym typeface="Arial"/>
              </a:rPr>
              <a:t>while</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&lt;</a:t>
            </a:r>
            <a:r>
              <a:rPr lang="es" sz="1900">
                <a:solidFill>
                  <a:srgbClr val="0184BC"/>
                </a:solidFill>
              </a:rPr>
              <a:t>=</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5</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6</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7</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8</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p6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Sumatoria hasta N (</a:t>
            </a:r>
            <a:r>
              <a:rPr lang="es">
                <a:solidFill>
                  <a:schemeClr val="accent4"/>
                </a:solidFill>
              </a:rPr>
              <a:t>for</a:t>
            </a:r>
            <a:r>
              <a:rPr lang="es"/>
              <a:t> edition)</a:t>
            </a:r>
            <a:endParaRPr/>
          </a:p>
        </p:txBody>
      </p:sp>
      <p:sp>
        <p:nvSpPr>
          <p:cNvPr id="1160" name="Google Shape;1160;p69"/>
          <p:cNvSpPr/>
          <p:nvPr/>
        </p:nvSpPr>
        <p:spPr>
          <a:xfrm rot="10800000">
            <a:off x="414790" y="1836650"/>
            <a:ext cx="27183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161" name="Google Shape;1161;p69"/>
          <p:cNvSpPr/>
          <p:nvPr/>
        </p:nvSpPr>
        <p:spPr>
          <a:xfrm rot="10800000">
            <a:off x="414792" y="1442373"/>
            <a:ext cx="271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62" name="Google Shape;1162;p69"/>
          <p:cNvSpPr/>
          <p:nvPr/>
        </p:nvSpPr>
        <p:spPr>
          <a:xfrm>
            <a:off x="617136" y="15412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63" name="Google Shape;1163;p69"/>
          <p:cNvSpPr/>
          <p:nvPr/>
        </p:nvSpPr>
        <p:spPr>
          <a:xfrm>
            <a:off x="1000339" y="15412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64" name="Google Shape;1164;p69"/>
          <p:cNvSpPr/>
          <p:nvPr/>
        </p:nvSpPr>
        <p:spPr>
          <a:xfrm>
            <a:off x="1383541" y="15412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65" name="Google Shape;1165;p69"/>
          <p:cNvSpPr txBox="1"/>
          <p:nvPr/>
        </p:nvSpPr>
        <p:spPr>
          <a:xfrm>
            <a:off x="415079" y="1876603"/>
            <a:ext cx="27183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1</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2</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cin</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&gt;&gt;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3</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4</a:t>
            </a:r>
            <a:r>
              <a:rPr b="0" i="0" lang="es" sz="1900" u="none" cap="none" strike="noStrike">
                <a:solidFill>
                  <a:srgbClr val="383A42"/>
                </a:solidFill>
                <a:latin typeface="Arial"/>
                <a:ea typeface="Arial"/>
                <a:cs typeface="Arial"/>
                <a:sym typeface="Arial"/>
              </a:rPr>
              <a:t>  </a:t>
            </a:r>
            <a:r>
              <a:rPr b="0" i="0" lang="es" sz="1900" u="none" cap="none" strike="noStrike">
                <a:solidFill>
                  <a:srgbClr val="A626A4"/>
                </a:solidFill>
                <a:latin typeface="Arial"/>
                <a:ea typeface="Arial"/>
                <a:cs typeface="Arial"/>
                <a:sym typeface="Arial"/>
              </a:rPr>
              <a:t>while</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&lt;=</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5</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6</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7</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8</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p:txBody>
      </p:sp>
      <p:sp>
        <p:nvSpPr>
          <p:cNvPr id="1166" name="Google Shape;1166;p69"/>
          <p:cNvSpPr/>
          <p:nvPr/>
        </p:nvSpPr>
        <p:spPr>
          <a:xfrm>
            <a:off x="3315175" y="2694000"/>
            <a:ext cx="592200" cy="809700"/>
          </a:xfrm>
          <a:prstGeom prst="rightArrow">
            <a:avLst>
              <a:gd fmla="val 50000" name="adj1"/>
              <a:gd fmla="val 50000" name="adj2"/>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Sumatoria hasta N (</a:t>
            </a:r>
            <a:r>
              <a:rPr lang="es">
                <a:solidFill>
                  <a:schemeClr val="accent4"/>
                </a:solidFill>
              </a:rPr>
              <a:t>for</a:t>
            </a:r>
            <a:r>
              <a:rPr lang="es"/>
              <a:t> edition)</a:t>
            </a:r>
            <a:endParaRPr/>
          </a:p>
        </p:txBody>
      </p:sp>
      <p:sp>
        <p:nvSpPr>
          <p:cNvPr id="1172" name="Google Shape;1172;p70"/>
          <p:cNvSpPr/>
          <p:nvPr/>
        </p:nvSpPr>
        <p:spPr>
          <a:xfrm rot="10800000">
            <a:off x="414790" y="1836650"/>
            <a:ext cx="27183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173" name="Google Shape;1173;p70"/>
          <p:cNvSpPr/>
          <p:nvPr/>
        </p:nvSpPr>
        <p:spPr>
          <a:xfrm rot="10800000">
            <a:off x="414792" y="1442373"/>
            <a:ext cx="271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74" name="Google Shape;1174;p70"/>
          <p:cNvSpPr/>
          <p:nvPr/>
        </p:nvSpPr>
        <p:spPr>
          <a:xfrm>
            <a:off x="617136" y="15412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75" name="Google Shape;1175;p70"/>
          <p:cNvSpPr/>
          <p:nvPr/>
        </p:nvSpPr>
        <p:spPr>
          <a:xfrm>
            <a:off x="1000339" y="15412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76" name="Google Shape;1176;p70"/>
          <p:cNvSpPr/>
          <p:nvPr/>
        </p:nvSpPr>
        <p:spPr>
          <a:xfrm>
            <a:off x="1383541" y="15412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77" name="Google Shape;1177;p70"/>
          <p:cNvSpPr txBox="1"/>
          <p:nvPr/>
        </p:nvSpPr>
        <p:spPr>
          <a:xfrm>
            <a:off x="415079" y="1876603"/>
            <a:ext cx="27183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1</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2</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cin</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&gt;&gt;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3</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4</a:t>
            </a:r>
            <a:r>
              <a:rPr b="0" i="0" lang="es" sz="1900" u="none" cap="none" strike="noStrike">
                <a:solidFill>
                  <a:srgbClr val="383A42"/>
                </a:solidFill>
                <a:latin typeface="Arial"/>
                <a:ea typeface="Arial"/>
                <a:cs typeface="Arial"/>
                <a:sym typeface="Arial"/>
              </a:rPr>
              <a:t>  </a:t>
            </a:r>
            <a:r>
              <a:rPr b="0" i="0" lang="es" sz="1900" u="none" cap="none" strike="noStrike">
                <a:solidFill>
                  <a:srgbClr val="A626A4"/>
                </a:solidFill>
                <a:latin typeface="Arial"/>
                <a:ea typeface="Arial"/>
                <a:cs typeface="Arial"/>
                <a:sym typeface="Arial"/>
              </a:rPr>
              <a:t>while</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&lt;=</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5</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6</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7</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8</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p:txBody>
      </p:sp>
      <p:sp>
        <p:nvSpPr>
          <p:cNvPr id="1178" name="Google Shape;1178;p70"/>
          <p:cNvSpPr/>
          <p:nvPr/>
        </p:nvSpPr>
        <p:spPr>
          <a:xfrm rot="10800000">
            <a:off x="4088731" y="1836650"/>
            <a:ext cx="44733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179" name="Google Shape;1179;p70"/>
          <p:cNvSpPr/>
          <p:nvPr/>
        </p:nvSpPr>
        <p:spPr>
          <a:xfrm rot="10800000">
            <a:off x="4088735" y="1442375"/>
            <a:ext cx="4473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80" name="Google Shape;1180;p70"/>
          <p:cNvSpPr/>
          <p:nvPr/>
        </p:nvSpPr>
        <p:spPr>
          <a:xfrm>
            <a:off x="4291061" y="15412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81" name="Google Shape;1181;p70"/>
          <p:cNvSpPr/>
          <p:nvPr/>
        </p:nvSpPr>
        <p:spPr>
          <a:xfrm>
            <a:off x="4674264" y="15412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82" name="Google Shape;1182;p70"/>
          <p:cNvSpPr/>
          <p:nvPr/>
        </p:nvSpPr>
        <p:spPr>
          <a:xfrm>
            <a:off x="5057466" y="15412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83" name="Google Shape;1183;p70"/>
          <p:cNvSpPr txBox="1"/>
          <p:nvPr/>
        </p:nvSpPr>
        <p:spPr>
          <a:xfrm>
            <a:off x="4089206" y="1876604"/>
            <a:ext cx="44733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1</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2</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cin</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&gt;&gt;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3</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4</a:t>
            </a:r>
            <a:r>
              <a:rPr b="0" i="0" lang="es" sz="1900" u="none" cap="none" strike="noStrike">
                <a:solidFill>
                  <a:srgbClr val="383A42"/>
                </a:solidFill>
                <a:latin typeface="Arial"/>
                <a:ea typeface="Arial"/>
                <a:cs typeface="Arial"/>
                <a:sym typeface="Arial"/>
              </a:rPr>
              <a:t>  </a:t>
            </a:r>
            <a:r>
              <a:rPr b="0" i="0" lang="es" sz="1900" u="none" cap="none" strike="noStrike">
                <a:solidFill>
                  <a:srgbClr val="A626A4"/>
                </a:solidFill>
                <a:latin typeface="Arial"/>
                <a:ea typeface="Arial"/>
                <a:cs typeface="Arial"/>
                <a:sym typeface="Arial"/>
              </a:rPr>
              <a:t>for</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&lt;</a:t>
            </a:r>
            <a:r>
              <a:rPr lang="es" sz="1900">
                <a:solidFill>
                  <a:srgbClr val="0184BC"/>
                </a:solidFill>
              </a:rPr>
              <a:t>=</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5</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6</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7</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p:txBody>
      </p:sp>
      <p:sp>
        <p:nvSpPr>
          <p:cNvPr id="1184" name="Google Shape;1184;p70"/>
          <p:cNvSpPr/>
          <p:nvPr/>
        </p:nvSpPr>
        <p:spPr>
          <a:xfrm rot="10800000">
            <a:off x="5023775" y="2776475"/>
            <a:ext cx="1747500" cy="4101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185" name="Google Shape;1185;p70"/>
          <p:cNvSpPr/>
          <p:nvPr/>
        </p:nvSpPr>
        <p:spPr>
          <a:xfrm>
            <a:off x="3315175" y="2694000"/>
            <a:ext cx="592200" cy="809700"/>
          </a:xfrm>
          <a:prstGeom prst="rightArrow">
            <a:avLst>
              <a:gd fmla="val 50000" name="adj1"/>
              <a:gd fmla="val 50000" name="adj2"/>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7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Sumatoria hasta N (</a:t>
            </a:r>
            <a:r>
              <a:rPr lang="es">
                <a:solidFill>
                  <a:schemeClr val="accent4"/>
                </a:solidFill>
              </a:rPr>
              <a:t>for</a:t>
            </a:r>
            <a:r>
              <a:rPr lang="es"/>
              <a:t> edition)</a:t>
            </a:r>
            <a:endParaRPr/>
          </a:p>
        </p:txBody>
      </p:sp>
      <p:sp>
        <p:nvSpPr>
          <p:cNvPr id="1191" name="Google Shape;1191;p71"/>
          <p:cNvSpPr/>
          <p:nvPr/>
        </p:nvSpPr>
        <p:spPr>
          <a:xfrm rot="10800000">
            <a:off x="414790" y="1836650"/>
            <a:ext cx="27183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192" name="Google Shape;1192;p71"/>
          <p:cNvSpPr/>
          <p:nvPr/>
        </p:nvSpPr>
        <p:spPr>
          <a:xfrm rot="10800000">
            <a:off x="414792" y="1442373"/>
            <a:ext cx="271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93" name="Google Shape;1193;p71"/>
          <p:cNvSpPr/>
          <p:nvPr/>
        </p:nvSpPr>
        <p:spPr>
          <a:xfrm>
            <a:off x="617136" y="15412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94" name="Google Shape;1194;p71"/>
          <p:cNvSpPr/>
          <p:nvPr/>
        </p:nvSpPr>
        <p:spPr>
          <a:xfrm>
            <a:off x="1000339" y="15412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95" name="Google Shape;1195;p71"/>
          <p:cNvSpPr/>
          <p:nvPr/>
        </p:nvSpPr>
        <p:spPr>
          <a:xfrm>
            <a:off x="1383541" y="15412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96" name="Google Shape;1196;p71"/>
          <p:cNvSpPr txBox="1"/>
          <p:nvPr/>
        </p:nvSpPr>
        <p:spPr>
          <a:xfrm>
            <a:off x="415079" y="1876603"/>
            <a:ext cx="27183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1</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2</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cin</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&gt;&gt;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3</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4</a:t>
            </a:r>
            <a:r>
              <a:rPr b="0" i="0" lang="es" sz="1900" u="none" cap="none" strike="noStrike">
                <a:solidFill>
                  <a:srgbClr val="383A42"/>
                </a:solidFill>
                <a:latin typeface="Arial"/>
                <a:ea typeface="Arial"/>
                <a:cs typeface="Arial"/>
                <a:sym typeface="Arial"/>
              </a:rPr>
              <a:t>  </a:t>
            </a:r>
            <a:r>
              <a:rPr b="0" i="0" lang="es" sz="1900" u="none" cap="none" strike="noStrike">
                <a:solidFill>
                  <a:srgbClr val="A626A4"/>
                </a:solidFill>
                <a:latin typeface="Arial"/>
                <a:ea typeface="Arial"/>
                <a:cs typeface="Arial"/>
                <a:sym typeface="Arial"/>
              </a:rPr>
              <a:t>while</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&lt;=</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5</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6</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7</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8</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p:txBody>
      </p:sp>
      <p:sp>
        <p:nvSpPr>
          <p:cNvPr id="1197" name="Google Shape;1197;p71"/>
          <p:cNvSpPr/>
          <p:nvPr/>
        </p:nvSpPr>
        <p:spPr>
          <a:xfrm rot="10800000">
            <a:off x="4088731" y="1836650"/>
            <a:ext cx="44733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198" name="Google Shape;1198;p71"/>
          <p:cNvSpPr/>
          <p:nvPr/>
        </p:nvSpPr>
        <p:spPr>
          <a:xfrm rot="10800000">
            <a:off x="4088735" y="1442375"/>
            <a:ext cx="4473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199" name="Google Shape;1199;p71"/>
          <p:cNvSpPr/>
          <p:nvPr/>
        </p:nvSpPr>
        <p:spPr>
          <a:xfrm>
            <a:off x="4291061" y="15412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00" name="Google Shape;1200;p71"/>
          <p:cNvSpPr/>
          <p:nvPr/>
        </p:nvSpPr>
        <p:spPr>
          <a:xfrm>
            <a:off x="4674264" y="15412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01" name="Google Shape;1201;p71"/>
          <p:cNvSpPr/>
          <p:nvPr/>
        </p:nvSpPr>
        <p:spPr>
          <a:xfrm>
            <a:off x="5057466" y="15412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02" name="Google Shape;1202;p71"/>
          <p:cNvSpPr txBox="1"/>
          <p:nvPr/>
        </p:nvSpPr>
        <p:spPr>
          <a:xfrm>
            <a:off x="4089206" y="1876604"/>
            <a:ext cx="44733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1</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2</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cin</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&gt;&gt;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3</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4</a:t>
            </a:r>
            <a:r>
              <a:rPr b="0" i="0" lang="es" sz="1900" u="none" cap="none" strike="noStrike">
                <a:solidFill>
                  <a:srgbClr val="383A42"/>
                </a:solidFill>
                <a:latin typeface="Arial"/>
                <a:ea typeface="Arial"/>
                <a:cs typeface="Arial"/>
                <a:sym typeface="Arial"/>
              </a:rPr>
              <a:t>  </a:t>
            </a:r>
            <a:r>
              <a:rPr b="0" i="0" lang="es" sz="1900" u="none" cap="none" strike="noStrike">
                <a:solidFill>
                  <a:srgbClr val="A626A4"/>
                </a:solidFill>
                <a:latin typeface="Arial"/>
                <a:ea typeface="Arial"/>
                <a:cs typeface="Arial"/>
                <a:sym typeface="Arial"/>
              </a:rPr>
              <a:t>for</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&lt;=</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5</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6</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7</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p:txBody>
      </p:sp>
      <p:sp>
        <p:nvSpPr>
          <p:cNvPr id="1203" name="Google Shape;1203;p71"/>
          <p:cNvSpPr/>
          <p:nvPr/>
        </p:nvSpPr>
        <p:spPr>
          <a:xfrm rot="10800000">
            <a:off x="5735750" y="2776475"/>
            <a:ext cx="1028100" cy="4101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204" name="Google Shape;1204;p71"/>
          <p:cNvSpPr/>
          <p:nvPr/>
        </p:nvSpPr>
        <p:spPr>
          <a:xfrm>
            <a:off x="3315175" y="2694000"/>
            <a:ext cx="592200" cy="809700"/>
          </a:xfrm>
          <a:prstGeom prst="rightArrow">
            <a:avLst>
              <a:gd fmla="val 50000" name="adj1"/>
              <a:gd fmla="val 50000" name="adj2"/>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7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Sumatoria hasta N (</a:t>
            </a:r>
            <a:r>
              <a:rPr lang="es">
                <a:solidFill>
                  <a:schemeClr val="accent4"/>
                </a:solidFill>
              </a:rPr>
              <a:t>for</a:t>
            </a:r>
            <a:r>
              <a:rPr lang="es"/>
              <a:t> edition)</a:t>
            </a:r>
            <a:endParaRPr/>
          </a:p>
        </p:txBody>
      </p:sp>
      <p:sp>
        <p:nvSpPr>
          <p:cNvPr id="1210" name="Google Shape;1210;p72"/>
          <p:cNvSpPr/>
          <p:nvPr/>
        </p:nvSpPr>
        <p:spPr>
          <a:xfrm rot="10800000">
            <a:off x="414790" y="1836650"/>
            <a:ext cx="27183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211" name="Google Shape;1211;p72"/>
          <p:cNvSpPr/>
          <p:nvPr/>
        </p:nvSpPr>
        <p:spPr>
          <a:xfrm rot="10800000">
            <a:off x="414792" y="1442373"/>
            <a:ext cx="271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12" name="Google Shape;1212;p72"/>
          <p:cNvSpPr/>
          <p:nvPr/>
        </p:nvSpPr>
        <p:spPr>
          <a:xfrm>
            <a:off x="617136" y="15412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13" name="Google Shape;1213;p72"/>
          <p:cNvSpPr/>
          <p:nvPr/>
        </p:nvSpPr>
        <p:spPr>
          <a:xfrm>
            <a:off x="1000339" y="15412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14" name="Google Shape;1214;p72"/>
          <p:cNvSpPr/>
          <p:nvPr/>
        </p:nvSpPr>
        <p:spPr>
          <a:xfrm>
            <a:off x="1383541" y="15412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15" name="Google Shape;1215;p72"/>
          <p:cNvSpPr txBox="1"/>
          <p:nvPr/>
        </p:nvSpPr>
        <p:spPr>
          <a:xfrm>
            <a:off x="415079" y="1876603"/>
            <a:ext cx="27183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1</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2</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cin</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&gt;&gt;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3</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4</a:t>
            </a:r>
            <a:r>
              <a:rPr b="0" i="0" lang="es" sz="1900" u="none" cap="none" strike="noStrike">
                <a:solidFill>
                  <a:srgbClr val="383A42"/>
                </a:solidFill>
                <a:latin typeface="Arial"/>
                <a:ea typeface="Arial"/>
                <a:cs typeface="Arial"/>
                <a:sym typeface="Arial"/>
              </a:rPr>
              <a:t>  </a:t>
            </a:r>
            <a:r>
              <a:rPr b="0" i="0" lang="es" sz="1900" u="none" cap="none" strike="noStrike">
                <a:solidFill>
                  <a:srgbClr val="A626A4"/>
                </a:solidFill>
                <a:latin typeface="Arial"/>
                <a:ea typeface="Arial"/>
                <a:cs typeface="Arial"/>
                <a:sym typeface="Arial"/>
              </a:rPr>
              <a:t>while</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&lt;=</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5</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6</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7</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8</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p:txBody>
      </p:sp>
      <p:sp>
        <p:nvSpPr>
          <p:cNvPr id="1216" name="Google Shape;1216;p72"/>
          <p:cNvSpPr/>
          <p:nvPr/>
        </p:nvSpPr>
        <p:spPr>
          <a:xfrm rot="10800000">
            <a:off x="4088731" y="1836650"/>
            <a:ext cx="44733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217" name="Google Shape;1217;p72"/>
          <p:cNvSpPr/>
          <p:nvPr/>
        </p:nvSpPr>
        <p:spPr>
          <a:xfrm rot="10800000">
            <a:off x="4088735" y="1442375"/>
            <a:ext cx="4473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18" name="Google Shape;1218;p72"/>
          <p:cNvSpPr/>
          <p:nvPr/>
        </p:nvSpPr>
        <p:spPr>
          <a:xfrm>
            <a:off x="4291061" y="15412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19" name="Google Shape;1219;p72"/>
          <p:cNvSpPr/>
          <p:nvPr/>
        </p:nvSpPr>
        <p:spPr>
          <a:xfrm>
            <a:off x="4674264" y="15412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20" name="Google Shape;1220;p72"/>
          <p:cNvSpPr/>
          <p:nvPr/>
        </p:nvSpPr>
        <p:spPr>
          <a:xfrm>
            <a:off x="5057466" y="15412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21" name="Google Shape;1221;p72"/>
          <p:cNvSpPr txBox="1"/>
          <p:nvPr/>
        </p:nvSpPr>
        <p:spPr>
          <a:xfrm>
            <a:off x="4089206" y="1876604"/>
            <a:ext cx="44733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1</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2</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cin</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&gt;&gt;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3</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4</a:t>
            </a:r>
            <a:r>
              <a:rPr b="0" i="0" lang="es" sz="1900" u="none" cap="none" strike="noStrike">
                <a:solidFill>
                  <a:srgbClr val="383A42"/>
                </a:solidFill>
                <a:latin typeface="Arial"/>
                <a:ea typeface="Arial"/>
                <a:cs typeface="Arial"/>
                <a:sym typeface="Arial"/>
              </a:rPr>
              <a:t>  </a:t>
            </a:r>
            <a:r>
              <a:rPr b="0" i="0" lang="es" sz="1900" u="none" cap="none" strike="noStrike">
                <a:solidFill>
                  <a:srgbClr val="A626A4"/>
                </a:solidFill>
                <a:latin typeface="Arial"/>
                <a:ea typeface="Arial"/>
                <a:cs typeface="Arial"/>
                <a:sym typeface="Arial"/>
              </a:rPr>
              <a:t>for</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&lt;=</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5</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6</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7</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p:txBody>
      </p:sp>
      <p:sp>
        <p:nvSpPr>
          <p:cNvPr id="1222" name="Google Shape;1222;p72"/>
          <p:cNvSpPr/>
          <p:nvPr/>
        </p:nvSpPr>
        <p:spPr>
          <a:xfrm rot="10800000">
            <a:off x="6390475" y="2776475"/>
            <a:ext cx="405000" cy="410100"/>
          </a:xfrm>
          <a:prstGeom prst="rect">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223" name="Google Shape;1223;p72"/>
          <p:cNvSpPr/>
          <p:nvPr/>
        </p:nvSpPr>
        <p:spPr>
          <a:xfrm>
            <a:off x="3315175" y="2694000"/>
            <a:ext cx="592200" cy="809700"/>
          </a:xfrm>
          <a:prstGeom prst="rightArrow">
            <a:avLst>
              <a:gd fmla="val 50000" name="adj1"/>
              <a:gd fmla="val 50000" name="adj2"/>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7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Sumatoria hasta N (</a:t>
            </a:r>
            <a:r>
              <a:rPr lang="es">
                <a:solidFill>
                  <a:schemeClr val="accent4"/>
                </a:solidFill>
              </a:rPr>
              <a:t>for</a:t>
            </a:r>
            <a:r>
              <a:rPr lang="es"/>
              <a:t> edition)</a:t>
            </a:r>
            <a:endParaRPr/>
          </a:p>
        </p:txBody>
      </p:sp>
      <p:sp>
        <p:nvSpPr>
          <p:cNvPr id="1229" name="Google Shape;1229;p73"/>
          <p:cNvSpPr/>
          <p:nvPr/>
        </p:nvSpPr>
        <p:spPr>
          <a:xfrm rot="10800000">
            <a:off x="414790" y="1836650"/>
            <a:ext cx="27183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230" name="Google Shape;1230;p73"/>
          <p:cNvSpPr/>
          <p:nvPr/>
        </p:nvSpPr>
        <p:spPr>
          <a:xfrm rot="10800000">
            <a:off x="414792" y="1442373"/>
            <a:ext cx="271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31" name="Google Shape;1231;p73"/>
          <p:cNvSpPr/>
          <p:nvPr/>
        </p:nvSpPr>
        <p:spPr>
          <a:xfrm>
            <a:off x="617136" y="15412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32" name="Google Shape;1232;p73"/>
          <p:cNvSpPr/>
          <p:nvPr/>
        </p:nvSpPr>
        <p:spPr>
          <a:xfrm>
            <a:off x="1000339" y="15412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33" name="Google Shape;1233;p73"/>
          <p:cNvSpPr/>
          <p:nvPr/>
        </p:nvSpPr>
        <p:spPr>
          <a:xfrm>
            <a:off x="1383541" y="15412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34" name="Google Shape;1234;p73"/>
          <p:cNvSpPr txBox="1"/>
          <p:nvPr/>
        </p:nvSpPr>
        <p:spPr>
          <a:xfrm>
            <a:off x="415079" y="1876603"/>
            <a:ext cx="27183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1</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2</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cin</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&gt;&gt;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3</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4</a:t>
            </a:r>
            <a:r>
              <a:rPr b="0" i="0" lang="es" sz="1900" u="none" cap="none" strike="noStrike">
                <a:solidFill>
                  <a:srgbClr val="383A42"/>
                </a:solidFill>
                <a:latin typeface="Arial"/>
                <a:ea typeface="Arial"/>
                <a:cs typeface="Arial"/>
                <a:sym typeface="Arial"/>
              </a:rPr>
              <a:t>  </a:t>
            </a:r>
            <a:r>
              <a:rPr b="0" i="0" lang="es" sz="1900" u="none" cap="none" strike="noStrike">
                <a:solidFill>
                  <a:srgbClr val="A626A4"/>
                </a:solidFill>
                <a:latin typeface="Arial"/>
                <a:ea typeface="Arial"/>
                <a:cs typeface="Arial"/>
                <a:sym typeface="Arial"/>
              </a:rPr>
              <a:t>while</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&lt;=</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5</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6</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7</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8</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p:txBody>
      </p:sp>
      <p:sp>
        <p:nvSpPr>
          <p:cNvPr id="1235" name="Google Shape;1235;p73"/>
          <p:cNvSpPr/>
          <p:nvPr/>
        </p:nvSpPr>
        <p:spPr>
          <a:xfrm rot="10800000">
            <a:off x="4088731" y="1836650"/>
            <a:ext cx="4473300" cy="29112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236" name="Google Shape;1236;p73"/>
          <p:cNvSpPr/>
          <p:nvPr/>
        </p:nvSpPr>
        <p:spPr>
          <a:xfrm rot="10800000">
            <a:off x="4088735" y="1442375"/>
            <a:ext cx="4473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37" name="Google Shape;1237;p73"/>
          <p:cNvSpPr/>
          <p:nvPr/>
        </p:nvSpPr>
        <p:spPr>
          <a:xfrm>
            <a:off x="4291061" y="15412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38" name="Google Shape;1238;p73"/>
          <p:cNvSpPr/>
          <p:nvPr/>
        </p:nvSpPr>
        <p:spPr>
          <a:xfrm>
            <a:off x="4674264" y="15412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39" name="Google Shape;1239;p73"/>
          <p:cNvSpPr/>
          <p:nvPr/>
        </p:nvSpPr>
        <p:spPr>
          <a:xfrm>
            <a:off x="5057466" y="15412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40" name="Google Shape;1240;p73"/>
          <p:cNvSpPr txBox="1"/>
          <p:nvPr/>
        </p:nvSpPr>
        <p:spPr>
          <a:xfrm>
            <a:off x="4089206" y="1876604"/>
            <a:ext cx="4473300" cy="2697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1</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2</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cin</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&gt;&gt;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3</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4</a:t>
            </a:r>
            <a:r>
              <a:rPr b="0" i="0" lang="es" sz="1900" u="none" cap="none" strike="noStrike">
                <a:solidFill>
                  <a:srgbClr val="383A42"/>
                </a:solidFill>
                <a:latin typeface="Arial"/>
                <a:ea typeface="Arial"/>
                <a:cs typeface="Arial"/>
                <a:sym typeface="Arial"/>
              </a:rPr>
              <a:t>  </a:t>
            </a:r>
            <a:r>
              <a:rPr b="0" i="0" lang="es" sz="1900" u="none" cap="none" strike="noStrike">
                <a:solidFill>
                  <a:srgbClr val="A626A4"/>
                </a:solidFill>
                <a:latin typeface="Arial"/>
                <a:ea typeface="Arial"/>
                <a:cs typeface="Arial"/>
                <a:sym typeface="Arial"/>
              </a:rPr>
              <a:t>for</a:t>
            </a:r>
            <a:r>
              <a:rPr b="0" i="0" lang="es" sz="1900" u="none" cap="none" strike="noStrike">
                <a:solidFill>
                  <a:srgbClr val="383A42"/>
                </a:solidFill>
                <a:latin typeface="Arial"/>
                <a:ea typeface="Arial"/>
                <a:cs typeface="Arial"/>
                <a:sym typeface="Arial"/>
              </a:rPr>
              <a:t> (</a:t>
            </a:r>
            <a:r>
              <a:rPr b="0" i="0" lang="es" sz="1900" u="none" cap="none" strike="noStrike">
                <a:solidFill>
                  <a:srgbClr val="27292F"/>
                </a:solidFill>
                <a:latin typeface="Arial"/>
                <a:ea typeface="Arial"/>
                <a:cs typeface="Arial"/>
                <a:sym typeface="Arial"/>
              </a:rPr>
              <a:t>int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986801"/>
                </a:solidFill>
                <a:latin typeface="Arial"/>
                <a:ea typeface="Arial"/>
                <a:cs typeface="Arial"/>
                <a:sym typeface="Arial"/>
              </a:rPr>
              <a:t>0</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&lt;=</a:t>
            </a:r>
            <a:r>
              <a:rPr b="0" i="0" lang="es" sz="1900" u="none" cap="none" strike="noStrike">
                <a:solidFill>
                  <a:srgbClr val="E06C75"/>
                </a:solidFill>
                <a:latin typeface="Arial"/>
                <a:ea typeface="Arial"/>
                <a:cs typeface="Arial"/>
                <a:sym typeface="Arial"/>
              </a:rPr>
              <a:t>N</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5</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6</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sum</a:t>
            </a:r>
            <a:r>
              <a:rPr b="0" i="0" lang="es" sz="1900" u="none" cap="none" strike="noStrike">
                <a:solidFill>
                  <a:srgbClr val="383A42"/>
                </a:solidFill>
                <a:latin typeface="Arial"/>
                <a:ea typeface="Arial"/>
                <a:cs typeface="Arial"/>
                <a:sym typeface="Arial"/>
              </a:rPr>
              <a:t> </a:t>
            </a:r>
            <a:r>
              <a:rPr b="0" i="0" lang="es" sz="1900" u="none" cap="none" strike="noStrike">
                <a:solidFill>
                  <a:srgbClr val="0184BC"/>
                </a:solidFill>
                <a:latin typeface="Arial"/>
                <a:ea typeface="Arial"/>
                <a:cs typeface="Arial"/>
                <a:sym typeface="Arial"/>
              </a:rPr>
              <a:t>+=</a:t>
            </a:r>
            <a:r>
              <a:rPr b="0" i="0" lang="es" sz="1900" u="none" cap="none" strike="noStrike">
                <a:solidFill>
                  <a:srgbClr val="383A42"/>
                </a:solidFill>
                <a:latin typeface="Arial"/>
                <a:ea typeface="Arial"/>
                <a:cs typeface="Arial"/>
                <a:sym typeface="Arial"/>
              </a:rPr>
              <a:t> </a:t>
            </a:r>
            <a:r>
              <a:rPr b="0" i="0" lang="es" sz="1900" u="none" cap="none" strike="noStrike">
                <a:solidFill>
                  <a:srgbClr val="E06C75"/>
                </a:solidFill>
                <a:latin typeface="Arial"/>
                <a:ea typeface="Arial"/>
                <a:cs typeface="Arial"/>
                <a:sym typeface="Arial"/>
              </a:rPr>
              <a:t>i</a:t>
            </a:r>
            <a:r>
              <a:rPr b="0" i="0" lang="es" sz="1900" u="none" cap="none" strike="noStrike">
                <a:solidFill>
                  <a:srgbClr val="383A42"/>
                </a:solidFill>
                <a:latin typeface="Arial"/>
                <a:ea typeface="Arial"/>
                <a:cs typeface="Arial"/>
                <a:sym typeface="Arial"/>
              </a:rPr>
              <a:t>;</a:t>
            </a:r>
            <a:endParaRPr b="0" i="0" sz="19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383A42"/>
                </a:solidFill>
                <a:latin typeface="Arial"/>
                <a:ea typeface="Arial"/>
                <a:cs typeface="Arial"/>
                <a:sym typeface="Arial"/>
              </a:rPr>
              <a:t>  </a:t>
            </a:r>
            <a:r>
              <a:rPr b="0" i="0" lang="es" sz="1900" u="none" cap="none" strike="noStrike">
                <a:solidFill>
                  <a:srgbClr val="929292"/>
                </a:solidFill>
                <a:latin typeface="Arial"/>
                <a:ea typeface="Arial"/>
                <a:cs typeface="Arial"/>
                <a:sym typeface="Arial"/>
              </a:rPr>
              <a:t>7</a:t>
            </a:r>
            <a:r>
              <a:rPr b="0" i="0" lang="es" sz="1900" u="none" cap="none" strike="noStrike">
                <a:solidFill>
                  <a:srgbClr val="383A42"/>
                </a:solidFill>
                <a:latin typeface="Arial"/>
                <a:ea typeface="Arial"/>
                <a:cs typeface="Arial"/>
                <a:sym typeface="Arial"/>
              </a:rPr>
              <a:t>  }</a:t>
            </a:r>
            <a:endParaRPr b="0" i="0" sz="1900" u="none" cap="none" strike="noStrike">
              <a:solidFill>
                <a:srgbClr val="383A42"/>
              </a:solidFill>
              <a:latin typeface="Arial"/>
              <a:ea typeface="Arial"/>
              <a:cs typeface="Arial"/>
              <a:sym typeface="Arial"/>
            </a:endParaRPr>
          </a:p>
        </p:txBody>
      </p:sp>
      <p:sp>
        <p:nvSpPr>
          <p:cNvPr id="1241" name="Google Shape;1241;p73"/>
          <p:cNvSpPr/>
          <p:nvPr/>
        </p:nvSpPr>
        <p:spPr>
          <a:xfrm>
            <a:off x="3315175" y="2694000"/>
            <a:ext cx="592200" cy="809700"/>
          </a:xfrm>
          <a:prstGeom prst="rightArrow">
            <a:avLst>
              <a:gd fmla="val 50000" name="adj1"/>
              <a:gd fmla="val 50000" name="adj2"/>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p7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sz="7000"/>
              <a:t>Números primos</a:t>
            </a:r>
            <a:endParaRPr sz="70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p75"/>
          <p:cNvSpPr/>
          <p:nvPr/>
        </p:nvSpPr>
        <p:spPr>
          <a:xfrm rot="10800000">
            <a:off x="2130048" y="343825"/>
            <a:ext cx="4884000" cy="47142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252" name="Google Shape;1252;p75"/>
          <p:cNvSpPr/>
          <p:nvPr/>
        </p:nvSpPr>
        <p:spPr>
          <a:xfrm rot="10800000">
            <a:off x="2130063" y="85475"/>
            <a:ext cx="4884000" cy="347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53" name="Google Shape;1253;p75"/>
          <p:cNvSpPr/>
          <p:nvPr/>
        </p:nvSpPr>
        <p:spPr>
          <a:xfrm>
            <a:off x="2261990" y="150196"/>
            <a:ext cx="169500" cy="169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54" name="Google Shape;1254;p75"/>
          <p:cNvSpPr/>
          <p:nvPr/>
        </p:nvSpPr>
        <p:spPr>
          <a:xfrm>
            <a:off x="2513020" y="150196"/>
            <a:ext cx="169500" cy="169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55" name="Google Shape;1255;p75"/>
          <p:cNvSpPr/>
          <p:nvPr/>
        </p:nvSpPr>
        <p:spPr>
          <a:xfrm>
            <a:off x="2764050" y="150196"/>
            <a:ext cx="169500" cy="169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56" name="Google Shape;1256;p75"/>
          <p:cNvSpPr txBox="1"/>
          <p:nvPr/>
        </p:nvSpPr>
        <p:spPr>
          <a:xfrm>
            <a:off x="2129938" y="408144"/>
            <a:ext cx="4884000" cy="43677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1</a:t>
            </a:r>
            <a:r>
              <a:rPr lang="es" sz="1200">
                <a:solidFill>
                  <a:srgbClr val="383A42"/>
                </a:solidFill>
                <a:latin typeface="Inconsolata"/>
                <a:ea typeface="Inconsolata"/>
                <a:cs typeface="Inconsolata"/>
                <a:sym typeface="Inconsolata"/>
              </a:rPr>
              <a:t> </a:t>
            </a:r>
            <a:r>
              <a:rPr lang="es" sz="1200">
                <a:solidFill>
                  <a:srgbClr val="27292F"/>
                </a:solidFill>
                <a:latin typeface="Inconsolata"/>
                <a:ea typeface="Inconsolata"/>
                <a:cs typeface="Inconsolata"/>
                <a:sym typeface="Inconsolata"/>
              </a:rPr>
              <a:t>int</a:t>
            </a:r>
            <a:r>
              <a:rPr lang="es" sz="1200">
                <a:solidFill>
                  <a:srgbClr val="383A42"/>
                </a:solidFill>
                <a:latin typeface="Inconsolata"/>
                <a:ea typeface="Inconsolata"/>
                <a:cs typeface="Inconsolata"/>
                <a:sym typeface="Inconsolata"/>
              </a:rPr>
              <a:t> </a:t>
            </a:r>
            <a:r>
              <a:rPr lang="es" sz="1200">
                <a:solidFill>
                  <a:srgbClr val="4078F2"/>
                </a:solidFill>
                <a:latin typeface="Inconsolata"/>
                <a:ea typeface="Inconsolata"/>
                <a:cs typeface="Inconsolata"/>
                <a:sym typeface="Inconsolata"/>
              </a:rPr>
              <a:t>main</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2</a:t>
            </a:r>
            <a:r>
              <a:rPr lang="es" sz="1200">
                <a:solidFill>
                  <a:srgbClr val="383A42"/>
                </a:solidFill>
                <a:latin typeface="Inconsolata"/>
                <a:ea typeface="Inconsolata"/>
                <a:cs typeface="Inconsolata"/>
                <a:sym typeface="Inconsolata"/>
              </a:rPr>
              <a:t> 	</a:t>
            </a:r>
            <a:r>
              <a:rPr lang="es" sz="1200">
                <a:solidFill>
                  <a:srgbClr val="27292F"/>
                </a:solidFill>
                <a:latin typeface="Inconsolata"/>
                <a:ea typeface="Inconsolata"/>
                <a:cs typeface="Inconsolata"/>
                <a:sym typeface="Inconsolata"/>
              </a:rPr>
              <a:t>int</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n</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divisores</a:t>
            </a:r>
            <a:r>
              <a:rPr lang="es" sz="1200">
                <a:solidFill>
                  <a:srgbClr val="0184BC"/>
                </a:solidFill>
                <a:latin typeface="Inconsolata"/>
                <a:ea typeface="Inconsolata"/>
                <a:cs typeface="Inconsolata"/>
                <a:sym typeface="Inconsolata"/>
              </a:rPr>
              <a:t>=</a:t>
            </a:r>
            <a:r>
              <a:rPr lang="es" sz="1200">
                <a:solidFill>
                  <a:srgbClr val="986801"/>
                </a:solidFill>
                <a:latin typeface="Inconsolata"/>
                <a:ea typeface="Inconsolata"/>
                <a:cs typeface="Inconsolata"/>
                <a:sym typeface="Inconsolata"/>
              </a:rPr>
              <a:t>0</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3</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cout</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&lt;&lt;</a:t>
            </a:r>
            <a:r>
              <a:rPr lang="es" sz="1200">
                <a:solidFill>
                  <a:srgbClr val="383A42"/>
                </a:solidFill>
                <a:latin typeface="Inconsolata"/>
                <a:ea typeface="Inconsolata"/>
                <a:cs typeface="Inconsolata"/>
                <a:sym typeface="Inconsolata"/>
              </a:rPr>
              <a:t> </a:t>
            </a:r>
            <a:r>
              <a:rPr lang="es" sz="1200">
                <a:solidFill>
                  <a:srgbClr val="50A14F"/>
                </a:solidFill>
                <a:latin typeface="Inconsolata"/>
                <a:ea typeface="Inconsolata"/>
                <a:cs typeface="Inconsolata"/>
                <a:sym typeface="Inconsolata"/>
              </a:rPr>
              <a:t>"Ingrese un n (mayor que 1): "</a:t>
            </a:r>
            <a:endParaRPr sz="1200">
              <a:solidFill>
                <a:srgbClr val="50A14F"/>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4</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cin</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&gt;&gt;</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n</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5</a:t>
            </a:r>
            <a:r>
              <a:rPr lang="es" sz="1200">
                <a:solidFill>
                  <a:srgbClr val="383A42"/>
                </a:solidFill>
                <a:latin typeface="Inconsolata"/>
                <a:ea typeface="Inconsolata"/>
                <a:cs typeface="Inconsolata"/>
                <a:sym typeface="Inconsolata"/>
              </a:rPr>
              <a:t> 	</a:t>
            </a:r>
            <a:r>
              <a:rPr lang="es" sz="1200">
                <a:solidFill>
                  <a:srgbClr val="A626A4"/>
                </a:solidFill>
                <a:latin typeface="Inconsolata"/>
                <a:ea typeface="Inconsolata"/>
                <a:cs typeface="Inconsolata"/>
                <a:sym typeface="Inconsolata"/>
              </a:rPr>
              <a:t>while</a:t>
            </a:r>
            <a:r>
              <a:rPr lang="es" sz="1200">
                <a:solidFill>
                  <a:srgbClr val="383A42"/>
                </a:solidFill>
                <a:latin typeface="Inconsolata"/>
                <a:ea typeface="Inconsolata"/>
                <a:cs typeface="Inconsolata"/>
                <a:sym typeface="Inconsolata"/>
              </a:rPr>
              <a:t>(</a:t>
            </a:r>
            <a:r>
              <a:rPr lang="es" sz="1200">
                <a:solidFill>
                  <a:srgbClr val="E06C75"/>
                </a:solidFill>
                <a:latin typeface="Inconsolata"/>
                <a:ea typeface="Inconsolata"/>
                <a:cs typeface="Inconsolata"/>
                <a:sym typeface="Inconsolata"/>
              </a:rPr>
              <a:t>n</a:t>
            </a:r>
            <a:r>
              <a:rPr lang="es" sz="1200">
                <a:solidFill>
                  <a:srgbClr val="0184BC"/>
                </a:solidFill>
                <a:latin typeface="Inconsolata"/>
                <a:ea typeface="Inconsolata"/>
                <a:cs typeface="Inconsolata"/>
                <a:sym typeface="Inconsolata"/>
              </a:rPr>
              <a:t>&lt;</a:t>
            </a:r>
            <a:r>
              <a:rPr lang="es" sz="1200">
                <a:solidFill>
                  <a:srgbClr val="986801"/>
                </a:solidFill>
                <a:latin typeface="Inconsolata"/>
                <a:ea typeface="Inconsolata"/>
                <a:cs typeface="Inconsolata"/>
                <a:sym typeface="Inconsolata"/>
              </a:rPr>
              <a:t>0</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6</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cout</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&lt;&lt;</a:t>
            </a:r>
            <a:r>
              <a:rPr lang="es" sz="1200">
                <a:solidFill>
                  <a:srgbClr val="383A42"/>
                </a:solidFill>
                <a:latin typeface="Inconsolata"/>
                <a:ea typeface="Inconsolata"/>
                <a:cs typeface="Inconsolata"/>
                <a:sym typeface="Inconsolata"/>
              </a:rPr>
              <a:t> </a:t>
            </a:r>
            <a:r>
              <a:rPr lang="es" sz="1200">
                <a:solidFill>
                  <a:srgbClr val="50A14F"/>
                </a:solidFill>
                <a:latin typeface="Inconsolata"/>
                <a:ea typeface="Inconsolata"/>
                <a:cs typeface="Inconsolata"/>
                <a:sym typeface="Inconsolata"/>
              </a:rPr>
              <a:t>"Ingrese un n (mayor que 0): "</a:t>
            </a:r>
            <a:endParaRPr sz="1200">
              <a:solidFill>
                <a:srgbClr val="50A14F"/>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7</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cin</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&gt;&gt;</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n</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8</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9</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10</a:t>
            </a:r>
            <a:r>
              <a:rPr lang="es" sz="1200">
                <a:solidFill>
                  <a:srgbClr val="383A42"/>
                </a:solidFill>
                <a:latin typeface="Inconsolata"/>
                <a:ea typeface="Inconsolata"/>
                <a:cs typeface="Inconsolata"/>
                <a:sym typeface="Inconsolata"/>
              </a:rPr>
              <a:t> 	</a:t>
            </a:r>
            <a:r>
              <a:rPr lang="es" sz="1200">
                <a:solidFill>
                  <a:srgbClr val="A626A4"/>
                </a:solidFill>
                <a:latin typeface="Inconsolata"/>
                <a:ea typeface="Inconsolata"/>
                <a:cs typeface="Inconsolata"/>
                <a:sym typeface="Inconsolata"/>
              </a:rPr>
              <a:t>for</a:t>
            </a:r>
            <a:r>
              <a:rPr lang="es" sz="1200">
                <a:solidFill>
                  <a:srgbClr val="383A42"/>
                </a:solidFill>
                <a:latin typeface="Inconsolata"/>
                <a:ea typeface="Inconsolata"/>
                <a:cs typeface="Inconsolata"/>
                <a:sym typeface="Inconsolata"/>
              </a:rPr>
              <a:t> (</a:t>
            </a:r>
            <a:r>
              <a:rPr lang="es" sz="1200">
                <a:solidFill>
                  <a:srgbClr val="27292F"/>
                </a:solidFill>
                <a:latin typeface="Inconsolata"/>
                <a:ea typeface="Inconsolata"/>
                <a:cs typeface="Inconsolata"/>
                <a:sym typeface="Inconsolata"/>
              </a:rPr>
              <a:t>int</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i</a:t>
            </a:r>
            <a:r>
              <a:rPr lang="es" sz="1200">
                <a:solidFill>
                  <a:srgbClr val="0184BC"/>
                </a:solidFill>
                <a:latin typeface="Inconsolata"/>
                <a:ea typeface="Inconsolata"/>
                <a:cs typeface="Inconsolata"/>
                <a:sym typeface="Inconsolata"/>
              </a:rPr>
              <a:t>=</a:t>
            </a:r>
            <a:r>
              <a:rPr lang="es" sz="1200">
                <a:solidFill>
                  <a:srgbClr val="986801"/>
                </a:solidFill>
                <a:latin typeface="Inconsolata"/>
                <a:ea typeface="Inconsolata"/>
                <a:cs typeface="Inconsolata"/>
                <a:sym typeface="Inconsolata"/>
              </a:rPr>
              <a:t>1</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i</a:t>
            </a:r>
            <a:r>
              <a:rPr lang="es" sz="1200">
                <a:solidFill>
                  <a:srgbClr val="0184BC"/>
                </a:solidFill>
                <a:latin typeface="Inconsolata"/>
                <a:ea typeface="Inconsolata"/>
                <a:cs typeface="Inconsolata"/>
                <a:sym typeface="Inconsolata"/>
              </a:rPr>
              <a:t>&lt;=</a:t>
            </a:r>
            <a:r>
              <a:rPr lang="es" sz="1200">
                <a:solidFill>
                  <a:srgbClr val="E06C75"/>
                </a:solidFill>
                <a:latin typeface="Inconsolata"/>
                <a:ea typeface="Inconsolata"/>
                <a:cs typeface="Inconsolata"/>
                <a:sym typeface="Inconsolata"/>
              </a:rPr>
              <a:t>n</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i</a:t>
            </a:r>
            <a:r>
              <a:rPr lang="es" sz="1200">
                <a:solidFill>
                  <a:srgbClr val="0184BC"/>
                </a:solidFill>
                <a:latin typeface="Inconsolata"/>
                <a:ea typeface="Inconsolata"/>
                <a:cs typeface="Inconsolata"/>
                <a:sym typeface="Inconsolata"/>
              </a:rPr>
              <a:t>+=</a:t>
            </a:r>
            <a:r>
              <a:rPr lang="es" sz="1200">
                <a:solidFill>
                  <a:srgbClr val="986801"/>
                </a:solidFill>
                <a:latin typeface="Inconsolata"/>
                <a:ea typeface="Inconsolata"/>
                <a:cs typeface="Inconsolata"/>
                <a:sym typeface="Inconsolata"/>
              </a:rPr>
              <a:t>1</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11</a:t>
            </a:r>
            <a:r>
              <a:rPr lang="es" sz="1200">
                <a:solidFill>
                  <a:srgbClr val="383A42"/>
                </a:solidFill>
                <a:latin typeface="Inconsolata"/>
                <a:ea typeface="Inconsolata"/>
                <a:cs typeface="Inconsolata"/>
                <a:sym typeface="Inconsolata"/>
              </a:rPr>
              <a:t> 		</a:t>
            </a:r>
            <a:r>
              <a:rPr lang="es" sz="1200">
                <a:solidFill>
                  <a:srgbClr val="A626A4"/>
                </a:solidFill>
                <a:latin typeface="Inconsolata"/>
                <a:ea typeface="Inconsolata"/>
                <a:cs typeface="Inconsolata"/>
                <a:sym typeface="Inconsolata"/>
              </a:rPr>
              <a:t>if</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n</a:t>
            </a:r>
            <a:r>
              <a:rPr lang="es" sz="1200">
                <a:solidFill>
                  <a:srgbClr val="0184BC"/>
                </a:solidFill>
                <a:latin typeface="Inconsolata"/>
                <a:ea typeface="Inconsolata"/>
                <a:cs typeface="Inconsolata"/>
                <a:sym typeface="Inconsolata"/>
              </a:rPr>
              <a:t>%</a:t>
            </a:r>
            <a:r>
              <a:rPr lang="es" sz="1200">
                <a:solidFill>
                  <a:srgbClr val="E06C75"/>
                </a:solidFill>
                <a:latin typeface="Inconsolata"/>
                <a:ea typeface="Inconsolata"/>
                <a:cs typeface="Inconsolata"/>
                <a:sym typeface="Inconsolata"/>
              </a:rPr>
              <a:t>i</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a:t>
            </a:r>
            <a:r>
              <a:rPr lang="es" sz="1200">
                <a:solidFill>
                  <a:srgbClr val="383A42"/>
                </a:solidFill>
                <a:latin typeface="Inconsolata"/>
                <a:ea typeface="Inconsolata"/>
                <a:cs typeface="Inconsolata"/>
                <a:sym typeface="Inconsolata"/>
              </a:rPr>
              <a:t> </a:t>
            </a:r>
            <a:r>
              <a:rPr lang="es" sz="1200">
                <a:solidFill>
                  <a:srgbClr val="986801"/>
                </a:solidFill>
                <a:latin typeface="Inconsolata"/>
                <a:ea typeface="Inconsolata"/>
                <a:cs typeface="Inconsolata"/>
                <a:sym typeface="Inconsolata"/>
              </a:rPr>
              <a:t>0</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12</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divisores</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a:t>
            </a:r>
            <a:r>
              <a:rPr lang="es" sz="1200">
                <a:solidFill>
                  <a:srgbClr val="383A42"/>
                </a:solidFill>
                <a:latin typeface="Inconsolata"/>
                <a:ea typeface="Inconsolata"/>
                <a:cs typeface="Inconsolata"/>
                <a:sym typeface="Inconsolata"/>
              </a:rPr>
              <a:t> </a:t>
            </a:r>
            <a:r>
              <a:rPr lang="es" sz="1200">
                <a:solidFill>
                  <a:srgbClr val="986801"/>
                </a:solidFill>
                <a:latin typeface="Inconsolata"/>
                <a:ea typeface="Inconsolata"/>
                <a:cs typeface="Inconsolata"/>
                <a:sym typeface="Inconsolata"/>
              </a:rPr>
              <a:t>1</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13</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14</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15</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16</a:t>
            </a:r>
            <a:r>
              <a:rPr lang="es" sz="1200">
                <a:solidFill>
                  <a:srgbClr val="383A42"/>
                </a:solidFill>
                <a:latin typeface="Inconsolata"/>
                <a:ea typeface="Inconsolata"/>
                <a:cs typeface="Inconsolata"/>
                <a:sym typeface="Inconsolata"/>
              </a:rPr>
              <a:t> 	</a:t>
            </a:r>
            <a:r>
              <a:rPr lang="es" sz="1200">
                <a:solidFill>
                  <a:srgbClr val="27292F"/>
                </a:solidFill>
                <a:latin typeface="Inconsolata"/>
                <a:ea typeface="Inconsolata"/>
                <a:cs typeface="Inconsolata"/>
                <a:sym typeface="Inconsolata"/>
              </a:rPr>
              <a:t>bool</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es_primo</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divisores</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a:t>
            </a:r>
            <a:r>
              <a:rPr lang="es" sz="1200">
                <a:solidFill>
                  <a:srgbClr val="383A42"/>
                </a:solidFill>
                <a:latin typeface="Inconsolata"/>
                <a:ea typeface="Inconsolata"/>
                <a:cs typeface="Inconsolata"/>
                <a:sym typeface="Inconsolata"/>
              </a:rPr>
              <a:t> </a:t>
            </a:r>
            <a:r>
              <a:rPr lang="es" sz="1200">
                <a:solidFill>
                  <a:srgbClr val="986801"/>
                </a:solidFill>
                <a:latin typeface="Inconsolata"/>
                <a:ea typeface="Inconsolata"/>
                <a:cs typeface="Inconsolata"/>
                <a:sym typeface="Inconsolata"/>
              </a:rPr>
              <a:t>2</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17</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18</a:t>
            </a:r>
            <a:r>
              <a:rPr lang="es" sz="1200">
                <a:solidFill>
                  <a:srgbClr val="383A42"/>
                </a:solidFill>
                <a:latin typeface="Inconsolata"/>
                <a:ea typeface="Inconsolata"/>
                <a:cs typeface="Inconsolata"/>
                <a:sym typeface="Inconsolata"/>
              </a:rPr>
              <a:t> 	</a:t>
            </a:r>
            <a:r>
              <a:rPr lang="es" sz="1200">
                <a:solidFill>
                  <a:srgbClr val="A626A4"/>
                </a:solidFill>
                <a:latin typeface="Inconsolata"/>
                <a:ea typeface="Inconsolata"/>
                <a:cs typeface="Inconsolata"/>
                <a:sym typeface="Inconsolata"/>
              </a:rPr>
              <a:t>if</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es_primo</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19</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cout</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&lt;&lt;</a:t>
            </a:r>
            <a:r>
              <a:rPr lang="es" sz="1200">
                <a:solidFill>
                  <a:srgbClr val="383A42"/>
                </a:solidFill>
                <a:latin typeface="Inconsolata"/>
                <a:ea typeface="Inconsolata"/>
                <a:cs typeface="Inconsolata"/>
                <a:sym typeface="Inconsolata"/>
              </a:rPr>
              <a:t> </a:t>
            </a:r>
            <a:r>
              <a:rPr lang="es" sz="1200">
                <a:solidFill>
                  <a:srgbClr val="50A14F"/>
                </a:solidFill>
                <a:latin typeface="Inconsolata"/>
                <a:ea typeface="Inconsolata"/>
                <a:cs typeface="Inconsolata"/>
                <a:sym typeface="Inconsolata"/>
              </a:rPr>
              <a:t>"Es primo"</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20</a:t>
            </a:r>
            <a:r>
              <a:rPr lang="es" sz="1200">
                <a:solidFill>
                  <a:srgbClr val="383A42"/>
                </a:solidFill>
                <a:latin typeface="Inconsolata"/>
                <a:ea typeface="Inconsolata"/>
                <a:cs typeface="Inconsolata"/>
                <a:sym typeface="Inconsolata"/>
              </a:rPr>
              <a:t> 	} </a:t>
            </a:r>
            <a:r>
              <a:rPr lang="es" sz="1200">
                <a:solidFill>
                  <a:srgbClr val="A626A4"/>
                </a:solidFill>
                <a:latin typeface="Inconsolata"/>
                <a:ea typeface="Inconsolata"/>
                <a:cs typeface="Inconsolata"/>
                <a:sym typeface="Inconsolata"/>
              </a:rPr>
              <a:t>else</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21</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cout</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&lt;&lt;</a:t>
            </a:r>
            <a:r>
              <a:rPr lang="es" sz="1200">
                <a:solidFill>
                  <a:srgbClr val="383A42"/>
                </a:solidFill>
                <a:latin typeface="Inconsolata"/>
                <a:ea typeface="Inconsolata"/>
                <a:cs typeface="Inconsolata"/>
                <a:sym typeface="Inconsolata"/>
              </a:rPr>
              <a:t> </a:t>
            </a:r>
            <a:r>
              <a:rPr lang="es" sz="1200">
                <a:solidFill>
                  <a:srgbClr val="50A14F"/>
                </a:solidFill>
                <a:latin typeface="Inconsolata"/>
                <a:ea typeface="Inconsolata"/>
                <a:cs typeface="Inconsolata"/>
                <a:sym typeface="Inconsolata"/>
              </a:rPr>
              <a:t>"No es primo"</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22</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23</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7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marR="0" rtl="0" algn="l">
              <a:lnSpc>
                <a:spcPct val="100000"/>
              </a:lnSpc>
              <a:spcBef>
                <a:spcPts val="0"/>
              </a:spcBef>
              <a:spcAft>
                <a:spcPts val="0"/>
              </a:spcAft>
              <a:buSzPts val="4800"/>
              <a:buNone/>
            </a:pPr>
            <a:r>
              <a:rPr lang="es" sz="7000"/>
              <a:t>Terminación</a:t>
            </a:r>
            <a:r>
              <a:rPr lang="es"/>
              <a:t> </a:t>
            </a:r>
            <a:r>
              <a:rPr lang="es" sz="7000"/>
              <a:t>con </a:t>
            </a:r>
            <a:r>
              <a:rPr lang="es" sz="7000">
                <a:solidFill>
                  <a:schemeClr val="accent4"/>
                </a:solidFill>
              </a:rPr>
              <a:t>break</a:t>
            </a:r>
            <a:endParaRPr sz="7000">
              <a:solidFill>
                <a:schemeClr val="accent4"/>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p77"/>
          <p:cNvSpPr/>
          <p:nvPr/>
        </p:nvSpPr>
        <p:spPr>
          <a:xfrm rot="10800000">
            <a:off x="301248" y="343825"/>
            <a:ext cx="4884000" cy="4714200"/>
          </a:xfrm>
          <a:prstGeom prst="round2SameRect">
            <a:avLst>
              <a:gd fmla="val 1895"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267" name="Google Shape;1267;p77"/>
          <p:cNvSpPr/>
          <p:nvPr/>
        </p:nvSpPr>
        <p:spPr>
          <a:xfrm rot="10800000">
            <a:off x="301263" y="85475"/>
            <a:ext cx="4884000" cy="347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68" name="Google Shape;1268;p77"/>
          <p:cNvSpPr/>
          <p:nvPr/>
        </p:nvSpPr>
        <p:spPr>
          <a:xfrm>
            <a:off x="433190" y="150196"/>
            <a:ext cx="169500" cy="1695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69" name="Google Shape;1269;p77"/>
          <p:cNvSpPr/>
          <p:nvPr/>
        </p:nvSpPr>
        <p:spPr>
          <a:xfrm>
            <a:off x="684220" y="150196"/>
            <a:ext cx="169500" cy="1695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70" name="Google Shape;1270;p77"/>
          <p:cNvSpPr/>
          <p:nvPr/>
        </p:nvSpPr>
        <p:spPr>
          <a:xfrm>
            <a:off x="935250" y="150196"/>
            <a:ext cx="169500" cy="1695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71" name="Google Shape;1271;p77"/>
          <p:cNvSpPr txBox="1"/>
          <p:nvPr/>
        </p:nvSpPr>
        <p:spPr>
          <a:xfrm>
            <a:off x="301138" y="408144"/>
            <a:ext cx="4884000" cy="43677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1</a:t>
            </a:r>
            <a:r>
              <a:rPr lang="es" sz="1200">
                <a:solidFill>
                  <a:srgbClr val="383A42"/>
                </a:solidFill>
                <a:latin typeface="Inconsolata"/>
                <a:ea typeface="Inconsolata"/>
                <a:cs typeface="Inconsolata"/>
                <a:sym typeface="Inconsolata"/>
              </a:rPr>
              <a:t> </a:t>
            </a:r>
            <a:r>
              <a:rPr lang="es" sz="1200">
                <a:solidFill>
                  <a:srgbClr val="27292F"/>
                </a:solidFill>
                <a:latin typeface="Inconsolata"/>
                <a:ea typeface="Inconsolata"/>
                <a:cs typeface="Inconsolata"/>
                <a:sym typeface="Inconsolata"/>
              </a:rPr>
              <a:t>int</a:t>
            </a:r>
            <a:r>
              <a:rPr lang="es" sz="1200">
                <a:solidFill>
                  <a:srgbClr val="383A42"/>
                </a:solidFill>
                <a:latin typeface="Inconsolata"/>
                <a:ea typeface="Inconsolata"/>
                <a:cs typeface="Inconsolata"/>
                <a:sym typeface="Inconsolata"/>
              </a:rPr>
              <a:t> </a:t>
            </a:r>
            <a:r>
              <a:rPr lang="es" sz="1200">
                <a:solidFill>
                  <a:srgbClr val="4078F2"/>
                </a:solidFill>
                <a:latin typeface="Inconsolata"/>
                <a:ea typeface="Inconsolata"/>
                <a:cs typeface="Inconsolata"/>
                <a:sym typeface="Inconsolata"/>
              </a:rPr>
              <a:t>main</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2</a:t>
            </a:r>
            <a:r>
              <a:rPr lang="es" sz="1200">
                <a:solidFill>
                  <a:srgbClr val="383A42"/>
                </a:solidFill>
                <a:latin typeface="Inconsolata"/>
                <a:ea typeface="Inconsolata"/>
                <a:cs typeface="Inconsolata"/>
                <a:sym typeface="Inconsolata"/>
              </a:rPr>
              <a:t> 	</a:t>
            </a:r>
            <a:r>
              <a:rPr lang="es" sz="1200">
                <a:solidFill>
                  <a:srgbClr val="27292F"/>
                </a:solidFill>
                <a:latin typeface="Inconsolata"/>
                <a:ea typeface="Inconsolata"/>
                <a:cs typeface="Inconsolata"/>
                <a:sym typeface="Inconsolata"/>
              </a:rPr>
              <a:t>int</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n</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divisores</a:t>
            </a:r>
            <a:r>
              <a:rPr lang="es" sz="1200">
                <a:solidFill>
                  <a:srgbClr val="0184BC"/>
                </a:solidFill>
                <a:latin typeface="Inconsolata"/>
                <a:ea typeface="Inconsolata"/>
                <a:cs typeface="Inconsolata"/>
                <a:sym typeface="Inconsolata"/>
              </a:rPr>
              <a:t>=</a:t>
            </a:r>
            <a:r>
              <a:rPr lang="es" sz="1200">
                <a:solidFill>
                  <a:srgbClr val="986801"/>
                </a:solidFill>
                <a:latin typeface="Inconsolata"/>
                <a:ea typeface="Inconsolata"/>
                <a:cs typeface="Inconsolata"/>
                <a:sym typeface="Inconsolata"/>
              </a:rPr>
              <a:t>0</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3</a:t>
            </a:r>
            <a:r>
              <a:rPr lang="es" sz="1200">
                <a:solidFill>
                  <a:srgbClr val="383A42"/>
                </a:solidFill>
                <a:latin typeface="Inconsolata"/>
                <a:ea typeface="Inconsolata"/>
                <a:cs typeface="Inconsolata"/>
                <a:sym typeface="Inconsolata"/>
              </a:rPr>
              <a:t> </a:t>
            </a:r>
            <a:r>
              <a:rPr lang="es" sz="1200">
                <a:solidFill>
                  <a:srgbClr val="986801"/>
                </a:solidFill>
                <a:latin typeface="Inconsolata"/>
                <a:ea typeface="Inconsolata"/>
                <a:cs typeface="Inconsolata"/>
                <a:sym typeface="Inconsolata"/>
              </a:rPr>
              <a:t> </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cout</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&lt;&lt;</a:t>
            </a:r>
            <a:r>
              <a:rPr lang="es" sz="1200">
                <a:solidFill>
                  <a:srgbClr val="383A42"/>
                </a:solidFill>
                <a:latin typeface="Inconsolata"/>
                <a:ea typeface="Inconsolata"/>
                <a:cs typeface="Inconsolata"/>
                <a:sym typeface="Inconsolata"/>
              </a:rPr>
              <a:t> </a:t>
            </a:r>
            <a:r>
              <a:rPr lang="es" sz="1200">
                <a:solidFill>
                  <a:srgbClr val="50A14F"/>
                </a:solidFill>
                <a:latin typeface="Inconsolata"/>
                <a:ea typeface="Inconsolata"/>
                <a:cs typeface="Inconsolata"/>
                <a:sym typeface="Inconsolata"/>
              </a:rPr>
              <a:t>"Ingrese un n (mayor que 1): "</a:t>
            </a:r>
            <a:endParaRPr sz="1200">
              <a:solidFill>
                <a:srgbClr val="50A14F"/>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4</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cin</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&gt;&gt;</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n</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5</a:t>
            </a:r>
            <a:r>
              <a:rPr lang="es" sz="1200">
                <a:solidFill>
                  <a:srgbClr val="383A42"/>
                </a:solidFill>
                <a:latin typeface="Inconsolata"/>
                <a:ea typeface="Inconsolata"/>
                <a:cs typeface="Inconsolata"/>
                <a:sym typeface="Inconsolata"/>
              </a:rPr>
              <a:t> 	</a:t>
            </a:r>
            <a:r>
              <a:rPr lang="es" sz="1200">
                <a:solidFill>
                  <a:srgbClr val="A626A4"/>
                </a:solidFill>
                <a:latin typeface="Inconsolata"/>
                <a:ea typeface="Inconsolata"/>
                <a:cs typeface="Inconsolata"/>
                <a:sym typeface="Inconsolata"/>
              </a:rPr>
              <a:t>while</a:t>
            </a:r>
            <a:r>
              <a:rPr lang="es" sz="1200">
                <a:solidFill>
                  <a:srgbClr val="383A42"/>
                </a:solidFill>
                <a:latin typeface="Inconsolata"/>
                <a:ea typeface="Inconsolata"/>
                <a:cs typeface="Inconsolata"/>
                <a:sym typeface="Inconsolata"/>
              </a:rPr>
              <a:t>(</a:t>
            </a:r>
            <a:r>
              <a:rPr lang="es" sz="1200">
                <a:solidFill>
                  <a:srgbClr val="E06C75"/>
                </a:solidFill>
                <a:latin typeface="Inconsolata"/>
                <a:ea typeface="Inconsolata"/>
                <a:cs typeface="Inconsolata"/>
                <a:sym typeface="Inconsolata"/>
              </a:rPr>
              <a:t>n</a:t>
            </a:r>
            <a:r>
              <a:rPr lang="es" sz="1200">
                <a:solidFill>
                  <a:srgbClr val="0184BC"/>
                </a:solidFill>
                <a:latin typeface="Inconsolata"/>
                <a:ea typeface="Inconsolata"/>
                <a:cs typeface="Inconsolata"/>
                <a:sym typeface="Inconsolata"/>
              </a:rPr>
              <a:t>&lt;</a:t>
            </a:r>
            <a:r>
              <a:rPr lang="es" sz="1200">
                <a:solidFill>
                  <a:srgbClr val="986801"/>
                </a:solidFill>
                <a:latin typeface="Inconsolata"/>
                <a:ea typeface="Inconsolata"/>
                <a:cs typeface="Inconsolata"/>
                <a:sym typeface="Inconsolata"/>
              </a:rPr>
              <a:t>1</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6</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cout</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&lt;&lt;</a:t>
            </a:r>
            <a:r>
              <a:rPr lang="es" sz="1200">
                <a:solidFill>
                  <a:srgbClr val="383A42"/>
                </a:solidFill>
                <a:latin typeface="Inconsolata"/>
                <a:ea typeface="Inconsolata"/>
                <a:cs typeface="Inconsolata"/>
                <a:sym typeface="Inconsolata"/>
              </a:rPr>
              <a:t> </a:t>
            </a:r>
            <a:r>
              <a:rPr lang="es" sz="1200">
                <a:solidFill>
                  <a:srgbClr val="50A14F"/>
                </a:solidFill>
                <a:latin typeface="Inconsolata"/>
                <a:ea typeface="Inconsolata"/>
                <a:cs typeface="Inconsolata"/>
                <a:sym typeface="Inconsolata"/>
              </a:rPr>
              <a:t>"Ingrese un n (mayor que 1): "</a:t>
            </a:r>
            <a:endParaRPr sz="1200">
              <a:solidFill>
                <a:srgbClr val="50A14F"/>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7</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cin</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&gt;&gt;</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n</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8</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383A42"/>
                </a:solidFill>
                <a:latin typeface="Inconsolata"/>
                <a:ea typeface="Inconsolata"/>
                <a:cs typeface="Inconsolata"/>
                <a:sym typeface="Inconsolata"/>
              </a:rPr>
              <a:t> </a:t>
            </a:r>
            <a:r>
              <a:rPr lang="es" sz="1200">
                <a:solidFill>
                  <a:srgbClr val="929292"/>
                </a:solidFill>
                <a:latin typeface="Inconsolata"/>
                <a:ea typeface="Inconsolata"/>
                <a:cs typeface="Inconsolata"/>
                <a:sym typeface="Inconsolata"/>
              </a:rPr>
              <a:t>9</a:t>
            </a:r>
            <a:r>
              <a:rPr lang="es" sz="1200">
                <a:solidFill>
                  <a:srgbClr val="383A42"/>
                </a:solidFill>
                <a:latin typeface="Inconsolata"/>
                <a:ea typeface="Inconsolata"/>
                <a:cs typeface="Inconsolata"/>
                <a:sym typeface="Inconsolata"/>
              </a:rPr>
              <a:t> 	</a:t>
            </a:r>
            <a:r>
              <a:rPr lang="es" sz="1200">
                <a:solidFill>
                  <a:srgbClr val="27292F"/>
                </a:solidFill>
                <a:latin typeface="Inconsolata"/>
                <a:ea typeface="Inconsolata"/>
                <a:cs typeface="Inconsolata"/>
                <a:sym typeface="Inconsolata"/>
              </a:rPr>
              <a:t>bool</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es_primo</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a:t>
            </a:r>
            <a:r>
              <a:rPr lang="es" sz="1200">
                <a:solidFill>
                  <a:srgbClr val="383A42"/>
                </a:solidFill>
                <a:latin typeface="Inconsolata"/>
                <a:ea typeface="Inconsolata"/>
                <a:cs typeface="Inconsolata"/>
                <a:sym typeface="Inconsolata"/>
              </a:rPr>
              <a:t> </a:t>
            </a:r>
            <a:r>
              <a:rPr lang="es" sz="1200">
                <a:solidFill>
                  <a:srgbClr val="D19A66"/>
                </a:solidFill>
                <a:latin typeface="Inconsolata"/>
                <a:ea typeface="Inconsolata"/>
                <a:cs typeface="Inconsolata"/>
                <a:sym typeface="Inconsolata"/>
              </a:rPr>
              <a:t>true</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10</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11</a:t>
            </a:r>
            <a:r>
              <a:rPr lang="es" sz="1200">
                <a:solidFill>
                  <a:srgbClr val="383A42"/>
                </a:solidFill>
                <a:latin typeface="Inconsolata"/>
                <a:ea typeface="Inconsolata"/>
                <a:cs typeface="Inconsolata"/>
                <a:sym typeface="Inconsolata"/>
              </a:rPr>
              <a:t> 	</a:t>
            </a:r>
            <a:r>
              <a:rPr lang="es" sz="1200">
                <a:solidFill>
                  <a:srgbClr val="A626A4"/>
                </a:solidFill>
                <a:latin typeface="Inconsolata"/>
                <a:ea typeface="Inconsolata"/>
                <a:cs typeface="Inconsolata"/>
                <a:sym typeface="Inconsolata"/>
              </a:rPr>
              <a:t>for</a:t>
            </a:r>
            <a:r>
              <a:rPr lang="es" sz="1200">
                <a:solidFill>
                  <a:srgbClr val="383A42"/>
                </a:solidFill>
                <a:latin typeface="Inconsolata"/>
                <a:ea typeface="Inconsolata"/>
                <a:cs typeface="Inconsolata"/>
                <a:sym typeface="Inconsolata"/>
              </a:rPr>
              <a:t> (</a:t>
            </a:r>
            <a:r>
              <a:rPr lang="es" sz="1200">
                <a:solidFill>
                  <a:srgbClr val="27292F"/>
                </a:solidFill>
                <a:latin typeface="Inconsolata"/>
                <a:ea typeface="Inconsolata"/>
                <a:cs typeface="Inconsolata"/>
                <a:sym typeface="Inconsolata"/>
              </a:rPr>
              <a:t>int</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i</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a:t>
            </a:r>
            <a:r>
              <a:rPr lang="es" sz="1200">
                <a:solidFill>
                  <a:srgbClr val="383A42"/>
                </a:solidFill>
                <a:latin typeface="Inconsolata"/>
                <a:ea typeface="Inconsolata"/>
                <a:cs typeface="Inconsolata"/>
                <a:sym typeface="Inconsolata"/>
              </a:rPr>
              <a:t> </a:t>
            </a:r>
            <a:r>
              <a:rPr lang="es" sz="1200">
                <a:solidFill>
                  <a:srgbClr val="986801"/>
                </a:solidFill>
                <a:latin typeface="Inconsolata"/>
                <a:ea typeface="Inconsolata"/>
                <a:cs typeface="Inconsolata"/>
                <a:sym typeface="Inconsolata"/>
              </a:rPr>
              <a:t>2</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i</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&lt;</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n</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i</a:t>
            </a:r>
            <a:r>
              <a:rPr lang="es" sz="1200">
                <a:solidFill>
                  <a:srgbClr val="0184BC"/>
                </a:solidFill>
                <a:latin typeface="Inconsolata"/>
                <a:ea typeface="Inconsolata"/>
                <a:cs typeface="Inconsolata"/>
                <a:sym typeface="Inconsolata"/>
              </a:rPr>
              <a:t>+=</a:t>
            </a:r>
            <a:r>
              <a:rPr lang="es" sz="1200">
                <a:solidFill>
                  <a:srgbClr val="986801"/>
                </a:solidFill>
                <a:latin typeface="Inconsolata"/>
                <a:ea typeface="Inconsolata"/>
                <a:cs typeface="Inconsolata"/>
                <a:sym typeface="Inconsolata"/>
              </a:rPr>
              <a:t>1</a:t>
            </a:r>
            <a:r>
              <a:rPr lang="es" sz="1200">
                <a:solidFill>
                  <a:srgbClr val="383A42"/>
                </a:solidFill>
                <a:latin typeface="Inconsolata"/>
                <a:ea typeface="Inconsolata"/>
                <a:cs typeface="Inconsolata"/>
                <a:sym typeface="Inconsolata"/>
              </a:rPr>
              <a:t>) {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12</a:t>
            </a:r>
            <a:r>
              <a:rPr lang="es" sz="1200">
                <a:solidFill>
                  <a:srgbClr val="383A42"/>
                </a:solidFill>
                <a:latin typeface="Inconsolata"/>
                <a:ea typeface="Inconsolata"/>
                <a:cs typeface="Inconsolata"/>
                <a:sym typeface="Inconsolata"/>
              </a:rPr>
              <a:t> 		</a:t>
            </a:r>
            <a:r>
              <a:rPr lang="es" sz="1200">
                <a:solidFill>
                  <a:srgbClr val="A626A4"/>
                </a:solidFill>
                <a:latin typeface="Inconsolata"/>
                <a:ea typeface="Inconsolata"/>
                <a:cs typeface="Inconsolata"/>
                <a:sym typeface="Inconsolata"/>
              </a:rPr>
              <a:t>if</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numero</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i</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a:t>
            </a:r>
            <a:r>
              <a:rPr lang="es" sz="1200">
                <a:solidFill>
                  <a:srgbClr val="383A42"/>
                </a:solidFill>
                <a:latin typeface="Inconsolata"/>
                <a:ea typeface="Inconsolata"/>
                <a:cs typeface="Inconsolata"/>
                <a:sym typeface="Inconsolata"/>
              </a:rPr>
              <a:t> </a:t>
            </a:r>
            <a:r>
              <a:rPr lang="es" sz="1200">
                <a:solidFill>
                  <a:srgbClr val="986801"/>
                </a:solidFill>
                <a:latin typeface="Inconsolata"/>
                <a:ea typeface="Inconsolata"/>
                <a:cs typeface="Inconsolata"/>
                <a:sym typeface="Inconsolata"/>
              </a:rPr>
              <a:t>0</a:t>
            </a:r>
            <a:r>
              <a:rPr lang="es" sz="1200">
                <a:solidFill>
                  <a:srgbClr val="383A42"/>
                </a:solidFill>
                <a:latin typeface="Inconsolata"/>
                <a:ea typeface="Inconsolata"/>
                <a:cs typeface="Inconsolata"/>
                <a:sym typeface="Inconsolata"/>
              </a:rPr>
              <a:t>) {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13</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es_primo</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a:t>
            </a:r>
            <a:r>
              <a:rPr lang="es" sz="1200">
                <a:solidFill>
                  <a:srgbClr val="383A42"/>
                </a:solidFill>
                <a:latin typeface="Inconsolata"/>
                <a:ea typeface="Inconsolata"/>
                <a:cs typeface="Inconsolata"/>
                <a:sym typeface="Inconsolata"/>
              </a:rPr>
              <a:t> </a:t>
            </a:r>
            <a:r>
              <a:rPr lang="es" sz="1200">
                <a:solidFill>
                  <a:srgbClr val="D19A66"/>
                </a:solidFill>
                <a:latin typeface="Inconsolata"/>
                <a:ea typeface="Inconsolata"/>
                <a:cs typeface="Inconsolata"/>
                <a:sym typeface="Inconsolata"/>
              </a:rPr>
              <a:t>false</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14</a:t>
            </a:r>
            <a:r>
              <a:rPr lang="es" sz="1200">
                <a:solidFill>
                  <a:srgbClr val="383A42"/>
                </a:solidFill>
                <a:latin typeface="Inconsolata"/>
                <a:ea typeface="Inconsolata"/>
                <a:cs typeface="Inconsolata"/>
                <a:sym typeface="Inconsolata"/>
              </a:rPr>
              <a:t> 			</a:t>
            </a:r>
            <a:r>
              <a:rPr lang="es" sz="1200">
                <a:solidFill>
                  <a:srgbClr val="A626A4"/>
                </a:solidFill>
                <a:latin typeface="Inconsolata"/>
                <a:ea typeface="Inconsolata"/>
                <a:cs typeface="Inconsolata"/>
                <a:sym typeface="Inconsolata"/>
              </a:rPr>
              <a:t>break</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15</a:t>
            </a:r>
            <a:r>
              <a:rPr lang="es" sz="1200">
                <a:solidFill>
                  <a:srgbClr val="383A42"/>
                </a:solidFill>
                <a:latin typeface="Inconsolata"/>
                <a:ea typeface="Inconsolata"/>
                <a:cs typeface="Inconsolata"/>
                <a:sym typeface="Inconsolata"/>
              </a:rPr>
              <a:t> 		}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16</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17</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18</a:t>
            </a:r>
            <a:r>
              <a:rPr lang="es" sz="1200">
                <a:solidFill>
                  <a:srgbClr val="383A42"/>
                </a:solidFill>
                <a:latin typeface="Inconsolata"/>
                <a:ea typeface="Inconsolata"/>
                <a:cs typeface="Inconsolata"/>
                <a:sym typeface="Inconsolata"/>
              </a:rPr>
              <a:t> 	</a:t>
            </a:r>
            <a:r>
              <a:rPr lang="es" sz="1200">
                <a:solidFill>
                  <a:srgbClr val="A626A4"/>
                </a:solidFill>
                <a:latin typeface="Inconsolata"/>
                <a:ea typeface="Inconsolata"/>
                <a:cs typeface="Inconsolata"/>
                <a:sym typeface="Inconsolata"/>
              </a:rPr>
              <a:t>if</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es_primo</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19</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cout</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&lt;&lt;</a:t>
            </a:r>
            <a:r>
              <a:rPr lang="es" sz="1200">
                <a:solidFill>
                  <a:srgbClr val="383A42"/>
                </a:solidFill>
                <a:latin typeface="Inconsolata"/>
                <a:ea typeface="Inconsolata"/>
                <a:cs typeface="Inconsolata"/>
                <a:sym typeface="Inconsolata"/>
              </a:rPr>
              <a:t> </a:t>
            </a:r>
            <a:r>
              <a:rPr lang="es" sz="1200">
                <a:solidFill>
                  <a:srgbClr val="50A14F"/>
                </a:solidFill>
                <a:latin typeface="Inconsolata"/>
                <a:ea typeface="Inconsolata"/>
                <a:cs typeface="Inconsolata"/>
                <a:sym typeface="Inconsolata"/>
              </a:rPr>
              <a:t>"Es primo"</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20</a:t>
            </a:r>
            <a:r>
              <a:rPr lang="es" sz="1200">
                <a:solidFill>
                  <a:srgbClr val="383A42"/>
                </a:solidFill>
                <a:latin typeface="Inconsolata"/>
                <a:ea typeface="Inconsolata"/>
                <a:cs typeface="Inconsolata"/>
                <a:sym typeface="Inconsolata"/>
              </a:rPr>
              <a:t> 	} </a:t>
            </a:r>
            <a:r>
              <a:rPr lang="es" sz="1200">
                <a:solidFill>
                  <a:srgbClr val="A626A4"/>
                </a:solidFill>
                <a:latin typeface="Inconsolata"/>
                <a:ea typeface="Inconsolata"/>
                <a:cs typeface="Inconsolata"/>
                <a:sym typeface="Inconsolata"/>
              </a:rPr>
              <a:t>else</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21</a:t>
            </a:r>
            <a:r>
              <a:rPr lang="es" sz="1200">
                <a:solidFill>
                  <a:srgbClr val="383A42"/>
                </a:solidFill>
                <a:latin typeface="Inconsolata"/>
                <a:ea typeface="Inconsolata"/>
                <a:cs typeface="Inconsolata"/>
                <a:sym typeface="Inconsolata"/>
              </a:rPr>
              <a:t> 		</a:t>
            </a:r>
            <a:r>
              <a:rPr lang="es" sz="1200">
                <a:solidFill>
                  <a:srgbClr val="E06C75"/>
                </a:solidFill>
                <a:latin typeface="Inconsolata"/>
                <a:ea typeface="Inconsolata"/>
                <a:cs typeface="Inconsolata"/>
                <a:sym typeface="Inconsolata"/>
              </a:rPr>
              <a:t>cout</a:t>
            </a:r>
            <a:r>
              <a:rPr lang="es" sz="1200">
                <a:solidFill>
                  <a:srgbClr val="383A42"/>
                </a:solidFill>
                <a:latin typeface="Inconsolata"/>
                <a:ea typeface="Inconsolata"/>
                <a:cs typeface="Inconsolata"/>
                <a:sym typeface="Inconsolata"/>
              </a:rPr>
              <a:t> </a:t>
            </a:r>
            <a:r>
              <a:rPr lang="es" sz="1200">
                <a:solidFill>
                  <a:srgbClr val="0184BC"/>
                </a:solidFill>
                <a:latin typeface="Inconsolata"/>
                <a:ea typeface="Inconsolata"/>
                <a:cs typeface="Inconsolata"/>
                <a:sym typeface="Inconsolata"/>
              </a:rPr>
              <a:t>&lt;&lt;</a:t>
            </a:r>
            <a:r>
              <a:rPr lang="es" sz="1200">
                <a:solidFill>
                  <a:srgbClr val="383A42"/>
                </a:solidFill>
                <a:latin typeface="Inconsolata"/>
                <a:ea typeface="Inconsolata"/>
                <a:cs typeface="Inconsolata"/>
                <a:sym typeface="Inconsolata"/>
              </a:rPr>
              <a:t> </a:t>
            </a:r>
            <a:r>
              <a:rPr lang="es" sz="1200">
                <a:solidFill>
                  <a:srgbClr val="50A14F"/>
                </a:solidFill>
                <a:latin typeface="Inconsolata"/>
                <a:ea typeface="Inconsolata"/>
                <a:cs typeface="Inconsolata"/>
                <a:sym typeface="Inconsolata"/>
              </a:rPr>
              <a:t>"No es primo"</a:t>
            </a:r>
            <a:r>
              <a:rPr lang="es" sz="1200">
                <a:solidFill>
                  <a:srgbClr val="383A42"/>
                </a:solidFill>
                <a:latin typeface="Inconsolata"/>
                <a:ea typeface="Inconsolata"/>
                <a:cs typeface="Inconsolata"/>
                <a:sym typeface="Inconsolata"/>
              </a:rPr>
              <a:t>;</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22</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100"/>
              <a:buFont typeface="Arial"/>
              <a:buNone/>
            </a:pPr>
            <a:r>
              <a:rPr lang="es" sz="1200">
                <a:solidFill>
                  <a:srgbClr val="929292"/>
                </a:solidFill>
                <a:latin typeface="Inconsolata"/>
                <a:ea typeface="Inconsolata"/>
                <a:cs typeface="Inconsolata"/>
                <a:sym typeface="Inconsolata"/>
              </a:rPr>
              <a:t>23</a:t>
            </a:r>
            <a:r>
              <a:rPr lang="es" sz="1200">
                <a:solidFill>
                  <a:srgbClr val="383A42"/>
                </a:solidFill>
                <a:latin typeface="Inconsolata"/>
                <a:ea typeface="Inconsolata"/>
                <a:cs typeface="Inconsolata"/>
                <a:sym typeface="Inconsolata"/>
              </a:rPr>
              <a:t> }</a:t>
            </a:r>
            <a:endParaRPr sz="1200">
              <a:solidFill>
                <a:srgbClr val="383A42"/>
              </a:solidFill>
              <a:latin typeface="Inconsolata"/>
              <a:ea typeface="Inconsolata"/>
              <a:cs typeface="Inconsolata"/>
              <a:sym typeface="Inconsolata"/>
            </a:endParaRPr>
          </a:p>
        </p:txBody>
      </p:sp>
      <p:sp>
        <p:nvSpPr>
          <p:cNvPr id="1272" name="Google Shape;1272;p77"/>
          <p:cNvSpPr txBox="1"/>
          <p:nvPr>
            <p:ph idx="4294967295" type="body"/>
          </p:nvPr>
        </p:nvSpPr>
        <p:spPr>
          <a:xfrm>
            <a:off x="5518400" y="319700"/>
            <a:ext cx="3313800" cy="4456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s" sz="3000"/>
              <a:t>La sentencia </a:t>
            </a:r>
            <a:r>
              <a:rPr lang="es" sz="3000">
                <a:solidFill>
                  <a:schemeClr val="accent4"/>
                </a:solidFill>
              </a:rPr>
              <a:t>break</a:t>
            </a:r>
            <a:r>
              <a:rPr lang="es" sz="3000"/>
              <a:t> corta la ejecución del ciclo que lo contiene</a:t>
            </a:r>
            <a:endParaRPr sz="30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p7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sz="7000"/>
              <a:t>Ciclos </a:t>
            </a:r>
            <a:endParaRPr sz="7000"/>
          </a:p>
          <a:p>
            <a:pPr indent="0" lvl="0" marL="0" rtl="0" algn="l">
              <a:lnSpc>
                <a:spcPct val="100000"/>
              </a:lnSpc>
              <a:spcBef>
                <a:spcPts val="0"/>
              </a:spcBef>
              <a:spcAft>
                <a:spcPts val="0"/>
              </a:spcAft>
              <a:buSzPts val="4800"/>
              <a:buNone/>
            </a:pPr>
            <a:r>
              <a:rPr lang="es" sz="7000">
                <a:solidFill>
                  <a:schemeClr val="accent4"/>
                </a:solidFill>
              </a:rPr>
              <a:t>do…while</a:t>
            </a:r>
            <a:endParaRPr sz="7000">
              <a:solidFill>
                <a:schemeClr val="accent4"/>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Ciclos do…while</a:t>
            </a:r>
            <a:endParaRPr/>
          </a:p>
        </p:txBody>
      </p:sp>
      <p:sp>
        <p:nvSpPr>
          <p:cNvPr id="1283" name="Google Shape;1283;p79"/>
          <p:cNvSpPr/>
          <p:nvPr/>
        </p:nvSpPr>
        <p:spPr>
          <a:xfrm rot="10800000">
            <a:off x="414754" y="1607550"/>
            <a:ext cx="4688700" cy="1575600"/>
          </a:xfrm>
          <a:prstGeom prst="round2SameRect">
            <a:avLst>
              <a:gd fmla="val 9351"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284" name="Google Shape;1284;p79"/>
          <p:cNvSpPr/>
          <p:nvPr/>
        </p:nvSpPr>
        <p:spPr>
          <a:xfrm rot="10800000">
            <a:off x="414760" y="1213775"/>
            <a:ext cx="46887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85" name="Google Shape;1285;p79"/>
          <p:cNvSpPr/>
          <p:nvPr/>
        </p:nvSpPr>
        <p:spPr>
          <a:xfrm>
            <a:off x="617136" y="13126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86" name="Google Shape;1286;p79"/>
          <p:cNvSpPr/>
          <p:nvPr/>
        </p:nvSpPr>
        <p:spPr>
          <a:xfrm>
            <a:off x="1000339" y="13126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87" name="Google Shape;1287;p79"/>
          <p:cNvSpPr/>
          <p:nvPr/>
        </p:nvSpPr>
        <p:spPr>
          <a:xfrm>
            <a:off x="1383541" y="13126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88" name="Google Shape;1288;p79"/>
          <p:cNvSpPr txBox="1"/>
          <p:nvPr/>
        </p:nvSpPr>
        <p:spPr>
          <a:xfrm>
            <a:off x="415296" y="1625336"/>
            <a:ext cx="4688700" cy="1170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1</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cout</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&lt;&lt;</a:t>
            </a:r>
            <a:r>
              <a:rPr lang="es" sz="1500">
                <a:solidFill>
                  <a:srgbClr val="383A42"/>
                </a:solidFill>
                <a:latin typeface="Inconsolata"/>
                <a:ea typeface="Inconsolata"/>
                <a:cs typeface="Inconsolata"/>
                <a:sym typeface="Inconsolata"/>
              </a:rPr>
              <a:t> </a:t>
            </a:r>
            <a:r>
              <a:rPr lang="es" sz="1500">
                <a:solidFill>
                  <a:srgbClr val="50A14F"/>
                </a:solidFill>
                <a:latin typeface="Inconsolata"/>
                <a:ea typeface="Inconsolata"/>
                <a:cs typeface="Inconsolata"/>
                <a:sym typeface="Inconsolata"/>
              </a:rPr>
              <a:t>"Ingrese un n (mayor que 1): "</a:t>
            </a:r>
            <a:endParaRPr sz="1500">
              <a:solidFill>
                <a:srgbClr val="50A14F"/>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2</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cin</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&gt;&gt;</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n</a:t>
            </a:r>
            <a:r>
              <a:rPr lang="es" sz="1500">
                <a:solidFill>
                  <a:srgbClr val="383A42"/>
                </a:solidFill>
                <a:latin typeface="Inconsolata"/>
                <a:ea typeface="Inconsolata"/>
                <a:cs typeface="Inconsolata"/>
                <a:sym typeface="Inconsolata"/>
              </a:rPr>
              <a:t>;</a:t>
            </a:r>
            <a:endParaRPr sz="15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3</a:t>
            </a:r>
            <a:r>
              <a:rPr lang="es" sz="1500">
                <a:solidFill>
                  <a:srgbClr val="383A42"/>
                </a:solidFill>
                <a:latin typeface="Inconsolata"/>
                <a:ea typeface="Inconsolata"/>
                <a:cs typeface="Inconsolata"/>
                <a:sym typeface="Inconsolata"/>
              </a:rPr>
              <a:t>  </a:t>
            </a:r>
            <a:r>
              <a:rPr lang="es" sz="1500">
                <a:solidFill>
                  <a:srgbClr val="A626A4"/>
                </a:solidFill>
                <a:latin typeface="Inconsolata"/>
                <a:ea typeface="Inconsolata"/>
                <a:cs typeface="Inconsolata"/>
                <a:sym typeface="Inconsolata"/>
              </a:rPr>
              <a:t>while</a:t>
            </a:r>
            <a:r>
              <a:rPr lang="es" sz="1500">
                <a:solidFill>
                  <a:srgbClr val="383A42"/>
                </a:solidFill>
                <a:latin typeface="Inconsolata"/>
                <a:ea typeface="Inconsolata"/>
                <a:cs typeface="Inconsolata"/>
                <a:sym typeface="Inconsolata"/>
              </a:rPr>
              <a:t>(</a:t>
            </a:r>
            <a:r>
              <a:rPr lang="es" sz="1500">
                <a:solidFill>
                  <a:srgbClr val="E06C75"/>
                </a:solidFill>
                <a:latin typeface="Inconsolata"/>
                <a:ea typeface="Inconsolata"/>
                <a:cs typeface="Inconsolata"/>
                <a:sym typeface="Inconsolata"/>
              </a:rPr>
              <a:t>n</a:t>
            </a:r>
            <a:r>
              <a:rPr lang="es" sz="1500">
                <a:solidFill>
                  <a:srgbClr val="0184BC"/>
                </a:solidFill>
                <a:latin typeface="Inconsolata"/>
                <a:ea typeface="Inconsolata"/>
                <a:cs typeface="Inconsolata"/>
                <a:sym typeface="Inconsolata"/>
              </a:rPr>
              <a:t>&lt;</a:t>
            </a:r>
            <a:r>
              <a:rPr lang="es" sz="1500">
                <a:solidFill>
                  <a:srgbClr val="986801"/>
                </a:solidFill>
                <a:latin typeface="Inconsolata"/>
                <a:ea typeface="Inconsolata"/>
                <a:cs typeface="Inconsolata"/>
                <a:sym typeface="Inconsolata"/>
              </a:rPr>
              <a:t>1</a:t>
            </a:r>
            <a:r>
              <a:rPr lang="es" sz="1500">
                <a:solidFill>
                  <a:srgbClr val="383A42"/>
                </a:solidFill>
                <a:latin typeface="Inconsolata"/>
                <a:ea typeface="Inconsolata"/>
                <a:cs typeface="Inconsolata"/>
                <a:sym typeface="Inconsolata"/>
              </a:rPr>
              <a:t>){</a:t>
            </a:r>
            <a:endParaRPr sz="15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4</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cout</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&lt;&lt;</a:t>
            </a:r>
            <a:r>
              <a:rPr lang="es" sz="1500">
                <a:solidFill>
                  <a:srgbClr val="383A42"/>
                </a:solidFill>
                <a:latin typeface="Inconsolata"/>
                <a:ea typeface="Inconsolata"/>
                <a:cs typeface="Inconsolata"/>
                <a:sym typeface="Inconsolata"/>
              </a:rPr>
              <a:t> </a:t>
            </a:r>
            <a:r>
              <a:rPr lang="es" sz="1500">
                <a:solidFill>
                  <a:srgbClr val="50A14F"/>
                </a:solidFill>
                <a:latin typeface="Inconsolata"/>
                <a:ea typeface="Inconsolata"/>
                <a:cs typeface="Inconsolata"/>
                <a:sym typeface="Inconsolata"/>
              </a:rPr>
              <a:t>"Ingrese un n (mayor que 1): "</a:t>
            </a:r>
            <a:endParaRPr sz="1500">
              <a:solidFill>
                <a:srgbClr val="50A14F"/>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5</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cin</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&gt;&gt;</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n</a:t>
            </a:r>
            <a:r>
              <a:rPr lang="es" sz="1500">
                <a:solidFill>
                  <a:srgbClr val="383A42"/>
                </a:solidFill>
                <a:latin typeface="Inconsolata"/>
                <a:ea typeface="Inconsolata"/>
                <a:cs typeface="Inconsolata"/>
                <a:sym typeface="Inconsolata"/>
              </a:rPr>
              <a:t>;</a:t>
            </a:r>
            <a:endParaRPr sz="15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6</a:t>
            </a:r>
            <a:r>
              <a:rPr lang="es" sz="1500">
                <a:solidFill>
                  <a:srgbClr val="383A42"/>
                </a:solidFill>
                <a:latin typeface="Inconsolata"/>
                <a:ea typeface="Inconsolata"/>
                <a:cs typeface="Inconsolata"/>
                <a:sym typeface="Inconsolata"/>
              </a:rPr>
              <a:t>  }</a:t>
            </a:r>
            <a:endParaRPr sz="1500">
              <a:solidFill>
                <a:srgbClr val="383A42"/>
              </a:solidFill>
              <a:latin typeface="Inconsolata"/>
              <a:ea typeface="Inconsolata"/>
              <a:cs typeface="Inconsolata"/>
              <a:sym typeface="Inconsolata"/>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8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Ciclos do…while</a:t>
            </a:r>
            <a:endParaRPr/>
          </a:p>
        </p:txBody>
      </p:sp>
      <p:sp>
        <p:nvSpPr>
          <p:cNvPr id="1294" name="Google Shape;1294;p80"/>
          <p:cNvSpPr/>
          <p:nvPr/>
        </p:nvSpPr>
        <p:spPr>
          <a:xfrm rot="10800000">
            <a:off x="414754" y="1607550"/>
            <a:ext cx="4688700" cy="1575600"/>
          </a:xfrm>
          <a:prstGeom prst="round2SameRect">
            <a:avLst>
              <a:gd fmla="val 9351"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295" name="Google Shape;1295;p80"/>
          <p:cNvSpPr/>
          <p:nvPr/>
        </p:nvSpPr>
        <p:spPr>
          <a:xfrm rot="10800000">
            <a:off x="414760" y="1213775"/>
            <a:ext cx="46887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96" name="Google Shape;1296;p80"/>
          <p:cNvSpPr/>
          <p:nvPr/>
        </p:nvSpPr>
        <p:spPr>
          <a:xfrm>
            <a:off x="617136" y="13126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97" name="Google Shape;1297;p80"/>
          <p:cNvSpPr/>
          <p:nvPr/>
        </p:nvSpPr>
        <p:spPr>
          <a:xfrm>
            <a:off x="1000339" y="13126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98" name="Google Shape;1298;p80"/>
          <p:cNvSpPr/>
          <p:nvPr/>
        </p:nvSpPr>
        <p:spPr>
          <a:xfrm>
            <a:off x="1383541" y="13126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299" name="Google Shape;1299;p80"/>
          <p:cNvSpPr txBox="1"/>
          <p:nvPr/>
        </p:nvSpPr>
        <p:spPr>
          <a:xfrm>
            <a:off x="415296" y="1625336"/>
            <a:ext cx="4688700" cy="11700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1</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cout</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&lt;&lt;</a:t>
            </a:r>
            <a:r>
              <a:rPr lang="es" sz="1500">
                <a:solidFill>
                  <a:srgbClr val="383A42"/>
                </a:solidFill>
                <a:latin typeface="Inconsolata"/>
                <a:ea typeface="Inconsolata"/>
                <a:cs typeface="Inconsolata"/>
                <a:sym typeface="Inconsolata"/>
              </a:rPr>
              <a:t> </a:t>
            </a:r>
            <a:r>
              <a:rPr lang="es" sz="1500">
                <a:solidFill>
                  <a:srgbClr val="50A14F"/>
                </a:solidFill>
                <a:latin typeface="Inconsolata"/>
                <a:ea typeface="Inconsolata"/>
                <a:cs typeface="Inconsolata"/>
                <a:sym typeface="Inconsolata"/>
              </a:rPr>
              <a:t>"Ingrese un n (mayor que 1): "</a:t>
            </a:r>
            <a:endParaRPr sz="1500">
              <a:solidFill>
                <a:srgbClr val="50A14F"/>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2</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cin</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&gt;&gt;</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n</a:t>
            </a:r>
            <a:r>
              <a:rPr lang="es" sz="1500">
                <a:solidFill>
                  <a:srgbClr val="383A42"/>
                </a:solidFill>
                <a:latin typeface="Inconsolata"/>
                <a:ea typeface="Inconsolata"/>
                <a:cs typeface="Inconsolata"/>
                <a:sym typeface="Inconsolata"/>
              </a:rPr>
              <a:t>;</a:t>
            </a:r>
            <a:endParaRPr sz="15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3</a:t>
            </a:r>
            <a:r>
              <a:rPr lang="es" sz="1500">
                <a:solidFill>
                  <a:srgbClr val="383A42"/>
                </a:solidFill>
                <a:latin typeface="Inconsolata"/>
                <a:ea typeface="Inconsolata"/>
                <a:cs typeface="Inconsolata"/>
                <a:sym typeface="Inconsolata"/>
              </a:rPr>
              <a:t>  </a:t>
            </a:r>
            <a:r>
              <a:rPr lang="es" sz="1500">
                <a:solidFill>
                  <a:srgbClr val="A626A4"/>
                </a:solidFill>
                <a:latin typeface="Inconsolata"/>
                <a:ea typeface="Inconsolata"/>
                <a:cs typeface="Inconsolata"/>
                <a:sym typeface="Inconsolata"/>
              </a:rPr>
              <a:t>while</a:t>
            </a:r>
            <a:r>
              <a:rPr lang="es" sz="1500">
                <a:solidFill>
                  <a:srgbClr val="383A42"/>
                </a:solidFill>
                <a:latin typeface="Inconsolata"/>
                <a:ea typeface="Inconsolata"/>
                <a:cs typeface="Inconsolata"/>
                <a:sym typeface="Inconsolata"/>
              </a:rPr>
              <a:t>(</a:t>
            </a:r>
            <a:r>
              <a:rPr lang="es" sz="1500">
                <a:solidFill>
                  <a:srgbClr val="E06C75"/>
                </a:solidFill>
                <a:latin typeface="Inconsolata"/>
                <a:ea typeface="Inconsolata"/>
                <a:cs typeface="Inconsolata"/>
                <a:sym typeface="Inconsolata"/>
              </a:rPr>
              <a:t>n</a:t>
            </a:r>
            <a:r>
              <a:rPr lang="es" sz="1500">
                <a:solidFill>
                  <a:srgbClr val="0184BC"/>
                </a:solidFill>
                <a:latin typeface="Inconsolata"/>
                <a:ea typeface="Inconsolata"/>
                <a:cs typeface="Inconsolata"/>
                <a:sym typeface="Inconsolata"/>
              </a:rPr>
              <a:t>&lt;</a:t>
            </a:r>
            <a:r>
              <a:rPr lang="es" sz="1500">
                <a:solidFill>
                  <a:srgbClr val="986801"/>
                </a:solidFill>
                <a:latin typeface="Inconsolata"/>
                <a:ea typeface="Inconsolata"/>
                <a:cs typeface="Inconsolata"/>
                <a:sym typeface="Inconsolata"/>
              </a:rPr>
              <a:t>1</a:t>
            </a:r>
            <a:r>
              <a:rPr lang="es" sz="1500">
                <a:solidFill>
                  <a:srgbClr val="383A42"/>
                </a:solidFill>
                <a:latin typeface="Inconsolata"/>
                <a:ea typeface="Inconsolata"/>
                <a:cs typeface="Inconsolata"/>
                <a:sym typeface="Inconsolata"/>
              </a:rPr>
              <a:t>){</a:t>
            </a:r>
            <a:endParaRPr sz="15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4</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cout</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&lt;&lt;</a:t>
            </a:r>
            <a:r>
              <a:rPr lang="es" sz="1500">
                <a:solidFill>
                  <a:srgbClr val="383A42"/>
                </a:solidFill>
                <a:latin typeface="Inconsolata"/>
                <a:ea typeface="Inconsolata"/>
                <a:cs typeface="Inconsolata"/>
                <a:sym typeface="Inconsolata"/>
              </a:rPr>
              <a:t> </a:t>
            </a:r>
            <a:r>
              <a:rPr lang="es" sz="1500">
                <a:solidFill>
                  <a:srgbClr val="50A14F"/>
                </a:solidFill>
                <a:latin typeface="Inconsolata"/>
                <a:ea typeface="Inconsolata"/>
                <a:cs typeface="Inconsolata"/>
                <a:sym typeface="Inconsolata"/>
              </a:rPr>
              <a:t>"Ingrese un n (mayor que 1): "</a:t>
            </a:r>
            <a:endParaRPr sz="1500">
              <a:solidFill>
                <a:srgbClr val="50A14F"/>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5</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cin</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&gt;&gt;</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n</a:t>
            </a:r>
            <a:r>
              <a:rPr lang="es" sz="1500">
                <a:solidFill>
                  <a:srgbClr val="383A42"/>
                </a:solidFill>
                <a:latin typeface="Inconsolata"/>
                <a:ea typeface="Inconsolata"/>
                <a:cs typeface="Inconsolata"/>
                <a:sym typeface="Inconsolata"/>
              </a:rPr>
              <a:t>;</a:t>
            </a:r>
            <a:endParaRPr sz="15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6</a:t>
            </a:r>
            <a:r>
              <a:rPr lang="es" sz="1500">
                <a:solidFill>
                  <a:srgbClr val="383A42"/>
                </a:solidFill>
                <a:latin typeface="Inconsolata"/>
                <a:ea typeface="Inconsolata"/>
                <a:cs typeface="Inconsolata"/>
                <a:sym typeface="Inconsolata"/>
              </a:rPr>
              <a:t>  }</a:t>
            </a:r>
            <a:endParaRPr sz="1500">
              <a:solidFill>
                <a:srgbClr val="383A42"/>
              </a:solidFill>
              <a:latin typeface="Inconsolata"/>
              <a:ea typeface="Inconsolata"/>
              <a:cs typeface="Inconsolata"/>
              <a:sym typeface="Inconsolata"/>
            </a:endParaRPr>
          </a:p>
        </p:txBody>
      </p:sp>
      <p:sp>
        <p:nvSpPr>
          <p:cNvPr id="1300" name="Google Shape;1300;p80"/>
          <p:cNvSpPr/>
          <p:nvPr/>
        </p:nvSpPr>
        <p:spPr>
          <a:xfrm rot="10800000">
            <a:off x="4073857" y="3433575"/>
            <a:ext cx="4689000" cy="14775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301" name="Google Shape;1301;p80"/>
          <p:cNvSpPr/>
          <p:nvPr/>
        </p:nvSpPr>
        <p:spPr>
          <a:xfrm rot="10800000">
            <a:off x="4073860" y="3039425"/>
            <a:ext cx="46890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02" name="Google Shape;1302;p80"/>
          <p:cNvSpPr/>
          <p:nvPr/>
        </p:nvSpPr>
        <p:spPr>
          <a:xfrm>
            <a:off x="4276061" y="313830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03" name="Google Shape;1303;p80"/>
          <p:cNvSpPr/>
          <p:nvPr/>
        </p:nvSpPr>
        <p:spPr>
          <a:xfrm>
            <a:off x="4659264" y="313830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04" name="Google Shape;1304;p80"/>
          <p:cNvSpPr/>
          <p:nvPr/>
        </p:nvSpPr>
        <p:spPr>
          <a:xfrm>
            <a:off x="5042466" y="313830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05" name="Google Shape;1305;p80"/>
          <p:cNvSpPr txBox="1"/>
          <p:nvPr/>
        </p:nvSpPr>
        <p:spPr>
          <a:xfrm>
            <a:off x="4074218" y="3453976"/>
            <a:ext cx="4689000" cy="13686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1</a:t>
            </a:r>
            <a:r>
              <a:rPr lang="es" sz="1500">
                <a:solidFill>
                  <a:srgbClr val="383A42"/>
                </a:solidFill>
                <a:latin typeface="Inconsolata"/>
                <a:ea typeface="Inconsolata"/>
                <a:cs typeface="Inconsolata"/>
                <a:sym typeface="Inconsolata"/>
              </a:rPr>
              <a:t>  </a:t>
            </a:r>
            <a:r>
              <a:rPr lang="es" sz="1500">
                <a:solidFill>
                  <a:srgbClr val="A626A4"/>
                </a:solidFill>
                <a:latin typeface="Inconsolata"/>
                <a:ea typeface="Inconsolata"/>
                <a:cs typeface="Inconsolata"/>
                <a:sym typeface="Inconsolata"/>
              </a:rPr>
              <a:t>do</a:t>
            </a:r>
            <a:r>
              <a:rPr lang="es" sz="1500">
                <a:solidFill>
                  <a:srgbClr val="383A42"/>
                </a:solidFill>
                <a:latin typeface="Inconsolata"/>
                <a:ea typeface="Inconsolata"/>
                <a:cs typeface="Inconsolata"/>
                <a:sym typeface="Inconsolata"/>
              </a:rPr>
              <a:t>{</a:t>
            </a:r>
            <a:endParaRPr sz="15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2</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cout</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&lt;&lt;</a:t>
            </a:r>
            <a:r>
              <a:rPr lang="es" sz="1500">
                <a:solidFill>
                  <a:srgbClr val="383A42"/>
                </a:solidFill>
                <a:latin typeface="Inconsolata"/>
                <a:ea typeface="Inconsolata"/>
                <a:cs typeface="Inconsolata"/>
                <a:sym typeface="Inconsolata"/>
              </a:rPr>
              <a:t> </a:t>
            </a:r>
            <a:r>
              <a:rPr lang="es" sz="1500">
                <a:solidFill>
                  <a:srgbClr val="50A14F"/>
                </a:solidFill>
                <a:latin typeface="Inconsolata"/>
                <a:ea typeface="Inconsolata"/>
                <a:cs typeface="Inconsolata"/>
                <a:sym typeface="Inconsolata"/>
              </a:rPr>
              <a:t>"Ingrese un n (mayor que 1): "</a:t>
            </a:r>
            <a:endParaRPr sz="1500">
              <a:solidFill>
                <a:srgbClr val="50A14F"/>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3</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cin</a:t>
            </a:r>
            <a:r>
              <a:rPr lang="es" sz="1500">
                <a:solidFill>
                  <a:srgbClr val="383A42"/>
                </a:solidFill>
                <a:latin typeface="Inconsolata"/>
                <a:ea typeface="Inconsolata"/>
                <a:cs typeface="Inconsolata"/>
                <a:sym typeface="Inconsolata"/>
              </a:rPr>
              <a:t> </a:t>
            </a:r>
            <a:r>
              <a:rPr lang="es" sz="1500">
                <a:solidFill>
                  <a:srgbClr val="0184BC"/>
                </a:solidFill>
                <a:latin typeface="Inconsolata"/>
                <a:ea typeface="Inconsolata"/>
                <a:cs typeface="Inconsolata"/>
                <a:sym typeface="Inconsolata"/>
              </a:rPr>
              <a:t>&gt;&gt;</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n</a:t>
            </a:r>
            <a:r>
              <a:rPr lang="es" sz="1500">
                <a:solidFill>
                  <a:srgbClr val="383A42"/>
                </a:solidFill>
                <a:latin typeface="Inconsolata"/>
                <a:ea typeface="Inconsolata"/>
                <a:cs typeface="Inconsolata"/>
                <a:sym typeface="Inconsolata"/>
              </a:rPr>
              <a:t>;</a:t>
            </a:r>
            <a:endParaRPr sz="1500">
              <a:solidFill>
                <a:srgbClr val="383A42"/>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500"/>
              <a:buFont typeface="Arial"/>
              <a:buNone/>
            </a:pPr>
            <a:r>
              <a:rPr lang="es" sz="1500">
                <a:solidFill>
                  <a:srgbClr val="383A42"/>
                </a:solidFill>
                <a:latin typeface="Inconsolata"/>
                <a:ea typeface="Inconsolata"/>
                <a:cs typeface="Inconsolata"/>
                <a:sym typeface="Inconsolata"/>
              </a:rPr>
              <a:t> </a:t>
            </a:r>
            <a:r>
              <a:rPr lang="es" sz="1500">
                <a:solidFill>
                  <a:srgbClr val="929292"/>
                </a:solidFill>
                <a:latin typeface="Inconsolata"/>
                <a:ea typeface="Inconsolata"/>
                <a:cs typeface="Inconsolata"/>
                <a:sym typeface="Inconsolata"/>
              </a:rPr>
              <a:t>4</a:t>
            </a:r>
            <a:r>
              <a:rPr lang="es" sz="1500">
                <a:solidFill>
                  <a:srgbClr val="383A42"/>
                </a:solidFill>
                <a:latin typeface="Inconsolata"/>
                <a:ea typeface="Inconsolata"/>
                <a:cs typeface="Inconsolata"/>
                <a:sym typeface="Inconsolata"/>
              </a:rPr>
              <a:t>  } </a:t>
            </a:r>
            <a:r>
              <a:rPr lang="es" sz="1500">
                <a:solidFill>
                  <a:srgbClr val="A626A4"/>
                </a:solidFill>
                <a:latin typeface="Inconsolata"/>
                <a:ea typeface="Inconsolata"/>
                <a:cs typeface="Inconsolata"/>
                <a:sym typeface="Inconsolata"/>
              </a:rPr>
              <a:t>while</a:t>
            </a:r>
            <a:r>
              <a:rPr lang="es" sz="1500">
                <a:solidFill>
                  <a:srgbClr val="383A42"/>
                </a:solidFill>
                <a:latin typeface="Inconsolata"/>
                <a:ea typeface="Inconsolata"/>
                <a:cs typeface="Inconsolata"/>
                <a:sym typeface="Inconsolata"/>
              </a:rPr>
              <a:t> (</a:t>
            </a:r>
            <a:r>
              <a:rPr lang="es" sz="1500">
                <a:solidFill>
                  <a:srgbClr val="E06C75"/>
                </a:solidFill>
                <a:latin typeface="Inconsolata"/>
                <a:ea typeface="Inconsolata"/>
                <a:cs typeface="Inconsolata"/>
                <a:sym typeface="Inconsolata"/>
              </a:rPr>
              <a:t>n</a:t>
            </a:r>
            <a:r>
              <a:rPr lang="es" sz="1500">
                <a:solidFill>
                  <a:srgbClr val="0184BC"/>
                </a:solidFill>
                <a:latin typeface="Inconsolata"/>
                <a:ea typeface="Inconsolata"/>
                <a:cs typeface="Inconsolata"/>
                <a:sym typeface="Inconsolata"/>
              </a:rPr>
              <a:t>&lt;</a:t>
            </a:r>
            <a:r>
              <a:rPr lang="es" sz="1500">
                <a:solidFill>
                  <a:srgbClr val="986801"/>
                </a:solidFill>
                <a:latin typeface="Inconsolata"/>
                <a:ea typeface="Inconsolata"/>
                <a:cs typeface="Inconsolata"/>
                <a:sym typeface="Inconsolata"/>
              </a:rPr>
              <a:t>1</a:t>
            </a:r>
            <a:r>
              <a:rPr lang="es" sz="1500">
                <a:solidFill>
                  <a:srgbClr val="383A42"/>
                </a:solidFill>
                <a:latin typeface="Inconsolata"/>
                <a:ea typeface="Inconsolata"/>
                <a:cs typeface="Inconsolata"/>
                <a:sym typeface="Inconsolata"/>
              </a:rPr>
              <a:t>);</a:t>
            </a:r>
            <a:endParaRPr sz="1500">
              <a:solidFill>
                <a:srgbClr val="383A42"/>
              </a:solidFill>
              <a:latin typeface="Inconsolata"/>
              <a:ea typeface="Inconsolata"/>
              <a:cs typeface="Inconsolata"/>
              <a:sym typeface="Inconsolata"/>
            </a:endParaRPr>
          </a:p>
        </p:txBody>
      </p:sp>
      <p:sp>
        <p:nvSpPr>
          <p:cNvPr id="1306" name="Google Shape;1306;p80"/>
          <p:cNvSpPr/>
          <p:nvPr/>
        </p:nvSpPr>
        <p:spPr>
          <a:xfrm flipH="1" rot="10800000">
            <a:off x="2316825" y="3386575"/>
            <a:ext cx="1109700" cy="10272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sp>
        <p:nvSpPr>
          <p:cNvPr id="1311" name="Google Shape;1311;p8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Ciclos do…while</a:t>
            </a:r>
            <a:endParaRPr/>
          </a:p>
        </p:txBody>
      </p:sp>
      <p:sp>
        <p:nvSpPr>
          <p:cNvPr id="1312" name="Google Shape;1312;p81"/>
          <p:cNvSpPr/>
          <p:nvPr/>
        </p:nvSpPr>
        <p:spPr>
          <a:xfrm rot="10800000">
            <a:off x="414875" y="1836525"/>
            <a:ext cx="4488300" cy="14775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313" name="Google Shape;1313;p81"/>
          <p:cNvSpPr/>
          <p:nvPr/>
        </p:nvSpPr>
        <p:spPr>
          <a:xfrm rot="10800000">
            <a:off x="414878" y="1442375"/>
            <a:ext cx="448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14" name="Google Shape;1314;p81"/>
          <p:cNvSpPr/>
          <p:nvPr/>
        </p:nvSpPr>
        <p:spPr>
          <a:xfrm>
            <a:off x="617136" y="154125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15" name="Google Shape;1315;p81"/>
          <p:cNvSpPr/>
          <p:nvPr/>
        </p:nvSpPr>
        <p:spPr>
          <a:xfrm>
            <a:off x="1000339" y="154125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16" name="Google Shape;1316;p81"/>
          <p:cNvSpPr/>
          <p:nvPr/>
        </p:nvSpPr>
        <p:spPr>
          <a:xfrm>
            <a:off x="1383541" y="154125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17" name="Google Shape;1317;p81"/>
          <p:cNvSpPr txBox="1"/>
          <p:nvPr/>
        </p:nvSpPr>
        <p:spPr>
          <a:xfrm>
            <a:off x="415275" y="1856926"/>
            <a:ext cx="4488300" cy="13686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383A42"/>
                </a:solidFill>
                <a:latin typeface="Arial"/>
                <a:ea typeface="Arial"/>
                <a:cs typeface="Arial"/>
                <a:sym typeface="Arial"/>
              </a:rPr>
              <a:t>  </a:t>
            </a:r>
            <a:r>
              <a:rPr b="0" i="0" lang="es" sz="1500" u="none" cap="none" strike="noStrike">
                <a:solidFill>
                  <a:srgbClr val="929292"/>
                </a:solidFill>
                <a:latin typeface="Arial"/>
                <a:ea typeface="Arial"/>
                <a:cs typeface="Arial"/>
                <a:sym typeface="Arial"/>
              </a:rPr>
              <a:t>1</a:t>
            </a:r>
            <a:r>
              <a:rPr b="0" i="0" lang="es" sz="1500" u="none" cap="none" strike="noStrike">
                <a:solidFill>
                  <a:srgbClr val="383A42"/>
                </a:solidFill>
                <a:latin typeface="Arial"/>
                <a:ea typeface="Arial"/>
                <a:cs typeface="Arial"/>
                <a:sym typeface="Arial"/>
              </a:rPr>
              <a:t>   </a:t>
            </a:r>
            <a:r>
              <a:rPr b="0" i="0" lang="es" sz="1500" u="none" cap="none" strike="noStrike">
                <a:solidFill>
                  <a:srgbClr val="E06C75"/>
                </a:solidFill>
                <a:latin typeface="Arial"/>
                <a:ea typeface="Arial"/>
                <a:cs typeface="Arial"/>
                <a:sym typeface="Arial"/>
              </a:rPr>
              <a:t>n</a:t>
            </a:r>
            <a:r>
              <a:rPr b="0" i="0" lang="es" sz="1500" u="none" cap="none" strike="noStrike">
                <a:solidFill>
                  <a:srgbClr val="0184BC"/>
                </a:solidFill>
                <a:latin typeface="Arial"/>
                <a:ea typeface="Arial"/>
                <a:cs typeface="Arial"/>
                <a:sym typeface="Arial"/>
              </a:rPr>
              <a:t>=-</a:t>
            </a:r>
            <a:r>
              <a:rPr b="0" i="0" lang="es" sz="1500" u="none" cap="none" strike="noStrike">
                <a:solidFill>
                  <a:srgbClr val="986801"/>
                </a:solidFill>
                <a:latin typeface="Arial"/>
                <a:ea typeface="Arial"/>
                <a:cs typeface="Arial"/>
                <a:sym typeface="Arial"/>
              </a:rPr>
              <a:t>1</a:t>
            </a:r>
            <a:r>
              <a:rPr b="0" i="0" lang="es" sz="1500" u="none" cap="none" strike="noStrike">
                <a:solidFill>
                  <a:srgbClr val="383A42"/>
                </a:solidFill>
                <a:latin typeface="Arial"/>
                <a:ea typeface="Arial"/>
                <a:cs typeface="Arial"/>
                <a:sym typeface="Arial"/>
              </a:rPr>
              <a:t>;</a:t>
            </a:r>
            <a:endParaRPr b="0" i="0" sz="15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383A42"/>
                </a:solidFill>
                <a:latin typeface="Arial"/>
                <a:ea typeface="Arial"/>
                <a:cs typeface="Arial"/>
                <a:sym typeface="Arial"/>
              </a:rPr>
              <a:t>  </a:t>
            </a:r>
            <a:r>
              <a:rPr b="0" i="0" lang="es" sz="1500" u="none" cap="none" strike="noStrike">
                <a:solidFill>
                  <a:srgbClr val="929292"/>
                </a:solidFill>
                <a:latin typeface="Arial"/>
                <a:ea typeface="Arial"/>
                <a:cs typeface="Arial"/>
                <a:sym typeface="Arial"/>
              </a:rPr>
              <a:t>2</a:t>
            </a:r>
            <a:r>
              <a:rPr b="0" i="0" lang="es" sz="1500" u="none" cap="none" strike="noStrike">
                <a:solidFill>
                  <a:srgbClr val="383A42"/>
                </a:solidFill>
                <a:latin typeface="Arial"/>
                <a:ea typeface="Arial"/>
                <a:cs typeface="Arial"/>
                <a:sym typeface="Arial"/>
              </a:rPr>
              <a:t>   </a:t>
            </a:r>
            <a:r>
              <a:rPr b="0" i="0" lang="es" sz="1500" u="none" cap="none" strike="noStrike">
                <a:solidFill>
                  <a:srgbClr val="A626A4"/>
                </a:solidFill>
                <a:latin typeface="Arial"/>
                <a:ea typeface="Arial"/>
                <a:cs typeface="Arial"/>
                <a:sym typeface="Arial"/>
              </a:rPr>
              <a:t>while</a:t>
            </a:r>
            <a:r>
              <a:rPr b="0" i="0" lang="es" sz="1500" u="none" cap="none" strike="noStrike">
                <a:solidFill>
                  <a:srgbClr val="383A42"/>
                </a:solidFill>
                <a:latin typeface="Arial"/>
                <a:ea typeface="Arial"/>
                <a:cs typeface="Arial"/>
                <a:sym typeface="Arial"/>
              </a:rPr>
              <a:t>(</a:t>
            </a:r>
            <a:r>
              <a:rPr b="0" i="0" lang="es" sz="1500" u="none" cap="none" strike="noStrike">
                <a:solidFill>
                  <a:srgbClr val="E06C75"/>
                </a:solidFill>
                <a:latin typeface="Arial"/>
                <a:ea typeface="Arial"/>
                <a:cs typeface="Arial"/>
                <a:sym typeface="Arial"/>
              </a:rPr>
              <a:t>n</a:t>
            </a:r>
            <a:r>
              <a:rPr b="0" i="0" lang="es" sz="1500" u="none" cap="none" strike="noStrike">
                <a:solidFill>
                  <a:srgbClr val="0184BC"/>
                </a:solidFill>
                <a:latin typeface="Arial"/>
                <a:ea typeface="Arial"/>
                <a:cs typeface="Arial"/>
                <a:sym typeface="Arial"/>
              </a:rPr>
              <a:t>&lt;</a:t>
            </a:r>
            <a:r>
              <a:rPr b="0" i="0" lang="es" sz="1500" u="none" cap="none" strike="noStrike">
                <a:solidFill>
                  <a:srgbClr val="986801"/>
                </a:solidFill>
                <a:latin typeface="Arial"/>
                <a:ea typeface="Arial"/>
                <a:cs typeface="Arial"/>
                <a:sym typeface="Arial"/>
              </a:rPr>
              <a:t>1</a:t>
            </a:r>
            <a:r>
              <a:rPr b="0" i="0" lang="es" sz="1500" u="none" cap="none" strike="noStrike">
                <a:solidFill>
                  <a:srgbClr val="383A42"/>
                </a:solidFill>
                <a:latin typeface="Arial"/>
                <a:ea typeface="Arial"/>
                <a:cs typeface="Arial"/>
                <a:sym typeface="Arial"/>
              </a:rPr>
              <a:t>){</a:t>
            </a:r>
            <a:endParaRPr b="0" i="0" sz="15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383A42"/>
                </a:solidFill>
                <a:latin typeface="Arial"/>
                <a:ea typeface="Arial"/>
                <a:cs typeface="Arial"/>
                <a:sym typeface="Arial"/>
              </a:rPr>
              <a:t>  </a:t>
            </a:r>
            <a:r>
              <a:rPr b="0" i="0" lang="es" sz="1500" u="none" cap="none" strike="noStrike">
                <a:solidFill>
                  <a:srgbClr val="929292"/>
                </a:solidFill>
                <a:latin typeface="Arial"/>
                <a:ea typeface="Arial"/>
                <a:cs typeface="Arial"/>
                <a:sym typeface="Arial"/>
              </a:rPr>
              <a:t>3</a:t>
            </a:r>
            <a:r>
              <a:rPr b="0" i="0" lang="es" sz="1500" u="none" cap="none" strike="noStrike">
                <a:solidFill>
                  <a:srgbClr val="383A42"/>
                </a:solidFill>
                <a:latin typeface="Arial"/>
                <a:ea typeface="Arial"/>
                <a:cs typeface="Arial"/>
                <a:sym typeface="Arial"/>
              </a:rPr>
              <a:t>   	    </a:t>
            </a:r>
            <a:r>
              <a:rPr b="0" i="0" lang="es" sz="1500" u="none" cap="none" strike="noStrike">
                <a:solidFill>
                  <a:srgbClr val="E06C75"/>
                </a:solidFill>
                <a:latin typeface="Arial"/>
                <a:ea typeface="Arial"/>
                <a:cs typeface="Arial"/>
                <a:sym typeface="Arial"/>
              </a:rPr>
              <a:t>cout</a:t>
            </a:r>
            <a:r>
              <a:rPr b="0" i="0" lang="es" sz="1500" u="none" cap="none" strike="noStrike">
                <a:solidFill>
                  <a:srgbClr val="383A42"/>
                </a:solidFill>
                <a:latin typeface="Arial"/>
                <a:ea typeface="Arial"/>
                <a:cs typeface="Arial"/>
                <a:sym typeface="Arial"/>
              </a:rPr>
              <a:t> </a:t>
            </a:r>
            <a:r>
              <a:rPr b="0" i="0" lang="es" sz="1500" u="none" cap="none" strike="noStrike">
                <a:solidFill>
                  <a:srgbClr val="0184BC"/>
                </a:solidFill>
                <a:latin typeface="Arial"/>
                <a:ea typeface="Arial"/>
                <a:cs typeface="Arial"/>
                <a:sym typeface="Arial"/>
              </a:rPr>
              <a:t>&lt;&lt;</a:t>
            </a:r>
            <a:r>
              <a:rPr b="0" i="0" lang="es" sz="1500" u="none" cap="none" strike="noStrike">
                <a:solidFill>
                  <a:srgbClr val="383A42"/>
                </a:solidFill>
                <a:latin typeface="Arial"/>
                <a:ea typeface="Arial"/>
                <a:cs typeface="Arial"/>
                <a:sym typeface="Arial"/>
              </a:rPr>
              <a:t> </a:t>
            </a:r>
            <a:r>
              <a:rPr b="0" i="0" lang="es" sz="1500" u="none" cap="none" strike="noStrike">
                <a:solidFill>
                  <a:srgbClr val="50A14F"/>
                </a:solidFill>
                <a:latin typeface="Arial"/>
                <a:ea typeface="Arial"/>
                <a:cs typeface="Arial"/>
                <a:sym typeface="Arial"/>
              </a:rPr>
              <a:t>"Ingrese un n (mayor que 1): "</a:t>
            </a:r>
            <a:endParaRPr b="0" i="0" sz="1500" u="none" cap="none" strike="noStrike">
              <a:solidFill>
                <a:srgbClr val="50A14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383A42"/>
                </a:solidFill>
                <a:latin typeface="Arial"/>
                <a:ea typeface="Arial"/>
                <a:cs typeface="Arial"/>
                <a:sym typeface="Arial"/>
              </a:rPr>
              <a:t>  </a:t>
            </a:r>
            <a:r>
              <a:rPr b="0" i="0" lang="es" sz="1500" u="none" cap="none" strike="noStrike">
                <a:solidFill>
                  <a:srgbClr val="929292"/>
                </a:solidFill>
                <a:latin typeface="Arial"/>
                <a:ea typeface="Arial"/>
                <a:cs typeface="Arial"/>
                <a:sym typeface="Arial"/>
              </a:rPr>
              <a:t>4</a:t>
            </a:r>
            <a:r>
              <a:rPr b="0" i="0" lang="es" sz="1500" u="none" cap="none" strike="noStrike">
                <a:solidFill>
                  <a:srgbClr val="383A42"/>
                </a:solidFill>
                <a:latin typeface="Arial"/>
                <a:ea typeface="Arial"/>
                <a:cs typeface="Arial"/>
                <a:sym typeface="Arial"/>
              </a:rPr>
              <a:t>  	    </a:t>
            </a:r>
            <a:r>
              <a:rPr b="0" i="0" lang="es" sz="1500" u="none" cap="none" strike="noStrike">
                <a:solidFill>
                  <a:srgbClr val="E06C75"/>
                </a:solidFill>
                <a:latin typeface="Arial"/>
                <a:ea typeface="Arial"/>
                <a:cs typeface="Arial"/>
                <a:sym typeface="Arial"/>
              </a:rPr>
              <a:t>cin</a:t>
            </a:r>
            <a:r>
              <a:rPr b="0" i="0" lang="es" sz="1500" u="none" cap="none" strike="noStrike">
                <a:solidFill>
                  <a:srgbClr val="383A42"/>
                </a:solidFill>
                <a:latin typeface="Arial"/>
                <a:ea typeface="Arial"/>
                <a:cs typeface="Arial"/>
                <a:sym typeface="Arial"/>
              </a:rPr>
              <a:t> </a:t>
            </a:r>
            <a:r>
              <a:rPr b="0" i="0" lang="es" sz="1500" u="none" cap="none" strike="noStrike">
                <a:solidFill>
                  <a:srgbClr val="0184BC"/>
                </a:solidFill>
                <a:latin typeface="Arial"/>
                <a:ea typeface="Arial"/>
                <a:cs typeface="Arial"/>
                <a:sym typeface="Arial"/>
              </a:rPr>
              <a:t>&gt;&gt;</a:t>
            </a:r>
            <a:r>
              <a:rPr b="0" i="0" lang="es" sz="1500" u="none" cap="none" strike="noStrike">
                <a:solidFill>
                  <a:srgbClr val="383A42"/>
                </a:solidFill>
                <a:latin typeface="Arial"/>
                <a:ea typeface="Arial"/>
                <a:cs typeface="Arial"/>
                <a:sym typeface="Arial"/>
              </a:rPr>
              <a:t> </a:t>
            </a:r>
            <a:r>
              <a:rPr b="0" i="0" lang="es" sz="1500" u="none" cap="none" strike="noStrike">
                <a:solidFill>
                  <a:srgbClr val="E06C75"/>
                </a:solidFill>
                <a:latin typeface="Arial"/>
                <a:ea typeface="Arial"/>
                <a:cs typeface="Arial"/>
                <a:sym typeface="Arial"/>
              </a:rPr>
              <a:t>n</a:t>
            </a:r>
            <a:r>
              <a:rPr b="0" i="0" lang="es" sz="1500" u="none" cap="none" strike="noStrike">
                <a:solidFill>
                  <a:srgbClr val="383A42"/>
                </a:solidFill>
                <a:latin typeface="Arial"/>
                <a:ea typeface="Arial"/>
                <a:cs typeface="Arial"/>
                <a:sym typeface="Arial"/>
              </a:rPr>
              <a:t>;</a:t>
            </a:r>
            <a:endParaRPr b="0" i="0" sz="15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383A42"/>
                </a:solidFill>
                <a:latin typeface="Arial"/>
                <a:ea typeface="Arial"/>
                <a:cs typeface="Arial"/>
                <a:sym typeface="Arial"/>
              </a:rPr>
              <a:t>  </a:t>
            </a:r>
            <a:r>
              <a:rPr b="0" i="0" lang="es" sz="1500" u="none" cap="none" strike="noStrike">
                <a:solidFill>
                  <a:srgbClr val="929292"/>
                </a:solidFill>
                <a:latin typeface="Arial"/>
                <a:ea typeface="Arial"/>
                <a:cs typeface="Arial"/>
                <a:sym typeface="Arial"/>
              </a:rPr>
              <a:t>5</a:t>
            </a:r>
            <a:r>
              <a:rPr b="0" i="0" lang="es" sz="1500" u="none" cap="none" strike="noStrike">
                <a:solidFill>
                  <a:srgbClr val="383A42"/>
                </a:solidFill>
                <a:latin typeface="Arial"/>
                <a:ea typeface="Arial"/>
                <a:cs typeface="Arial"/>
                <a:sym typeface="Arial"/>
              </a:rPr>
              <a:t>   }</a:t>
            </a:r>
            <a:endParaRPr b="0" i="0" sz="1500" u="none" cap="none" strike="noStrike">
              <a:solidFill>
                <a:srgbClr val="383A42"/>
              </a:solidFill>
              <a:latin typeface="Arial"/>
              <a:ea typeface="Arial"/>
              <a:cs typeface="Arial"/>
              <a:sym typeface="Arial"/>
            </a:endParaRPr>
          </a:p>
        </p:txBody>
      </p:sp>
      <p:sp>
        <p:nvSpPr>
          <p:cNvPr id="1318" name="Google Shape;1318;p81"/>
          <p:cNvSpPr/>
          <p:nvPr/>
        </p:nvSpPr>
        <p:spPr>
          <a:xfrm rot="10800000">
            <a:off x="4073800" y="3433575"/>
            <a:ext cx="4488300" cy="14775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319" name="Google Shape;1319;p81"/>
          <p:cNvSpPr/>
          <p:nvPr/>
        </p:nvSpPr>
        <p:spPr>
          <a:xfrm rot="10800000">
            <a:off x="4073803" y="3039425"/>
            <a:ext cx="4488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20" name="Google Shape;1320;p81"/>
          <p:cNvSpPr/>
          <p:nvPr/>
        </p:nvSpPr>
        <p:spPr>
          <a:xfrm>
            <a:off x="4276061" y="3138300"/>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21" name="Google Shape;1321;p81"/>
          <p:cNvSpPr/>
          <p:nvPr/>
        </p:nvSpPr>
        <p:spPr>
          <a:xfrm>
            <a:off x="4659264" y="3138300"/>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22" name="Google Shape;1322;p81"/>
          <p:cNvSpPr/>
          <p:nvPr/>
        </p:nvSpPr>
        <p:spPr>
          <a:xfrm>
            <a:off x="5042466" y="3138300"/>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23" name="Google Shape;1323;p81"/>
          <p:cNvSpPr txBox="1"/>
          <p:nvPr/>
        </p:nvSpPr>
        <p:spPr>
          <a:xfrm>
            <a:off x="4074200" y="3453976"/>
            <a:ext cx="4488300" cy="13686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383A42"/>
                </a:solidFill>
                <a:latin typeface="Arial"/>
                <a:ea typeface="Arial"/>
                <a:cs typeface="Arial"/>
                <a:sym typeface="Arial"/>
              </a:rPr>
              <a:t>  </a:t>
            </a:r>
            <a:r>
              <a:rPr b="0" i="0" lang="es" sz="1500" u="none" cap="none" strike="noStrike">
                <a:solidFill>
                  <a:srgbClr val="929292"/>
                </a:solidFill>
                <a:latin typeface="Arial"/>
                <a:ea typeface="Arial"/>
                <a:cs typeface="Arial"/>
                <a:sym typeface="Arial"/>
              </a:rPr>
              <a:t>1</a:t>
            </a:r>
            <a:r>
              <a:rPr b="0" i="0" lang="es" sz="1500" u="none" cap="none" strike="noStrike">
                <a:solidFill>
                  <a:srgbClr val="383A42"/>
                </a:solidFill>
                <a:latin typeface="Arial"/>
                <a:ea typeface="Arial"/>
                <a:cs typeface="Arial"/>
                <a:sym typeface="Arial"/>
              </a:rPr>
              <a:t>   </a:t>
            </a:r>
            <a:r>
              <a:rPr b="0" i="0" lang="es" sz="1500" u="none" cap="none" strike="noStrike">
                <a:solidFill>
                  <a:srgbClr val="A626A4"/>
                </a:solidFill>
                <a:latin typeface="Arial"/>
                <a:ea typeface="Arial"/>
                <a:cs typeface="Arial"/>
                <a:sym typeface="Arial"/>
              </a:rPr>
              <a:t>do</a:t>
            </a:r>
            <a:r>
              <a:rPr b="0" i="0" lang="es" sz="1500" u="none" cap="none" strike="noStrike">
                <a:solidFill>
                  <a:srgbClr val="383A42"/>
                </a:solidFill>
                <a:latin typeface="Arial"/>
                <a:ea typeface="Arial"/>
                <a:cs typeface="Arial"/>
                <a:sym typeface="Arial"/>
              </a:rPr>
              <a:t>{</a:t>
            </a:r>
            <a:endParaRPr b="0" i="0" sz="15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383A42"/>
                </a:solidFill>
                <a:latin typeface="Arial"/>
                <a:ea typeface="Arial"/>
                <a:cs typeface="Arial"/>
                <a:sym typeface="Arial"/>
              </a:rPr>
              <a:t>  </a:t>
            </a:r>
            <a:r>
              <a:rPr b="0" i="0" lang="es" sz="1500" u="none" cap="none" strike="noStrike">
                <a:solidFill>
                  <a:srgbClr val="929292"/>
                </a:solidFill>
                <a:latin typeface="Arial"/>
                <a:ea typeface="Arial"/>
                <a:cs typeface="Arial"/>
                <a:sym typeface="Arial"/>
              </a:rPr>
              <a:t>2</a:t>
            </a:r>
            <a:r>
              <a:rPr b="0" i="0" lang="es" sz="1500" u="none" cap="none" strike="noStrike">
                <a:solidFill>
                  <a:srgbClr val="383A42"/>
                </a:solidFill>
                <a:latin typeface="Arial"/>
                <a:ea typeface="Arial"/>
                <a:cs typeface="Arial"/>
                <a:sym typeface="Arial"/>
              </a:rPr>
              <a:t>   	    </a:t>
            </a:r>
            <a:r>
              <a:rPr b="0" i="0" lang="es" sz="1500" u="none" cap="none" strike="noStrike">
                <a:solidFill>
                  <a:srgbClr val="E06C75"/>
                </a:solidFill>
                <a:latin typeface="Arial"/>
                <a:ea typeface="Arial"/>
                <a:cs typeface="Arial"/>
                <a:sym typeface="Arial"/>
              </a:rPr>
              <a:t>cout</a:t>
            </a:r>
            <a:r>
              <a:rPr b="0" i="0" lang="es" sz="1500" u="none" cap="none" strike="noStrike">
                <a:solidFill>
                  <a:srgbClr val="383A42"/>
                </a:solidFill>
                <a:latin typeface="Arial"/>
                <a:ea typeface="Arial"/>
                <a:cs typeface="Arial"/>
                <a:sym typeface="Arial"/>
              </a:rPr>
              <a:t> </a:t>
            </a:r>
            <a:r>
              <a:rPr b="0" i="0" lang="es" sz="1500" u="none" cap="none" strike="noStrike">
                <a:solidFill>
                  <a:srgbClr val="0184BC"/>
                </a:solidFill>
                <a:latin typeface="Arial"/>
                <a:ea typeface="Arial"/>
                <a:cs typeface="Arial"/>
                <a:sym typeface="Arial"/>
              </a:rPr>
              <a:t>&lt;&lt;</a:t>
            </a:r>
            <a:r>
              <a:rPr b="0" i="0" lang="es" sz="1500" u="none" cap="none" strike="noStrike">
                <a:solidFill>
                  <a:srgbClr val="383A42"/>
                </a:solidFill>
                <a:latin typeface="Arial"/>
                <a:ea typeface="Arial"/>
                <a:cs typeface="Arial"/>
                <a:sym typeface="Arial"/>
              </a:rPr>
              <a:t> </a:t>
            </a:r>
            <a:r>
              <a:rPr b="0" i="0" lang="es" sz="1500" u="none" cap="none" strike="noStrike">
                <a:solidFill>
                  <a:srgbClr val="50A14F"/>
                </a:solidFill>
                <a:latin typeface="Arial"/>
                <a:ea typeface="Arial"/>
                <a:cs typeface="Arial"/>
                <a:sym typeface="Arial"/>
              </a:rPr>
              <a:t>"Ingrese un n (mayor que 1): "</a:t>
            </a:r>
            <a:endParaRPr b="0" i="0" sz="1500" u="none" cap="none" strike="noStrike">
              <a:solidFill>
                <a:srgbClr val="50A14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383A42"/>
                </a:solidFill>
                <a:latin typeface="Arial"/>
                <a:ea typeface="Arial"/>
                <a:cs typeface="Arial"/>
                <a:sym typeface="Arial"/>
              </a:rPr>
              <a:t>  </a:t>
            </a:r>
            <a:r>
              <a:rPr b="0" i="0" lang="es" sz="1500" u="none" cap="none" strike="noStrike">
                <a:solidFill>
                  <a:srgbClr val="929292"/>
                </a:solidFill>
                <a:latin typeface="Arial"/>
                <a:ea typeface="Arial"/>
                <a:cs typeface="Arial"/>
                <a:sym typeface="Arial"/>
              </a:rPr>
              <a:t>3</a:t>
            </a:r>
            <a:r>
              <a:rPr b="0" i="0" lang="es" sz="1500" u="none" cap="none" strike="noStrike">
                <a:solidFill>
                  <a:srgbClr val="383A42"/>
                </a:solidFill>
                <a:latin typeface="Arial"/>
                <a:ea typeface="Arial"/>
                <a:cs typeface="Arial"/>
                <a:sym typeface="Arial"/>
              </a:rPr>
              <a:t>  	    </a:t>
            </a:r>
            <a:r>
              <a:rPr b="0" i="0" lang="es" sz="1500" u="none" cap="none" strike="noStrike">
                <a:solidFill>
                  <a:srgbClr val="E06C75"/>
                </a:solidFill>
                <a:latin typeface="Arial"/>
                <a:ea typeface="Arial"/>
                <a:cs typeface="Arial"/>
                <a:sym typeface="Arial"/>
              </a:rPr>
              <a:t>cin</a:t>
            </a:r>
            <a:r>
              <a:rPr b="0" i="0" lang="es" sz="1500" u="none" cap="none" strike="noStrike">
                <a:solidFill>
                  <a:srgbClr val="383A42"/>
                </a:solidFill>
                <a:latin typeface="Arial"/>
                <a:ea typeface="Arial"/>
                <a:cs typeface="Arial"/>
                <a:sym typeface="Arial"/>
              </a:rPr>
              <a:t> </a:t>
            </a:r>
            <a:r>
              <a:rPr b="0" i="0" lang="es" sz="1500" u="none" cap="none" strike="noStrike">
                <a:solidFill>
                  <a:srgbClr val="0184BC"/>
                </a:solidFill>
                <a:latin typeface="Arial"/>
                <a:ea typeface="Arial"/>
                <a:cs typeface="Arial"/>
                <a:sym typeface="Arial"/>
              </a:rPr>
              <a:t>&gt;&gt;</a:t>
            </a:r>
            <a:r>
              <a:rPr b="0" i="0" lang="es" sz="1500" u="none" cap="none" strike="noStrike">
                <a:solidFill>
                  <a:srgbClr val="383A42"/>
                </a:solidFill>
                <a:latin typeface="Arial"/>
                <a:ea typeface="Arial"/>
                <a:cs typeface="Arial"/>
                <a:sym typeface="Arial"/>
              </a:rPr>
              <a:t> </a:t>
            </a:r>
            <a:r>
              <a:rPr b="0" i="0" lang="es" sz="1500" u="none" cap="none" strike="noStrike">
                <a:solidFill>
                  <a:srgbClr val="E06C75"/>
                </a:solidFill>
                <a:latin typeface="Arial"/>
                <a:ea typeface="Arial"/>
                <a:cs typeface="Arial"/>
                <a:sym typeface="Arial"/>
              </a:rPr>
              <a:t>n</a:t>
            </a:r>
            <a:r>
              <a:rPr b="0" i="0" lang="es" sz="1500" u="none" cap="none" strike="noStrike">
                <a:solidFill>
                  <a:srgbClr val="383A42"/>
                </a:solidFill>
                <a:latin typeface="Arial"/>
                <a:ea typeface="Arial"/>
                <a:cs typeface="Arial"/>
                <a:sym typeface="Arial"/>
              </a:rPr>
              <a:t>;</a:t>
            </a:r>
            <a:endParaRPr b="0" i="0" sz="15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rgbClr val="383A42"/>
                </a:solidFill>
                <a:latin typeface="Arial"/>
                <a:ea typeface="Arial"/>
                <a:cs typeface="Arial"/>
                <a:sym typeface="Arial"/>
              </a:rPr>
              <a:t>  </a:t>
            </a:r>
            <a:r>
              <a:rPr b="0" i="0" lang="es" sz="1500" u="none" cap="none" strike="noStrike">
                <a:solidFill>
                  <a:srgbClr val="929292"/>
                </a:solidFill>
                <a:latin typeface="Arial"/>
                <a:ea typeface="Arial"/>
                <a:cs typeface="Arial"/>
                <a:sym typeface="Arial"/>
              </a:rPr>
              <a:t>4</a:t>
            </a:r>
            <a:r>
              <a:rPr b="0" i="0" lang="es" sz="1500" u="none" cap="none" strike="noStrike">
                <a:solidFill>
                  <a:srgbClr val="383A42"/>
                </a:solidFill>
                <a:latin typeface="Arial"/>
                <a:ea typeface="Arial"/>
                <a:cs typeface="Arial"/>
                <a:sym typeface="Arial"/>
              </a:rPr>
              <a:t>   }</a:t>
            </a:r>
            <a:r>
              <a:rPr b="0" i="0" lang="es" sz="1500" u="none" cap="none" strike="noStrike">
                <a:solidFill>
                  <a:srgbClr val="A626A4"/>
                </a:solidFill>
                <a:latin typeface="Arial"/>
                <a:ea typeface="Arial"/>
                <a:cs typeface="Arial"/>
                <a:sym typeface="Arial"/>
              </a:rPr>
              <a:t>while </a:t>
            </a:r>
            <a:r>
              <a:rPr b="0" i="0" lang="es" sz="1500" u="none" cap="none" strike="noStrike">
                <a:solidFill>
                  <a:srgbClr val="383A42"/>
                </a:solidFill>
                <a:latin typeface="Arial"/>
                <a:ea typeface="Arial"/>
                <a:cs typeface="Arial"/>
                <a:sym typeface="Arial"/>
              </a:rPr>
              <a:t>(</a:t>
            </a:r>
            <a:r>
              <a:rPr b="0" i="0" lang="es" sz="1500" u="none" cap="none" strike="noStrike">
                <a:solidFill>
                  <a:srgbClr val="E06C75"/>
                </a:solidFill>
                <a:latin typeface="Arial"/>
                <a:ea typeface="Arial"/>
                <a:cs typeface="Arial"/>
                <a:sym typeface="Arial"/>
              </a:rPr>
              <a:t>n</a:t>
            </a:r>
            <a:r>
              <a:rPr b="0" i="0" lang="es" sz="1500" u="none" cap="none" strike="noStrike">
                <a:solidFill>
                  <a:srgbClr val="0184BC"/>
                </a:solidFill>
                <a:latin typeface="Arial"/>
                <a:ea typeface="Arial"/>
                <a:cs typeface="Arial"/>
                <a:sym typeface="Arial"/>
              </a:rPr>
              <a:t>&lt;</a:t>
            </a:r>
            <a:r>
              <a:rPr b="0" i="0" lang="es" sz="1500" u="none" cap="none" strike="noStrike">
                <a:solidFill>
                  <a:srgbClr val="986801"/>
                </a:solidFill>
                <a:latin typeface="Arial"/>
                <a:ea typeface="Arial"/>
                <a:cs typeface="Arial"/>
                <a:sym typeface="Arial"/>
              </a:rPr>
              <a:t>1</a:t>
            </a:r>
            <a:r>
              <a:rPr b="0" i="0" lang="es" sz="1500" u="none" cap="none" strike="noStrike">
                <a:solidFill>
                  <a:srgbClr val="383A42"/>
                </a:solidFill>
                <a:latin typeface="Arial"/>
                <a:ea typeface="Arial"/>
                <a:cs typeface="Arial"/>
                <a:sym typeface="Arial"/>
              </a:rPr>
              <a:t>);</a:t>
            </a:r>
            <a:endParaRPr b="0" i="0" sz="1500" u="none" cap="none" strike="noStrike">
              <a:solidFill>
                <a:srgbClr val="383A42"/>
              </a:solidFill>
              <a:latin typeface="Arial"/>
              <a:ea typeface="Arial"/>
              <a:cs typeface="Arial"/>
              <a:sym typeface="Arial"/>
            </a:endParaRPr>
          </a:p>
        </p:txBody>
      </p:sp>
      <p:sp>
        <p:nvSpPr>
          <p:cNvPr id="1324" name="Google Shape;1324;p81"/>
          <p:cNvSpPr txBox="1"/>
          <p:nvPr>
            <p:ph idx="1" type="body"/>
          </p:nvPr>
        </p:nvSpPr>
        <p:spPr>
          <a:xfrm>
            <a:off x="5213600" y="319700"/>
            <a:ext cx="3313800" cy="2372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s" sz="3000"/>
              <a:t>Permite que el cuerpo se ejecute </a:t>
            </a:r>
            <a:r>
              <a:rPr lang="es" sz="3000">
                <a:solidFill>
                  <a:schemeClr val="accent4"/>
                </a:solidFill>
              </a:rPr>
              <a:t>al menos una vez</a:t>
            </a:r>
            <a:endParaRPr sz="3000">
              <a:solidFill>
                <a:schemeClr val="accent4"/>
              </a:solidFill>
            </a:endParaRPr>
          </a:p>
        </p:txBody>
      </p:sp>
      <p:sp>
        <p:nvSpPr>
          <p:cNvPr id="1325" name="Google Shape;1325;p81"/>
          <p:cNvSpPr/>
          <p:nvPr/>
        </p:nvSpPr>
        <p:spPr>
          <a:xfrm flipH="1" rot="10800000">
            <a:off x="2316825" y="3538975"/>
            <a:ext cx="1109700" cy="10272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pic>
        <p:nvPicPr>
          <p:cNvPr id="1330" name="Google Shape;1330;p82"/>
          <p:cNvPicPr preferRelativeResize="0"/>
          <p:nvPr/>
        </p:nvPicPr>
        <p:blipFill rotWithShape="1">
          <a:blip r:embed="rId3">
            <a:alphaModFix amt="20000"/>
          </a:blip>
          <a:srcRect b="0" l="0" r="0" t="0"/>
          <a:stretch/>
        </p:blipFill>
        <p:spPr>
          <a:xfrm>
            <a:off x="4221950" y="133350"/>
            <a:ext cx="4876800" cy="4876800"/>
          </a:xfrm>
          <a:prstGeom prst="rect">
            <a:avLst/>
          </a:prstGeom>
          <a:noFill/>
          <a:ln>
            <a:noFill/>
          </a:ln>
        </p:spPr>
      </p:pic>
      <p:pic>
        <p:nvPicPr>
          <p:cNvPr id="1331" name="Google Shape;1331;p82"/>
          <p:cNvPicPr preferRelativeResize="0"/>
          <p:nvPr/>
        </p:nvPicPr>
        <p:blipFill rotWithShape="1">
          <a:blip r:embed="rId4">
            <a:alphaModFix amt="20000"/>
          </a:blip>
          <a:srcRect b="0" l="0" r="0" t="0"/>
          <a:stretch/>
        </p:blipFill>
        <p:spPr>
          <a:xfrm>
            <a:off x="6027550" y="1862750"/>
            <a:ext cx="1418001" cy="1417999"/>
          </a:xfrm>
          <a:prstGeom prst="rect">
            <a:avLst/>
          </a:prstGeom>
          <a:noFill/>
          <a:ln>
            <a:noFill/>
          </a:ln>
        </p:spPr>
      </p:pic>
      <p:sp>
        <p:nvSpPr>
          <p:cNvPr id="1332" name="Google Shape;1332;p8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marR="0" rtl="0" algn="l">
              <a:lnSpc>
                <a:spcPct val="100000"/>
              </a:lnSpc>
              <a:spcBef>
                <a:spcPts val="0"/>
              </a:spcBef>
              <a:spcAft>
                <a:spcPts val="0"/>
              </a:spcAft>
              <a:buSzPts val="4800"/>
              <a:buNone/>
            </a:pPr>
            <a:r>
              <a:rPr lang="es" sz="7000"/>
              <a:t>Sentencia </a:t>
            </a:r>
            <a:r>
              <a:rPr lang="es" sz="7000">
                <a:solidFill>
                  <a:schemeClr val="accent4"/>
                </a:solidFill>
              </a:rPr>
              <a:t>continue</a:t>
            </a:r>
            <a:endParaRPr sz="7000">
              <a:solidFill>
                <a:schemeClr val="accent4"/>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6" name="Shape 1336"/>
        <p:cNvGrpSpPr/>
        <p:nvPr/>
      </p:nvGrpSpPr>
      <p:grpSpPr>
        <a:xfrm>
          <a:off x="0" y="0"/>
          <a:ext cx="0" cy="0"/>
          <a:chOff x="0" y="0"/>
          <a:chExt cx="0" cy="0"/>
        </a:xfrm>
      </p:grpSpPr>
      <p:sp>
        <p:nvSpPr>
          <p:cNvPr id="1337" name="Google Shape;1337;p8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Analicemos este programa..</a:t>
            </a:r>
            <a:endParaRPr/>
          </a:p>
        </p:txBody>
      </p:sp>
      <p:sp>
        <p:nvSpPr>
          <p:cNvPr id="1338" name="Google Shape;1338;p83"/>
          <p:cNvSpPr txBox="1"/>
          <p:nvPr>
            <p:ph idx="1" type="body"/>
          </p:nvPr>
        </p:nvSpPr>
        <p:spPr>
          <a:xfrm>
            <a:off x="5028200" y="1152475"/>
            <a:ext cx="38040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¿Qué imprimirá por consola?</a:t>
            </a:r>
            <a:endParaRPr/>
          </a:p>
        </p:txBody>
      </p:sp>
      <p:sp>
        <p:nvSpPr>
          <p:cNvPr id="1339" name="Google Shape;1339;p83"/>
          <p:cNvSpPr/>
          <p:nvPr/>
        </p:nvSpPr>
        <p:spPr>
          <a:xfrm rot="10800000">
            <a:off x="311700" y="1602352"/>
            <a:ext cx="4473300" cy="33657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340" name="Google Shape;1340;p83"/>
          <p:cNvSpPr/>
          <p:nvPr/>
        </p:nvSpPr>
        <p:spPr>
          <a:xfrm rot="10800000">
            <a:off x="311710" y="1207937"/>
            <a:ext cx="4473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41" name="Google Shape;1341;p83"/>
          <p:cNvSpPr/>
          <p:nvPr/>
        </p:nvSpPr>
        <p:spPr>
          <a:xfrm>
            <a:off x="514036" y="1306813"/>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42" name="Google Shape;1342;p83"/>
          <p:cNvSpPr/>
          <p:nvPr/>
        </p:nvSpPr>
        <p:spPr>
          <a:xfrm>
            <a:off x="897239" y="1306813"/>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43" name="Google Shape;1343;p83"/>
          <p:cNvSpPr/>
          <p:nvPr/>
        </p:nvSpPr>
        <p:spPr>
          <a:xfrm>
            <a:off x="1280441" y="1306813"/>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44" name="Google Shape;1344;p83"/>
          <p:cNvSpPr txBox="1"/>
          <p:nvPr/>
        </p:nvSpPr>
        <p:spPr>
          <a:xfrm>
            <a:off x="312175" y="1648420"/>
            <a:ext cx="4473300" cy="31182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1</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N</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2</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for</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&lt;</a:t>
            </a:r>
            <a:r>
              <a:rPr b="0" i="0" lang="es" sz="1600" u="none" cap="none" strike="noStrike">
                <a:solidFill>
                  <a:srgbClr val="E06C75"/>
                </a:solidFill>
                <a:latin typeface="Arial"/>
                <a:ea typeface="Arial"/>
                <a:cs typeface="Arial"/>
                <a:sym typeface="Arial"/>
              </a:rPr>
              <a:t>N</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4</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if</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6</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7</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"Condicion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8</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break</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9</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11</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12</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"Fin"</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8" name="Shape 1348"/>
        <p:cNvGrpSpPr/>
        <p:nvPr/>
      </p:nvGrpSpPr>
      <p:grpSpPr>
        <a:xfrm>
          <a:off x="0" y="0"/>
          <a:ext cx="0" cy="0"/>
          <a:chOff x="0" y="0"/>
          <a:chExt cx="0" cy="0"/>
        </a:xfrm>
      </p:grpSpPr>
      <p:sp>
        <p:nvSpPr>
          <p:cNvPr id="1349" name="Google Shape;1349;p8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Analicemos este programa..</a:t>
            </a:r>
            <a:endParaRPr/>
          </a:p>
        </p:txBody>
      </p:sp>
      <p:sp>
        <p:nvSpPr>
          <p:cNvPr id="1350" name="Google Shape;1350;p84"/>
          <p:cNvSpPr txBox="1"/>
          <p:nvPr>
            <p:ph idx="1" type="body"/>
          </p:nvPr>
        </p:nvSpPr>
        <p:spPr>
          <a:xfrm>
            <a:off x="5028200" y="1152475"/>
            <a:ext cx="38040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¿Qué imprimirá por consola?</a:t>
            </a:r>
            <a:endParaRPr/>
          </a:p>
          <a:p>
            <a:pPr indent="0" lvl="0" marL="0" rtl="0" algn="l">
              <a:lnSpc>
                <a:spcPct val="115000"/>
              </a:lnSpc>
              <a:spcBef>
                <a:spcPts val="1200"/>
              </a:spcBef>
              <a:spcAft>
                <a:spcPts val="0"/>
              </a:spcAft>
              <a:buSzPts val="1800"/>
              <a:buNone/>
            </a:pPr>
            <a:r>
              <a:rPr lang="es">
                <a:solidFill>
                  <a:schemeClr val="accent4"/>
                </a:solidFill>
              </a:rPr>
              <a:t>0 1 2 Condicion Fin</a:t>
            </a:r>
            <a:endParaRPr>
              <a:solidFill>
                <a:schemeClr val="accent4"/>
              </a:solidFill>
            </a:endParaRPr>
          </a:p>
          <a:p>
            <a:pPr indent="0" lvl="0" marL="0" rtl="0" algn="l">
              <a:lnSpc>
                <a:spcPct val="115000"/>
              </a:lnSpc>
              <a:spcBef>
                <a:spcPts val="1200"/>
              </a:spcBef>
              <a:spcAft>
                <a:spcPts val="1200"/>
              </a:spcAft>
              <a:buSzPts val="1800"/>
              <a:buNone/>
            </a:pPr>
            <a:r>
              <a:t/>
            </a:r>
            <a:endParaRPr/>
          </a:p>
        </p:txBody>
      </p:sp>
      <p:sp>
        <p:nvSpPr>
          <p:cNvPr id="1351" name="Google Shape;1351;p84"/>
          <p:cNvSpPr/>
          <p:nvPr/>
        </p:nvSpPr>
        <p:spPr>
          <a:xfrm rot="10800000">
            <a:off x="311700" y="1602352"/>
            <a:ext cx="4473300" cy="33657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352" name="Google Shape;1352;p84"/>
          <p:cNvSpPr/>
          <p:nvPr/>
        </p:nvSpPr>
        <p:spPr>
          <a:xfrm rot="10800000">
            <a:off x="311710" y="1207937"/>
            <a:ext cx="4473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53" name="Google Shape;1353;p84"/>
          <p:cNvSpPr/>
          <p:nvPr/>
        </p:nvSpPr>
        <p:spPr>
          <a:xfrm>
            <a:off x="514036" y="1306813"/>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54" name="Google Shape;1354;p84"/>
          <p:cNvSpPr/>
          <p:nvPr/>
        </p:nvSpPr>
        <p:spPr>
          <a:xfrm>
            <a:off x="897239" y="1306813"/>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55" name="Google Shape;1355;p84"/>
          <p:cNvSpPr/>
          <p:nvPr/>
        </p:nvSpPr>
        <p:spPr>
          <a:xfrm>
            <a:off x="1280441" y="1306813"/>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56" name="Google Shape;1356;p84"/>
          <p:cNvSpPr txBox="1"/>
          <p:nvPr/>
        </p:nvSpPr>
        <p:spPr>
          <a:xfrm>
            <a:off x="312175" y="1648420"/>
            <a:ext cx="4473300" cy="31182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1</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N</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2</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for</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&lt;</a:t>
            </a:r>
            <a:r>
              <a:rPr b="0" i="0" lang="es" sz="1600" u="none" cap="none" strike="noStrike">
                <a:solidFill>
                  <a:srgbClr val="E06C75"/>
                </a:solidFill>
                <a:latin typeface="Arial"/>
                <a:ea typeface="Arial"/>
                <a:cs typeface="Arial"/>
                <a:sym typeface="Arial"/>
              </a:rPr>
              <a:t>N</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4</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if</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6</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7</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"Condicion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8</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break</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9</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11</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12</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"Fin"</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0" name="Shape 1360"/>
        <p:cNvGrpSpPr/>
        <p:nvPr/>
      </p:nvGrpSpPr>
      <p:grpSpPr>
        <a:xfrm>
          <a:off x="0" y="0"/>
          <a:ext cx="0" cy="0"/>
          <a:chOff x="0" y="0"/>
          <a:chExt cx="0" cy="0"/>
        </a:xfrm>
      </p:grpSpPr>
      <p:sp>
        <p:nvSpPr>
          <p:cNvPr id="1361" name="Google Shape;1361;p8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Analicemos este programa..</a:t>
            </a:r>
            <a:endParaRPr/>
          </a:p>
        </p:txBody>
      </p:sp>
      <p:sp>
        <p:nvSpPr>
          <p:cNvPr id="1362" name="Google Shape;1362;p85"/>
          <p:cNvSpPr txBox="1"/>
          <p:nvPr>
            <p:ph idx="1" type="body"/>
          </p:nvPr>
        </p:nvSpPr>
        <p:spPr>
          <a:xfrm>
            <a:off x="5028200" y="1152475"/>
            <a:ext cx="38040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¿Qué imprimirá por consola?</a:t>
            </a:r>
            <a:endParaRPr/>
          </a:p>
          <a:p>
            <a:pPr indent="0" lvl="0" marL="0" rtl="0" algn="l">
              <a:lnSpc>
                <a:spcPct val="115000"/>
              </a:lnSpc>
              <a:spcBef>
                <a:spcPts val="1200"/>
              </a:spcBef>
              <a:spcAft>
                <a:spcPts val="0"/>
              </a:spcAft>
              <a:buSzPts val="1800"/>
              <a:buNone/>
            </a:pPr>
            <a:r>
              <a:rPr lang="es">
                <a:solidFill>
                  <a:schemeClr val="accent4"/>
                </a:solidFill>
              </a:rPr>
              <a:t>0 1 2 Condicion Fin</a:t>
            </a:r>
            <a:endParaRPr>
              <a:solidFill>
                <a:schemeClr val="accent4"/>
              </a:solidFill>
            </a:endParaRPr>
          </a:p>
          <a:p>
            <a:pPr indent="0" lvl="0" marL="0" rtl="0" algn="l">
              <a:lnSpc>
                <a:spcPct val="115000"/>
              </a:lnSpc>
              <a:spcBef>
                <a:spcPts val="1200"/>
              </a:spcBef>
              <a:spcAft>
                <a:spcPts val="1200"/>
              </a:spcAft>
              <a:buSzPts val="1800"/>
              <a:buNone/>
            </a:pPr>
            <a:r>
              <a:rPr lang="es"/>
              <a:t>Es decir que al ejecutar la sentencia </a:t>
            </a:r>
            <a:r>
              <a:rPr lang="es">
                <a:solidFill>
                  <a:schemeClr val="accent4"/>
                </a:solidFill>
              </a:rPr>
              <a:t>break </a:t>
            </a:r>
            <a:r>
              <a:rPr lang="es"/>
              <a:t>(en este caso cuando la condición de la línea 5 es true) </a:t>
            </a:r>
            <a:r>
              <a:rPr lang="es">
                <a:solidFill>
                  <a:schemeClr val="accent1"/>
                </a:solidFill>
              </a:rPr>
              <a:t>finaliza </a:t>
            </a:r>
            <a:r>
              <a:rPr lang="es"/>
              <a:t>la ejecución del ciclo y procede con la sentencia que este luego de este, en este caso la línea 12</a:t>
            </a:r>
            <a:endParaRPr/>
          </a:p>
        </p:txBody>
      </p:sp>
      <p:sp>
        <p:nvSpPr>
          <p:cNvPr id="1363" name="Google Shape;1363;p85"/>
          <p:cNvSpPr/>
          <p:nvPr/>
        </p:nvSpPr>
        <p:spPr>
          <a:xfrm rot="10800000">
            <a:off x="311700" y="1602352"/>
            <a:ext cx="4473300" cy="33657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364" name="Google Shape;1364;p85"/>
          <p:cNvSpPr/>
          <p:nvPr/>
        </p:nvSpPr>
        <p:spPr>
          <a:xfrm rot="10800000">
            <a:off x="311710" y="1207937"/>
            <a:ext cx="4473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65" name="Google Shape;1365;p85"/>
          <p:cNvSpPr/>
          <p:nvPr/>
        </p:nvSpPr>
        <p:spPr>
          <a:xfrm>
            <a:off x="514036" y="1306813"/>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66" name="Google Shape;1366;p85"/>
          <p:cNvSpPr/>
          <p:nvPr/>
        </p:nvSpPr>
        <p:spPr>
          <a:xfrm>
            <a:off x="897239" y="1306813"/>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67" name="Google Shape;1367;p85"/>
          <p:cNvSpPr/>
          <p:nvPr/>
        </p:nvSpPr>
        <p:spPr>
          <a:xfrm>
            <a:off x="1280441" y="1306813"/>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68" name="Google Shape;1368;p85"/>
          <p:cNvSpPr txBox="1"/>
          <p:nvPr/>
        </p:nvSpPr>
        <p:spPr>
          <a:xfrm>
            <a:off x="312175" y="1648420"/>
            <a:ext cx="4473300" cy="31182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1</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N</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2</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for</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&lt;</a:t>
            </a:r>
            <a:r>
              <a:rPr b="0" i="0" lang="es" sz="1600" u="none" cap="none" strike="noStrike">
                <a:solidFill>
                  <a:srgbClr val="E06C75"/>
                </a:solidFill>
                <a:latin typeface="Arial"/>
                <a:ea typeface="Arial"/>
                <a:cs typeface="Arial"/>
                <a:sym typeface="Arial"/>
              </a:rPr>
              <a:t>N</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4</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if</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6</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7</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"Condicion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8</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break</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9</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11</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12</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"Fin"</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Google Shape;1373;p8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Ahora lo modificamos y Analizamos nuevamente</a:t>
            </a:r>
            <a:endParaRPr/>
          </a:p>
        </p:txBody>
      </p:sp>
      <p:sp>
        <p:nvSpPr>
          <p:cNvPr id="1374" name="Google Shape;1374;p86"/>
          <p:cNvSpPr/>
          <p:nvPr/>
        </p:nvSpPr>
        <p:spPr>
          <a:xfrm rot="10800000">
            <a:off x="311700" y="1602352"/>
            <a:ext cx="4473300" cy="33657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375" name="Google Shape;1375;p86"/>
          <p:cNvSpPr/>
          <p:nvPr/>
        </p:nvSpPr>
        <p:spPr>
          <a:xfrm rot="10800000">
            <a:off x="311710" y="1207937"/>
            <a:ext cx="4473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76" name="Google Shape;1376;p86"/>
          <p:cNvSpPr/>
          <p:nvPr/>
        </p:nvSpPr>
        <p:spPr>
          <a:xfrm>
            <a:off x="514036" y="1306813"/>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77" name="Google Shape;1377;p86"/>
          <p:cNvSpPr/>
          <p:nvPr/>
        </p:nvSpPr>
        <p:spPr>
          <a:xfrm>
            <a:off x="897239" y="1306813"/>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78" name="Google Shape;1378;p86"/>
          <p:cNvSpPr/>
          <p:nvPr/>
        </p:nvSpPr>
        <p:spPr>
          <a:xfrm>
            <a:off x="1280441" y="1306813"/>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79" name="Google Shape;1379;p86"/>
          <p:cNvSpPr txBox="1"/>
          <p:nvPr/>
        </p:nvSpPr>
        <p:spPr>
          <a:xfrm>
            <a:off x="312175" y="1648420"/>
            <a:ext cx="4473300" cy="31182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1</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N</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2</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for</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&lt;</a:t>
            </a:r>
            <a:r>
              <a:rPr b="0" i="0" lang="es" sz="1600" u="none" cap="none" strike="noStrike">
                <a:solidFill>
                  <a:srgbClr val="E06C75"/>
                </a:solidFill>
                <a:latin typeface="Arial"/>
                <a:ea typeface="Arial"/>
                <a:cs typeface="Arial"/>
                <a:sym typeface="Arial"/>
              </a:rPr>
              <a:t>N</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4</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if</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 </a:t>
            </a:r>
            <a:r>
              <a:rPr b="0" i="0" lang="es" sz="1600" u="none" cap="none" strike="noStrike">
                <a:solidFill>
                  <a:srgbClr val="986801"/>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6</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7</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"Condicion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8</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continue</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9</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11</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12</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"Fin"</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p:txBody>
      </p:sp>
      <p:sp>
        <p:nvSpPr>
          <p:cNvPr id="1380" name="Google Shape;1380;p86"/>
          <p:cNvSpPr txBox="1"/>
          <p:nvPr>
            <p:ph idx="1" type="body"/>
          </p:nvPr>
        </p:nvSpPr>
        <p:spPr>
          <a:xfrm>
            <a:off x="4861675" y="1152475"/>
            <a:ext cx="42891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Modificamos la condición de la línea 5 y reemplazamos la sentencia </a:t>
            </a:r>
            <a:r>
              <a:rPr lang="es">
                <a:solidFill>
                  <a:schemeClr val="accent4"/>
                </a:solidFill>
              </a:rPr>
              <a:t>break </a:t>
            </a:r>
            <a:r>
              <a:rPr lang="es"/>
              <a:t>por un </a:t>
            </a:r>
            <a:r>
              <a:rPr lang="es">
                <a:solidFill>
                  <a:schemeClr val="accent1"/>
                </a:solidFill>
              </a:rPr>
              <a:t>continue</a:t>
            </a:r>
            <a:r>
              <a:rPr lang="es"/>
              <a:t>. Veamos cómo se comporta.</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4" name="Shape 1384"/>
        <p:cNvGrpSpPr/>
        <p:nvPr/>
      </p:nvGrpSpPr>
      <p:grpSpPr>
        <a:xfrm>
          <a:off x="0" y="0"/>
          <a:ext cx="0" cy="0"/>
          <a:chOff x="0" y="0"/>
          <a:chExt cx="0" cy="0"/>
        </a:xfrm>
      </p:grpSpPr>
      <p:sp>
        <p:nvSpPr>
          <p:cNvPr id="1385" name="Google Shape;1385;p8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Ahora lo modificamos y Analizamos nuevamente</a:t>
            </a:r>
            <a:endParaRPr/>
          </a:p>
        </p:txBody>
      </p:sp>
      <p:sp>
        <p:nvSpPr>
          <p:cNvPr id="1386" name="Google Shape;1386;p87"/>
          <p:cNvSpPr txBox="1"/>
          <p:nvPr>
            <p:ph idx="1" type="body"/>
          </p:nvPr>
        </p:nvSpPr>
        <p:spPr>
          <a:xfrm>
            <a:off x="4861675" y="1152475"/>
            <a:ext cx="4289100" cy="37503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00000"/>
              <a:buNone/>
            </a:pPr>
            <a:r>
              <a:rPr lang="es"/>
              <a:t>Modificamos la condición de la línea 5 y reemplazamos la sentencia </a:t>
            </a:r>
            <a:r>
              <a:rPr lang="es">
                <a:solidFill>
                  <a:schemeClr val="accent4"/>
                </a:solidFill>
              </a:rPr>
              <a:t>break </a:t>
            </a:r>
            <a:r>
              <a:rPr lang="es"/>
              <a:t>por un </a:t>
            </a:r>
            <a:r>
              <a:rPr lang="es">
                <a:solidFill>
                  <a:schemeClr val="accent1"/>
                </a:solidFill>
              </a:rPr>
              <a:t>continue</a:t>
            </a:r>
            <a:r>
              <a:rPr lang="es"/>
              <a:t>. Veamos cómo se comporta. </a:t>
            </a:r>
            <a:endParaRPr/>
          </a:p>
          <a:p>
            <a:pPr indent="0" lvl="0" marL="0" rtl="0" algn="l">
              <a:lnSpc>
                <a:spcPct val="115000"/>
              </a:lnSpc>
              <a:spcBef>
                <a:spcPts val="1200"/>
              </a:spcBef>
              <a:spcAft>
                <a:spcPts val="0"/>
              </a:spcAft>
              <a:buSzPct val="100000"/>
              <a:buNone/>
            </a:pPr>
            <a:r>
              <a:rPr lang="es">
                <a:solidFill>
                  <a:schemeClr val="accent4"/>
                </a:solidFill>
              </a:rPr>
              <a:t>Condicion Condicion Condicion 3 4 Fin</a:t>
            </a:r>
            <a:endParaRPr>
              <a:solidFill>
                <a:schemeClr val="accent4"/>
              </a:solidFill>
            </a:endParaRPr>
          </a:p>
          <a:p>
            <a:pPr indent="0" lvl="0" marL="0" rtl="0" algn="l">
              <a:lnSpc>
                <a:spcPct val="115000"/>
              </a:lnSpc>
              <a:spcBef>
                <a:spcPts val="1200"/>
              </a:spcBef>
              <a:spcAft>
                <a:spcPts val="1200"/>
              </a:spcAft>
              <a:buSzPct val="100000"/>
              <a:buNone/>
            </a:pPr>
            <a:r>
              <a:rPr lang="es"/>
              <a:t>Vemos que la sentencia continue detiene la ejecución de la instancia en curso del bucle que la contiene. Provocando una nueva entrada en el ciclo en lugar de finalizar con toda la ejecución como lo hace la sentencia break.</a:t>
            </a:r>
            <a:endParaRPr/>
          </a:p>
        </p:txBody>
      </p:sp>
      <p:sp>
        <p:nvSpPr>
          <p:cNvPr id="1387" name="Google Shape;1387;p87"/>
          <p:cNvSpPr/>
          <p:nvPr/>
        </p:nvSpPr>
        <p:spPr>
          <a:xfrm rot="10800000">
            <a:off x="311700" y="1602352"/>
            <a:ext cx="4473300" cy="3365700"/>
          </a:xfrm>
          <a:prstGeom prst="round2SameRect">
            <a:avLst>
              <a:gd fmla="val 6244" name="adj1"/>
              <a:gd fmla="val 0" name="adj2"/>
            </a:avLst>
          </a:prstGeom>
          <a:solidFill>
            <a:srgbClr val="FAFA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1388" name="Google Shape;1388;p87"/>
          <p:cNvSpPr/>
          <p:nvPr/>
        </p:nvSpPr>
        <p:spPr>
          <a:xfrm rot="10800000">
            <a:off x="311710" y="1207937"/>
            <a:ext cx="4473300" cy="530400"/>
          </a:xfrm>
          <a:prstGeom prst="round2SameRect">
            <a:avLst>
              <a:gd fmla="val 6272" name="adj1"/>
              <a:gd fmla="val 25195" name="adj2"/>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89" name="Google Shape;1389;p87"/>
          <p:cNvSpPr/>
          <p:nvPr/>
        </p:nvSpPr>
        <p:spPr>
          <a:xfrm>
            <a:off x="514036" y="1306813"/>
            <a:ext cx="258900" cy="258900"/>
          </a:xfrm>
          <a:prstGeom prst="ellipse">
            <a:avLst/>
          </a:prstGeom>
          <a:solidFill>
            <a:srgbClr val="FF60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90" name="Google Shape;1390;p87"/>
          <p:cNvSpPr/>
          <p:nvPr/>
        </p:nvSpPr>
        <p:spPr>
          <a:xfrm>
            <a:off x="897239" y="1306813"/>
            <a:ext cx="258900" cy="258900"/>
          </a:xfrm>
          <a:prstGeom prst="ellipse">
            <a:avLst/>
          </a:prstGeom>
          <a:solidFill>
            <a:srgbClr val="FFBD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91" name="Google Shape;1391;p87"/>
          <p:cNvSpPr/>
          <p:nvPr/>
        </p:nvSpPr>
        <p:spPr>
          <a:xfrm>
            <a:off x="1280441" y="1306813"/>
            <a:ext cx="258900" cy="258900"/>
          </a:xfrm>
          <a:prstGeom prst="ellipse">
            <a:avLst/>
          </a:prstGeom>
          <a:solidFill>
            <a:srgbClr val="00CA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1392" name="Google Shape;1392;p87"/>
          <p:cNvSpPr txBox="1"/>
          <p:nvPr/>
        </p:nvSpPr>
        <p:spPr>
          <a:xfrm>
            <a:off x="312175" y="1648420"/>
            <a:ext cx="4473300" cy="3118200"/>
          </a:xfrm>
          <a:prstGeom prst="rect">
            <a:avLst/>
          </a:prstGeom>
          <a:solidFill>
            <a:srgbClr val="FAFAFA"/>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1</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N</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2</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for</a:t>
            </a:r>
            <a:r>
              <a:rPr b="0" i="0" lang="es" sz="1600" u="none" cap="none" strike="noStrike">
                <a:solidFill>
                  <a:srgbClr val="383A42"/>
                </a:solidFill>
                <a:latin typeface="Arial"/>
                <a:ea typeface="Arial"/>
                <a:cs typeface="Arial"/>
                <a:sym typeface="Arial"/>
              </a:rPr>
              <a:t> (</a:t>
            </a:r>
            <a:r>
              <a:rPr b="0" i="0" lang="es" sz="1600" u="none" cap="none" strike="noStrike">
                <a:solidFill>
                  <a:srgbClr val="27292F"/>
                </a:solidFill>
                <a:latin typeface="Arial"/>
                <a:ea typeface="Arial"/>
                <a:cs typeface="Arial"/>
                <a:sym typeface="Arial"/>
              </a:rPr>
              <a:t>int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986801"/>
                </a:solidFill>
                <a:latin typeface="Arial"/>
                <a:ea typeface="Arial"/>
                <a:cs typeface="Arial"/>
                <a:sym typeface="Arial"/>
              </a:rPr>
              <a:t>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&lt;</a:t>
            </a:r>
            <a:r>
              <a:rPr b="0" i="0" lang="es" sz="1600" u="none" cap="none" strike="noStrike">
                <a:solidFill>
                  <a:srgbClr val="E06C75"/>
                </a:solidFill>
                <a:latin typeface="Arial"/>
                <a:ea typeface="Arial"/>
                <a:cs typeface="Arial"/>
                <a:sym typeface="Arial"/>
              </a:rPr>
              <a:t>N</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0184BC"/>
                </a:solidFill>
                <a:latin typeface="Arial"/>
                <a:ea typeface="Arial"/>
                <a:cs typeface="Arial"/>
                <a:sym typeface="Arial"/>
              </a:rPr>
              <a:t>++</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4</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5</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if</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 </a:t>
            </a:r>
            <a:r>
              <a:rPr b="0" i="0" lang="es" sz="1600" u="none" cap="none" strike="noStrike">
                <a:solidFill>
                  <a:srgbClr val="986801"/>
                </a:solidFill>
                <a:latin typeface="Arial"/>
                <a:ea typeface="Arial"/>
                <a:cs typeface="Arial"/>
                <a:sym typeface="Arial"/>
              </a:rPr>
              <a:t>3</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6</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7</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"Condicion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8</a:t>
            </a:r>
            <a:r>
              <a:rPr b="0" i="0" lang="es" sz="1600" u="none" cap="none" strike="noStrike">
                <a:solidFill>
                  <a:srgbClr val="383A42"/>
                </a:solidFill>
                <a:latin typeface="Arial"/>
                <a:ea typeface="Arial"/>
                <a:cs typeface="Arial"/>
                <a:sym typeface="Arial"/>
              </a:rPr>
              <a:t>  			</a:t>
            </a:r>
            <a:r>
              <a:rPr b="0" i="0" lang="es" sz="1600" u="none" cap="none" strike="noStrike">
                <a:solidFill>
                  <a:srgbClr val="A626A4"/>
                </a:solidFill>
                <a:latin typeface="Arial"/>
                <a:ea typeface="Arial"/>
                <a:cs typeface="Arial"/>
                <a:sym typeface="Arial"/>
              </a:rPr>
              <a:t>continue</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383A42"/>
                </a:solidFill>
                <a:latin typeface="Arial"/>
                <a:ea typeface="Arial"/>
                <a:cs typeface="Arial"/>
                <a:sym typeface="Arial"/>
              </a:rPr>
              <a:t>  </a:t>
            </a:r>
            <a:r>
              <a:rPr b="0" i="0" lang="es" sz="1600" u="none" cap="none" strike="noStrike">
                <a:solidFill>
                  <a:srgbClr val="929292"/>
                </a:solidFill>
                <a:latin typeface="Arial"/>
                <a:ea typeface="Arial"/>
                <a:cs typeface="Arial"/>
                <a:sym typeface="Arial"/>
              </a:rPr>
              <a:t>9</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10</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i</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 "</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11</a:t>
            </a:r>
            <a:r>
              <a:rPr b="0" i="0" lang="es" sz="1600" u="none" cap="none" strike="noStrike">
                <a:solidFill>
                  <a:srgbClr val="383A42"/>
                </a:solidFill>
                <a:latin typeface="Arial"/>
                <a:ea typeface="Arial"/>
                <a:cs typeface="Arial"/>
                <a:sym typeface="Arial"/>
              </a:rPr>
              <a:t>  }</a:t>
            </a:r>
            <a:endParaRPr b="0" i="0" sz="1600" u="none" cap="none" strike="noStrike">
              <a:solidFill>
                <a:srgbClr val="383A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rgbClr val="929292"/>
                </a:solidFill>
                <a:latin typeface="Arial"/>
                <a:ea typeface="Arial"/>
                <a:cs typeface="Arial"/>
                <a:sym typeface="Arial"/>
              </a:rPr>
              <a:t>12</a:t>
            </a:r>
            <a:r>
              <a:rPr b="0" i="0" lang="es" sz="1600" u="none" cap="none" strike="noStrike">
                <a:solidFill>
                  <a:srgbClr val="383A42"/>
                </a:solidFill>
                <a:latin typeface="Arial"/>
                <a:ea typeface="Arial"/>
                <a:cs typeface="Arial"/>
                <a:sym typeface="Arial"/>
              </a:rPr>
              <a:t>  	</a:t>
            </a:r>
            <a:r>
              <a:rPr b="0" i="0" lang="es" sz="1600" u="none" cap="none" strike="noStrike">
                <a:solidFill>
                  <a:srgbClr val="E06C75"/>
                </a:solidFill>
                <a:latin typeface="Arial"/>
                <a:ea typeface="Arial"/>
                <a:cs typeface="Arial"/>
                <a:sym typeface="Arial"/>
              </a:rPr>
              <a:t>cout</a:t>
            </a:r>
            <a:r>
              <a:rPr b="0" i="0" lang="es" sz="1600" u="none" cap="none" strike="noStrike">
                <a:solidFill>
                  <a:srgbClr val="383A42"/>
                </a:solidFill>
                <a:latin typeface="Arial"/>
                <a:ea typeface="Arial"/>
                <a:cs typeface="Arial"/>
                <a:sym typeface="Arial"/>
              </a:rPr>
              <a:t> </a:t>
            </a:r>
            <a:r>
              <a:rPr b="0" i="0" lang="es" sz="1600" u="none" cap="none" strike="noStrike">
                <a:solidFill>
                  <a:srgbClr val="0184BC"/>
                </a:solidFill>
                <a:latin typeface="Arial"/>
                <a:ea typeface="Arial"/>
                <a:cs typeface="Arial"/>
                <a:sym typeface="Arial"/>
              </a:rPr>
              <a:t>&lt;&lt;</a:t>
            </a:r>
            <a:r>
              <a:rPr b="0" i="0" lang="es" sz="1600" u="none" cap="none" strike="noStrike">
                <a:solidFill>
                  <a:srgbClr val="383A42"/>
                </a:solidFill>
                <a:latin typeface="Arial"/>
                <a:ea typeface="Arial"/>
                <a:cs typeface="Arial"/>
                <a:sym typeface="Arial"/>
              </a:rPr>
              <a:t> </a:t>
            </a:r>
            <a:r>
              <a:rPr b="0" i="0" lang="es" sz="1600" u="none" cap="none" strike="noStrike">
                <a:solidFill>
                  <a:srgbClr val="50A14F"/>
                </a:solidFill>
                <a:latin typeface="Arial"/>
                <a:ea typeface="Arial"/>
                <a:cs typeface="Arial"/>
                <a:sym typeface="Arial"/>
              </a:rPr>
              <a:t>"Fin"</a:t>
            </a:r>
            <a:r>
              <a:rPr b="0" i="0" lang="es" sz="1600" u="none" cap="none" strike="noStrike">
                <a:solidFill>
                  <a:srgbClr val="383A42"/>
                </a:solidFill>
                <a:latin typeface="Arial"/>
                <a:ea typeface="Arial"/>
                <a:cs typeface="Arial"/>
                <a:sym typeface="Arial"/>
              </a:rPr>
              <a:t>;</a:t>
            </a:r>
            <a:endParaRPr b="0" i="0" sz="1600" u="none" cap="none" strike="noStrike">
              <a:solidFill>
                <a:srgbClr val="383A42"/>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6" name="Shape 1396"/>
        <p:cNvGrpSpPr/>
        <p:nvPr/>
      </p:nvGrpSpPr>
      <p:grpSpPr>
        <a:xfrm>
          <a:off x="0" y="0"/>
          <a:ext cx="0" cy="0"/>
          <a:chOff x="0" y="0"/>
          <a:chExt cx="0" cy="0"/>
        </a:xfrm>
      </p:grpSpPr>
      <p:sp>
        <p:nvSpPr>
          <p:cNvPr id="1397" name="Google Shape;1397;p8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p>
            <a:pPr indent="0" lvl="0" marL="0" marR="0" rtl="0" algn="l">
              <a:lnSpc>
                <a:spcPct val="100000"/>
              </a:lnSpc>
              <a:spcBef>
                <a:spcPts val="0"/>
              </a:spcBef>
              <a:spcAft>
                <a:spcPts val="0"/>
              </a:spcAft>
              <a:buSzPts val="4800"/>
              <a:buNone/>
            </a:pPr>
            <a:r>
              <a:rPr lang="es" sz="7000"/>
              <a:t>Haciendo </a:t>
            </a:r>
            <a:r>
              <a:rPr lang="es" sz="7000">
                <a:solidFill>
                  <a:schemeClr val="accent4"/>
                </a:solidFill>
              </a:rPr>
              <a:t>nidos</a:t>
            </a:r>
            <a:r>
              <a:rPr lang="es" sz="7000"/>
              <a:t>??</a:t>
            </a:r>
            <a:endParaRPr sz="7000">
              <a:solidFill>
                <a:schemeClr val="accent4"/>
              </a:solidFill>
            </a:endParaRPr>
          </a:p>
        </p:txBody>
      </p:sp>
      <p:pic>
        <p:nvPicPr>
          <p:cNvPr id="1398" name="Google Shape;1398;p88" title="itera_nido.png"/>
          <p:cNvPicPr preferRelativeResize="0"/>
          <p:nvPr/>
        </p:nvPicPr>
        <p:blipFill>
          <a:blip r:embed="rId3">
            <a:alphaModFix/>
          </a:blip>
          <a:stretch>
            <a:fillRect/>
          </a:stretch>
        </p:blipFill>
        <p:spPr>
          <a:xfrm>
            <a:off x="5549974" y="1179250"/>
            <a:ext cx="3457924" cy="3457924"/>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8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Haciendo nidos?</a:t>
            </a:r>
            <a:endParaRPr/>
          </a:p>
        </p:txBody>
      </p:sp>
      <p:sp>
        <p:nvSpPr>
          <p:cNvPr id="1404" name="Google Shape;1404;p89"/>
          <p:cNvSpPr txBox="1"/>
          <p:nvPr/>
        </p:nvSpPr>
        <p:spPr>
          <a:xfrm>
            <a:off x="311700" y="1246325"/>
            <a:ext cx="4260300" cy="21135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15000"/>
              </a:lnSpc>
              <a:spcBef>
                <a:spcPts val="0"/>
              </a:spcBef>
              <a:spcAft>
                <a:spcPts val="0"/>
              </a:spcAft>
              <a:buClr>
                <a:srgbClr val="000000"/>
              </a:buClr>
              <a:buSzPts val="2200"/>
              <a:buFont typeface="Arial"/>
              <a:buNone/>
            </a:pPr>
            <a:r>
              <a:rPr b="0" i="0" lang="es" sz="2200" u="none" cap="none" strike="noStrike">
                <a:solidFill>
                  <a:schemeClr val="accent5"/>
                </a:solidFill>
                <a:latin typeface="Roboto Mono Medium"/>
                <a:ea typeface="Roboto Mono Medium"/>
                <a:cs typeface="Roboto Mono Medium"/>
                <a:sym typeface="Roboto Mono Medium"/>
              </a:rPr>
              <a:t>for</a:t>
            </a:r>
            <a:r>
              <a:rPr b="0" i="0" lang="es" sz="2200" u="none" cap="none" strike="noStrike">
                <a:solidFill>
                  <a:srgbClr val="ADADAD"/>
                </a:solidFill>
                <a:latin typeface="Roboto Mono Medium"/>
                <a:ea typeface="Roboto Mono Medium"/>
                <a:cs typeface="Roboto Mono Medium"/>
                <a:sym typeface="Roboto Mono Medium"/>
              </a:rPr>
              <a:t> </a:t>
            </a:r>
            <a:r>
              <a:rPr b="0" i="0" lang="es" sz="2200" u="none" cap="none" strike="noStrike">
                <a:solidFill>
                  <a:schemeClr val="dk2"/>
                </a:solidFill>
                <a:latin typeface="Roboto Mono Medium"/>
                <a:ea typeface="Roboto Mono Medium"/>
                <a:cs typeface="Roboto Mono Medium"/>
                <a:sym typeface="Roboto Mono Medium"/>
              </a:rPr>
              <a:t>(</a:t>
            </a:r>
            <a:r>
              <a:rPr b="0" i="0" lang="es" sz="2200" u="none" cap="none" strike="noStrike">
                <a:solidFill>
                  <a:srgbClr val="8E7CC3"/>
                </a:solidFill>
                <a:latin typeface="Roboto Mono Medium"/>
                <a:ea typeface="Roboto Mono Medium"/>
                <a:cs typeface="Roboto Mono Medium"/>
                <a:sym typeface="Roboto Mono Medium"/>
              </a:rPr>
              <a:t>sent</a:t>
            </a:r>
            <a:r>
              <a:rPr b="0" baseline="30000" i="0" lang="es" sz="2200" u="none" cap="none" strike="noStrike">
                <a:solidFill>
                  <a:srgbClr val="8E7CC3"/>
                </a:solidFill>
                <a:latin typeface="Roboto Mono Medium"/>
                <a:ea typeface="Roboto Mono Medium"/>
                <a:cs typeface="Roboto Mono Medium"/>
                <a:sym typeface="Roboto Mono Medium"/>
              </a:rPr>
              <a:t>1</a:t>
            </a:r>
            <a:r>
              <a:rPr b="0" i="0" lang="es" sz="2200" u="none" cap="none" strike="noStrike">
                <a:solidFill>
                  <a:srgbClr val="ADADAD"/>
                </a:solidFill>
                <a:latin typeface="Roboto Mono Medium"/>
                <a:ea typeface="Roboto Mono Medium"/>
                <a:cs typeface="Roboto Mono Medium"/>
                <a:sym typeface="Roboto Mono Medium"/>
              </a:rPr>
              <a:t>;</a:t>
            </a:r>
            <a:r>
              <a:rPr b="0" i="0" lang="es" sz="2200" u="none" cap="none" strike="noStrike">
                <a:solidFill>
                  <a:srgbClr val="FFAB40"/>
                </a:solidFill>
                <a:latin typeface="Roboto Mono Medium"/>
                <a:ea typeface="Roboto Mono Medium"/>
                <a:cs typeface="Roboto Mono Medium"/>
                <a:sym typeface="Roboto Mono Medium"/>
              </a:rPr>
              <a:t> expr</a:t>
            </a:r>
            <a:r>
              <a:rPr b="0" i="0" lang="es" sz="2200" u="none" cap="none" strike="noStrike">
                <a:solidFill>
                  <a:srgbClr val="ADADAD"/>
                </a:solidFill>
                <a:latin typeface="Roboto Mono Medium"/>
                <a:ea typeface="Roboto Mono Medium"/>
                <a:cs typeface="Roboto Mono Medium"/>
                <a:sym typeface="Roboto Mono Medium"/>
              </a:rPr>
              <a:t>;</a:t>
            </a:r>
            <a:r>
              <a:rPr b="0" i="0" lang="es" sz="2200" u="none" cap="none" strike="noStrike">
                <a:solidFill>
                  <a:srgbClr val="FFAB40"/>
                </a:solidFill>
                <a:latin typeface="Roboto Mono Medium"/>
                <a:ea typeface="Roboto Mono Medium"/>
                <a:cs typeface="Roboto Mono Medium"/>
                <a:sym typeface="Roboto Mono Medium"/>
              </a:rPr>
              <a:t> </a:t>
            </a:r>
            <a:r>
              <a:rPr b="0" i="0" lang="es" sz="2200" u="none" cap="none" strike="noStrike">
                <a:solidFill>
                  <a:srgbClr val="6D9EEB"/>
                </a:solidFill>
                <a:latin typeface="Roboto Mono Medium"/>
                <a:ea typeface="Roboto Mono Medium"/>
                <a:cs typeface="Roboto Mono Medium"/>
                <a:sym typeface="Roboto Mono Medium"/>
              </a:rPr>
              <a:t>sent</a:t>
            </a:r>
            <a:r>
              <a:rPr b="0" baseline="30000" i="0" lang="es" sz="2200" u="none" cap="none" strike="noStrike">
                <a:solidFill>
                  <a:srgbClr val="6D9EEB"/>
                </a:solidFill>
                <a:latin typeface="Roboto Mono Medium"/>
                <a:ea typeface="Roboto Mono Medium"/>
                <a:cs typeface="Roboto Mono Medium"/>
                <a:sym typeface="Roboto Mono Medium"/>
              </a:rPr>
              <a:t>2</a:t>
            </a:r>
            <a:r>
              <a:rPr b="0" i="0" lang="es" sz="2200" u="none" cap="none" strike="noStrike">
                <a:solidFill>
                  <a:schemeClr val="dk2"/>
                </a:solidFill>
                <a:latin typeface="Roboto Mono Medium"/>
                <a:ea typeface="Roboto Mono Medium"/>
                <a:cs typeface="Roboto Mono Medium"/>
                <a:sym typeface="Roboto Mono Medium"/>
              </a:rPr>
              <a:t>)</a:t>
            </a:r>
            <a:endParaRPr b="0" i="0" sz="2200" u="none" cap="none" strike="noStrike">
              <a:solidFill>
                <a:schemeClr val="dk2"/>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0"/>
              </a:spcAft>
              <a:buClr>
                <a:srgbClr val="000000"/>
              </a:buClr>
              <a:buSzPts val="2200"/>
              <a:buFont typeface="Arial"/>
              <a:buNone/>
            </a:pPr>
            <a:r>
              <a:rPr b="0" i="0" lang="es" sz="2200" u="none" cap="none" strike="noStrike">
                <a:solidFill>
                  <a:schemeClr val="dk2"/>
                </a:solidFill>
                <a:latin typeface="Roboto Mono Medium"/>
                <a:ea typeface="Roboto Mono Medium"/>
                <a:cs typeface="Roboto Mono Medium"/>
                <a:sym typeface="Roboto Mono Medium"/>
              </a:rPr>
              <a:t>{</a:t>
            </a:r>
            <a:endParaRPr b="0" i="0" sz="2200" u="none" cap="none" strike="noStrike">
              <a:solidFill>
                <a:schemeClr val="dk2"/>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0"/>
              </a:spcAft>
              <a:buClr>
                <a:srgbClr val="000000"/>
              </a:buClr>
              <a:buSzPts val="2200"/>
              <a:buFont typeface="Arial"/>
              <a:buNone/>
            </a:pPr>
            <a:r>
              <a:rPr b="0" i="0" lang="es" sz="2200" u="none" cap="none" strike="noStrike">
                <a:solidFill>
                  <a:srgbClr val="ADADAD"/>
                </a:solidFill>
                <a:latin typeface="Roboto Mono Medium"/>
                <a:ea typeface="Roboto Mono Medium"/>
                <a:cs typeface="Roboto Mono Medium"/>
                <a:sym typeface="Roboto Mono Medium"/>
              </a:rPr>
              <a:t>	   </a:t>
            </a:r>
            <a:r>
              <a:rPr b="0" i="0" lang="es" sz="2200" u="none" cap="none" strike="noStrike">
                <a:solidFill>
                  <a:srgbClr val="009688"/>
                </a:solidFill>
                <a:latin typeface="Roboto Mono Medium"/>
                <a:ea typeface="Roboto Mono Medium"/>
                <a:cs typeface="Roboto Mono Medium"/>
                <a:sym typeface="Roboto Mono Medium"/>
              </a:rPr>
              <a:t>prog</a:t>
            </a:r>
            <a:endParaRPr b="0" i="0" sz="2200" u="none" cap="none" strike="noStrike">
              <a:solidFill>
                <a:srgbClr val="009688"/>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1200"/>
              </a:spcAft>
              <a:buClr>
                <a:srgbClr val="000000"/>
              </a:buClr>
              <a:buSzPts val="2200"/>
              <a:buFont typeface="Arial"/>
              <a:buNone/>
            </a:pPr>
            <a:r>
              <a:rPr b="0" i="0" lang="es" sz="2200" u="none" cap="none" strike="noStrike">
                <a:solidFill>
                  <a:schemeClr val="dk2"/>
                </a:solidFill>
                <a:latin typeface="Roboto Mono Medium"/>
                <a:ea typeface="Roboto Mono Medium"/>
                <a:cs typeface="Roboto Mono Medium"/>
                <a:sym typeface="Roboto Mono Medium"/>
              </a:rPr>
              <a:t>}</a:t>
            </a:r>
            <a:endParaRPr b="0" i="0" sz="2200" u="none" cap="none" strike="noStrike">
              <a:solidFill>
                <a:schemeClr val="dk2"/>
              </a:solidFill>
              <a:latin typeface="Roboto Mono Medium"/>
              <a:ea typeface="Roboto Mono Medium"/>
              <a:cs typeface="Roboto Mono Medium"/>
              <a:sym typeface="Roboto Mono Medium"/>
            </a:endParaRPr>
          </a:p>
        </p:txBody>
      </p:sp>
      <p:sp>
        <p:nvSpPr>
          <p:cNvPr id="1405" name="Google Shape;1405;p89"/>
          <p:cNvSpPr txBox="1"/>
          <p:nvPr/>
        </p:nvSpPr>
        <p:spPr>
          <a:xfrm>
            <a:off x="5556575" y="1246325"/>
            <a:ext cx="2495100" cy="34164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2600"/>
              <a:buFont typeface="Arial"/>
              <a:buNone/>
            </a:pPr>
            <a:r>
              <a:rPr b="0" i="0" lang="es" sz="2200" u="none" cap="none" strike="noStrike">
                <a:solidFill>
                  <a:srgbClr val="4DD0E1"/>
                </a:solidFill>
                <a:latin typeface="Roboto Mono Medium"/>
                <a:ea typeface="Roboto Mono Medium"/>
                <a:cs typeface="Roboto Mono Medium"/>
                <a:sym typeface="Roboto Mono Medium"/>
              </a:rPr>
              <a:t>while</a:t>
            </a:r>
            <a:r>
              <a:rPr b="0" i="0" lang="es" sz="2200" u="none" cap="none" strike="noStrike">
                <a:solidFill>
                  <a:srgbClr val="ADADAD"/>
                </a:solidFill>
                <a:latin typeface="Roboto Mono Medium"/>
                <a:ea typeface="Roboto Mono Medium"/>
                <a:cs typeface="Roboto Mono Medium"/>
                <a:sym typeface="Roboto Mono Medium"/>
              </a:rPr>
              <a:t> </a:t>
            </a:r>
            <a:r>
              <a:rPr b="0" i="0" lang="es" sz="2200" u="none" cap="none" strike="noStrike">
                <a:solidFill>
                  <a:schemeClr val="dk2"/>
                </a:solidFill>
                <a:latin typeface="Roboto Mono Medium"/>
                <a:ea typeface="Roboto Mono Medium"/>
                <a:cs typeface="Roboto Mono Medium"/>
                <a:sym typeface="Roboto Mono Medium"/>
              </a:rPr>
              <a:t>(</a:t>
            </a:r>
            <a:r>
              <a:rPr b="0" i="0" lang="es" sz="2200" u="none" cap="none" strike="noStrike">
                <a:solidFill>
                  <a:srgbClr val="FFAB40"/>
                </a:solidFill>
                <a:latin typeface="Roboto Mono Medium"/>
                <a:ea typeface="Roboto Mono Medium"/>
                <a:cs typeface="Roboto Mono Medium"/>
                <a:sym typeface="Roboto Mono Medium"/>
              </a:rPr>
              <a:t>cond</a:t>
            </a:r>
            <a:r>
              <a:rPr b="0" i="0" lang="es" sz="2200" u="none" cap="none" strike="noStrike">
                <a:solidFill>
                  <a:schemeClr val="dk2"/>
                </a:solidFill>
                <a:latin typeface="Roboto Mono Medium"/>
                <a:ea typeface="Roboto Mono Medium"/>
                <a:cs typeface="Roboto Mono Medium"/>
                <a:sym typeface="Roboto Mono Medium"/>
              </a:rPr>
              <a:t>)</a:t>
            </a:r>
            <a:endParaRPr b="0" i="0" sz="2200" u="none" cap="none" strike="noStrike">
              <a:solidFill>
                <a:schemeClr val="dk2"/>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0"/>
              </a:spcAft>
              <a:buClr>
                <a:srgbClr val="000000"/>
              </a:buClr>
              <a:buSzPts val="2600"/>
              <a:buFont typeface="Arial"/>
              <a:buNone/>
            </a:pPr>
            <a:r>
              <a:rPr b="0" i="0" lang="es" sz="2200" u="none" cap="none" strike="noStrike">
                <a:solidFill>
                  <a:schemeClr val="dk2"/>
                </a:solidFill>
                <a:latin typeface="Roboto Mono Medium"/>
                <a:ea typeface="Roboto Mono Medium"/>
                <a:cs typeface="Roboto Mono Medium"/>
                <a:sym typeface="Roboto Mono Medium"/>
              </a:rPr>
              <a:t>{</a:t>
            </a:r>
            <a:endParaRPr b="0" i="0" sz="2200" u="none" cap="none" strike="noStrike">
              <a:solidFill>
                <a:schemeClr val="dk2"/>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0"/>
              </a:spcAft>
              <a:buClr>
                <a:srgbClr val="000000"/>
              </a:buClr>
              <a:buSzPts val="2600"/>
              <a:buFont typeface="Arial"/>
              <a:buNone/>
            </a:pPr>
            <a:r>
              <a:rPr b="0" i="0" lang="es" sz="2200" u="none" cap="none" strike="noStrike">
                <a:solidFill>
                  <a:srgbClr val="ADADAD"/>
                </a:solidFill>
                <a:latin typeface="Roboto Mono Medium"/>
                <a:ea typeface="Roboto Mono Medium"/>
                <a:cs typeface="Roboto Mono Medium"/>
                <a:sym typeface="Roboto Mono Medium"/>
              </a:rPr>
              <a:t>	   </a:t>
            </a:r>
            <a:r>
              <a:rPr b="0" i="0" lang="es" sz="2200" u="none" cap="none" strike="noStrike">
                <a:solidFill>
                  <a:srgbClr val="009688"/>
                </a:solidFill>
                <a:latin typeface="Roboto Mono Medium"/>
                <a:ea typeface="Roboto Mono Medium"/>
                <a:cs typeface="Roboto Mono Medium"/>
                <a:sym typeface="Roboto Mono Medium"/>
              </a:rPr>
              <a:t>prog</a:t>
            </a:r>
            <a:endParaRPr b="0" i="0" sz="2200" u="none" cap="none" strike="noStrike">
              <a:solidFill>
                <a:srgbClr val="009688"/>
              </a:solidFill>
              <a:latin typeface="Roboto Mono Medium"/>
              <a:ea typeface="Roboto Mono Medium"/>
              <a:cs typeface="Roboto Mono Medium"/>
              <a:sym typeface="Roboto Mono Medium"/>
            </a:endParaRPr>
          </a:p>
          <a:p>
            <a:pPr indent="0" lvl="0" marL="0" marR="0" rtl="0" algn="l">
              <a:lnSpc>
                <a:spcPct val="115000"/>
              </a:lnSpc>
              <a:spcBef>
                <a:spcPts val="1200"/>
              </a:spcBef>
              <a:spcAft>
                <a:spcPts val="1200"/>
              </a:spcAft>
              <a:buClr>
                <a:srgbClr val="000000"/>
              </a:buClr>
              <a:buSzPts val="2600"/>
              <a:buFont typeface="Arial"/>
              <a:buNone/>
            </a:pPr>
            <a:r>
              <a:rPr b="0" i="0" lang="es" sz="2200" u="none" cap="none" strike="noStrike">
                <a:solidFill>
                  <a:schemeClr val="dk2"/>
                </a:solidFill>
                <a:latin typeface="Roboto Mono Medium"/>
                <a:ea typeface="Roboto Mono Medium"/>
                <a:cs typeface="Roboto Mono Medium"/>
                <a:sym typeface="Roboto Mono Medium"/>
              </a:rPr>
              <a:t>}</a:t>
            </a:r>
            <a:endParaRPr b="0" i="0" sz="2200" u="none" cap="none" strike="noStrike">
              <a:solidFill>
                <a:schemeClr val="dk2"/>
              </a:solidFill>
              <a:latin typeface="Roboto Mono Medium"/>
              <a:ea typeface="Roboto Mono Medium"/>
              <a:cs typeface="Roboto Mono Medium"/>
              <a:sym typeface="Roboto Mono Medium"/>
            </a:endParaRPr>
          </a:p>
        </p:txBody>
      </p:sp>
      <p:cxnSp>
        <p:nvCxnSpPr>
          <p:cNvPr id="1406" name="Google Shape;1406;p89"/>
          <p:cNvCxnSpPr/>
          <p:nvPr/>
        </p:nvCxnSpPr>
        <p:spPr>
          <a:xfrm>
            <a:off x="5024575" y="1365825"/>
            <a:ext cx="0" cy="2066400"/>
          </a:xfrm>
          <a:prstGeom prst="straightConnector1">
            <a:avLst/>
          </a:prstGeom>
          <a:noFill/>
          <a:ln cap="flat" cmpd="sng" w="9525">
            <a:solidFill>
              <a:schemeClr val="dk2"/>
            </a:solidFill>
            <a:prstDash val="solid"/>
            <a:round/>
            <a:headEnd len="med" w="med" type="none"/>
            <a:tailEnd len="med" w="med" type="none"/>
          </a:ln>
        </p:spPr>
      </p:cxnSp>
      <p:sp>
        <p:nvSpPr>
          <p:cNvPr id="1407" name="Google Shape;1407;p89"/>
          <p:cNvSpPr txBox="1"/>
          <p:nvPr>
            <p:ph idx="1" type="body"/>
          </p:nvPr>
        </p:nvSpPr>
        <p:spPr>
          <a:xfrm>
            <a:off x="311700" y="3673725"/>
            <a:ext cx="8520600" cy="1276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En cualquier caso, </a:t>
            </a:r>
            <a:r>
              <a:rPr lang="es">
                <a:solidFill>
                  <a:schemeClr val="accent1"/>
                </a:solidFill>
              </a:rPr>
              <a:t>prog</a:t>
            </a:r>
            <a:r>
              <a:rPr lang="es"/>
              <a:t> puede ser cualquier cantidad y tipo de sentencias… Incluso más sentencias de bucles…</a:t>
            </a:r>
            <a:br>
              <a:rPr lang="es"/>
            </a:br>
            <a:r>
              <a:rPr lang="es"/>
              <a:t>Al tener un bucle dentro de otro, decimos que son “anidados”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laro FCEFYN">
  <a:themeElements>
    <a:clrScheme name="Simple Light">
      <a:dk1>
        <a:srgbClr val="1D1D1D"/>
      </a:dk1>
      <a:lt1>
        <a:srgbClr val="FFFFFF"/>
      </a:lt1>
      <a:dk2>
        <a:srgbClr val="595959"/>
      </a:dk2>
      <a:lt2>
        <a:srgbClr val="EEEEEE"/>
      </a:lt2>
      <a:accent1>
        <a:srgbClr val="4285F4"/>
      </a:accent1>
      <a:accent2>
        <a:srgbClr val="212121"/>
      </a:accent2>
      <a:accent3>
        <a:srgbClr val="D88E77"/>
      </a:accent3>
      <a:accent4>
        <a:srgbClr val="D38129"/>
      </a:accent4>
      <a:accent5>
        <a:srgbClr val="1D4036"/>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