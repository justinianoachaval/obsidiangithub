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Montserrat SemiBold"/>
      <p:regular r:id="rId45"/>
      <p:bold r:id="rId46"/>
      <p:italic r:id="rId47"/>
      <p:boldItalic r:id="rId48"/>
    </p:embeddedFont>
    <p:embeddedFont>
      <p:font typeface="Montserrat"/>
      <p:regular r:id="rId49"/>
      <p:bold r:id="rId50"/>
      <p:italic r:id="rId51"/>
      <p:boldItalic r:id="rId52"/>
    </p:embeddedFont>
    <p:embeddedFont>
      <p:font typeface="Montserrat Medium"/>
      <p:regular r:id="rId53"/>
      <p:bold r:id="rId54"/>
      <p:italic r:id="rId55"/>
      <p:boldItalic r:id="rId56"/>
    </p:embeddedFont>
    <p:embeddedFont>
      <p:font typeface="Montserrat Light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MontserratSemiBold-bold.fntdata"/><Relationship Id="rId45" Type="http://schemas.openxmlformats.org/officeDocument/2006/relationships/font" Target="fonts/Montserra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SemiBold-boldItalic.fntdata"/><Relationship Id="rId47" Type="http://schemas.openxmlformats.org/officeDocument/2006/relationships/font" Target="fonts/MontserratSemiBold-italic.fntdata"/><Relationship Id="rId49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MontserratLight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3" Type="http://schemas.openxmlformats.org/officeDocument/2006/relationships/font" Target="fonts/MontserratMedium-regular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55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57" Type="http://schemas.openxmlformats.org/officeDocument/2006/relationships/font" Target="fonts/MontserratLight-regular.fntdata"/><Relationship Id="rId12" Type="http://schemas.openxmlformats.org/officeDocument/2006/relationships/slide" Target="slides/slide7.xml"/><Relationship Id="rId56" Type="http://schemas.openxmlformats.org/officeDocument/2006/relationships/font" Target="fonts/MontserratMedium-boldItalic.fntdata"/><Relationship Id="rId15" Type="http://schemas.openxmlformats.org/officeDocument/2006/relationships/slide" Target="slides/slide10.xml"/><Relationship Id="rId59" Type="http://schemas.openxmlformats.org/officeDocument/2006/relationships/font" Target="fonts/MontserratLight-italic.fntdata"/><Relationship Id="rId14" Type="http://schemas.openxmlformats.org/officeDocument/2006/relationships/slide" Target="slides/slide9.xml"/><Relationship Id="rId58" Type="http://schemas.openxmlformats.org/officeDocument/2006/relationships/font" Target="fonts/Montserrat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iycn_c1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iycn_c1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iycn_c1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iycn_c1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iycn_c1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iycn_c1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iycn_c1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iycn_c1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iycn_c1_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iycn_c1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iycn_c1_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iycn_c1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iycn_c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iycn_c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iycn_c1_puente_gaus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iycn_c1_puente_gaus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iycn_c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iycn_c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iycn_c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iycn_c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iycn_c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iycn_c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iycn_c1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iycn_c1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iycn_c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iycn_c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iycn_c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iycn_c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iycn_c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iycn_c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iycn_c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iycn_c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iycn_c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iycn_c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iycn_c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iycn_c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iycn_c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iycn_c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iycn_c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iycn_c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iycn_c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iycn_c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iycn_c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iycn_c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iycn_c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iycn_c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iycn_c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iycn_c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iycn_c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iycn_c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iycn_c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iycn_c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iycn_c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iycn_c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iycn_c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iycn_c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iycn_c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iycn_c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iycn_c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iycn_c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iycn_c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iycn_c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iycn_c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iycn_c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iycn_c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iycn_c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iycn_c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iycn_c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iycn_c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iycn_c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iycn_c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iycn_c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iycn_c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iycn_c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iycn_c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iycn_c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Elementos ornamentales-0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2903" y="-423203"/>
            <a:ext cx="50982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" name="Google Shape;14;p2" title="1_Isologotipo FCEFyN y UNC- original_Sin 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9" y="-76200"/>
            <a:ext cx="4239831" cy="11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" name="Google Shape;19;p3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Elementos ornamentales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31561"/>
            <a:ext cx="9144003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" name="Google Shape;26;p4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" name="Google Shape;33;p5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" name="Google Shape;38;p6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" name="Google Shape;44;p7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9" name="Google Shape;49;p8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9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2" name="Google Shape;62;p10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11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12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1752791" y="377766"/>
            <a:ext cx="56280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837239" y="1051052"/>
            <a:ext cx="7835100" cy="22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4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hyperlink" Target="https://onlinegdb.com/SeXNYsJoJG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Relationship Id="rId4" Type="http://schemas.openxmlformats.org/officeDocument/2006/relationships/hyperlink" Target="https://onlinegdb.com/SeXNYsJoJG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</a:t>
            </a:r>
            <a:r>
              <a:rPr lang="es"/>
              <a:t>ática y Cálculo Numérico</a:t>
            </a:r>
            <a:endParaRPr/>
          </a:p>
        </p:txBody>
      </p:sp>
      <p:sp>
        <p:nvSpPr>
          <p:cNvPr id="84" name="Google Shape;84;p14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Comisi</a:t>
            </a:r>
            <a:r>
              <a:rPr lang="es"/>
              <a:t>ón 5 - 2026 - 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lineales</a:t>
            </a:r>
            <a:endParaRPr/>
          </a:p>
        </p:txBody>
      </p:sp>
      <p:sp>
        <p:nvSpPr>
          <p:cNvPr id="90" name="Google Shape;90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Eliminación de Gauss</a:t>
            </a:r>
            <a:endParaRPr/>
          </a:p>
        </p:txBody>
      </p:sp>
      <p:sp>
        <p:nvSpPr>
          <p:cNvPr id="91" name="Google Shape;91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Comprender qué significa resolver un sistema.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Aprender a eliminar y sustituir con un ejemplo pequeño.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Aplicar Gauss a un circuito y comprobar la solución.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Generalizar los pasos, reconocer sus límites y programarlos.</a:t>
            </a:r>
            <a:endParaRPr/>
          </a:p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Varias ecuaciones, una solución común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raíces buscábamos un valor x que satisfaga f(x) = 0.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Ahora buscamos varios valores que satisfagan todas las ecuaciones al mismo tiempo.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Cada ecuación expresa una condición sobre las mismas incógnitas.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Resolver una ecuación por separado no determina necesariamente el sistema.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Trabajaremos con igual número de ecuaciones e incógnitas.</a:t>
            </a:r>
            <a:endParaRPr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5499" y="1107995"/>
            <a:ext cx="4542551" cy="266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Sistemas en problemas de ingeniería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leyes de conservación relacionan las partes de un sistema.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En un circuito, los potenciales de nodos vecinos determinan las corrientes.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En un modelo de compartimentos, las concentraciones se relacionan mediante flujos.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Esas relaciones se expresan mediante ecuaciones que deben cumplirse a la vez.</a:t>
            </a:r>
            <a:endParaRPr/>
          </a:p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832350" y="3733800"/>
            <a:ext cx="4000500" cy="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i="1" lang="es"/>
              <a:t>Esquema de componentes conectados: circuito y modelo de compartimentos didáctico.</a:t>
            </a:r>
            <a:endParaRPr i="1"/>
          </a:p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hace lineal a una ecuación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ecuación lineal tiene la forma a</a:t>
            </a:r>
            <a:r>
              <a:rPr baseline="-25000" lang="es"/>
              <a:t>1</a:t>
            </a:r>
            <a:r>
              <a:rPr lang="es"/>
              <a:t>x</a:t>
            </a:r>
            <a:r>
              <a:rPr baseline="-25000" lang="es"/>
              <a:t>1</a:t>
            </a:r>
            <a:r>
              <a:rPr lang="es"/>
              <a:t> + a</a:t>
            </a:r>
            <a:r>
              <a:rPr baseline="-25000" lang="es"/>
              <a:t>2</a:t>
            </a:r>
            <a:r>
              <a:rPr lang="es"/>
              <a:t>x</a:t>
            </a:r>
            <a:r>
              <a:rPr baseline="-25000" lang="es"/>
              <a:t>2</a:t>
            </a:r>
            <a:r>
              <a:rPr lang="es"/>
              <a:t> + … + a</a:t>
            </a:r>
            <a:r>
              <a:rPr baseline="-25000" lang="es"/>
              <a:t>n</a:t>
            </a:r>
            <a:r>
              <a:rPr lang="es"/>
              <a:t>x</a:t>
            </a:r>
            <a:r>
              <a:rPr baseline="-25000" lang="es"/>
              <a:t>n</a:t>
            </a:r>
            <a:r>
              <a:rPr lang="es"/>
              <a:t> = b.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Los coeficientes a</a:t>
            </a:r>
            <a:r>
              <a:rPr baseline="-25000" lang="es"/>
              <a:t>j</a:t>
            </a:r>
            <a:r>
              <a:rPr lang="es"/>
              <a:t> y el término b son datos conocidos.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Las incógnitas aparecen a la primera potencia y no se multiplican entre sí.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3x − 2y = 4 es lineal.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x² + y = 4 y xy = 4 son no lineales.</a:t>
            </a:r>
            <a:endParaRPr/>
          </a:p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significado de Ax = b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152475"/>
            <a:ext cx="470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800"/>
              <a:t>A</a:t>
            </a:r>
            <a:r>
              <a:rPr lang="es" sz="1800"/>
              <a:t>: matriz de coeficientes, de tamaño n × n.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800"/>
              <a:t>x</a:t>
            </a:r>
            <a:r>
              <a:rPr lang="es" sz="1800"/>
              <a:t>: vector columna de incógnitas, de longitud n.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800"/>
              <a:t>b</a:t>
            </a:r>
            <a:r>
              <a:rPr lang="es" sz="1800"/>
              <a:t>: vector columna de términos independientes.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En a</a:t>
            </a:r>
            <a:r>
              <a:rPr baseline="-25000" lang="es" sz="1800"/>
              <a:t>ij</a:t>
            </a:r>
            <a:r>
              <a:rPr lang="es" sz="1800"/>
              <a:t>, i identifica la ecuación y j la incógnita.</a:t>
            </a:r>
            <a:endParaRPr sz="1800"/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50" y="1333500"/>
            <a:ext cx="4000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Cuántas soluciones puede haber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intersección: solución única.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Rectas paralelas distintas: ninguna solución.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Rectas coincidentes: infinitas soluciones.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Tener igual cantidad de ecuaciones e incógnitas no garantiza una solución única.</a:t>
            </a:r>
            <a:endParaRPr/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875" y="1267775"/>
            <a:ext cx="5228651" cy="308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4884700" y="27857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x</a:t>
            </a:r>
            <a:r>
              <a:rPr baseline="-25000" lang="es" sz="1700"/>
              <a:t>1</a:t>
            </a:r>
            <a:r>
              <a:rPr lang="es" sz="1700"/>
              <a:t> = 6 - (⅔)x</a:t>
            </a:r>
            <a:r>
              <a:rPr baseline="-25000" lang="es" sz="1700"/>
              <a:t>2</a:t>
            </a:r>
            <a:r>
              <a:rPr lang="es" sz="1700"/>
              <a:t> </a:t>
            </a:r>
            <a:endParaRPr sz="1700"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Eliminar una incógnita en un sistema 2×2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152475"/>
            <a:ext cx="39999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Sistema inicial: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700"/>
              <a:t>3x</a:t>
            </a:r>
            <a:r>
              <a:rPr baseline="-25000" lang="es" sz="1700"/>
              <a:t>1</a:t>
            </a:r>
            <a:r>
              <a:rPr lang="es" sz="1700"/>
              <a:t> + 2x</a:t>
            </a:r>
            <a:r>
              <a:rPr baseline="-25000" lang="es" sz="1700"/>
              <a:t>2</a:t>
            </a:r>
            <a:r>
              <a:rPr lang="es" sz="1700"/>
              <a:t> = 18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700"/>
              <a:t>−x</a:t>
            </a:r>
            <a:r>
              <a:rPr baseline="-25000" lang="es" sz="1700"/>
              <a:t>1</a:t>
            </a:r>
            <a:r>
              <a:rPr lang="es" sz="1700"/>
              <a:t> + 2x</a:t>
            </a:r>
            <a:r>
              <a:rPr baseline="-25000" lang="es" sz="1700"/>
              <a:t>2</a:t>
            </a:r>
            <a:r>
              <a:rPr lang="es" sz="1700"/>
              <a:t> = 2</a:t>
            </a:r>
            <a:endParaRPr sz="1700"/>
          </a:p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4832400" y="115247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−6 + (⅔)x</a:t>
            </a:r>
            <a:r>
              <a:rPr baseline="-25000" lang="es" sz="1700"/>
              <a:t>2</a:t>
            </a:r>
            <a:r>
              <a:rPr lang="es" sz="1700"/>
              <a:t> + 2x</a:t>
            </a:r>
            <a:r>
              <a:rPr baseline="-25000" lang="es" sz="1700"/>
              <a:t>2</a:t>
            </a:r>
            <a:r>
              <a:rPr lang="es" sz="1700"/>
              <a:t> = 2</a:t>
            </a:r>
            <a:endParaRPr sz="1700"/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311700" y="26702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x</a:t>
            </a:r>
            <a:r>
              <a:rPr baseline="-25000" lang="es" sz="1700"/>
              <a:t>1</a:t>
            </a:r>
            <a:r>
              <a:rPr lang="es" sz="1700"/>
              <a:t> + (⅔)x</a:t>
            </a:r>
            <a:r>
              <a:rPr baseline="-25000" lang="es" sz="1700"/>
              <a:t>2</a:t>
            </a:r>
            <a:r>
              <a:rPr lang="es" sz="1700"/>
              <a:t> = 6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32429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x</a:t>
            </a:r>
            <a:r>
              <a:rPr baseline="-25000" lang="es" sz="1700"/>
              <a:t>1</a:t>
            </a:r>
            <a:r>
              <a:rPr lang="es" sz="1700"/>
              <a:t> = 6 - </a:t>
            </a:r>
            <a:r>
              <a:rPr lang="es" sz="1700"/>
              <a:t>(⅔)x</a:t>
            </a:r>
            <a:r>
              <a:rPr baseline="-25000" lang="es" sz="1700"/>
              <a:t>2</a:t>
            </a:r>
            <a:r>
              <a:rPr lang="es" sz="1700"/>
              <a:t> </a:t>
            </a:r>
            <a:endParaRPr sz="1700"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11700" y="4048850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−(6 - (⅔)x</a:t>
            </a:r>
            <a:r>
              <a:rPr baseline="-25000" lang="es" sz="1700"/>
              <a:t>2</a:t>
            </a:r>
            <a:r>
              <a:rPr lang="es" sz="1700"/>
              <a:t>)+ 2x</a:t>
            </a:r>
            <a:r>
              <a:rPr baseline="-25000" lang="es" sz="1700"/>
              <a:t>2</a:t>
            </a:r>
            <a:r>
              <a:rPr lang="es" sz="1700"/>
              <a:t> = 2</a:t>
            </a:r>
            <a:endParaRPr sz="1700"/>
          </a:p>
        </p:txBody>
      </p:sp>
      <p:sp>
        <p:nvSpPr>
          <p:cNvPr id="144" name="Google Shape;144;p21"/>
          <p:cNvSpPr txBox="1"/>
          <p:nvPr>
            <p:ph idx="2" type="body"/>
          </p:nvPr>
        </p:nvSpPr>
        <p:spPr>
          <a:xfrm>
            <a:off x="4832400" y="16324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(⅔)x</a:t>
            </a:r>
            <a:r>
              <a:rPr baseline="-25000" lang="es" sz="1700"/>
              <a:t>2</a:t>
            </a:r>
            <a:r>
              <a:rPr lang="es" sz="1700"/>
              <a:t> + 2x</a:t>
            </a:r>
            <a:r>
              <a:rPr baseline="-25000" lang="es" sz="1700"/>
              <a:t>2</a:t>
            </a:r>
            <a:r>
              <a:rPr lang="es" sz="1700"/>
              <a:t> = 8</a:t>
            </a:r>
            <a:endParaRPr sz="1700"/>
          </a:p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4832400" y="2205125"/>
            <a:ext cx="133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(8/3)x</a:t>
            </a:r>
            <a:r>
              <a:rPr baseline="-25000" lang="es" sz="1700"/>
              <a:t>2</a:t>
            </a:r>
            <a:r>
              <a:rPr lang="es" sz="1700"/>
              <a:t> = 8</a:t>
            </a:r>
            <a:endParaRPr sz="1700"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4884700" y="33584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x</a:t>
            </a:r>
            <a:r>
              <a:rPr baseline="-25000" lang="es" sz="1700"/>
              <a:t>1</a:t>
            </a:r>
            <a:r>
              <a:rPr lang="es" sz="1700"/>
              <a:t> = 6 - (⅔)3 </a:t>
            </a:r>
            <a:endParaRPr sz="1700"/>
          </a:p>
        </p:txBody>
      </p:sp>
      <p:sp>
        <p:nvSpPr>
          <p:cNvPr id="147" name="Google Shape;147;p21"/>
          <p:cNvSpPr/>
          <p:nvPr/>
        </p:nvSpPr>
        <p:spPr>
          <a:xfrm>
            <a:off x="6882525" y="2109925"/>
            <a:ext cx="11136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= 3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6882525" y="3358425"/>
            <a:ext cx="11136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= 4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4884700" y="2785725"/>
            <a:ext cx="3999900" cy="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La primera queda igual: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3x</a:t>
            </a:r>
            <a:r>
              <a:rPr baseline="-25000" lang="es" sz="1700"/>
              <a:t>1</a:t>
            </a:r>
            <a:r>
              <a:rPr lang="es" sz="1700"/>
              <a:t> + 2x</a:t>
            </a:r>
            <a:r>
              <a:rPr baseline="-25000" lang="es" sz="1700"/>
              <a:t>2</a:t>
            </a:r>
            <a:r>
              <a:rPr lang="es" sz="1700"/>
              <a:t> = 18</a:t>
            </a:r>
            <a:endParaRPr sz="1700"/>
          </a:p>
        </p:txBody>
      </p:sp>
      <p:sp>
        <p:nvSpPr>
          <p:cNvPr id="154" name="Google Shape;15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mismo resultado sumando ecuaciones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311700" y="1152475"/>
            <a:ext cx="39999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Mismo sistema: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700"/>
              <a:t>3x</a:t>
            </a:r>
            <a:r>
              <a:rPr baseline="-25000" lang="es" sz="1700"/>
              <a:t>1</a:t>
            </a:r>
            <a:r>
              <a:rPr lang="es" sz="1700"/>
              <a:t> + 2x</a:t>
            </a:r>
            <a:r>
              <a:rPr baseline="-25000" lang="es" sz="1700"/>
              <a:t>2</a:t>
            </a:r>
            <a:r>
              <a:rPr lang="es" sz="1700"/>
              <a:t> = 18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700"/>
              <a:t>−x</a:t>
            </a:r>
            <a:r>
              <a:rPr baseline="-25000" lang="es" sz="1700"/>
              <a:t>1</a:t>
            </a:r>
            <a:r>
              <a:rPr lang="es" sz="1700"/>
              <a:t> + 2x</a:t>
            </a:r>
            <a:r>
              <a:rPr baseline="-25000" lang="es" sz="1700"/>
              <a:t>2</a:t>
            </a:r>
            <a:r>
              <a:rPr lang="es" sz="1700"/>
              <a:t> = 2</a:t>
            </a:r>
            <a:endParaRPr sz="1700"/>
          </a:p>
        </p:txBody>
      </p:sp>
      <p:sp>
        <p:nvSpPr>
          <p:cNvPr id="156" name="Google Shape;156;p22"/>
          <p:cNvSpPr txBox="1"/>
          <p:nvPr>
            <p:ph idx="2" type="body"/>
          </p:nvPr>
        </p:nvSpPr>
        <p:spPr>
          <a:xfrm>
            <a:off x="4832400" y="1152475"/>
            <a:ext cx="3999900" cy="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Se anula x</a:t>
            </a:r>
            <a:r>
              <a:rPr baseline="-25000" lang="es" sz="1700"/>
              <a:t>1</a:t>
            </a:r>
            <a:r>
              <a:rPr lang="es" sz="1700"/>
              <a:t>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−x</a:t>
            </a:r>
            <a:r>
              <a:rPr baseline="-25000" lang="es" sz="1700"/>
              <a:t>1</a:t>
            </a:r>
            <a:r>
              <a:rPr lang="es" sz="1700"/>
              <a:t> + x</a:t>
            </a:r>
            <a:r>
              <a:rPr baseline="-25000" lang="es" sz="1700"/>
              <a:t>1</a:t>
            </a:r>
            <a:r>
              <a:rPr lang="es" sz="1700"/>
              <a:t> = 0</a:t>
            </a:r>
            <a:endParaRPr sz="1700"/>
          </a:p>
        </p:txBody>
      </p:sp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311700" y="2670225"/>
            <a:ext cx="3999900" cy="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Un tercio de la primera: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x</a:t>
            </a:r>
            <a:r>
              <a:rPr baseline="-25000" lang="es" sz="1700"/>
              <a:t>1</a:t>
            </a:r>
            <a:r>
              <a:rPr lang="es" sz="1700"/>
              <a:t> + (2/3)x</a:t>
            </a:r>
            <a:r>
              <a:rPr baseline="-25000" lang="es" sz="1700"/>
              <a:t>2</a:t>
            </a:r>
            <a:r>
              <a:rPr lang="es" sz="1700"/>
              <a:t> = 6</a:t>
            </a:r>
            <a:endParaRPr sz="1700"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311700" y="3298974"/>
            <a:ext cx="3999900" cy="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La segunda: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−x</a:t>
            </a:r>
            <a:r>
              <a:rPr baseline="-25000" lang="es" sz="1700"/>
              <a:t>1</a:t>
            </a:r>
            <a:r>
              <a:rPr lang="es" sz="1700"/>
              <a:t> + 2x</a:t>
            </a:r>
            <a:r>
              <a:rPr baseline="-25000" lang="es" sz="1700"/>
              <a:t>2</a:t>
            </a:r>
            <a:r>
              <a:rPr lang="es" sz="1700"/>
              <a:t> = 2</a:t>
            </a:r>
            <a:endParaRPr sz="1700"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311700" y="4048850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Sumamos ambos miembros.</a:t>
            </a:r>
            <a:endParaRPr sz="1700"/>
          </a:p>
        </p:txBody>
      </p:sp>
      <p:sp>
        <p:nvSpPr>
          <p:cNvPr id="161" name="Google Shape;161;p22"/>
          <p:cNvSpPr txBox="1"/>
          <p:nvPr>
            <p:ph idx="2" type="body"/>
          </p:nvPr>
        </p:nvSpPr>
        <p:spPr>
          <a:xfrm>
            <a:off x="4832400" y="1808579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(2 + 2/3)x</a:t>
            </a:r>
            <a:r>
              <a:rPr baseline="-25000" lang="es" sz="1700"/>
              <a:t>2</a:t>
            </a:r>
            <a:r>
              <a:rPr lang="es" sz="1700"/>
              <a:t> = 2 + 6</a:t>
            </a:r>
            <a:endParaRPr sz="1700"/>
          </a:p>
        </p:txBody>
      </p:sp>
      <p:sp>
        <p:nvSpPr>
          <p:cNvPr id="162" name="Google Shape;162;p22"/>
          <p:cNvSpPr txBox="1"/>
          <p:nvPr>
            <p:ph idx="2" type="body"/>
          </p:nvPr>
        </p:nvSpPr>
        <p:spPr>
          <a:xfrm>
            <a:off x="4832400" y="2205125"/>
            <a:ext cx="133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(8/3)x</a:t>
            </a:r>
            <a:r>
              <a:rPr baseline="-25000" lang="es" sz="1700"/>
              <a:t>2</a:t>
            </a:r>
            <a:r>
              <a:rPr lang="es" sz="1700"/>
              <a:t> = 8</a:t>
            </a:r>
            <a:endParaRPr sz="1700"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4884700" y="3454776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/>
              <a:t>3x</a:t>
            </a:r>
            <a:r>
              <a:rPr baseline="-25000" lang="es" sz="1700"/>
              <a:t>1</a:t>
            </a:r>
            <a:r>
              <a:rPr lang="es" sz="1700"/>
              <a:t> + 2·3 = 18</a:t>
            </a:r>
            <a:endParaRPr sz="1700"/>
          </a:p>
        </p:txBody>
      </p:sp>
      <p:sp>
        <p:nvSpPr>
          <p:cNvPr id="164" name="Google Shape;164;p22"/>
          <p:cNvSpPr/>
          <p:nvPr/>
        </p:nvSpPr>
        <p:spPr>
          <a:xfrm>
            <a:off x="6882525" y="2149960"/>
            <a:ext cx="11136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s" sz="17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 = 3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6882525" y="3358425"/>
            <a:ext cx="11136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s" sz="17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 = 4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qué las operaciones son válidas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Llamaremos F</a:t>
            </a:r>
            <a:r>
              <a:rPr baseline="-25000" lang="es"/>
              <a:t>1</a:t>
            </a:r>
            <a:r>
              <a:rPr lang="es"/>
              <a:t>, F</a:t>
            </a:r>
            <a:r>
              <a:rPr baseline="-25000" lang="es"/>
              <a:t>2</a:t>
            </a:r>
            <a:r>
              <a:rPr lang="es"/>
              <a:t>, … a las ecuaciones del sistema.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Podemos intercambiar dos ecuaciones.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Podemos multiplicar una ecuación por un número distinto de cero.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Podemos reemplazar una ecuación por ella más un múltiplo de otra.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Estas operaciones son reversibles: conservan las soluciones.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Debemos operar también sobre el término independiente.</a:t>
            </a:r>
            <a:endParaRPr/>
          </a:p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 elegimos el multiplicador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Queremos anular −x</a:t>
            </a:r>
            <a:r>
              <a:rPr baseline="-25000" lang="es"/>
              <a:t>1</a:t>
            </a:r>
            <a:r>
              <a:rPr lang="es"/>
              <a:t> usando la primera ecuación.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El pivote es 3: el coeficiente de x</a:t>
            </a:r>
            <a:r>
              <a:rPr baseline="-25000" lang="es"/>
              <a:t>1</a:t>
            </a:r>
            <a:r>
              <a:rPr lang="es"/>
              <a:t> que usamos para eliminar.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Multiplicador: m = (−1)/3 = −1/3.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Reemplazamos F</a:t>
            </a:r>
            <a:r>
              <a:rPr baseline="-25000" lang="es"/>
              <a:t>2</a:t>
            </a:r>
            <a:r>
              <a:rPr lang="es"/>
              <a:t> por F</a:t>
            </a:r>
            <a:r>
              <a:rPr baseline="-25000" lang="es"/>
              <a:t>2</a:t>
            </a:r>
            <a:r>
              <a:rPr lang="es"/>
              <a:t> − mF</a:t>
            </a:r>
            <a:r>
              <a:rPr baseline="-25000" lang="es"/>
              <a:t>1</a:t>
            </a:r>
            <a:r>
              <a:rPr lang="es"/>
              <a:t> = F</a:t>
            </a:r>
            <a:r>
              <a:rPr baseline="-25000" lang="es"/>
              <a:t>2</a:t>
            </a:r>
            <a:r>
              <a:rPr lang="es"/>
              <a:t> + F</a:t>
            </a:r>
            <a:r>
              <a:rPr baseline="-25000" lang="es"/>
              <a:t>1</a:t>
            </a:r>
            <a:r>
              <a:rPr lang="es"/>
              <a:t>/3.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El coeficiente de x</a:t>
            </a:r>
            <a:r>
              <a:rPr baseline="-25000" lang="es"/>
              <a:t>1</a:t>
            </a:r>
            <a:r>
              <a:rPr lang="es"/>
              <a:t> queda −1 − (−1/3)·3 = 0.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Así elegimos cuánto de la primera ecuación restar.</a:t>
            </a:r>
            <a:endParaRPr/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dos fases de Gauss</a:t>
            </a:r>
            <a:endParaRPr/>
          </a:p>
        </p:txBody>
      </p:sp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Eliminación hacia adelante: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Crear ceros debajo de la diagonal.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Obtener un sistema triangular.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Sustitución hacia atrás: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Resolver desde la última ecuación.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Usar cada valor para calcular el anterior.</a:t>
            </a:r>
            <a:endParaRPr/>
          </a:p>
        </p:txBody>
      </p:sp>
      <p:sp>
        <p:nvSpPr>
          <p:cNvPr id="186" name="Google Shape;186;p2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650" y="1075725"/>
            <a:ext cx="4488100" cy="299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Aplicamos Gauss a un circuito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Buscamos V</a:t>
            </a:r>
            <a:r>
              <a:rPr baseline="-25000" lang="es"/>
              <a:t>1</a:t>
            </a:r>
            <a:r>
              <a:rPr lang="es"/>
              <a:t>, V</a:t>
            </a:r>
            <a:r>
              <a:rPr baseline="-25000" lang="es"/>
              <a:t>2</a:t>
            </a:r>
            <a:r>
              <a:rPr lang="es"/>
              <a:t> y V</a:t>
            </a:r>
            <a:r>
              <a:rPr baseline="-25000" lang="es"/>
              <a:t>3</a:t>
            </a:r>
            <a:r>
              <a:rPr lang="es"/>
              <a:t> respecto de tierra.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Conductancia: G = 1/R; corriente: I = G·ΔV.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1 mS = 0.001 S; mS × V = mA.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Entre 1–2 y 2–3: 1 mS.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 tierra: 2, 1 y 1 mS.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Corrientes inyectadas: 1, 2 y 4 mA.</a:t>
            </a:r>
            <a:endParaRPr/>
          </a:p>
        </p:txBody>
      </p:sp>
      <p:sp>
        <p:nvSpPr>
          <p:cNvPr id="194" name="Google Shape;194;p26"/>
          <p:cNvSpPr txBox="1"/>
          <p:nvPr>
            <p:ph idx="2" type="body"/>
          </p:nvPr>
        </p:nvSpPr>
        <p:spPr>
          <a:xfrm>
            <a:off x="4832350" y="3733800"/>
            <a:ext cx="4000500" cy="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i="1" lang="es"/>
              <a:t>Circuito: tres nodos, tierra común, conductancias y fuentes de corriente con los valores indicados.</a:t>
            </a:r>
            <a:endParaRPr i="1"/>
          </a:p>
        </p:txBody>
      </p:sp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51" y="975400"/>
            <a:ext cx="4760074" cy="280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ecuaciones del circuito</a:t>
            </a:r>
            <a:endParaRPr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Nodo 1: 2V₁ + (V₁ − V₂) = 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Nodo 2: V₂ + (V₂ − V₁) + (V₂ − V₃) = 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Nodo 3: V₃ + (V₃ − V₂) = 4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Al reunir términos: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3V₁ − V₂ = 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−V₁ + 3V₂ − V₃ = 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−V₂ + 2V₃ = 4</a:t>
            </a:r>
            <a:endParaRPr/>
          </a:p>
        </p:txBody>
      </p:sp>
      <p:sp>
        <p:nvSpPr>
          <p:cNvPr id="203" name="Google Shape;203;p2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04" name="Google Shape;2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51" y="975400"/>
            <a:ext cx="4760074" cy="280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Primera etapa: eliminar V₁</a:t>
            </a:r>
            <a:endParaRPr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Pivote: 3.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Para la fila 2: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m = (−1)/3 = −1/3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F₂ nueva = F₂ + F₁/3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En la fila 3, el coeficiente de V₁ ya es cero.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Esa fila permanece igual.</a:t>
            </a:r>
            <a:endParaRPr/>
          </a:p>
        </p:txBody>
      </p:sp>
      <p:sp>
        <p:nvSpPr>
          <p:cNvPr id="211" name="Google Shape;211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después de la primera etapa: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3V₁ − V₂ = 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(8/3)V₂ − V₃ = 7/3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−V₂ + 2V₃ = 4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También cambió el término independiente de la fila 2.</a:t>
            </a:r>
            <a:endParaRPr/>
          </a:p>
        </p:txBody>
      </p:sp>
      <p:sp>
        <p:nvSpPr>
          <p:cNvPr id="212" name="Google Shape;212;p2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Segunda etapa: eliminar V₂</a:t>
            </a:r>
            <a:endParaRPr/>
          </a:p>
        </p:txBody>
      </p:sp>
      <p:sp>
        <p:nvSpPr>
          <p:cNvPr id="218" name="Google Shape;218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Nuevo pivote: 8/3.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Solo queda modificar la fila 3.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m = (−1)/(8/3) = −3/8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F₃ nueva = F₃ + (3/8)F₂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Usamos la fila 2 ya transformada.</a:t>
            </a:r>
            <a:endParaRPr/>
          </a:p>
        </p:txBody>
      </p:sp>
      <p:sp>
        <p:nvSpPr>
          <p:cNvPr id="219" name="Google Shape;219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Coeficiente de V₃: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2 + (3/8)(−1) = 13/8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Término independiente: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4 + (3/8)(7/3) = 39/8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La última ecuación queda: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(13/8)V₃ = 39/8</a:t>
            </a:r>
            <a:endParaRPr/>
          </a:p>
        </p:txBody>
      </p:sp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sistema ya es triangular</a:t>
            </a:r>
            <a:endParaRPr/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3V₁ − V₂ = 1				3	-1	0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(8/3)V₂ − V₃ = 7/3	     	0	8/3	-1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(13/8)V₃ = 39/8			0	0	13/8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Debajo de la diagonal, los coeficientes son cero.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La última ecuación tiene una sola incógnita.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Todavía debemos calcular el vector solución.</a:t>
            </a:r>
            <a:endParaRPr/>
          </a:p>
        </p:txBody>
      </p:sp>
      <p:sp>
        <p:nvSpPr>
          <p:cNvPr id="227" name="Google Shape;227;p3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Sustitución: primero V₃ y luego V₂</a:t>
            </a:r>
            <a:endParaRPr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Última ecuación: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V₃ = (39/8) / (13/8) = 3 V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Segunda ecuación: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(8/3)V₂ − 3 = 7/3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V₂ = (7/3 + 3) / (8/3) = 2 V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Cada incógnita recuperada permite resolver la anterior.</a:t>
            </a:r>
            <a:endParaRPr/>
          </a:p>
        </p:txBody>
      </p:sp>
      <p:sp>
        <p:nvSpPr>
          <p:cNvPr id="234" name="Google Shape;234;p3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V₁ y la comprobación original</a:t>
            </a:r>
            <a:endParaRPr/>
          </a:p>
        </p:txBody>
      </p:sp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Primera ecuación: 3V₁ − 2 = 1, por lo tanto V₁ = 1 V.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Comprobación en el sistema original: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3·1 − 2 = 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−1 + 3·2 − 3 = 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−2 + 2·3 = 4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Los tres valores satisfacen simultáneamente las ecuaciones.</a:t>
            </a:r>
            <a:endParaRPr/>
          </a:p>
        </p:txBody>
      </p:sp>
      <p:sp>
        <p:nvSpPr>
          <p:cNvPr id="241" name="Google Shape;241;p3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Interpretación de la solución</a:t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V₁ = 1 V, V₂ = 2 V y V₃ = 3 V.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La corriente de 1 hacia 2 resulta 1·(1 − 2) = −1 mA.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El signo negativo indica que circula en sentido contrario al elegido.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Resolver el sistema proporciona números.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El modelo y las unidades permiten interpretarlos.</a:t>
            </a:r>
            <a:endParaRPr/>
          </a:p>
        </p:txBody>
      </p: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49" name="Google Shape;24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775" y="3289925"/>
            <a:ext cx="2930926" cy="17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comprobación tiene un nombre: residuo</a:t>
            </a:r>
            <a:endParaRPr/>
          </a:p>
        </p:txBody>
      </p:sp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Llamamos x̂ al vector solución calculado.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El residuo es r = b − Ax̂, usando los datos originales.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Cada componente mide cuánto falta para cumplir una ecuación.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En el circuito: r</a:t>
            </a:r>
            <a:r>
              <a:rPr baseline="-25000" lang="es"/>
              <a:t>1</a:t>
            </a:r>
            <a:r>
              <a:rPr lang="es"/>
              <a:t> = 1 − (3·1 − 2) = 0 mA.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Un residuo pequeño indica que las ecuaciones se cumplen aproximadamente.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No garantiza que la solución esté cerca de la exacta.</a:t>
            </a:r>
            <a:endParaRPr/>
          </a:p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¿Podemos aplicar siempre estos pasos?</a:t>
            </a:r>
            <a:endParaRPr/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Durante la eliminación dividimos por coeficientes llamados pivotes.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En el circuito pudimos realizar todas las divisiones.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Si aparece un pivote cero, Gauss simple no puede continuar con ese orden de ecuaciones.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Cambiar el orden puede permitir continuar.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Más adelante veremos qué ocurre cuando el pivote es muy pequeño.</a:t>
            </a:r>
            <a:endParaRPr/>
          </a:p>
        </p:txBody>
      </p:sp>
      <p:sp>
        <p:nvSpPr>
          <p:cNvPr id="263" name="Google Shape;263;p3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 ejemplo al algoritmo general</a:t>
            </a:r>
            <a:endParaRPr/>
          </a:p>
        </p:txBody>
      </p:sp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311700" y="1152475"/>
            <a:ext cx="387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Para n ecuaciones repetimos el mismo procedimiento.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500"/>
              <a:t>Elegimos un pivote y anulamos los coeficientes debajo de él.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500"/>
              <a:t>Avanzamos a la siguiente columna: hay n−1 etapas.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500"/>
              <a:t>Actualizamos coeficientes y términos independientes juntos.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500"/>
              <a:t>Al terminar, resolvemos desde la última incógnita.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500"/>
              <a:t>Ahora pondremos índices a estos recorridos.</a:t>
            </a:r>
            <a:endParaRPr sz="1500"/>
          </a:p>
        </p:txBody>
      </p:sp>
      <p:sp>
        <p:nvSpPr>
          <p:cNvPr id="270" name="Google Shape;270;p3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71" name="Google Shape;27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14525"/>
            <a:ext cx="4197023" cy="341213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6"/>
          <p:cNvSpPr txBox="1"/>
          <p:nvPr/>
        </p:nvSpPr>
        <p:spPr>
          <a:xfrm>
            <a:off x="3396575" y="4563925"/>
            <a:ext cx="28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Código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recorre cada índice</a:t>
            </a:r>
            <a:endParaRPr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k → etapa y pivote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2000"/>
              <a:t>i → fila inferior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2000"/>
              <a:t>j → columna a actualizar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2000"/>
              <a:t>Índices: desde 1 en matemática;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2000"/>
              <a:t>desde 0 en C++.</a:t>
            </a:r>
            <a:endParaRPr sz="2000"/>
          </a:p>
        </p:txBody>
      </p:sp>
      <p:sp>
        <p:nvSpPr>
          <p:cNvPr id="279" name="Google Shape;279;p3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80" name="Google Shape;2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50" y="1170125"/>
            <a:ext cx="3616911" cy="241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operaciones de una etapa</a:t>
            </a:r>
            <a:endParaRPr/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Una fila se actualiza con el mismo multiplicador; la fila pivote no cambia.</a:t>
            </a:r>
            <a:endParaRPr sz="1700"/>
          </a:p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88" name="Google Shape;2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sustitución en forma general</a:t>
            </a:r>
            <a:endParaRPr/>
          </a:p>
        </p:txBody>
      </p:sp>
      <p:sp>
        <p:nvSpPr>
          <p:cNvPr id="294" name="Google Shape;294;p39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Resolver Ux = c desde la última fila hacia la primera.</a:t>
            </a:r>
            <a:endParaRPr sz="1700"/>
          </a:p>
        </p:txBody>
      </p:sp>
      <p:sp>
        <p:nvSpPr>
          <p:cNvPr id="295" name="Google Shape;295;p3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96" name="Google Shape;29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Gauss es un método directo</a:t>
            </a:r>
            <a:endParaRPr/>
          </a:p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El tamaño n fija los recorridos. Un control puede detener el cálculo antes.</a:t>
            </a:r>
            <a:endParaRPr sz="1700"/>
          </a:p>
        </p:txBody>
      </p:sp>
      <p:sp>
        <p:nvSpPr>
          <p:cNvPr id="303" name="Google Shape;303;p4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4" name="Google Shape;30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Cuánto trabajo requiere</a:t>
            </a:r>
            <a:endParaRPr/>
          </a:p>
        </p:txBody>
      </p:sp>
      <p:sp>
        <p:nvSpPr>
          <p:cNvPr id="310" name="Google Shape;310;p41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Para matrices densas, la eliminación domina el costo.</a:t>
            </a:r>
            <a:endParaRPr sz="1700"/>
          </a:p>
        </p:txBody>
      </p:sp>
      <p:sp>
        <p:nvSpPr>
          <p:cNvPr id="311" name="Google Shape;311;p4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12" name="Google Shape;31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Pivote cero con solución única</a:t>
            </a:r>
            <a:endParaRPr/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Un pivote cero puede impedir continuar aunque exista solución única.</a:t>
            </a:r>
            <a:endParaRPr sz="1700"/>
          </a:p>
        </p:txBody>
      </p:sp>
      <p:sp>
        <p:nvSpPr>
          <p:cNvPr id="319" name="Google Shape;319;p4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20" name="Google Shape;32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no hay una solución única</a:t>
            </a:r>
            <a:endParaRPr/>
          </a:p>
        </p:txBody>
      </p:sp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Dos resultados posibles: contradicción o dependencia.</a:t>
            </a:r>
            <a:endParaRPr sz="1700"/>
          </a:p>
        </p:txBody>
      </p:sp>
      <p:sp>
        <p:nvSpPr>
          <p:cNvPr id="327" name="Google Shape;327;p4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28" name="Google Shape;3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Calcular y mostrar decimales no es lo mismo</a:t>
            </a:r>
            <a:endParaRPr/>
          </a:p>
        </p:txBody>
      </p:sp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cout.precision cambia la salida; no la precisión de las operaciones.</a:t>
            </a:r>
            <a:endParaRPr sz="1700"/>
          </a:p>
        </p:txBody>
      </p:sp>
      <p:sp>
        <p:nvSpPr>
          <p:cNvPr id="335" name="Google Shape;335;p4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6" name="Google Shape;33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pivote pequeño amplifica el redondeo</a:t>
            </a:r>
            <a:endParaRPr/>
          </a:p>
        </p:txBody>
      </p:sp>
      <p:sp>
        <p:nvSpPr>
          <p:cNvPr id="342" name="Google Shape;342;p45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0.0003x₁ + 3x₂ = 2.0001;  x₁ + x₂ = 1. Observemos el redondeo.</a:t>
            </a:r>
            <a:endParaRPr sz="1700"/>
          </a:p>
        </p:txBody>
      </p:sp>
      <p:sp>
        <p:nvSpPr>
          <p:cNvPr id="343" name="Google Shape;343;p4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44" name="Google Shape;3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recibe y qué devuelve el programa</a:t>
            </a:r>
            <a:endParaRPr/>
          </a:p>
        </p:txBody>
      </p:sp>
      <p:sp>
        <p:nvSpPr>
          <p:cNvPr id="350" name="Google Shape;350;p46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El vector x se utiliza únicamente si el procedimiento termina correctamente.</a:t>
            </a:r>
            <a:endParaRPr sz="1700"/>
          </a:p>
        </p:txBody>
      </p:sp>
      <p:sp>
        <p:nvSpPr>
          <p:cNvPr id="351" name="Google Shape;351;p4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52" name="Google Shape;35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datos del programa</a:t>
            </a:r>
            <a:endParaRPr/>
          </a:p>
        </p:txBody>
      </p:sp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Arreglos de tamaño fijo; n indica cuántas posiciones usamos.</a:t>
            </a:r>
            <a:endParaRPr sz="1700"/>
          </a:p>
        </p:txBody>
      </p:sp>
      <p:sp>
        <p:nvSpPr>
          <p:cNvPr id="359" name="Google Shape;359;p4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60" name="Google Shape;36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Controles que necesita el programa</a:t>
            </a:r>
            <a:endParaRPr/>
          </a:p>
        </p:txBody>
      </p:sp>
      <p:sp>
        <p:nvSpPr>
          <p:cNvPr id="366" name="Google Shape;366;p48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Validar datos, controlar divisiones y detectar aritmética no finita.</a:t>
            </a:r>
            <a:endParaRPr sz="1700"/>
          </a:p>
        </p:txBody>
      </p:sp>
      <p:sp>
        <p:nvSpPr>
          <p:cNvPr id="367" name="Google Shape;367;p4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68" name="Google Shape;3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de eliminación hacia adelante</a:t>
            </a:r>
            <a:endParaRPr/>
          </a:p>
        </p:txBody>
      </p:sp>
      <p:sp>
        <p:nvSpPr>
          <p:cNvPr id="374" name="Google Shape;374;p49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k: etapa   →   i: fila inferior   →   j: columna a actualizar</a:t>
            </a:r>
            <a:endParaRPr sz="1700"/>
          </a:p>
        </p:txBody>
      </p:sp>
      <p:sp>
        <p:nvSpPr>
          <p:cNvPr id="375" name="Google Shape;375;p4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76" name="Google Shape;3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de sustitución hacia atrás</a:t>
            </a:r>
            <a:endParaRPr/>
          </a:p>
        </p:txBody>
      </p:sp>
      <p:sp>
        <p:nvSpPr>
          <p:cNvPr id="382" name="Google Shape;382;p50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El recorrido descendente utiliza las incógnitas que ya conocemos.</a:t>
            </a:r>
            <a:endParaRPr sz="1700"/>
          </a:p>
        </p:txBody>
      </p:sp>
      <p:sp>
        <p:nvSpPr>
          <p:cNvPr id="383" name="Google Shape;383;p5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4" name="Google Shape;38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comprobación con Chapra</a:t>
            </a:r>
            <a:endParaRPr/>
          </a:p>
        </p:txBody>
      </p:sp>
      <p:sp>
        <p:nvSpPr>
          <p:cNvPr id="390" name="Google Shape;390;p51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Una solución conocida permite comprobar la implementación.</a:t>
            </a:r>
            <a:endParaRPr sz="1700"/>
          </a:p>
        </p:txBody>
      </p:sp>
      <p:sp>
        <p:nvSpPr>
          <p:cNvPr id="391" name="Google Shape;391;p5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92" name="Google Shape;39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1"/>
          <p:cNvSpPr txBox="1"/>
          <p:nvPr/>
        </p:nvSpPr>
        <p:spPr>
          <a:xfrm>
            <a:off x="653375" y="4563925"/>
            <a:ext cx="28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Código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tipo de error estamos observando</a:t>
            </a:r>
            <a:endParaRPr/>
          </a:p>
        </p:txBody>
      </p:sp>
      <p:sp>
        <p:nvSpPr>
          <p:cNvPr id="399" name="Google Shape;399;p52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Que un programa compile no demuestra que resuelva bien el problema.</a:t>
            </a:r>
            <a:endParaRPr sz="1700"/>
          </a:p>
        </p:txBody>
      </p:sp>
      <p:sp>
        <p:nvSpPr>
          <p:cNvPr id="400" name="Google Shape;400;p5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01" name="Google Shape;40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ro FCEFYN">
  <a:themeElements>
    <a:clrScheme name="Simple Light">
      <a:dk1>
        <a:srgbClr val="1D1D1D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D88E77"/>
      </a:accent3>
      <a:accent4>
        <a:srgbClr val="D38129"/>
      </a:accent4>
      <a:accent5>
        <a:srgbClr val="1D4036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