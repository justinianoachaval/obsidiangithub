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Montserrat SemiBold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Montserrat Light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44" Type="http://schemas.openxmlformats.org/officeDocument/2006/relationships/font" Target="fonts/MontserratMedium-regular.fntdata"/><Relationship Id="rId43" Type="http://schemas.openxmlformats.org/officeDocument/2006/relationships/font" Target="fonts/Montserrat-boldItalic.fntdata"/><Relationship Id="rId46" Type="http://schemas.openxmlformats.org/officeDocument/2006/relationships/font" Target="fonts/MontserratMedium-italic.fntdata"/><Relationship Id="rId45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Light-regular.fntdata"/><Relationship Id="rId47" Type="http://schemas.openxmlformats.org/officeDocument/2006/relationships/font" Target="fonts/MontserratMedium-boldItalic.fntdata"/><Relationship Id="rId49" Type="http://schemas.openxmlformats.org/officeDocument/2006/relationships/font" Target="fonts/Montserrat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MontserratSemiBold-bold.fntdata"/><Relationship Id="rId36" Type="http://schemas.openxmlformats.org/officeDocument/2006/relationships/font" Target="fonts/MontserratSemiBold-regular.fntdata"/><Relationship Id="rId39" Type="http://schemas.openxmlformats.org/officeDocument/2006/relationships/font" Target="fonts/MontserratSemiBold-boldItalic.fntdata"/><Relationship Id="rId38" Type="http://schemas.openxmlformats.org/officeDocument/2006/relationships/font" Target="fonts/MontserratSemiBold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Light-boldItalic.fntdata"/><Relationship Id="rId50" Type="http://schemas.openxmlformats.org/officeDocument/2006/relationships/font" Target="fonts/MontserratLigh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3dfb86618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3dfb86618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74b23430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74b23430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4b23430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4b23430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4b2343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74b2343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74b23430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74b23430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4b23430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4b23430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74b23430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74b23430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4b23430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74b23430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74b234305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74b23430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4b234305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74b234305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74b234305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74b234305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74b23430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74b23430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74b234305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74b23430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74b234305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74b234305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74b234305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74b234305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74b234305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74b234305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74b23430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74b23430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74b234305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f74b234305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3e5e3d393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3e5e3d393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3e5e3d393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f3e5e3d393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3e5e3d393_7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f3e5e3d393_7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774fb1b8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774fb1b8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774fb1b8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774fb1b8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774fb1b83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f774fb1b83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774fb1b83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f774fb1b83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774fb1b83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f774fb1b83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774fb1b83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f774fb1b83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f774fb1b83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f774fb1b83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774fb1b83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f774fb1b83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Elementos ornamentales-0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2903" y="-423203"/>
            <a:ext cx="50982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" name="Google Shape;14;p2" title="1_Isologotipo FCEFyN y UNC- original_Sin 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9" y="-76200"/>
            <a:ext cx="4239831" cy="11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" name="Google Shape;19;p3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Elementos ornamentales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31561"/>
            <a:ext cx="9144003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" name="Google Shape;26;p4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" name="Google Shape;33;p5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" name="Google Shape;38;p6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" name="Google Shape;44;p7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9" name="Google Shape;49;p8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9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2" name="Google Shape;62;p10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11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12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4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</a:t>
            </a:r>
            <a:r>
              <a:rPr lang="es"/>
              <a:t>ática y Cálculo Numérico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Comisi</a:t>
            </a:r>
            <a:r>
              <a:rPr lang="es"/>
              <a:t>ón 5 - 2026 - 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Funciones definidas por el Usuario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ver… Una variante…</a:t>
            </a:r>
            <a:endParaRPr/>
          </a:p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 rot="10800000">
            <a:off x="5746950" y="2454379"/>
            <a:ext cx="1835700" cy="11631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 rot="10800000">
            <a:off x="5746949" y="2175028"/>
            <a:ext cx="1835700" cy="279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838511" y="2244549"/>
            <a:ext cx="139800" cy="1398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045470" y="2244549"/>
            <a:ext cx="139800" cy="1398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6252429" y="2244549"/>
            <a:ext cx="139800" cy="1398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50025" lIns="50025" spcFirstLastPara="1" rIns="50025" wrap="square" tIns="5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821274" y="2464339"/>
            <a:ext cx="1686300" cy="1126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50025" lIns="50025" spcFirstLastPara="1" rIns="50025" wrap="square" tIns="5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"/>
              <a:buFont typeface="Arial"/>
              <a:buNone/>
            </a:pP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9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9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9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109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9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9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"/>
              <a:buFont typeface="Arial"/>
              <a:buNone/>
            </a:pP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9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109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"/>
              <a:buFont typeface="Arial"/>
              <a:buNone/>
            </a:pP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109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1094">
                <a:solidFill>
                  <a:srgbClr val="383A42"/>
                </a:solidFill>
              </a:rPr>
              <a:t>      </a:t>
            </a:r>
            <a:r>
              <a:rPr b="0" i="0" lang="es" sz="109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9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09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"/>
              <a:buFont typeface="Arial"/>
              <a:buNone/>
            </a:pP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1094">
                <a:solidFill>
                  <a:srgbClr val="929292"/>
                </a:solidFill>
              </a:rPr>
              <a:t>4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1094">
                <a:solidFill>
                  <a:srgbClr val="383A42"/>
                </a:solidFill>
              </a:rPr>
              <a:t>      </a:t>
            </a:r>
            <a:r>
              <a:rPr b="0" i="0" lang="es" sz="109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9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9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9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9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09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"/>
              <a:buFont typeface="Arial"/>
              <a:buNone/>
            </a:pP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1094">
                <a:solidFill>
                  <a:srgbClr val="929292"/>
                </a:solidFill>
              </a:rPr>
              <a:t>5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094">
                <a:solidFill>
                  <a:srgbClr val="383A42"/>
                </a:solidFill>
              </a:rPr>
              <a:t>       </a:t>
            </a:r>
            <a:r>
              <a:rPr b="0" i="0" lang="es" sz="109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09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09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4"/>
              <a:buFont typeface="Arial"/>
              <a:buNone/>
            </a:pP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1094">
                <a:solidFill>
                  <a:srgbClr val="929292"/>
                </a:solidFill>
              </a:rPr>
              <a:t>6</a:t>
            </a:r>
            <a:r>
              <a:rPr b="0" i="0" lang="es" sz="109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09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1561389" y="1141915"/>
            <a:ext cx="4052366" cy="3508477"/>
            <a:chOff x="5489750" y="1017879"/>
            <a:chExt cx="2113800" cy="1830096"/>
          </a:xfrm>
        </p:grpSpPr>
        <p:sp>
          <p:nvSpPr>
            <p:cNvPr id="98" name="Google Shape;98;p15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82475" lIns="82475" spcFirstLastPara="1" rIns="82475" wrap="square" tIns="82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108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 b="0" i="0" sz="993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993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993">
                  <a:solidFill>
                    <a:srgbClr val="E06C75"/>
                  </a:solidFill>
                </a:rPr>
                <a:t>diametro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993">
                  <a:solidFill>
                    <a:srgbClr val="50A14F"/>
                  </a:solidFill>
                </a:rPr>
                <a:t>diametro</a:t>
              </a:r>
              <a:r>
                <a:rPr b="0" i="0" lang="es" sz="993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993">
                  <a:solidFill>
                    <a:srgbClr val="E06C75"/>
                  </a:solidFill>
                </a:rPr>
                <a:t>diametro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993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993">
                  <a:solidFill>
                    <a:srgbClr val="E06C75"/>
                  </a:solidFill>
                </a:rPr>
                <a:t>_circ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993">
                  <a:solidFill>
                    <a:srgbClr val="E06C75"/>
                  </a:solidFill>
                </a:rPr>
                <a:t>diametro</a:t>
              </a:r>
              <a:r>
                <a:rPr lang="es" sz="993">
                  <a:solidFill>
                    <a:srgbClr val="383A42"/>
                  </a:solidFill>
                </a:rPr>
                <a:t>/</a:t>
              </a:r>
              <a:r>
                <a:rPr lang="es" sz="993">
                  <a:solidFill>
                    <a:srgbClr val="986801"/>
                  </a:solidFill>
                </a:rPr>
                <a:t>2.0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993">
                  <a:solidFill>
                    <a:srgbClr val="E06C75"/>
                  </a:solidFill>
                </a:rPr>
                <a:t>area_cuadr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993">
                  <a:solidFill>
                    <a:srgbClr val="E06C75"/>
                  </a:solidFill>
                </a:rPr>
                <a:t>cuadrado</a:t>
              </a:r>
              <a:r>
                <a:rPr lang="es" sz="993">
                  <a:solidFill>
                    <a:srgbClr val="383A42"/>
                  </a:solidFill>
                </a:rPr>
                <a:t>(</a:t>
              </a:r>
              <a:r>
                <a:rPr lang="es" sz="993">
                  <a:solidFill>
                    <a:srgbClr val="E06C75"/>
                  </a:solidFill>
                </a:rPr>
                <a:t>diametro</a:t>
              </a:r>
              <a:r>
                <a:rPr lang="es" sz="993">
                  <a:solidFill>
                    <a:srgbClr val="383A42"/>
                  </a:solidFill>
                </a:rPr>
                <a:t>)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993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993">
                  <a:solidFill>
                    <a:srgbClr val="E06C75"/>
                  </a:solidFill>
                </a:rPr>
                <a:t>_circ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993">
                  <a:solidFill>
                    <a:srgbClr val="50A14F"/>
                  </a:solidFill>
                </a:rPr>
                <a:t>area</a:t>
              </a:r>
              <a:r>
                <a:rPr b="0" i="0" lang="es" sz="993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993">
                  <a:solidFill>
                    <a:srgbClr val="50A14F"/>
                  </a:solidFill>
                </a:rPr>
                <a:t>cuadrado</a:t>
              </a:r>
              <a:r>
                <a:rPr b="0" i="0" lang="es" sz="993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993">
                  <a:solidFill>
                    <a:srgbClr val="E06C75"/>
                  </a:solidFill>
                </a:rPr>
                <a:t>area_cuadr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993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993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993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3"/>
                <a:buFont typeface="Arial"/>
                <a:buNone/>
              </a:pPr>
              <a:r>
                <a:rPr b="0" i="0" lang="es" sz="993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993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993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993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¿Conceptualmente que es?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 conjunto de instrucciones que cumplen una función específica y que potencialmente querría reutilizar en diferentes partes de un programa más grande.</a:t>
            </a:r>
            <a:endParaRPr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5733675" y="1201525"/>
            <a:ext cx="1624800" cy="466800"/>
          </a:xfrm>
          <a:prstGeom prst="roundRect">
            <a:avLst>
              <a:gd fmla="val 16667" name="adj"/>
            </a:avLst>
          </a:prstGeom>
          <a:solidFill>
            <a:srgbClr val="50A14F"/>
          </a:solidFill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Función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" name="Google Shape;112;p16"/>
          <p:cNvCxnSpPr>
            <a:endCxn id="111" idx="1"/>
          </p:cNvCxnSpPr>
          <p:nvPr/>
        </p:nvCxnSpPr>
        <p:spPr>
          <a:xfrm>
            <a:off x="5023875" y="1434925"/>
            <a:ext cx="709800" cy="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7358475" y="1434925"/>
            <a:ext cx="709800" cy="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6"/>
          <p:cNvSpPr txBox="1"/>
          <p:nvPr/>
        </p:nvSpPr>
        <p:spPr>
          <a:xfrm>
            <a:off x="4445000" y="973225"/>
            <a:ext cx="12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Entradas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7358475" y="973225"/>
            <a:ext cx="12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Salidas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733675" y="2054425"/>
            <a:ext cx="1624800" cy="466800"/>
          </a:xfrm>
          <a:prstGeom prst="roundRect">
            <a:avLst>
              <a:gd fmla="val 16667" name="adj"/>
            </a:avLst>
          </a:prstGeom>
          <a:solidFill>
            <a:srgbClr val="50A14F"/>
          </a:solidFill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Cocinar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7" name="Google Shape;117;p16"/>
          <p:cNvCxnSpPr>
            <a:endCxn id="116" idx="1"/>
          </p:cNvCxnSpPr>
          <p:nvPr/>
        </p:nvCxnSpPr>
        <p:spPr>
          <a:xfrm>
            <a:off x="5023875" y="2287825"/>
            <a:ext cx="709800" cy="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6"/>
          <p:cNvCxnSpPr/>
          <p:nvPr/>
        </p:nvCxnSpPr>
        <p:spPr>
          <a:xfrm>
            <a:off x="7358475" y="2287825"/>
            <a:ext cx="709800" cy="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6"/>
          <p:cNvSpPr txBox="1"/>
          <p:nvPr/>
        </p:nvSpPr>
        <p:spPr>
          <a:xfrm>
            <a:off x="4040350" y="1826125"/>
            <a:ext cx="169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Ingredientes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7358475" y="1826125"/>
            <a:ext cx="12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Comida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445000" y="2250472"/>
            <a:ext cx="12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Receta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33675" y="2986763"/>
            <a:ext cx="1624800" cy="466800"/>
          </a:xfrm>
          <a:prstGeom prst="roundRect">
            <a:avLst>
              <a:gd fmla="val 16667" name="adj"/>
            </a:avLst>
          </a:prstGeom>
          <a:solidFill>
            <a:srgbClr val="50A14F"/>
          </a:solidFill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Entregar un Deseo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" name="Google Shape;123;p16"/>
          <p:cNvCxnSpPr/>
          <p:nvPr/>
        </p:nvCxnSpPr>
        <p:spPr>
          <a:xfrm>
            <a:off x="7358475" y="3220163"/>
            <a:ext cx="709800" cy="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6"/>
          <p:cNvSpPr txBox="1"/>
          <p:nvPr/>
        </p:nvSpPr>
        <p:spPr>
          <a:xfrm>
            <a:off x="7358475" y="2758463"/>
            <a:ext cx="12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Deseo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33675" y="3781963"/>
            <a:ext cx="1624800" cy="466800"/>
          </a:xfrm>
          <a:prstGeom prst="roundRect">
            <a:avLst>
              <a:gd fmla="val 16667" name="adj"/>
            </a:avLst>
          </a:prstGeom>
          <a:solidFill>
            <a:srgbClr val="50A14F"/>
          </a:solidFill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Robar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16"/>
          <p:cNvCxnSpPr>
            <a:endCxn id="125" idx="1"/>
          </p:cNvCxnSpPr>
          <p:nvPr/>
        </p:nvCxnSpPr>
        <p:spPr>
          <a:xfrm>
            <a:off x="5023875" y="4015363"/>
            <a:ext cx="709800" cy="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6"/>
          <p:cNvSpPr txBox="1"/>
          <p:nvPr/>
        </p:nvSpPr>
        <p:spPr>
          <a:xfrm>
            <a:off x="4445000" y="3553663"/>
            <a:ext cx="12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Dinero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</a:t>
            </a:r>
            <a:r>
              <a:rPr lang="es"/>
              <a:t>é ocurre con la ejecución y las funciones</a:t>
            </a:r>
            <a:r>
              <a:rPr lang="es"/>
              <a:t>?</a:t>
            </a:r>
            <a:endParaRPr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</a:t>
            </a:r>
            <a:r>
              <a:rPr lang="es"/>
              <a:t>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</a:t>
            </a:r>
            <a:r>
              <a:rPr lang="es"/>
              <a:t>continúa</a:t>
            </a:r>
            <a:r>
              <a:rPr lang="es"/>
              <a:t>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2" name="Google Shape;142;p18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18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149" name="Google Shape;149;p18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lang="es" sz="874">
                  <a:solidFill>
                    <a:srgbClr val="A0A1A7"/>
                  </a:solidFill>
                </a:rPr>
                <a:t>// funcion cuadrado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18"/>
          <p:cNvSpPr/>
          <p:nvPr/>
        </p:nvSpPr>
        <p:spPr>
          <a:xfrm>
            <a:off x="3241999" y="2692784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242000" y="2560030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268850" y="1170175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?????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5" name="Google Shape;165;p19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19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172" name="Google Shape;172;p19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19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268850" y="1170175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187" name="Google Shape;187;p2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8" name="Google Shape;188;p20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195" name="Google Shape;195;p20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20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7268850" y="1170175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2" name="Google Shape;212;p21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21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219" name="Google Shape;219;p21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21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1"/>
          <p:cNvSpPr/>
          <p:nvPr/>
        </p:nvSpPr>
        <p:spPr>
          <a:xfrm rot="-5400000">
            <a:off x="5793600" y="2566175"/>
            <a:ext cx="101700" cy="647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235" name="Google Shape;235;p22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236" name="Google Shape;236;p2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7" name="Google Shape;237;p22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22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244" name="Google Shape;244;p22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2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22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2"/>
          <p:cNvSpPr/>
          <p:nvPr/>
        </p:nvSpPr>
        <p:spPr>
          <a:xfrm rot="-5400000">
            <a:off x="5793600" y="2566175"/>
            <a:ext cx="101700" cy="647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585525" y="2484850"/>
            <a:ext cx="5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18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261" name="Google Shape;261;p23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262" name="Google Shape;262;p2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3" name="Google Shape;263;p23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23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270" name="Google Shape;270;p23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3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3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23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5539304" y="2940825"/>
            <a:ext cx="5871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286" name="Google Shape;286;p24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287" name="Google Shape;287;p2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8" name="Google Shape;288;p24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24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295" name="Google Shape;295;p24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4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4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p24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539304" y="2940825"/>
            <a:ext cx="5871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941024" y="2401290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312" name="Google Shape;312;p25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313" name="Google Shape;313;p2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14" name="Google Shape;314;p25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5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25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321" name="Google Shape;321;p25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5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5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25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5539304" y="2940825"/>
            <a:ext cx="5871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6941024" y="2401290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8299050" y="1160925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???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339" name="Google Shape;339;p26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340" name="Google Shape;340;p2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41" name="Google Shape;341;p26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6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26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348" name="Google Shape;348;p26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6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6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26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5539304" y="2940825"/>
            <a:ext cx="5871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6941024" y="2401290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8299050" y="1160925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366" name="Google Shape;366;p27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367" name="Google Shape;367;p2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8" name="Google Shape;368;p27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7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7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27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375" name="Google Shape;375;p27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7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27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5539304" y="2940825"/>
            <a:ext cx="5871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6931774" y="2689290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8299050" y="1160925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6931775" y="240669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394" name="Google Shape;394;p28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395" name="Google Shape;395;p2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6" name="Google Shape;396;p28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8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8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2" name="Google Shape;402;p28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403" name="Google Shape;403;p28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8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8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28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5539304" y="2940825"/>
            <a:ext cx="5871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6931774" y="2855562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8299050" y="1160925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6931775" y="2702243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7268850" y="3540850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res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????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424" name="Google Shape;424;p2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25" name="Google Shape;425;p29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9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9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9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9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1" name="Google Shape;431;p29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432" name="Google Shape;432;p29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9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9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p29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5539304" y="2940825"/>
            <a:ext cx="5871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6931774" y="2989466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29"/>
          <p:cNvSpPr/>
          <p:nvPr/>
        </p:nvSpPr>
        <p:spPr>
          <a:xfrm>
            <a:off x="8299050" y="1160925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6931775" y="2836148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29"/>
          <p:cNvSpPr/>
          <p:nvPr/>
        </p:nvSpPr>
        <p:spPr>
          <a:xfrm>
            <a:off x="7268850" y="3540850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res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6.25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452" name="Google Shape;452;p30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453" name="Google Shape;453;p3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4" name="Google Shape;454;p30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0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0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0" name="Google Shape;460;p30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461" name="Google Shape;461;p30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0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0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Google Shape;467;p30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0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0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5012175" y="2940825"/>
            <a:ext cx="12114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6.25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6931774" y="2989466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8299050" y="1160925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2.5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6931775" y="2836148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30"/>
          <p:cNvSpPr/>
          <p:nvPr/>
        </p:nvSpPr>
        <p:spPr>
          <a:xfrm>
            <a:off x="7268850" y="3540850"/>
            <a:ext cx="587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res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6.25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ocurre con la ejecución y las funciones?</a:t>
            </a:r>
            <a:endParaRPr/>
          </a:p>
        </p:txBody>
      </p:sp>
      <p:sp>
        <p:nvSpPr>
          <p:cNvPr id="481" name="Google Shape;481;p31"/>
          <p:cNvSpPr txBox="1"/>
          <p:nvPr>
            <p:ph idx="1" type="body"/>
          </p:nvPr>
        </p:nvSpPr>
        <p:spPr>
          <a:xfrm>
            <a:off x="311700" y="1152475"/>
            <a:ext cx="322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aparece una instrucción que contenga una </a:t>
            </a:r>
            <a:r>
              <a:rPr b="1" lang="es"/>
              <a:t>llamada</a:t>
            </a:r>
            <a:r>
              <a:rPr lang="es"/>
              <a:t> a una función, primero se resuelve la llamada a la función y luego se continúa evaluando la expresión.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Siempre se respeta la asociatividad y la precedencia.</a:t>
            </a:r>
            <a:endParaRPr/>
          </a:p>
        </p:txBody>
      </p:sp>
      <p:sp>
        <p:nvSpPr>
          <p:cNvPr id="482" name="Google Shape;482;p3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83" name="Google Shape;483;p31"/>
          <p:cNvSpPr/>
          <p:nvPr/>
        </p:nvSpPr>
        <p:spPr>
          <a:xfrm rot="10800000">
            <a:off x="7268850" y="2326596"/>
            <a:ext cx="1617300" cy="1024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1"/>
          <p:cNvSpPr/>
          <p:nvPr/>
        </p:nvSpPr>
        <p:spPr>
          <a:xfrm rot="10800000">
            <a:off x="7268849" y="2080061"/>
            <a:ext cx="1617300" cy="246300"/>
          </a:xfrm>
          <a:prstGeom prst="round2SameRect">
            <a:avLst>
              <a:gd fmla="val 6272" name="adj1"/>
              <a:gd fmla="val 35447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1"/>
          <p:cNvSpPr/>
          <p:nvPr/>
        </p:nvSpPr>
        <p:spPr>
          <a:xfrm>
            <a:off x="7349562" y="2141547"/>
            <a:ext cx="123000" cy="1230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1"/>
          <p:cNvSpPr/>
          <p:nvPr/>
        </p:nvSpPr>
        <p:spPr>
          <a:xfrm>
            <a:off x="7531893" y="2141547"/>
            <a:ext cx="123000" cy="1230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1"/>
          <p:cNvSpPr/>
          <p:nvPr/>
        </p:nvSpPr>
        <p:spPr>
          <a:xfrm>
            <a:off x="7714224" y="2141547"/>
            <a:ext cx="123000" cy="1230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1"/>
          <p:cNvSpPr txBox="1"/>
          <p:nvPr/>
        </p:nvSpPr>
        <p:spPr>
          <a:xfrm>
            <a:off x="7334377" y="2335181"/>
            <a:ext cx="1485600" cy="992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4075" lIns="44075" spcFirstLastPara="1" rIns="44075" wrap="square" tIns="44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4078F2"/>
                </a:solidFill>
                <a:latin typeface="Arial"/>
                <a:ea typeface="Arial"/>
                <a:cs typeface="Arial"/>
                <a:sym typeface="Arial"/>
              </a:rPr>
              <a:t>cuadrado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{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s" sz="964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27292F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4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383A42"/>
                </a:solidFill>
              </a:rPr>
              <a:t>     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0184B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5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964">
                <a:solidFill>
                  <a:srgbClr val="383A42"/>
                </a:solidFill>
              </a:rPr>
              <a:t>       </a:t>
            </a:r>
            <a:r>
              <a:rPr b="0" i="0" lang="es" sz="964" u="none" cap="none" strike="noStrike">
                <a:solidFill>
                  <a:srgbClr val="A626A4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964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4"/>
              <a:buFont typeface="Arial"/>
              <a:buNone/>
            </a:pP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s" sz="964">
                <a:solidFill>
                  <a:srgbClr val="929292"/>
                </a:solidFill>
              </a:rPr>
              <a:t>6</a:t>
            </a:r>
            <a:r>
              <a:rPr b="0" i="0" lang="es" sz="96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964" u="none" cap="none" strike="noStrike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31"/>
          <p:cNvGrpSpPr/>
          <p:nvPr/>
        </p:nvGrpSpPr>
        <p:grpSpPr>
          <a:xfrm>
            <a:off x="3581592" y="1170166"/>
            <a:ext cx="3570208" cy="3091032"/>
            <a:chOff x="5489750" y="1017879"/>
            <a:chExt cx="2113800" cy="1830096"/>
          </a:xfrm>
        </p:grpSpPr>
        <p:sp>
          <p:nvSpPr>
            <p:cNvPr id="490" name="Google Shape;490;p31"/>
            <p:cNvSpPr/>
            <p:nvPr/>
          </p:nvSpPr>
          <p:spPr>
            <a:xfrm rot="10800000">
              <a:off x="5489750" y="1171576"/>
              <a:ext cx="2113800" cy="1676400"/>
            </a:xfrm>
            <a:prstGeom prst="round2SameRect">
              <a:avLst>
                <a:gd fmla="val 6272" name="adj1"/>
                <a:gd fmla="val 0" name="adj2"/>
              </a:avLst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1"/>
            <p:cNvSpPr/>
            <p:nvPr/>
          </p:nvSpPr>
          <p:spPr>
            <a:xfrm rot="10800000">
              <a:off x="5489750" y="1017879"/>
              <a:ext cx="2113800" cy="153900"/>
            </a:xfrm>
            <a:prstGeom prst="round2SameRect">
              <a:avLst>
                <a:gd fmla="val 6272" name="adj1"/>
                <a:gd fmla="val 50000" name="adj2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5587679" y="1057281"/>
              <a:ext cx="84000" cy="84000"/>
            </a:xfrm>
            <a:prstGeom prst="ellipse">
              <a:avLst/>
            </a:prstGeom>
            <a:solidFill>
              <a:srgbClr val="FF605C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5712161" y="1057281"/>
              <a:ext cx="84000" cy="84000"/>
            </a:xfrm>
            <a:prstGeom prst="ellipse">
              <a:avLst/>
            </a:prstGeom>
            <a:solidFill>
              <a:srgbClr val="FFBD44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5836643" y="1057281"/>
              <a:ext cx="84000" cy="84000"/>
            </a:xfrm>
            <a:prstGeom prst="ellipse">
              <a:avLst/>
            </a:prstGeom>
            <a:solidFill>
              <a:srgbClr val="00CA4E"/>
            </a:solidFill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1"/>
            <p:cNvSpPr txBox="1"/>
            <p:nvPr/>
          </p:nvSpPr>
          <p:spPr>
            <a:xfrm>
              <a:off x="5565309" y="1234528"/>
              <a:ext cx="2019000" cy="155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t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&lt;iostream&gt;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#include &lt;cmath&gt;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using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namespace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std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95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s" sz="874">
                  <a:solidFill>
                    <a:srgbClr val="A0A1A7"/>
                  </a:solidFill>
                </a:rPr>
                <a:t>   // funcion cuadrado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4078F2"/>
                  </a:solidFill>
                  <a:latin typeface="Arial"/>
                  <a:ea typeface="Arial"/>
                  <a:cs typeface="Arial"/>
                  <a:sym typeface="Arial"/>
                </a:rPr>
                <a:t>main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()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27292F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"Ingrese el </a:t>
              </a:r>
              <a:r>
                <a:rPr lang="es" sz="874">
                  <a:solidFill>
                    <a:srgbClr val="50A14F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: "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cin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&gt;&gt;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M_PI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cuadrado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/</a:t>
              </a:r>
              <a:r>
                <a:rPr lang="es" sz="874">
                  <a:solidFill>
                    <a:srgbClr val="986801"/>
                  </a:solidFill>
                </a:rPr>
                <a:t>2.0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cuadrado</a:t>
              </a:r>
              <a:r>
                <a:rPr lang="es" sz="874">
                  <a:solidFill>
                    <a:srgbClr val="383A42"/>
                  </a:solidFill>
                </a:rPr>
                <a:t>(</a:t>
              </a:r>
              <a:r>
                <a:rPr lang="es" sz="874">
                  <a:solidFill>
                    <a:srgbClr val="E06C75"/>
                  </a:solidFill>
                </a:rPr>
                <a:t>diametro</a:t>
              </a:r>
              <a:r>
                <a:rPr lang="es" sz="874">
                  <a:solidFill>
                    <a:srgbClr val="383A42"/>
                  </a:solidFill>
                </a:rPr>
                <a:t>)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area del circulo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area</a:t>
              </a:r>
              <a:r>
                <a:rPr lang="es" sz="874">
                  <a:solidFill>
                    <a:srgbClr val="E06C75"/>
                  </a:solidFill>
                </a:rPr>
                <a:t>_circ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cout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"El </a:t>
              </a:r>
              <a:r>
                <a:rPr lang="es" sz="874">
                  <a:solidFill>
                    <a:srgbClr val="50A14F"/>
                  </a:solidFill>
                </a:rPr>
                <a:t>area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del </a:t>
              </a:r>
              <a:r>
                <a:rPr lang="es" sz="874">
                  <a:solidFill>
                    <a:srgbClr val="50A14F"/>
                  </a:solidFill>
                </a:rPr>
                <a:t>cuadrado</a:t>
              </a:r>
              <a:r>
                <a:rPr b="0" i="0" lang="es" sz="874" u="none" cap="none" strike="noStrike">
                  <a:solidFill>
                    <a:srgbClr val="50A14F"/>
                  </a:solidFill>
                  <a:latin typeface="Arial"/>
                  <a:ea typeface="Arial"/>
                  <a:cs typeface="Arial"/>
                  <a:sym typeface="Arial"/>
                </a:rPr>
                <a:t> es: "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" sz="874">
                  <a:solidFill>
                    <a:srgbClr val="E06C75"/>
                  </a:solidFill>
                </a:rPr>
                <a:t>area_cuadr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0184BC"/>
                  </a:solidFill>
                  <a:latin typeface="Arial"/>
                  <a:ea typeface="Arial"/>
                  <a:cs typeface="Arial"/>
                  <a:sym typeface="Arial"/>
                </a:rPr>
                <a:t>&lt;&lt;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E06C75"/>
                  </a:solidFill>
                  <a:latin typeface="Arial"/>
                  <a:ea typeface="Arial"/>
                  <a:cs typeface="Arial"/>
                  <a:sym typeface="Arial"/>
                </a:rPr>
                <a:t>endl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endParaRPr b="0" i="0" sz="874" u="none" cap="none" strike="noStrike">
                <a:solidFill>
                  <a:srgbClr val="A0A1A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0" i="0" lang="es" sz="874" u="none" cap="none" strike="noStrike">
                  <a:solidFill>
                    <a:srgbClr val="A626A4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s" sz="874" u="none" cap="none" strike="noStrike">
                  <a:solidFill>
                    <a:srgbClr val="98680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4"/>
                <a:buFont typeface="Arial"/>
                <a:buNone/>
              </a:pPr>
              <a:r>
                <a:rPr b="0" i="0" lang="es" sz="874" u="none" cap="none" strike="noStrike">
                  <a:solidFill>
                    <a:srgbClr val="929292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0" i="0" lang="es" sz="874" u="none" cap="none" strike="noStrike">
                  <a:solidFill>
                    <a:srgbClr val="A0A1A7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s" sz="874" u="none" cap="none" strike="noStrike">
                  <a:solidFill>
                    <a:srgbClr val="383A42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874" u="none" cap="none" strike="noStrike">
                <a:solidFill>
                  <a:srgbClr val="383A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31"/>
          <p:cNvSpPr/>
          <p:nvPr/>
        </p:nvSpPr>
        <p:spPr>
          <a:xfrm>
            <a:off x="3241999" y="2960765"/>
            <a:ext cx="4668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3242000" y="268931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5012175" y="2940725"/>
            <a:ext cx="1211400" cy="143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7268850" y="1160927"/>
            <a:ext cx="855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diametro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5.0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5012175" y="2940825"/>
            <a:ext cx="1211400" cy="143400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Montserrat"/>
                <a:ea typeface="Montserrat"/>
                <a:cs typeface="Montserrat"/>
                <a:sym typeface="Montserrat"/>
              </a:rPr>
              <a:t>6.25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1"/>
          <p:cNvSpPr/>
          <p:nvPr/>
        </p:nvSpPr>
        <p:spPr>
          <a:xfrm>
            <a:off x="6931775" y="2989971"/>
            <a:ext cx="4668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Pasaje de Par</a:t>
            </a:r>
            <a:r>
              <a:rPr lang="es"/>
              <a:t>ámetros/Argumentos por Referencia</a:t>
            </a:r>
            <a:endParaRPr/>
          </a:p>
        </p:txBody>
      </p:sp>
      <p:sp>
        <p:nvSpPr>
          <p:cNvPr id="507" name="Google Shape;507;p3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significa “por referencia”?</a:t>
            </a:r>
            <a:endParaRPr/>
          </a:p>
        </p:txBody>
      </p:sp>
      <p:sp>
        <p:nvSpPr>
          <p:cNvPr id="513" name="Google Shape;513;p33"/>
          <p:cNvSpPr txBox="1"/>
          <p:nvPr>
            <p:ph idx="1" type="body"/>
          </p:nvPr>
        </p:nvSpPr>
        <p:spPr>
          <a:xfrm>
            <a:off x="311700" y="1152475"/>
            <a:ext cx="50826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se reserva un espacio de memoria, este tiene una direcci</a:t>
            </a:r>
            <a:r>
              <a:rPr lang="es"/>
              <a:t>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puede, en el programa, hacer </a:t>
            </a:r>
            <a:r>
              <a:rPr b="1" lang="es"/>
              <a:t>referencia</a:t>
            </a:r>
            <a:r>
              <a:rPr lang="es"/>
              <a:t> a ese espacio de memoria sin saber </a:t>
            </a:r>
            <a:r>
              <a:rPr lang="es"/>
              <a:t>explícitamente</a:t>
            </a:r>
            <a:r>
              <a:rPr lang="es"/>
              <a:t> su dirección, sino utilizando el nombre de la variable reservada y el operador </a:t>
            </a:r>
            <a:r>
              <a:rPr b="1" lang="es"/>
              <a:t>&amp;</a:t>
            </a:r>
            <a:r>
              <a:rPr lang="es"/>
              <a:t>, que me devuelve la dirección de donde se reservó dicha variable.</a:t>
            </a:r>
            <a:endParaRPr/>
          </a:p>
        </p:txBody>
      </p:sp>
      <p:sp>
        <p:nvSpPr>
          <p:cNvPr id="514" name="Google Shape;514;p3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15" name="Google Shape;515;p33"/>
          <p:cNvSpPr/>
          <p:nvPr/>
        </p:nvSpPr>
        <p:spPr>
          <a:xfrm rot="10800000">
            <a:off x="5825750" y="1758424"/>
            <a:ext cx="2753700" cy="26541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122125" lIns="122125" spcFirstLastPara="1" rIns="122125" wrap="square" tIns="12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"/>
              <a:buFont typeface="Arial"/>
              <a:buNone/>
            </a:pPr>
            <a:r>
              <a:t/>
            </a:r>
            <a:endParaRPr b="0" i="0" sz="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3"/>
          <p:cNvSpPr/>
          <p:nvPr/>
        </p:nvSpPr>
        <p:spPr>
          <a:xfrm rot="10800000">
            <a:off x="5825746" y="1322517"/>
            <a:ext cx="2753700" cy="4365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122125" lIns="122125" spcFirstLastPara="1" rIns="122125" wrap="square" tIns="12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"/>
              <a:buFont typeface="Arial"/>
              <a:buNone/>
            </a:pPr>
            <a:r>
              <a:t/>
            </a:r>
            <a:endParaRPr b="0" i="0" sz="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3"/>
          <p:cNvSpPr/>
          <p:nvPr/>
        </p:nvSpPr>
        <p:spPr>
          <a:xfrm>
            <a:off x="6103749" y="1434010"/>
            <a:ext cx="238500" cy="238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122125" lIns="122125" spcFirstLastPara="1" rIns="122125" wrap="square" tIns="12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"/>
              <a:buFont typeface="Arial"/>
              <a:buNone/>
            </a:pPr>
            <a:r>
              <a:t/>
            </a:r>
            <a:endParaRPr b="0" i="0" sz="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3"/>
          <p:cNvSpPr/>
          <p:nvPr/>
        </p:nvSpPr>
        <p:spPr>
          <a:xfrm>
            <a:off x="6457078" y="1434010"/>
            <a:ext cx="238500" cy="238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122125" lIns="122125" spcFirstLastPara="1" rIns="122125" wrap="square" tIns="12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"/>
              <a:buFont typeface="Arial"/>
              <a:buNone/>
            </a:pPr>
            <a:r>
              <a:t/>
            </a:r>
            <a:endParaRPr b="0" i="0" sz="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3"/>
          <p:cNvSpPr/>
          <p:nvPr/>
        </p:nvSpPr>
        <p:spPr>
          <a:xfrm>
            <a:off x="6810407" y="1434010"/>
            <a:ext cx="238500" cy="238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122125" lIns="122125" spcFirstLastPara="1" rIns="122125" wrap="square" tIns="12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"/>
              <a:buFont typeface="Arial"/>
              <a:buNone/>
            </a:pPr>
            <a:r>
              <a:t/>
            </a:r>
            <a:endParaRPr b="0" i="0" sz="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3"/>
          <p:cNvSpPr txBox="1"/>
          <p:nvPr/>
        </p:nvSpPr>
        <p:spPr>
          <a:xfrm>
            <a:off x="5924230" y="1858124"/>
            <a:ext cx="2630100" cy="245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122125" lIns="122125" spcFirstLastPara="1" rIns="122125" wrap="square" tIns="12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</a:pPr>
            <a:r>
              <a:rPr lang="es" sz="1469">
                <a:solidFill>
                  <a:srgbClr val="383A42"/>
                </a:solidFill>
              </a:rPr>
              <a:t>#include &lt;iostream&gt;</a:t>
            </a:r>
            <a:endParaRPr sz="1469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69">
                <a:solidFill>
                  <a:srgbClr val="383A42"/>
                </a:solidFill>
              </a:rPr>
              <a:t>#include &lt;iomanip&gt;</a:t>
            </a:r>
            <a:endParaRPr sz="1469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69">
                <a:solidFill>
                  <a:srgbClr val="383A42"/>
                </a:solidFill>
              </a:rPr>
              <a:t>#include &lt;cmath&gt;</a:t>
            </a:r>
            <a:endParaRPr sz="1469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69">
                <a:solidFill>
                  <a:srgbClr val="A626A4"/>
                </a:solidFill>
              </a:rPr>
              <a:t>using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A626A4"/>
                </a:solidFill>
              </a:rPr>
              <a:t>namespace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4078F2"/>
                </a:solidFill>
              </a:rPr>
              <a:t>std</a:t>
            </a:r>
            <a:r>
              <a:rPr lang="es" sz="1469">
                <a:solidFill>
                  <a:srgbClr val="383A42"/>
                </a:solidFill>
              </a:rPr>
              <a:t>;</a:t>
            </a:r>
            <a:endParaRPr sz="1469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9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69">
                <a:solidFill>
                  <a:srgbClr val="27292F"/>
                </a:solidFill>
              </a:rPr>
              <a:t>int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4078F2"/>
                </a:solidFill>
              </a:rPr>
              <a:t>main</a:t>
            </a:r>
            <a:r>
              <a:rPr lang="es" sz="1469">
                <a:solidFill>
                  <a:srgbClr val="383A42"/>
                </a:solidFill>
              </a:rPr>
              <a:t>()</a:t>
            </a:r>
            <a:r>
              <a:rPr lang="es" sz="1469">
                <a:solidFill>
                  <a:srgbClr val="A0A1A7"/>
                </a:solidFill>
              </a:rPr>
              <a:t> </a:t>
            </a:r>
            <a:endParaRPr sz="1469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69">
                <a:solidFill>
                  <a:srgbClr val="383A42"/>
                </a:solidFill>
              </a:rPr>
              <a:t>{</a:t>
            </a:r>
            <a:endParaRPr sz="1469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69">
                <a:solidFill>
                  <a:srgbClr val="A0A1A7"/>
                </a:solidFill>
              </a:rPr>
              <a:t>    </a:t>
            </a:r>
            <a:r>
              <a:rPr lang="es" sz="1469">
                <a:solidFill>
                  <a:srgbClr val="27292F"/>
                </a:solidFill>
              </a:rPr>
              <a:t>int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E06C75"/>
                </a:solidFill>
              </a:rPr>
              <a:t>a</a:t>
            </a:r>
            <a:r>
              <a:rPr lang="es" sz="1469">
                <a:solidFill>
                  <a:srgbClr val="0184BC"/>
                </a:solidFill>
              </a:rPr>
              <a:t>=</a:t>
            </a:r>
            <a:r>
              <a:rPr lang="es" sz="1469">
                <a:solidFill>
                  <a:srgbClr val="986801"/>
                </a:solidFill>
              </a:rPr>
              <a:t>3</a:t>
            </a:r>
            <a:r>
              <a:rPr lang="es" sz="1469">
                <a:solidFill>
                  <a:srgbClr val="383A42"/>
                </a:solidFill>
              </a:rPr>
              <a:t>;</a:t>
            </a:r>
            <a:endParaRPr sz="1469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69">
                <a:solidFill>
                  <a:srgbClr val="A0A1A7"/>
                </a:solidFill>
              </a:rPr>
              <a:t>    </a:t>
            </a:r>
            <a:r>
              <a:rPr lang="es" sz="1469">
                <a:solidFill>
                  <a:srgbClr val="E06C75"/>
                </a:solidFill>
              </a:rPr>
              <a:t>cout</a:t>
            </a:r>
            <a:r>
              <a:rPr lang="es" sz="1469">
                <a:solidFill>
                  <a:srgbClr val="0184BC"/>
                </a:solidFill>
              </a:rPr>
              <a:t>&lt;&lt;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E06C75"/>
                </a:solidFill>
              </a:rPr>
              <a:t>a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0184BC"/>
                </a:solidFill>
              </a:rPr>
              <a:t>&lt;&lt;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E06C75"/>
                </a:solidFill>
              </a:rPr>
              <a:t>endl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0184BC"/>
                </a:solidFill>
              </a:rPr>
              <a:t>&lt;&lt;</a:t>
            </a:r>
            <a:r>
              <a:rPr lang="es" sz="1469">
                <a:solidFill>
                  <a:srgbClr val="A0A1A7"/>
                </a:solidFill>
              </a:rPr>
              <a:t> </a:t>
            </a:r>
            <a:r>
              <a:rPr lang="es" sz="1469">
                <a:solidFill>
                  <a:srgbClr val="0184BC"/>
                </a:solidFill>
              </a:rPr>
              <a:t>&amp;</a:t>
            </a:r>
            <a:r>
              <a:rPr lang="es" sz="1469">
                <a:solidFill>
                  <a:srgbClr val="E06C75"/>
                </a:solidFill>
              </a:rPr>
              <a:t>a</a:t>
            </a:r>
            <a:r>
              <a:rPr lang="es" sz="1469">
                <a:solidFill>
                  <a:srgbClr val="383A42"/>
                </a:solidFill>
              </a:rPr>
              <a:t>;</a:t>
            </a:r>
            <a:r>
              <a:rPr lang="es" sz="1469">
                <a:solidFill>
                  <a:srgbClr val="A0A1A7"/>
                </a:solidFill>
              </a:rPr>
              <a:t> </a:t>
            </a:r>
            <a:endParaRPr sz="1469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69">
                <a:solidFill>
                  <a:srgbClr val="383A42"/>
                </a:solidFill>
              </a:rPr>
              <a:t>}</a:t>
            </a:r>
            <a:endParaRPr sz="1469">
              <a:solidFill>
                <a:srgbClr val="383A4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</a:pPr>
            <a:r>
              <a:t/>
            </a:r>
            <a:endParaRPr sz="1469">
              <a:solidFill>
                <a:srgbClr val="A0A1A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4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</a:t>
            </a:r>
            <a:r>
              <a:rPr lang="es"/>
              <a:t>ómo usar un parametro</a:t>
            </a:r>
            <a:r>
              <a:rPr lang="es"/>
              <a:t> “por referencia”?</a:t>
            </a:r>
            <a:endParaRPr/>
          </a:p>
        </p:txBody>
      </p:sp>
      <p:sp>
        <p:nvSpPr>
          <p:cNvPr id="526" name="Google Shape;526;p34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527" name="Google Shape;527;p3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28" name="Google Shape;528;p34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4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4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4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4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4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534" name="Google Shape;534;p34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34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5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usar un parametro “por referencia”?</a:t>
            </a:r>
            <a:endParaRPr/>
          </a:p>
        </p:txBody>
      </p:sp>
      <p:sp>
        <p:nvSpPr>
          <p:cNvPr id="541" name="Google Shape;541;p35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542" name="Google Shape;542;p3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43" name="Google Shape;543;p35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5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5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5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5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5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549" name="Google Shape;549;p35"/>
          <p:cNvSpPr/>
          <p:nvPr/>
        </p:nvSpPr>
        <p:spPr>
          <a:xfrm>
            <a:off x="8520075" y="445025"/>
            <a:ext cx="481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3200525" y="3803725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3200526" y="3689724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6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usar un parametro “por referencia”?</a:t>
            </a:r>
            <a:endParaRPr/>
          </a:p>
        </p:txBody>
      </p:sp>
      <p:sp>
        <p:nvSpPr>
          <p:cNvPr id="559" name="Google Shape;559;p36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560" name="Google Shape;560;p3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61" name="Google Shape;561;p36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6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6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6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6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6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567" name="Google Shape;567;p36"/>
          <p:cNvSpPr/>
          <p:nvPr/>
        </p:nvSpPr>
        <p:spPr>
          <a:xfrm>
            <a:off x="8520075" y="445025"/>
            <a:ext cx="481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36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36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36"/>
          <p:cNvSpPr/>
          <p:nvPr/>
        </p:nvSpPr>
        <p:spPr>
          <a:xfrm>
            <a:off x="3200525" y="3803725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36"/>
          <p:cNvSpPr/>
          <p:nvPr/>
        </p:nvSpPr>
        <p:spPr>
          <a:xfrm>
            <a:off x="3200526" y="3689724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3200525" y="2374133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36"/>
          <p:cNvSpPr/>
          <p:nvPr/>
        </p:nvSpPr>
        <p:spPr>
          <a:xfrm>
            <a:off x="3200526" y="2260131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36"/>
          <p:cNvSpPr/>
          <p:nvPr/>
        </p:nvSpPr>
        <p:spPr>
          <a:xfrm>
            <a:off x="8520075" y="1071550"/>
            <a:ext cx="481200" cy="572700"/>
          </a:xfrm>
          <a:prstGeom prst="roundRect">
            <a:avLst>
              <a:gd fmla="val 16667" name="adj"/>
            </a:avLst>
          </a:prstGeom>
          <a:solidFill>
            <a:srgbClr val="50A14F"/>
          </a:solidFill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7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usar un parametro “por referencia”?</a:t>
            </a:r>
            <a:endParaRPr/>
          </a:p>
        </p:txBody>
      </p:sp>
      <p:sp>
        <p:nvSpPr>
          <p:cNvPr id="580" name="Google Shape;580;p37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581" name="Google Shape;581;p3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82" name="Google Shape;582;p37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7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7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7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588" name="Google Shape;588;p37"/>
          <p:cNvSpPr/>
          <p:nvPr/>
        </p:nvSpPr>
        <p:spPr>
          <a:xfrm>
            <a:off x="8520075" y="445025"/>
            <a:ext cx="481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37"/>
          <p:cNvSpPr/>
          <p:nvPr/>
        </p:nvSpPr>
        <p:spPr>
          <a:xfrm>
            <a:off x="3200525" y="3803725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37"/>
          <p:cNvSpPr/>
          <p:nvPr/>
        </p:nvSpPr>
        <p:spPr>
          <a:xfrm>
            <a:off x="3200526" y="3689724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37"/>
          <p:cNvSpPr/>
          <p:nvPr/>
        </p:nvSpPr>
        <p:spPr>
          <a:xfrm>
            <a:off x="3200525" y="2521480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37"/>
          <p:cNvSpPr/>
          <p:nvPr/>
        </p:nvSpPr>
        <p:spPr>
          <a:xfrm>
            <a:off x="3200526" y="2407479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8520075" y="1071550"/>
            <a:ext cx="481200" cy="572700"/>
          </a:xfrm>
          <a:prstGeom prst="roundRect">
            <a:avLst>
              <a:gd fmla="val 16667" name="adj"/>
            </a:avLst>
          </a:prstGeom>
          <a:solidFill>
            <a:srgbClr val="50A14F"/>
          </a:solidFill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8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usar un parametro “por referencia”?</a:t>
            </a:r>
            <a:endParaRPr/>
          </a:p>
        </p:txBody>
      </p:sp>
      <p:sp>
        <p:nvSpPr>
          <p:cNvPr id="601" name="Google Shape;601;p38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602" name="Google Shape;602;p3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03" name="Google Shape;603;p38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8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8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8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8520075" y="445025"/>
            <a:ext cx="481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3200525" y="3910652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3200526" y="3796651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9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usar un parametro “por referencia”?</a:t>
            </a:r>
            <a:endParaRPr/>
          </a:p>
        </p:txBody>
      </p:sp>
      <p:sp>
        <p:nvSpPr>
          <p:cNvPr id="619" name="Google Shape;619;p39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620" name="Google Shape;620;p3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21" name="Google Shape;621;p39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9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9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9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8520075" y="445025"/>
            <a:ext cx="481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39"/>
          <p:cNvSpPr/>
          <p:nvPr/>
        </p:nvSpPr>
        <p:spPr>
          <a:xfrm>
            <a:off x="3200525" y="4052947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3200526" y="3938945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usar un parametro “por referencia”?</a:t>
            </a:r>
            <a:endParaRPr/>
          </a:p>
        </p:txBody>
      </p:sp>
      <p:sp>
        <p:nvSpPr>
          <p:cNvPr id="637" name="Google Shape;637;p40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638" name="Google Shape;638;p4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39" name="Google Shape;639;p40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0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0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0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0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0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645" name="Google Shape;645;p40"/>
          <p:cNvSpPr/>
          <p:nvPr/>
        </p:nvSpPr>
        <p:spPr>
          <a:xfrm>
            <a:off x="8520075" y="445025"/>
            <a:ext cx="481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40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7" name="Google Shape;647;p40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3200525" y="4052947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9" name="Google Shape;649;p40"/>
          <p:cNvSpPr/>
          <p:nvPr/>
        </p:nvSpPr>
        <p:spPr>
          <a:xfrm>
            <a:off x="3200526" y="3938945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0" name="Google Shape;650;p40"/>
          <p:cNvSpPr/>
          <p:nvPr/>
        </p:nvSpPr>
        <p:spPr>
          <a:xfrm>
            <a:off x="3200525" y="2895922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p40"/>
          <p:cNvSpPr/>
          <p:nvPr/>
        </p:nvSpPr>
        <p:spPr>
          <a:xfrm>
            <a:off x="3200526" y="2781920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8520075" y="1170475"/>
            <a:ext cx="481200" cy="57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40"/>
          <p:cNvSpPr/>
          <p:nvPr/>
        </p:nvSpPr>
        <p:spPr>
          <a:xfrm>
            <a:off x="8225258" y="768000"/>
            <a:ext cx="535850" cy="793250"/>
          </a:xfrm>
          <a:custGeom>
            <a:rect b="b" l="l" r="r" t="t"/>
            <a:pathLst>
              <a:path extrusionOk="0" h="31730" w="21434">
                <a:moveTo>
                  <a:pt x="21435" y="31730"/>
                </a:moveTo>
                <a:cubicBezTo>
                  <a:pt x="17898" y="28597"/>
                  <a:pt x="1865" y="18222"/>
                  <a:pt x="214" y="12934"/>
                </a:cubicBezTo>
                <a:cubicBezTo>
                  <a:pt x="-1436" y="7646"/>
                  <a:pt x="9646" y="2156"/>
                  <a:pt x="11532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1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usar un </a:t>
            </a:r>
            <a:r>
              <a:rPr lang="es"/>
              <a:t>parámetro</a:t>
            </a:r>
            <a:r>
              <a:rPr lang="es"/>
              <a:t> “por referencia”?</a:t>
            </a:r>
            <a:endParaRPr/>
          </a:p>
        </p:txBody>
      </p:sp>
      <p:sp>
        <p:nvSpPr>
          <p:cNvPr id="659" name="Google Shape;659;p41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660" name="Google Shape;660;p4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61" name="Google Shape;661;p41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1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1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667" name="Google Shape;667;p41"/>
          <p:cNvSpPr/>
          <p:nvPr/>
        </p:nvSpPr>
        <p:spPr>
          <a:xfrm>
            <a:off x="8520075" y="445025"/>
            <a:ext cx="481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41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41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41"/>
          <p:cNvSpPr/>
          <p:nvPr/>
        </p:nvSpPr>
        <p:spPr>
          <a:xfrm>
            <a:off x="3200525" y="4052947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41"/>
          <p:cNvSpPr/>
          <p:nvPr/>
        </p:nvSpPr>
        <p:spPr>
          <a:xfrm>
            <a:off x="3200526" y="3938945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41"/>
          <p:cNvSpPr/>
          <p:nvPr/>
        </p:nvSpPr>
        <p:spPr>
          <a:xfrm>
            <a:off x="3200525" y="3017595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3200526" y="2903593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4" name="Google Shape;674;p41"/>
          <p:cNvSpPr/>
          <p:nvPr/>
        </p:nvSpPr>
        <p:spPr>
          <a:xfrm>
            <a:off x="8520075" y="1170475"/>
            <a:ext cx="481200" cy="5727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8225258" y="768000"/>
            <a:ext cx="535850" cy="793250"/>
          </a:xfrm>
          <a:custGeom>
            <a:rect b="b" l="l" r="r" t="t"/>
            <a:pathLst>
              <a:path extrusionOk="0" h="31730" w="21434">
                <a:moveTo>
                  <a:pt x="21435" y="31730"/>
                </a:moveTo>
                <a:cubicBezTo>
                  <a:pt x="17898" y="28597"/>
                  <a:pt x="1865" y="18222"/>
                  <a:pt x="214" y="12934"/>
                </a:cubicBezTo>
                <a:cubicBezTo>
                  <a:pt x="-1436" y="7646"/>
                  <a:pt x="9646" y="2156"/>
                  <a:pt x="11532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2"/>
          <p:cNvSpPr txBox="1"/>
          <p:nvPr>
            <p:ph type="title"/>
          </p:nvPr>
        </p:nvSpPr>
        <p:spPr>
          <a:xfrm>
            <a:off x="311700" y="445025"/>
            <a:ext cx="74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usar un </a:t>
            </a:r>
            <a:r>
              <a:rPr lang="es"/>
              <a:t>parámetro</a:t>
            </a:r>
            <a:r>
              <a:rPr lang="es"/>
              <a:t> “por referencia”?</a:t>
            </a:r>
            <a:endParaRPr/>
          </a:p>
        </p:txBody>
      </p:sp>
      <p:sp>
        <p:nvSpPr>
          <p:cNvPr id="681" name="Google Shape;681;p42"/>
          <p:cNvSpPr txBox="1"/>
          <p:nvPr>
            <p:ph idx="1" type="body"/>
          </p:nvPr>
        </p:nvSpPr>
        <p:spPr>
          <a:xfrm>
            <a:off x="311700" y="1152475"/>
            <a:ext cx="3061500" cy="3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Cuando utilizamos el </a:t>
            </a:r>
            <a:r>
              <a:rPr b="1" lang="es"/>
              <a:t>&amp;</a:t>
            </a:r>
            <a:r>
              <a:rPr lang="es"/>
              <a:t> en argumentos de funciones, lo que queremos decir es que </a:t>
            </a:r>
            <a:r>
              <a:rPr b="1" lang="es"/>
              <a:t>NO</a:t>
            </a:r>
            <a:r>
              <a:rPr lang="es"/>
              <a:t> se va a reservar un espacio de memoria nuevo para ese argumento, sino que vamos a </a:t>
            </a:r>
            <a:r>
              <a:rPr b="1" lang="es"/>
              <a:t>hacer referencia</a:t>
            </a:r>
            <a:r>
              <a:rPr lang="es"/>
              <a:t> a la variable que se haya utilizado en la invocación de la función.</a:t>
            </a:r>
            <a:endParaRPr/>
          </a:p>
        </p:txBody>
      </p:sp>
      <p:sp>
        <p:nvSpPr>
          <p:cNvPr id="682" name="Google Shape;682;p4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83" name="Google Shape;683;p42"/>
          <p:cNvSpPr/>
          <p:nvPr/>
        </p:nvSpPr>
        <p:spPr>
          <a:xfrm rot="10800000">
            <a:off x="3352950" y="1419350"/>
            <a:ext cx="4433400" cy="32478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2"/>
          <p:cNvSpPr/>
          <p:nvPr/>
        </p:nvSpPr>
        <p:spPr>
          <a:xfrm rot="10800000">
            <a:off x="3352929" y="1170475"/>
            <a:ext cx="4433400" cy="249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2"/>
          <p:cNvSpPr/>
          <p:nvPr/>
        </p:nvSpPr>
        <p:spPr>
          <a:xfrm>
            <a:off x="3511603" y="1234015"/>
            <a:ext cx="136200" cy="136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2"/>
          <p:cNvSpPr/>
          <p:nvPr/>
        </p:nvSpPr>
        <p:spPr>
          <a:xfrm>
            <a:off x="3713214" y="1234015"/>
            <a:ext cx="136200" cy="136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2"/>
          <p:cNvSpPr/>
          <p:nvPr/>
        </p:nvSpPr>
        <p:spPr>
          <a:xfrm>
            <a:off x="3914825" y="1234015"/>
            <a:ext cx="136200" cy="136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69675" lIns="69675" spcFirstLastPara="1" rIns="69675" wrap="square" tIns="69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2"/>
          <p:cNvSpPr txBox="1"/>
          <p:nvPr/>
        </p:nvSpPr>
        <p:spPr>
          <a:xfrm>
            <a:off x="3511780" y="1541043"/>
            <a:ext cx="4233600" cy="3009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69675" lIns="69675" spcFirstLastPara="1" rIns="69675" wrap="square" tIns="69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&lt;iostream&gt;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&lt;iomanip&gt;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#include &lt;cmath&gt;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626A4"/>
                </a:solidFill>
              </a:rPr>
              <a:t>using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A626A4"/>
                </a:solidFill>
              </a:rPr>
              <a:t>namespace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std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void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&amp;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++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4078F2"/>
                </a:solidFill>
              </a:rPr>
              <a:t>main</a:t>
            </a:r>
            <a:r>
              <a:rPr lang="es" sz="838">
                <a:solidFill>
                  <a:srgbClr val="383A42"/>
                </a:solidFill>
              </a:rPr>
              <a:t>()</a:t>
            </a:r>
            <a:r>
              <a:rPr lang="es" sz="838">
                <a:solidFill>
                  <a:srgbClr val="A0A1A7"/>
                </a:solidFill>
              </a:rPr>
              <a:t> </a:t>
            </a:r>
            <a:endParaRPr sz="838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{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27292F"/>
                </a:solidFill>
              </a:rPr>
              <a:t>int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0184BC"/>
                </a:solidFill>
              </a:rPr>
              <a:t>=</a:t>
            </a:r>
            <a:r>
              <a:rPr lang="es" sz="838">
                <a:solidFill>
                  <a:srgbClr val="986801"/>
                </a:solidFill>
              </a:rPr>
              <a:t>3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antes de incrementar(a):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incrementar(a) y antes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incrementar_ref</a:t>
            </a:r>
            <a:r>
              <a:rPr lang="es" sz="838">
                <a:solidFill>
                  <a:srgbClr val="383A42"/>
                </a:solidFill>
              </a:rPr>
              <a:t>(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383A42"/>
                </a:solidFill>
              </a:rPr>
              <a:t>);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A0A1A7"/>
                </a:solidFill>
              </a:rPr>
              <a:t>    </a:t>
            </a:r>
            <a:r>
              <a:rPr lang="es" sz="838">
                <a:solidFill>
                  <a:srgbClr val="E06C75"/>
                </a:solidFill>
              </a:rPr>
              <a:t>cout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50A14F"/>
                </a:solidFill>
              </a:rPr>
              <a:t>"a despues de incrementar_ref(a): "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a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0184BC"/>
                </a:solidFill>
              </a:rPr>
              <a:t>&lt;&lt;</a:t>
            </a:r>
            <a:r>
              <a:rPr lang="es" sz="838">
                <a:solidFill>
                  <a:srgbClr val="A0A1A7"/>
                </a:solidFill>
              </a:rPr>
              <a:t> </a:t>
            </a:r>
            <a:r>
              <a:rPr lang="es" sz="838">
                <a:solidFill>
                  <a:srgbClr val="E06C75"/>
                </a:solidFill>
              </a:rPr>
              <a:t>endl</a:t>
            </a:r>
            <a:r>
              <a:rPr lang="es" sz="838">
                <a:solidFill>
                  <a:srgbClr val="383A42"/>
                </a:solidFill>
              </a:rPr>
              <a:t>;</a:t>
            </a:r>
            <a:endParaRPr sz="838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38">
                <a:solidFill>
                  <a:srgbClr val="383A42"/>
                </a:solidFill>
              </a:rPr>
              <a:t>}</a:t>
            </a:r>
            <a:endParaRPr sz="838">
              <a:solidFill>
                <a:srgbClr val="383A42"/>
              </a:solidFill>
            </a:endParaRPr>
          </a:p>
        </p:txBody>
      </p:sp>
      <p:sp>
        <p:nvSpPr>
          <p:cNvPr id="689" name="Google Shape;689;p42"/>
          <p:cNvSpPr/>
          <p:nvPr/>
        </p:nvSpPr>
        <p:spPr>
          <a:xfrm>
            <a:off x="8520075" y="445025"/>
            <a:ext cx="4812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42"/>
          <p:cNvSpPr/>
          <p:nvPr/>
        </p:nvSpPr>
        <p:spPr>
          <a:xfrm>
            <a:off x="3510300" y="2213025"/>
            <a:ext cx="12378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1" name="Google Shape;691;p42"/>
          <p:cNvSpPr/>
          <p:nvPr/>
        </p:nvSpPr>
        <p:spPr>
          <a:xfrm>
            <a:off x="3510300" y="2723340"/>
            <a:ext cx="1505700" cy="4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2" name="Google Shape;692;p42"/>
          <p:cNvSpPr/>
          <p:nvPr/>
        </p:nvSpPr>
        <p:spPr>
          <a:xfrm>
            <a:off x="3200525" y="4180084"/>
            <a:ext cx="294900" cy="1035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3" name="Google Shape;693;p42"/>
          <p:cNvSpPr/>
          <p:nvPr/>
        </p:nvSpPr>
        <p:spPr>
          <a:xfrm>
            <a:off x="3200526" y="4066083"/>
            <a:ext cx="294900" cy="103500"/>
          </a:xfrm>
          <a:prstGeom prst="homePlate">
            <a:avLst>
              <a:gd fmla="val 50000" name="adj"/>
            </a:avLst>
          </a:prstGeom>
          <a:solidFill>
            <a:srgbClr val="188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ro FCEFYN">
  <a:themeElements>
    <a:clrScheme name="Simple Light">
      <a:dk1>
        <a:srgbClr val="1D1D1D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D88E77"/>
      </a:accent3>
      <a:accent4>
        <a:srgbClr val="D38129"/>
      </a:accent4>
      <a:accent5>
        <a:srgbClr val="1D4036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